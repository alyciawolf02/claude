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208efe1-b44f-80e2-5044-1215cc318e68}">
          <p14:sldIdLst>
            <p14:sldId id="256"/>
            <p14:sldId id="257"/>
            <p14:sldId id="258"/>
          </p14:sldIdLst>
        </p14:section>
        <p14:section name="C&amp;V Phase" id="{68a03c8d-e90a-9a74-a79e-79227583be4a}">
          <p14:sldIdLst>
            <p14:sldId id="259"/>
            <p14:sldId id="260"/>
          </p14:sldIdLst>
        </p14:section>
        <p14:section name="Pre-ECI" id="{25490f1a-ff02-01af-f2e1-3161a2668988}">
          <p14:sldIdLst>
            <p14:sldId id="261"/>
          </p14:sldIdLst>
        </p14:section>
        <p14:section name="ECI Phase" id="{c9727f77-8467-c5df-f8a2-752708e30a16}">
          <p14:sldIdLst>
            <p14:sldId id="262"/>
          </p14:sldIdLst>
        </p14:section>
        <p14:section name="Reflections" id="{50461530-d82d-5517-e327-c16bde763979}">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session: confirm the support TSG will provide for the remainder of the C&amp;V Phase, before the ECI Phase, and from January to June 2027, and share what we have learned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stages are complete. The rest of this deck focuses on the three stages ahead: the remainder of the C&amp;V Phase, the December workshops, and the ECI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Budget as contracted. The Pre-ECI interactive preparation was reduced to $10,000 for goodwill and paid separately. The C&amp;V Phase allocation is $81,600.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further interactives at approximately $3,100 each ($18,600) and three submissions at three hours each ($2,367) total $20,967, within the remaining C&amp;V budget of approximately $22,600. The savings come from no longer attending interactives in person, no longer preparing debrief documents, and the early set-up effort no longer being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Interactives 1 to 8 are complete. We propose to support interactives 9 to 14 and approximately three submissions, at three hours each, for the remainder of the C&amp;V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workshops are funded from the Foundation Sessions allocation (Strategy Workshop and Culture and Customer Centricity Workshops). Customer Centricity Coaching combines an external reflection on HSRA with an internal reflection on JV culture. The Partner Development and Strategy workshop defines win themes, the USP and the competitive landscape before the ECI Phase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ECI interactive follows the eight-step process. The final submission interactives are where HSRA assesses whether GoFar has genuinely listened, adapted and evolved across the ECI. For these, we add a deep content review against everything HSRA has said, asked and signalled, narrative calibration, and intensive rehearsal with TSG attending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In the 13 October session, a GoFar team member noted that although they were not asked to present, they knew far more than they would have without preparing, and that everything should be ready in a slide deck to share. Lesson 2: After the 15 October Fire and Life Safety workshop, the team reported that HSRA used GoFar's slides as the agenda because they were better prepared. Lesson 3: The 6 October debrief noted that GoFar's alternative alignment built on HSRA's own work, while John Holland Acciona floated an idea late in the session that went nowhere and appeared to be scrambling for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Drawn from the 6 October Alternative Alignment debrief and the October preparation and debrief sessions. Watch points: the team asked for a simple weekly update so everyone can find the latest agreed position; HSRA's agendas, outcomes documents and RFCs often arrive from several sources with short deadlines; long decks risk the perception of partners who talk too much; John Holland Acciona continues to raise doubts; HSRA has said fixed requirements such as 240 m cross passage spacing are not for debate; and the team flagged the need to get ahead of work before Christmas to reduce pressure next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E1E1E"/>
        </a:solidFill>
      </p:bgPr>
    </p:bg>
    <p:spTree>
      <p:nvGrpSpPr>
        <p:cNvPr id="1" name=""/>
        <p:cNvGrpSpPr/>
        <p:nvPr/>
      </p:nvGrpSpPr>
      <p:grpSpPr>
        <a:xfrm>
          <a:off x="0" y="0"/>
          <a:ext cx="0" cy="0"/>
          <a:chOff x="0" y="0"/>
          <a:chExt cx="0" cy="0"/>
        </a:xfrm>
      </p:grpSpPr>
      <p:pic>
        <p:nvPicPr>
          <p:cNvPr id="2" name="Image 0" descr="train.pn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00000">
              <a:alpha val="55000"/>
            </a:srgbClr>
          </a:solidFill>
          <a:ln/>
        </p:spPr>
      </p:sp>
      <p:pic>
        <p:nvPicPr>
          <p:cNvPr id="4" name="Image 1" descr="geo.png">    </p:cNvPr>
          <p:cNvPicPr>
            <a:picLocks noChangeAspect="1"/>
          </p:cNvPicPr>
          <p:nvPr/>
        </p:nvPicPr>
        <p:blipFill>
          <a:blip r:embed="rId2">
            <a:alphaModFix amt="90000"/>
          </a:blip>
          <a:stretch>
            <a:fillRect/>
          </a:stretch>
        </p:blipFill>
        <p:spPr>
          <a:xfrm>
            <a:off x="6949440" y="365760"/>
            <a:ext cx="3291840" cy="3291840"/>
          </a:xfrm>
          <a:prstGeom prst="rect">
            <a:avLst/>
          </a:prstGeom>
        </p:spPr>
      </p:pic>
      <p:pic>
        <p:nvPicPr>
          <p:cNvPr id="5" name="Image 2" descr="gofar_white.png">    </p:cNvPr>
          <p:cNvPicPr>
            <a:picLocks noChangeAspect="1"/>
          </p:cNvPicPr>
          <p:nvPr/>
        </p:nvPicPr>
        <p:blipFill>
          <a:blip r:embed="rId3"/>
          <a:stretch>
            <a:fillRect/>
          </a:stretch>
        </p:blipFill>
        <p:spPr>
          <a:xfrm>
            <a:off x="548640" y="548640"/>
            <a:ext cx="1737360" cy="713232"/>
          </a:xfrm>
          <a:prstGeom prst="rect">
            <a:avLst/>
          </a:prstGeom>
        </p:spPr>
      </p:pic>
      <p:sp>
        <p:nvSpPr>
          <p:cNvPr id="6" name="Text 1"/>
          <p:cNvSpPr/>
          <p:nvPr>
            <p:ph idx="104" type="title" hasCustomPrompt="1"/>
          </p:nvPr>
        </p:nvSpPr>
        <p:spPr>
          <a:xfrm>
            <a:off x="548640" y="2834640"/>
            <a:ext cx="9875520" cy="1645920"/>
          </a:xfrm>
          <a:prstGeom prst="rect">
            <a:avLst/>
          </a:prstGeom>
          <a:noFill/>
          <a:ln/>
        </p:spPr>
        <p:txBody>
          <a:bodyPr wrap="square" rtlCol="0"/>
          <a:lstStyle>
            <a:lvl1pPr algn="l" indent="0" marL="0">
              <a:buNone/>
              <a:defRPr lang="en-US" sz="4400" b="1" dirty="0">
                <a:solidFill>
                  <a:schemeClr val="bg1"/>
                </a:solidFill>
                <a:latin typeface="Poppins" pitchFamily="34" charset="0"/>
                <a:ea typeface="Poppins" pitchFamily="34" charset="-122"/>
                <a:cs typeface="Poppins" pitchFamily="34" charset="-120"/>
              </a:defRPr>
            </a:lvl1pPr>
          </a:lstStyle>
          <a:p>
            <a:pPr algn="l" indent="0" marL="0">
              <a:buNone/>
            </a:pPr>
            <a:r>
              <a:rPr lang="en-US" sz="4400" b="1" dirty="0">
                <a:solidFill>
                  <a:schemeClr val="bg1"/>
                </a:solidFill>
                <a:latin typeface="Poppins" pitchFamily="34" charset="0"/>
                <a:ea typeface="Poppins" pitchFamily="34" charset="-122"/>
                <a:cs typeface="Poppins" pitchFamily="34" charset="-120"/>
              </a:rPr>
              <a:t>Title</a:t>
            </a:r>
            <a:endParaRPr lang="en-US" sz="4400" dirty="0"/>
          </a:p>
        </p:txBody>
      </p:sp>
      <p:sp>
        <p:nvSpPr>
          <p:cNvPr id="7" name="Text 1"/>
          <p:cNvSpPr/>
          <p:nvPr>
            <p:ph idx="105" type="body" hasCustomPrompt="1"/>
          </p:nvPr>
        </p:nvSpPr>
        <p:spPr>
          <a:xfrm>
            <a:off x="548640" y="4709160"/>
            <a:ext cx="8686800" cy="1097280"/>
          </a:xfrm>
          <a:prstGeom prst="rect">
            <a:avLst/>
          </a:prstGeom>
          <a:noFill/>
          <a:ln/>
        </p:spPr>
        <p:txBody>
          <a:bodyPr wrap="square" rtlCol="0"/>
          <a:lstStyle>
            <a:lvl1pPr algn="l" indent="0" marL="0">
              <a:buNone/>
              <a:defRPr lang="en-US" sz="1600" dirty="0">
                <a:solidFill>
                  <a:schemeClr val="bg1"/>
                </a:solidFill>
                <a:latin typeface="Open Sans" pitchFamily="34" charset="0"/>
                <a:ea typeface="Open Sans" pitchFamily="34" charset="-122"/>
                <a:cs typeface="Open Sans" pitchFamily="34" charset="-120"/>
              </a:defRPr>
            </a:lvl1pPr>
          </a:lstStyle>
          <a:p>
            <a:pPr algn="l" indent="0" marL="0">
              <a:buNone/>
            </a:pPr>
            <a:r>
              <a:rPr lang="en-US" sz="1600" dirty="0">
                <a:solidFill>
                  <a:schemeClr val="bg1"/>
                </a:solidFill>
                <a:latin typeface="Open Sans" pitchFamily="34" charset="0"/>
                <a:ea typeface="Open Sans" pitchFamily="34" charset="-122"/>
                <a:cs typeface="Open Sans" pitchFamily="34" charset="-120"/>
              </a:rPr>
              <a:t>Subtitle</a:t>
            </a: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rtlCol="0"/>
          <a:lstStyle>
            <a:lvl1pPr algn="l" indent="0" marL="0">
              <a:buNone/>
              <a:defRPr lang="en-US" sz="2800" b="1" dirty="0">
                <a:solidFill>
                  <a:schemeClr val="tx1"/>
                </a:solidFill>
                <a:latin typeface="Poppins" pitchFamily="34" charset="0"/>
                <a:ea typeface="Poppins" pitchFamily="34" charset="-122"/>
                <a:cs typeface="Poppins" pitchFamily="34" charset="-120"/>
              </a:defRPr>
            </a:lvl1pPr>
          </a:lstStyle>
          <a:p>
            <a:pPr algn="l" indent="0" marL="0">
              <a:buNone/>
            </a:pPr>
            <a:r>
              <a:rPr lang="en-US" sz="2800" b="1" dirty="0">
                <a:solidFill>
                  <a:schemeClr val="tx1"/>
                </a:solidFill>
                <a:latin typeface="Poppins" pitchFamily="34" charset="0"/>
                <a:ea typeface="Poppins" pitchFamily="34" charset="-122"/>
                <a:cs typeface="Poppins" pitchFamily="34" charset="-120"/>
              </a:rPr>
              <a:t>Title</a:t>
            </a:r>
            <a:endParaRPr lang="en-US" sz="2800" dirty="0"/>
          </a:p>
        </p:txBody>
      </p:sp>
      <p:pic>
        <p:nvPicPr>
          <p:cNvPr id="3" name="Image 0" descr="tsg.png">    </p:cNvPr>
          <p:cNvPicPr>
            <a:picLocks noChangeAspect="1"/>
          </p:cNvPicPr>
          <p:nvPr/>
        </p:nvPicPr>
        <p:blipFill>
          <a:blip r:embed="rId1"/>
          <a:stretch>
            <a:fillRect/>
          </a:stretch>
        </p:blipFill>
        <p:spPr>
          <a:xfrm>
            <a:off x="548640" y="6236208"/>
            <a:ext cx="868680" cy="402336"/>
          </a:xfrm>
          <a:prstGeom prst="rect">
            <a:avLst/>
          </a:prstGeom>
        </p:spPr>
      </p:pic>
      <p:sp>
        <p:nvSpPr>
          <p:cNvPr id="4" name="Shape 0"/>
          <p:cNvSpPr/>
          <p:nvPr/>
        </p:nvSpPr>
        <p:spPr>
          <a:xfrm>
            <a:off x="1600200" y="6254496"/>
            <a:ext cx="0" cy="365760"/>
          </a:xfrm>
          <a:prstGeom prst="line">
            <a:avLst/>
          </a:prstGeom>
          <a:noFill/>
          <a:ln w="12700">
            <a:solidFill>
              <a:srgbClr val="D9DBE0"/>
            </a:solidFill>
            <a:prstDash val="solid"/>
          </a:ln>
        </p:spPr>
      </p:sp>
      <p:pic>
        <p:nvPicPr>
          <p:cNvPr id="5" name="Image 1" descr="gofar.png">    </p:cNvPr>
          <p:cNvPicPr>
            <a:picLocks noChangeAspect="1"/>
          </p:cNvPicPr>
          <p:nvPr/>
        </p:nvPicPr>
        <p:blipFill>
          <a:blip r:embed="rId2"/>
          <a:stretch>
            <a:fillRect/>
          </a:stretch>
        </p:blipFill>
        <p:spPr>
          <a:xfrm>
            <a:off x="1783080" y="6254496"/>
            <a:ext cx="896112" cy="365760"/>
          </a:xfrm>
          <a:prstGeom prst="rect">
            <a:avLst/>
          </a:prstGeom>
        </p:spPr>
      </p:pic>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4" type="title" hasCustomPrompt="1"/>
          </p:nvPr>
        </p:nvSpPr>
        <p:spPr>
          <a:xfrm>
            <a:off x="548640" y="2834640"/>
            <a:ext cx="9875520" cy="1645920"/>
          </a:xfrm>
          <a:prstGeom prst="rect">
            <a:avLst/>
          </a:prstGeom>
          <a:noFill/>
          <a:ln/>
        </p:spPr>
        <p:txBody>
          <a:bodyPr wrap="square" lIns="0" tIns="0" rIns="0" bIns="0" rtlCol="0" anchor="b"/>
          <a:lstStyle/>
          <a:p>
            <a:pPr algn="l" indent="0" marL="0">
              <a:buNone/>
            </a:pPr>
            <a:r>
              <a:rPr lang="en-US" sz="4400" b="1" dirty="0">
                <a:solidFill>
                  <a:schemeClr val="bg1"/>
                </a:solidFill>
                <a:latin typeface="Poppins" pitchFamily="34" charset="0"/>
                <a:ea typeface="Poppins" pitchFamily="34" charset="-122"/>
                <a:cs typeface="Poppins" pitchFamily="34" charset="-120"/>
              </a:rPr>
              <a:t>Supporting GoFar across the project</a:t>
            </a:r>
            <a:endParaRPr lang="en-US" sz="4400" dirty="0"/>
          </a:p>
        </p:txBody>
      </p:sp>
      <p:sp>
        <p:nvSpPr>
          <p:cNvPr id="3" name="Text 1"/>
          <p:cNvSpPr/>
          <p:nvPr>
            <p:ph idx="105" type="body" hasCustomPrompt="1"/>
          </p:nvPr>
        </p:nvSpPr>
        <p:spPr>
          <a:xfrm>
            <a:off x="548640" y="4709160"/>
            <a:ext cx="8686800" cy="1097280"/>
          </a:xfrm>
          <a:prstGeom prst="rect">
            <a:avLst/>
          </a:prstGeom>
          <a:noFill/>
          <a:ln/>
        </p:spPr>
        <p:txBody>
          <a:bodyPr wrap="square" lIns="0" tIns="0" rIns="0" bIns="0" rtlCol="0" anchor="t"/>
          <a:lstStyle/>
          <a:p>
            <a:pPr algn="l" indent="0" marL="0">
              <a:buNone/>
            </a:pPr>
            <a:r>
              <a:rPr lang="en-US" sz="1600" dirty="0">
                <a:solidFill>
                  <a:schemeClr val="bg1"/>
                </a:solidFill>
                <a:latin typeface="Open Sans" pitchFamily="34" charset="0"/>
                <a:ea typeface="Open Sans" pitchFamily="34" charset="-122"/>
                <a:cs typeface="Open Sans" pitchFamily="34" charset="-120"/>
              </a:rPr>
              <a:t>Proposed support for the C&amp;V and ECI Phases</a:t>
            </a:r>
            <a:endParaRPr lang="en-US" sz="1600" dirty="0"/>
          </a:p>
          <a:p>
            <a:pPr algn="l" indent="0" marL="0">
              <a:buNone/>
            </a:pPr>
            <a:r>
              <a:rPr lang="en-US" sz="1300" dirty="0">
                <a:solidFill>
                  <a:srgbClr val="D9DBE0"/>
                </a:solidFill>
                <a:latin typeface="Open Sans" pitchFamily="34" charset="0"/>
                <a:ea typeface="Open Sans" pitchFamily="34" charset="-122"/>
                <a:cs typeface="Open Sans" pitchFamily="34" charset="-120"/>
              </a:rPr>
              <a:t>The Strategy Group  |  October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Our support focuses on the C&amp;V and ECI Phases</a:t>
            </a:r>
            <a:endParaRPr lang="en-US" sz="2800" dirty="0"/>
          </a:p>
        </p:txBody>
      </p:sp>
      <p:sp>
        <p:nvSpPr>
          <p:cNvPr id="3" name="Subtitle"/>
          <p:cNvSpPr txBox="1"/>
          <p:nvPr/>
        </p:nvSpPr>
        <p:spPr>
          <a:xfrm>
            <a:off x="548640" y="1078992"/>
            <a:ext cx="11094415" cy="411480"/>
          </a:xfrm>
          <a:prstGeom prst="rect">
            <a:avLst/>
          </a:prstGeom>
          <a:noFill/>
          <a:ln/>
        </p:spPr>
        <p:txBody>
          <a:bodyPr wrap="square" lIns="0" tIns="0" rIns="0" bIns="0" rtlCol="0" anchor="ctr"/>
          <a:lstStyle/>
          <a:p>
            <a:pPr indent="0" marL="0">
              <a:buNone/>
            </a:pPr>
            <a:r>
              <a:rPr lang="en-US" sz="1500" dirty="0">
                <a:solidFill>
                  <a:srgbClr val="6B6E75"/>
                </a:solidFill>
              </a:rPr>
              <a:t>Our proposal covers the C&amp;V and ECI Phases. Support for the RFP phase is yet to be scoped.</a:t>
            </a:r>
            <a:endParaRPr lang="en-US" sz="1500" dirty="0"/>
          </a:p>
        </p:txBody>
      </p:sp>
      <p:sp>
        <p:nvSpPr>
          <p:cNvPr id="4" name="Shape 2"/>
          <p:cNvSpPr/>
          <p:nvPr/>
        </p:nvSpPr>
        <p:spPr>
          <a:xfrm>
            <a:off x="548640" y="3794760"/>
            <a:ext cx="11094415" cy="0"/>
          </a:xfrm>
          <a:prstGeom prst="line">
            <a:avLst/>
          </a:prstGeom>
          <a:noFill/>
          <a:ln w="25400">
            <a:solidFill>
              <a:srgbClr val="D9DBE0"/>
            </a:solidFill>
            <a:prstDash val="solid"/>
          </a:ln>
        </p:spPr>
      </p:sp>
      <p:sp>
        <p:nvSpPr>
          <p:cNvPr id="5" name="Text 3"/>
          <p:cNvSpPr/>
          <p:nvPr/>
        </p:nvSpPr>
        <p:spPr>
          <a:xfrm>
            <a:off x="1063722" y="2011680"/>
            <a:ext cx="1188720" cy="292608"/>
          </a:xfrm>
          <a:prstGeom prst="roundRect">
            <a:avLst>
              <a:gd name="adj" fmla="val 50000"/>
            </a:avLst>
          </a:prstGeom>
          <a:solidFill>
            <a:srgbClr val="F2F3F5"/>
          </a:solidFill>
          <a:ln/>
        </p:spPr>
        <p:txBody>
          <a:bodyPr wrap="square" lIns="0" tIns="0" rIns="0" bIns="0" rtlCol="0" anchor="ctr"/>
          <a:lstStyle/>
          <a:p>
            <a:pPr algn="ctr" indent="0" marL="0">
              <a:buNone/>
            </a:pPr>
            <a:r>
              <a:rPr lang="en-US" sz="1100" b="1" dirty="0">
                <a:solidFill>
                  <a:srgbClr val="6B6E75"/>
                </a:solidFill>
              </a:rPr>
              <a:t>Completed</a:t>
            </a:r>
            <a:endParaRPr lang="en-US" sz="1100" dirty="0"/>
          </a:p>
        </p:txBody>
      </p:sp>
      <p:sp>
        <p:nvSpPr>
          <p:cNvPr id="6" name="Text 4"/>
          <p:cNvSpPr txBox="1"/>
          <p:nvPr/>
        </p:nvSpPr>
        <p:spPr>
          <a:xfrm>
            <a:off x="640080" y="2423160"/>
            <a:ext cx="2036003" cy="274320"/>
          </a:xfrm>
          <a:prstGeom prst="rect">
            <a:avLst/>
          </a:prstGeom>
          <a:noFill/>
          <a:ln/>
        </p:spPr>
        <p:txBody>
          <a:bodyPr wrap="square" lIns="0" tIns="0" rIns="0" bIns="0" rtlCol="0" anchor="ctr"/>
          <a:lstStyle/>
          <a:p>
            <a:pPr algn="ctr" indent="0" marL="0">
              <a:buNone/>
            </a:pPr>
            <a:r>
              <a:rPr lang="en-US" sz="1200" dirty="0">
                <a:solidFill>
                  <a:srgbClr val="6B6E75"/>
                </a:solidFill>
              </a:rPr>
              <a:t>EOI  |  July</a:t>
            </a:r>
            <a:endParaRPr lang="en-US" sz="1200" dirty="0"/>
          </a:p>
        </p:txBody>
      </p:sp>
      <p:sp>
        <p:nvSpPr>
          <p:cNvPr id="7" name="Text 5"/>
          <p:cNvSpPr txBox="1"/>
          <p:nvPr/>
        </p:nvSpPr>
        <p:spPr>
          <a:xfrm>
            <a:off x="640080" y="2697480"/>
            <a:ext cx="2036003" cy="685800"/>
          </a:xfrm>
          <a:prstGeom prst="rect">
            <a:avLst/>
          </a:prstGeom>
          <a:noFill/>
          <a:ln/>
        </p:spPr>
        <p:txBody>
          <a:bodyPr wrap="square" lIns="0" tIns="0" rIns="0" bIns="0" rtlCol="0" anchor="t"/>
          <a:lstStyle/>
          <a:p>
            <a:pPr algn="ctr" indent="0" marL="0">
              <a:buNone/>
            </a:pPr>
            <a:r>
              <a:rPr lang="en-US" sz="1500" b="1" dirty="0">
                <a:solidFill>
                  <a:srgbClr val="3D3C3C"/>
                </a:solidFill>
              </a:rPr>
              <a:t>Interactive Preparation</a:t>
            </a:r>
            <a:endParaRPr lang="en-US" sz="1500" dirty="0"/>
          </a:p>
        </p:txBody>
      </p:sp>
      <p:sp>
        <p:nvSpPr>
          <p:cNvPr id="8" name="Shape 6"/>
          <p:cNvSpPr/>
          <p:nvPr/>
        </p:nvSpPr>
        <p:spPr>
          <a:xfrm>
            <a:off x="1502634" y="3639312"/>
            <a:ext cx="310896" cy="310896"/>
          </a:xfrm>
          <a:prstGeom prst="ellipse">
            <a:avLst/>
          </a:prstGeom>
          <a:solidFill>
            <a:srgbClr val="6B6E75"/>
          </a:solidFill>
          <a:ln w="31750">
            <a:solidFill>
              <a:srgbClr val="6B6E75"/>
            </a:solidFill>
            <a:prstDash val="solid"/>
          </a:ln>
        </p:spPr>
      </p:sp>
      <p:sp>
        <p:nvSpPr>
          <p:cNvPr id="9" name="Text 7"/>
          <p:cNvSpPr/>
          <p:nvPr/>
        </p:nvSpPr>
        <p:spPr>
          <a:xfrm>
            <a:off x="3282605" y="2011680"/>
            <a:ext cx="1188720" cy="292608"/>
          </a:xfrm>
          <a:prstGeom prst="roundRect">
            <a:avLst>
              <a:gd name="adj" fmla="val 50000"/>
            </a:avLst>
          </a:prstGeom>
          <a:solidFill>
            <a:srgbClr val="F2F3F5"/>
          </a:solidFill>
          <a:ln/>
        </p:spPr>
        <p:txBody>
          <a:bodyPr wrap="square" lIns="0" tIns="0" rIns="0" bIns="0" rtlCol="0" anchor="ctr"/>
          <a:lstStyle/>
          <a:p>
            <a:pPr algn="ctr" indent="0" marL="0">
              <a:buNone/>
            </a:pPr>
            <a:r>
              <a:rPr lang="en-US" sz="1100" b="1" dirty="0">
                <a:solidFill>
                  <a:srgbClr val="6B6E75"/>
                </a:solidFill>
              </a:rPr>
              <a:t>Completed</a:t>
            </a:r>
            <a:endParaRPr lang="en-US" sz="1100" dirty="0"/>
          </a:p>
        </p:txBody>
      </p:sp>
      <p:sp>
        <p:nvSpPr>
          <p:cNvPr id="10" name="Text 8"/>
          <p:cNvSpPr txBox="1"/>
          <p:nvPr/>
        </p:nvSpPr>
        <p:spPr>
          <a:xfrm>
            <a:off x="2858963" y="2423160"/>
            <a:ext cx="2036003" cy="274320"/>
          </a:xfrm>
          <a:prstGeom prst="rect">
            <a:avLst/>
          </a:prstGeom>
          <a:noFill/>
          <a:ln/>
        </p:spPr>
        <p:txBody>
          <a:bodyPr wrap="square" lIns="0" tIns="0" rIns="0" bIns="0" rtlCol="0" anchor="ctr"/>
          <a:lstStyle/>
          <a:p>
            <a:pPr algn="ctr" indent="0" marL="0">
              <a:buNone/>
            </a:pPr>
            <a:r>
              <a:rPr lang="en-US" sz="1200" dirty="0">
                <a:solidFill>
                  <a:srgbClr val="6B6E75"/>
                </a:solidFill>
              </a:rPr>
              <a:t>Pre-C&amp;V  |  September</a:t>
            </a:r>
            <a:endParaRPr lang="en-US" sz="1200" dirty="0"/>
          </a:p>
        </p:txBody>
      </p:sp>
      <p:sp>
        <p:nvSpPr>
          <p:cNvPr id="11" name="Text 9"/>
          <p:cNvSpPr txBox="1"/>
          <p:nvPr/>
        </p:nvSpPr>
        <p:spPr>
          <a:xfrm>
            <a:off x="2858963" y="2697480"/>
            <a:ext cx="2036003" cy="685800"/>
          </a:xfrm>
          <a:prstGeom prst="rect">
            <a:avLst/>
          </a:prstGeom>
          <a:noFill/>
          <a:ln/>
        </p:spPr>
        <p:txBody>
          <a:bodyPr wrap="square" lIns="0" tIns="0" rIns="0" bIns="0" rtlCol="0" anchor="t"/>
          <a:lstStyle/>
          <a:p>
            <a:pPr algn="ctr" indent="0" marL="0">
              <a:buNone/>
            </a:pPr>
            <a:r>
              <a:rPr lang="en-US" sz="1500" b="1" dirty="0">
                <a:solidFill>
                  <a:srgbClr val="3D3C3C"/>
                </a:solidFill>
              </a:rPr>
              <a:t>Cultural Foundation Session</a:t>
            </a:r>
            <a:endParaRPr lang="en-US" sz="1500" dirty="0"/>
          </a:p>
        </p:txBody>
      </p:sp>
      <p:sp>
        <p:nvSpPr>
          <p:cNvPr id="12" name="Shape 10"/>
          <p:cNvSpPr/>
          <p:nvPr/>
        </p:nvSpPr>
        <p:spPr>
          <a:xfrm>
            <a:off x="3721517" y="3639312"/>
            <a:ext cx="310896" cy="310896"/>
          </a:xfrm>
          <a:prstGeom prst="ellipse">
            <a:avLst/>
          </a:prstGeom>
          <a:solidFill>
            <a:srgbClr val="6B6E75"/>
          </a:solidFill>
          <a:ln w="31750">
            <a:solidFill>
              <a:srgbClr val="6B6E75"/>
            </a:solidFill>
            <a:prstDash val="solid"/>
          </a:ln>
        </p:spPr>
      </p:sp>
      <p:sp>
        <p:nvSpPr>
          <p:cNvPr id="13" name="Text 11"/>
          <p:cNvSpPr/>
          <p:nvPr/>
        </p:nvSpPr>
        <p:spPr>
          <a:xfrm>
            <a:off x="5501488" y="2011680"/>
            <a:ext cx="1188720" cy="292608"/>
          </a:xfrm>
          <a:prstGeom prst="roundRect">
            <a:avLst>
              <a:gd name="adj" fmla="val 50000"/>
            </a:avLst>
          </a:prstGeom>
          <a:solidFill>
            <a:srgbClr val="E8F1E8"/>
          </a:solidFill>
          <a:ln/>
        </p:spPr>
        <p:txBody>
          <a:bodyPr wrap="square" lIns="0" tIns="0" rIns="0" bIns="0" rtlCol="0" anchor="ctr"/>
          <a:lstStyle/>
          <a:p>
            <a:pPr algn="ctr" indent="0" marL="0">
              <a:buNone/>
            </a:pPr>
            <a:r>
              <a:rPr lang="en-US" sz="1100" b="1" dirty="0">
                <a:solidFill>
                  <a:srgbClr val="004F00"/>
                </a:solidFill>
              </a:rPr>
              <a:t>Underway</a:t>
            </a:r>
            <a:endParaRPr lang="en-US" sz="1100" dirty="0"/>
          </a:p>
        </p:txBody>
      </p:sp>
      <p:sp>
        <p:nvSpPr>
          <p:cNvPr id="14" name="Text 12"/>
          <p:cNvSpPr txBox="1"/>
          <p:nvPr/>
        </p:nvSpPr>
        <p:spPr>
          <a:xfrm>
            <a:off x="5077846" y="2423160"/>
            <a:ext cx="2036003" cy="274320"/>
          </a:xfrm>
          <a:prstGeom prst="rect">
            <a:avLst/>
          </a:prstGeom>
          <a:noFill/>
          <a:ln/>
        </p:spPr>
        <p:txBody>
          <a:bodyPr wrap="square" lIns="0" tIns="0" rIns="0" bIns="0" rtlCol="0" anchor="ctr"/>
          <a:lstStyle/>
          <a:p>
            <a:pPr algn="ctr" indent="0" marL="0">
              <a:buNone/>
            </a:pPr>
            <a:r>
              <a:rPr lang="en-US" sz="1200" dirty="0">
                <a:solidFill>
                  <a:srgbClr val="6B6E75"/>
                </a:solidFill>
              </a:rPr>
              <a:t>C&amp;V Phase  |  Now</a:t>
            </a:r>
            <a:endParaRPr lang="en-US" sz="1200" dirty="0"/>
          </a:p>
        </p:txBody>
      </p:sp>
      <p:sp>
        <p:nvSpPr>
          <p:cNvPr id="15" name="Text 13"/>
          <p:cNvSpPr txBox="1"/>
          <p:nvPr/>
        </p:nvSpPr>
        <p:spPr>
          <a:xfrm>
            <a:off x="5077846" y="2697480"/>
            <a:ext cx="2036003" cy="685800"/>
          </a:xfrm>
          <a:prstGeom prst="rect">
            <a:avLst/>
          </a:prstGeom>
          <a:noFill/>
          <a:ln/>
        </p:spPr>
        <p:txBody>
          <a:bodyPr wrap="square" lIns="0" tIns="0" rIns="0" bIns="0" rtlCol="0" anchor="t"/>
          <a:lstStyle/>
          <a:p>
            <a:pPr algn="ctr" indent="0" marL="0">
              <a:buNone/>
            </a:pPr>
            <a:r>
              <a:rPr lang="en-US" sz="1500" b="1" dirty="0">
                <a:solidFill>
                  <a:srgbClr val="3D3C3C"/>
                </a:solidFill>
              </a:rPr>
              <a:t>Interactive Readiness</a:t>
            </a:r>
            <a:endParaRPr lang="en-US" sz="1500" dirty="0"/>
          </a:p>
        </p:txBody>
      </p:sp>
      <p:sp>
        <p:nvSpPr>
          <p:cNvPr id="16" name="Shape 14"/>
          <p:cNvSpPr/>
          <p:nvPr/>
        </p:nvSpPr>
        <p:spPr>
          <a:xfrm>
            <a:off x="5940400" y="3639312"/>
            <a:ext cx="310896" cy="310896"/>
          </a:xfrm>
          <a:prstGeom prst="ellipse">
            <a:avLst/>
          </a:prstGeom>
          <a:solidFill>
            <a:srgbClr val="004F00"/>
          </a:solidFill>
          <a:ln w="31750">
            <a:solidFill>
              <a:srgbClr val="004F00"/>
            </a:solidFill>
            <a:prstDash val="solid"/>
          </a:ln>
        </p:spPr>
      </p:sp>
      <p:sp>
        <p:nvSpPr>
          <p:cNvPr id="17" name="Text 15"/>
          <p:cNvSpPr/>
          <p:nvPr/>
        </p:nvSpPr>
        <p:spPr>
          <a:xfrm>
            <a:off x="7720371" y="2011680"/>
            <a:ext cx="1188720" cy="292608"/>
          </a:xfrm>
          <a:prstGeom prst="roundRect">
            <a:avLst>
              <a:gd name="adj" fmla="val 50000"/>
            </a:avLst>
          </a:prstGeom>
          <a:solidFill>
            <a:srgbClr val="FFF6ED"/>
          </a:solidFill>
          <a:ln/>
        </p:spPr>
        <p:txBody>
          <a:bodyPr wrap="square" lIns="0" tIns="0" rIns="0" bIns="0" rtlCol="0" anchor="ctr"/>
          <a:lstStyle/>
          <a:p>
            <a:pPr algn="ctr" indent="0" marL="0">
              <a:buNone/>
            </a:pPr>
            <a:r>
              <a:rPr lang="en-US" sz="1100" b="1" dirty="0">
                <a:solidFill>
                  <a:srgbClr val="F48047"/>
                </a:solidFill>
              </a:rPr>
              <a:t>Upcoming</a:t>
            </a:r>
            <a:endParaRPr lang="en-US" sz="1100" dirty="0"/>
          </a:p>
        </p:txBody>
      </p:sp>
      <p:sp>
        <p:nvSpPr>
          <p:cNvPr id="18" name="Text 16"/>
          <p:cNvSpPr txBox="1"/>
          <p:nvPr/>
        </p:nvSpPr>
        <p:spPr>
          <a:xfrm>
            <a:off x="7296729" y="2423160"/>
            <a:ext cx="2036003" cy="274320"/>
          </a:xfrm>
          <a:prstGeom prst="rect">
            <a:avLst/>
          </a:prstGeom>
          <a:noFill/>
          <a:ln/>
        </p:spPr>
        <p:txBody>
          <a:bodyPr wrap="square" lIns="0" tIns="0" rIns="0" bIns="0" rtlCol="0" anchor="ctr"/>
          <a:lstStyle/>
          <a:p>
            <a:pPr algn="ctr" indent="0" marL="0">
              <a:buNone/>
            </a:pPr>
            <a:r>
              <a:rPr lang="en-US" sz="1200" dirty="0">
                <a:solidFill>
                  <a:srgbClr val="6B6E75"/>
                </a:solidFill>
              </a:rPr>
              <a:t>Pre-ECI  |  December</a:t>
            </a:r>
            <a:endParaRPr lang="en-US" sz="1200" dirty="0"/>
          </a:p>
        </p:txBody>
      </p:sp>
      <p:sp>
        <p:nvSpPr>
          <p:cNvPr id="19" name="Text 17"/>
          <p:cNvSpPr txBox="1"/>
          <p:nvPr/>
        </p:nvSpPr>
        <p:spPr>
          <a:xfrm>
            <a:off x="7296729" y="2697480"/>
            <a:ext cx="2036003" cy="685800"/>
          </a:xfrm>
          <a:prstGeom prst="rect">
            <a:avLst/>
          </a:prstGeom>
          <a:noFill/>
          <a:ln/>
        </p:spPr>
        <p:txBody>
          <a:bodyPr wrap="square" lIns="0" tIns="0" rIns="0" bIns="0" rtlCol="0" anchor="t"/>
          <a:lstStyle/>
          <a:p>
            <a:pPr algn="ctr" indent="0" marL="0">
              <a:buNone/>
            </a:pPr>
            <a:r>
              <a:rPr lang="en-US" sz="1500" b="1" dirty="0">
                <a:solidFill>
                  <a:srgbClr val="3D3C3C"/>
                </a:solidFill>
              </a:rPr>
              <a:t>Customer Centricity and Strategy Workshops</a:t>
            </a:r>
            <a:endParaRPr lang="en-US" sz="1500" dirty="0"/>
          </a:p>
        </p:txBody>
      </p:sp>
      <p:sp>
        <p:nvSpPr>
          <p:cNvPr id="20" name="Shape 18"/>
          <p:cNvSpPr/>
          <p:nvPr/>
        </p:nvSpPr>
        <p:spPr>
          <a:xfrm>
            <a:off x="8159283" y="3639312"/>
            <a:ext cx="310896" cy="310896"/>
          </a:xfrm>
          <a:prstGeom prst="ellipse">
            <a:avLst/>
          </a:prstGeom>
          <a:solidFill>
            <a:srgbClr val="FFFFFF"/>
          </a:solidFill>
          <a:ln w="31750">
            <a:solidFill>
              <a:srgbClr val="F48047"/>
            </a:solidFill>
            <a:prstDash val="solid"/>
          </a:ln>
        </p:spPr>
      </p:sp>
      <p:sp>
        <p:nvSpPr>
          <p:cNvPr id="21" name="Text 19"/>
          <p:cNvSpPr/>
          <p:nvPr/>
        </p:nvSpPr>
        <p:spPr>
          <a:xfrm>
            <a:off x="9939254" y="2011680"/>
            <a:ext cx="1188720" cy="292608"/>
          </a:xfrm>
          <a:prstGeom prst="roundRect">
            <a:avLst>
              <a:gd name="adj" fmla="val 50000"/>
            </a:avLst>
          </a:prstGeom>
          <a:solidFill>
            <a:srgbClr val="FFF6ED"/>
          </a:solidFill>
          <a:ln/>
        </p:spPr>
        <p:txBody>
          <a:bodyPr wrap="square" lIns="0" tIns="0" rIns="0" bIns="0" rtlCol="0" anchor="ctr"/>
          <a:lstStyle/>
          <a:p>
            <a:pPr algn="ctr" indent="0" marL="0">
              <a:buNone/>
            </a:pPr>
            <a:r>
              <a:rPr lang="en-US" sz="1100" b="1" dirty="0">
                <a:solidFill>
                  <a:srgbClr val="F48047"/>
                </a:solidFill>
              </a:rPr>
              <a:t>Upcoming</a:t>
            </a:r>
            <a:endParaRPr lang="en-US" sz="1100" dirty="0"/>
          </a:p>
        </p:txBody>
      </p:sp>
      <p:sp>
        <p:nvSpPr>
          <p:cNvPr id="22" name="Text 20"/>
          <p:cNvSpPr txBox="1"/>
          <p:nvPr/>
        </p:nvSpPr>
        <p:spPr>
          <a:xfrm>
            <a:off x="9515612" y="2423160"/>
            <a:ext cx="2036003" cy="274320"/>
          </a:xfrm>
          <a:prstGeom prst="rect">
            <a:avLst/>
          </a:prstGeom>
          <a:noFill/>
          <a:ln/>
        </p:spPr>
        <p:txBody>
          <a:bodyPr wrap="square" lIns="0" tIns="0" rIns="0" bIns="0" rtlCol="0" anchor="ctr"/>
          <a:lstStyle/>
          <a:p>
            <a:pPr algn="ctr" indent="0" marL="0">
              <a:buNone/>
            </a:pPr>
            <a:r>
              <a:rPr lang="en-US" sz="1200" dirty="0">
                <a:solidFill>
                  <a:srgbClr val="6B6E75"/>
                </a:solidFill>
              </a:rPr>
              <a:t>ECI Phase  |  2027</a:t>
            </a:r>
            <a:endParaRPr lang="en-US" sz="1200" dirty="0"/>
          </a:p>
        </p:txBody>
      </p:sp>
      <p:sp>
        <p:nvSpPr>
          <p:cNvPr id="23" name="Text 21"/>
          <p:cNvSpPr txBox="1"/>
          <p:nvPr/>
        </p:nvSpPr>
        <p:spPr>
          <a:xfrm>
            <a:off x="9515612" y="2697480"/>
            <a:ext cx="2036003" cy="685800"/>
          </a:xfrm>
          <a:prstGeom prst="rect">
            <a:avLst/>
          </a:prstGeom>
          <a:noFill/>
          <a:ln/>
        </p:spPr>
        <p:txBody>
          <a:bodyPr wrap="square" lIns="0" tIns="0" rIns="0" bIns="0" rtlCol="0" anchor="t"/>
          <a:lstStyle/>
          <a:p>
            <a:pPr algn="ctr" indent="0" marL="0">
              <a:buNone/>
            </a:pPr>
            <a:r>
              <a:rPr lang="en-US" sz="1500" b="1" dirty="0">
                <a:solidFill>
                  <a:srgbClr val="3D3C3C"/>
                </a:solidFill>
              </a:rPr>
              <a:t>Structured Interactive Support</a:t>
            </a:r>
            <a:endParaRPr lang="en-US" sz="1500" dirty="0"/>
          </a:p>
        </p:txBody>
      </p:sp>
      <p:sp>
        <p:nvSpPr>
          <p:cNvPr id="24" name="Shape 22"/>
          <p:cNvSpPr/>
          <p:nvPr/>
        </p:nvSpPr>
        <p:spPr>
          <a:xfrm>
            <a:off x="10378166" y="3639312"/>
            <a:ext cx="310896" cy="310896"/>
          </a:xfrm>
          <a:prstGeom prst="ellipse">
            <a:avLst/>
          </a:prstGeom>
          <a:solidFill>
            <a:srgbClr val="FFFFFF"/>
          </a:solidFill>
          <a:ln w="31750">
            <a:solidFill>
              <a:srgbClr val="F48047"/>
            </a:solidFill>
            <a:prstDash val="solid"/>
          </a:ln>
        </p:spPr>
      </p:sp>
      <p:sp>
        <p:nvSpPr>
          <p:cNvPr id="25" name="Shape 23"/>
          <p:cNvSpPr/>
          <p:nvPr/>
        </p:nvSpPr>
        <p:spPr>
          <a:xfrm>
            <a:off x="5123566" y="4297680"/>
            <a:ext cx="6382329" cy="1097280"/>
          </a:xfrm>
          <a:prstGeom prst="rect">
            <a:avLst/>
          </a:prstGeom>
          <a:solidFill>
            <a:srgbClr val="E8F1E8"/>
          </a:solidFill>
          <a:ln w="12700">
            <a:solidFill>
              <a:srgbClr val="E8F1E8"/>
            </a:solidFill>
            <a:prstDash val="solid"/>
          </a:ln>
        </p:spPr>
      </p:sp>
      <p:sp>
        <p:nvSpPr>
          <p:cNvPr id="26" name="Text 24"/>
          <p:cNvSpPr txBox="1"/>
          <p:nvPr/>
        </p:nvSpPr>
        <p:spPr>
          <a:xfrm>
            <a:off x="5352166" y="4389120"/>
            <a:ext cx="5925129" cy="914400"/>
          </a:xfrm>
          <a:prstGeom prst="rect">
            <a:avLst/>
          </a:prstGeom>
          <a:noFill/>
          <a:ln/>
        </p:spPr>
        <p:txBody>
          <a:bodyPr wrap="square" lIns="0" tIns="0" rIns="0" bIns="0" rtlCol="0" anchor="ctr"/>
          <a:lstStyle/>
          <a:p>
            <a:pPr indent="0" marL="0">
              <a:buNone/>
            </a:pPr>
            <a:r>
              <a:rPr lang="en-US" sz="1400" b="1" dirty="0">
                <a:solidFill>
                  <a:srgbClr val="004F00"/>
                </a:solidFill>
              </a:rPr>
              <a:t>Where our remaining support sits</a:t>
            </a:r>
            <a:endParaRPr lang="en-US" sz="1400" dirty="0"/>
          </a:p>
          <a:p>
            <a:pPr indent="0" marL="0">
              <a:buNone/>
            </a:pPr>
            <a:r>
              <a:rPr lang="en-US" sz="1400" dirty="0">
                <a:solidFill>
                  <a:srgbClr val="3D3C3C"/>
                </a:solidFill>
              </a:rPr>
              <a:t>Completing the C&amp;V Phase, realigning before the ECI Phase, and supporting every ECI interactive from January to June 2027.</a:t>
            </a:r>
            <a:endParaRPr lang="en-US" sz="1400" dirty="0"/>
          </a:p>
        </p:txBody>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The C&amp;V and ECI Phases share a similar budget</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680960" cy="914400"/>
        </p:xfrm>
        <a:graphic>
          <a:graphicData uri="http://schemas.openxmlformats.org/drawingml/2006/table">
            <a:tbl>
              <a:tblPr/>
              <a:tblGrid>
                <a:gridCol w="4572000"/>
                <a:gridCol w="3108960"/>
              </a:tblGrid>
              <a:tr h="265176">
                <a:tc>
                  <a:txBody>
                    <a:bodyPr/>
                    <a:lstStyle/>
                    <a:p>
                      <a:pPr indent="0" marL="0">
                        <a:buNone/>
                      </a:pPr>
                      <a:r>
                        <a:rPr lang="en-US" sz="1100" b="1" dirty="0">
                          <a:solidFill>
                            <a:srgbClr val="FFFFFF"/>
                          </a:solidFill>
                        </a:rPr>
                        <a:t>Project steps</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r" indent="0" marL="0">
                        <a:buNone/>
                      </a:pPr>
                      <a:r>
                        <a:rPr lang="en-US" sz="1100" b="1" dirty="0">
                          <a:solidFill>
                            <a:srgbClr val="FFFFFF"/>
                          </a:solidFill>
                        </a:rPr>
                        <a:t>Investment (excl. GST)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r>
              <a:tr h="265176">
                <a:tc gridSpan="2">
                  <a:txBody>
                    <a:bodyPr/>
                    <a:lstStyle/>
                    <a:p>
                      <a:pPr indent="0" marL="0">
                        <a:buNone/>
                      </a:pPr>
                      <a:r>
                        <a:rPr lang="en-US" sz="1100" b="1" dirty="0">
                          <a:solidFill>
                            <a:srgbClr val="004F00"/>
                          </a:solidFill>
                        </a:rPr>
                        <a:t>Pre-ECI: Interactive Preparation</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c hMerge="1">
                  <a:tcPr/>
                </a:tc>
              </a:tr>
              <a:tr h="265176">
                <a:tc>
                  <a:txBody>
                    <a:bodyPr/>
                    <a:lstStyle/>
                    <a:p>
                      <a:pPr indent="0" marL="0">
                        <a:buNone/>
                      </a:pPr>
                      <a:r>
                        <a:rPr lang="en-US" sz="1100" dirty="0">
                          <a:solidFill>
                            <a:srgbClr val="9A9DA3"/>
                          </a:solidFill>
                        </a:rPr>
                        <a:t>Virtual team introduction and alignment session</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3">
                  <a:txBody>
                    <a:bodyPr/>
                    <a:lstStyle/>
                    <a:p>
                      <a:pPr algn="r" indent="0" marL="0">
                        <a:buNone/>
                      </a:pPr>
                      <a:r>
                        <a:rPr lang="en-US" sz="1100" dirty="0">
                          <a:solidFill>
                            <a:srgbClr val="9A9DA3"/>
                          </a:solidFill>
                        </a:rPr>
                        <a:t>Reduced to $10,000 for goodwill (paid separately to this contract)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a:txBody>
                    <a:bodyPr/>
                    <a:lstStyle/>
                    <a:p>
                      <a:pPr indent="0" marL="0">
                        <a:buNone/>
                      </a:pPr>
                      <a:r>
                        <a:rPr lang="en-US" sz="1100" dirty="0">
                          <a:solidFill>
                            <a:srgbClr val="9A9DA3"/>
                          </a:solidFill>
                        </a:rPr>
                        <a:t>Pre-interactive team alignment session</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r>
              <a:tr h="265176">
                <a:tc>
                  <a:txBody>
                    <a:bodyPr/>
                    <a:lstStyle/>
                    <a:p>
                      <a:pPr indent="0" marL="0">
                        <a:buNone/>
                      </a:pPr>
                      <a:r>
                        <a:rPr lang="en-US" sz="1100" dirty="0">
                          <a:solidFill>
                            <a:srgbClr val="9A9DA3"/>
                          </a:solidFill>
                        </a:rPr>
                        <a:t>Eight-step interactive preparation process</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r>
              <a:tr h="265176">
                <a:tc>
                  <a:txBody>
                    <a:bodyPr/>
                    <a:lstStyle/>
                    <a:p>
                      <a:pPr indent="0" marL="0">
                        <a:buNone/>
                      </a:pPr>
                      <a:r>
                        <a:rPr lang="en-US" sz="1100" dirty="0">
                          <a:solidFill>
                            <a:srgbClr val="3D3C3C"/>
                          </a:solidFill>
                        </a:rPr>
                        <a:t>Presentation coaching</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$15,000 ($5,000 each)</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gridSpan="2">
                  <a:txBody>
                    <a:bodyPr/>
                    <a:lstStyle/>
                    <a:p>
                      <a:pPr indent="0" marL="0">
                        <a:buNone/>
                      </a:pPr>
                      <a:r>
                        <a:rPr lang="en-US" sz="1100" b="1" dirty="0">
                          <a:solidFill>
                            <a:srgbClr val="004F00"/>
                          </a:solidFill>
                        </a:rPr>
                        <a:t>Foundation Sessions</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c hMerge="1">
                  <a:tcPr/>
                </a:tc>
              </a:tr>
              <a:tr h="265176">
                <a:tc>
                  <a:txBody>
                    <a:bodyPr/>
                    <a:lstStyle/>
                    <a:p>
                      <a:pPr indent="0" marL="0">
                        <a:buNone/>
                      </a:pPr>
                      <a:r>
                        <a:rPr lang="en-US" sz="1100" dirty="0">
                          <a:solidFill>
                            <a:srgbClr val="3D3C3C"/>
                          </a:solidFill>
                        </a:rPr>
                        <a:t>Strategy Workshop</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$23,000</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a:txBody>
                    <a:bodyPr/>
                    <a:lstStyle/>
                    <a:p>
                      <a:pPr indent="0" marL="0">
                        <a:buNone/>
                      </a:pPr>
                      <a:r>
                        <a:rPr lang="en-US" sz="1100" dirty="0">
                          <a:solidFill>
                            <a:srgbClr val="3D3C3C"/>
                          </a:solidFill>
                        </a:rPr>
                        <a:t>Culture and Customer Centricity Workshop (x2)</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$46,000</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a:txBody>
                    <a:bodyPr/>
                    <a:lstStyle/>
                    <a:p>
                      <a:pPr indent="0" marL="0">
                        <a:buNone/>
                      </a:pPr>
                      <a:r>
                        <a:rPr lang="en-US" sz="1100" dirty="0">
                          <a:solidFill>
                            <a:srgbClr val="3D3C3C"/>
                          </a:solidFill>
                        </a:rPr>
                        <a:t>Interactive Readiness and Roleplay</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$11,500</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gridSpan="2">
                  <a:txBody>
                    <a:bodyPr/>
                    <a:lstStyle/>
                    <a:p>
                      <a:pPr indent="0" marL="0">
                        <a:buNone/>
                      </a:pPr>
                      <a:r>
                        <a:rPr lang="en-US" sz="1100" b="1" dirty="0">
                          <a:solidFill>
                            <a:srgbClr val="004F00"/>
                          </a:solidFill>
                        </a:rPr>
                        <a:t>C&amp;V Phase Support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c hMerge="1">
                  <a:tcPr/>
                </a:tc>
              </a:tr>
              <a:tr h="265176">
                <a:tc>
                  <a:txBody>
                    <a:bodyPr/>
                    <a:lstStyle/>
                    <a:p>
                      <a:pPr indent="0" marL="0">
                        <a:buNone/>
                      </a:pPr>
                      <a:r>
                        <a:rPr lang="en-US" sz="1100" dirty="0">
                          <a:solidFill>
                            <a:srgbClr val="3D3C3C"/>
                          </a:solidFill>
                        </a:rPr>
                        <a:t>Interactive readiness and debrief sessions</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$81,600 (est. 14 sessions)</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gridSpan="2">
                  <a:txBody>
                    <a:bodyPr/>
                    <a:lstStyle/>
                    <a:p>
                      <a:pPr indent="0" marL="0">
                        <a:buNone/>
                      </a:pPr>
                      <a:r>
                        <a:rPr lang="en-US" sz="1100" b="1" dirty="0">
                          <a:solidFill>
                            <a:srgbClr val="004F00"/>
                          </a:solidFill>
                        </a:rPr>
                        <a:t>ECI Phase Support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c hMerge="1">
                  <a:tcPr/>
                </a:tc>
              </a:tr>
              <a:tr h="265176">
                <a:tc>
                  <a:txBody>
                    <a:bodyPr/>
                    <a:lstStyle/>
                    <a:p>
                      <a:pPr indent="0" marL="0">
                        <a:buNone/>
                      </a:pPr>
                      <a:r>
                        <a:rPr lang="en-US" sz="1100" dirty="0">
                          <a:solidFill>
                            <a:srgbClr val="3D3C3C"/>
                          </a:solidFill>
                        </a:rPr>
                        <a:t>Client interactive preparation and support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$174,000 (est. 12 sessions)</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gridSpan="2">
                  <a:txBody>
                    <a:bodyPr/>
                    <a:lstStyle/>
                    <a:p>
                      <a:pPr indent="0" marL="0">
                        <a:buNone/>
                      </a:pPr>
                      <a:r>
                        <a:rPr lang="en-US" sz="1100" b="1" dirty="0">
                          <a:solidFill>
                            <a:srgbClr val="004F00"/>
                          </a:solidFill>
                        </a:rPr>
                        <a:t>Ongoing Support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c hMerge="1">
                  <a:tcPr/>
                </a:tc>
              </a:tr>
              <a:tr h="265176">
                <a:tc>
                  <a:txBody>
                    <a:bodyPr/>
                    <a:lstStyle/>
                    <a:p>
                      <a:pPr indent="0" marL="0">
                        <a:buNone/>
                      </a:pPr>
                      <a:r>
                        <a:rPr lang="en-US" sz="1100" dirty="0">
                          <a:solidFill>
                            <a:srgbClr val="3D3C3C"/>
                          </a:solidFill>
                        </a:rPr>
                        <a:t>Strategy and Positioning Support</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algn="r" indent="0" marL="0">
                        <a:buNone/>
                      </a:pPr>
                      <a:r>
                        <a:rPr lang="en-US" sz="1100" dirty="0">
                          <a:solidFill>
                            <a:srgbClr val="3D3C3C"/>
                          </a:solidFill>
                        </a:rPr>
                        <a:t>$37,000</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65176">
                <a:tc>
                  <a:txBody>
                    <a:bodyPr/>
                    <a:lstStyle/>
                    <a:p>
                      <a:pPr indent="0" marL="0">
                        <a:buNone/>
                      </a:pPr>
                      <a:r>
                        <a:rPr lang="en-US" sz="1100" b="1" dirty="0">
                          <a:solidFill>
                            <a:srgbClr val="3D3C3C"/>
                          </a:solidFill>
                        </a:rPr>
                        <a:t>Total</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2F3F5"/>
                    </a:solidFill>
                  </a:tcPr>
                </a:tc>
                <a:tc>
                  <a:txBody>
                    <a:bodyPr/>
                    <a:lstStyle/>
                    <a:p>
                      <a:pPr algn="r" indent="0" marL="0">
                        <a:buNone/>
                      </a:pPr>
                      <a:r>
                        <a:rPr lang="en-US" sz="1100" b="1" dirty="0">
                          <a:solidFill>
                            <a:srgbClr val="3D3C3C"/>
                          </a:solidFill>
                        </a:rPr>
                        <a:t>$388,100</a:t>
                      </a:r>
                      <a:endParaRPr lang="en-US" sz="1100" dirty="0"/>
                    </a:p>
                  </a:txBody>
                  <a:tcPr marL="91440" marR="91440"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2F3F5"/>
                    </a:solidFill>
                  </a:tcPr>
                </a:tc>
              </a:tr>
            </a:tbl>
          </a:graphicData>
        </a:graphic>
      </p:graphicFrame>
      <p:sp>
        <p:nvSpPr>
          <p:cNvPr id="4" name="Shape 1"/>
          <p:cNvSpPr/>
          <p:nvPr/>
        </p:nvSpPr>
        <p:spPr>
          <a:xfrm>
            <a:off x="8595360" y="2148840"/>
            <a:ext cx="3047695" cy="1600200"/>
          </a:xfrm>
          <a:prstGeom prst="rect">
            <a:avLst/>
          </a:prstGeom>
          <a:solidFill>
            <a:srgbClr val="E8F1E8"/>
          </a:solidFill>
          <a:ln w="12700">
            <a:solidFill>
              <a:srgbClr val="E8F1E8"/>
            </a:solidFill>
            <a:prstDash val="solid"/>
          </a:ln>
        </p:spPr>
      </p:sp>
      <p:sp>
        <p:nvSpPr>
          <p:cNvPr id="5" name="Text 2"/>
          <p:cNvSpPr txBox="1"/>
          <p:nvPr/>
        </p:nvSpPr>
        <p:spPr>
          <a:xfrm>
            <a:off x="8869680" y="2148840"/>
            <a:ext cx="2499055" cy="1600200"/>
          </a:xfrm>
          <a:prstGeom prst="rect">
            <a:avLst/>
          </a:prstGeom>
          <a:noFill/>
          <a:ln/>
        </p:spPr>
        <p:txBody>
          <a:bodyPr wrap="square" lIns="0" tIns="0" rIns="0" bIns="0" rtlCol="0" anchor="ctr"/>
          <a:lstStyle/>
          <a:p>
            <a:pPr indent="0" marL="0">
              <a:buNone/>
            </a:pPr>
            <a:r>
              <a:rPr lang="en-US" sz="1100" b="1" spc="150" kern="0" dirty="0">
                <a:solidFill>
                  <a:srgbClr val="004F00"/>
                </a:solidFill>
              </a:rPr>
              <a:t>PRE-ECI AND C&amp;V</a:t>
            </a:r>
            <a:endParaRPr lang="en-US" sz="1100" dirty="0"/>
          </a:p>
          <a:p>
            <a:pPr indent="0" marL="0">
              <a:buNone/>
            </a:pPr>
            <a:r>
              <a:rPr lang="en-US" sz="3400" b="1" dirty="0">
                <a:solidFill>
                  <a:srgbClr val="3D3C3C"/>
                </a:solidFill>
                <a:latin typeface="Poppins" pitchFamily="34" charset="0"/>
                <a:ea typeface="Poppins" pitchFamily="34" charset="-122"/>
                <a:cs typeface="Poppins" pitchFamily="34" charset="-120"/>
              </a:rPr>
              <a:t>$177,100</a:t>
            </a:r>
            <a:endParaRPr lang="en-US" sz="1100" dirty="0"/>
          </a:p>
          <a:p>
            <a:pPr indent="0" marL="0">
              <a:buNone/>
            </a:pPr>
            <a:r>
              <a:rPr lang="en-US" sz="1300" dirty="0">
                <a:solidFill>
                  <a:srgbClr val="6B6E75"/>
                </a:solidFill>
              </a:rPr>
              <a:t>45.6% of total budget</a:t>
            </a:r>
            <a:endParaRPr lang="en-US" sz="1100" dirty="0"/>
          </a:p>
        </p:txBody>
      </p:sp>
      <p:sp>
        <p:nvSpPr>
          <p:cNvPr id="6" name="Shape 3"/>
          <p:cNvSpPr/>
          <p:nvPr/>
        </p:nvSpPr>
        <p:spPr>
          <a:xfrm>
            <a:off x="8595360" y="4023360"/>
            <a:ext cx="3047695" cy="1600200"/>
          </a:xfrm>
          <a:prstGeom prst="rect">
            <a:avLst/>
          </a:prstGeom>
          <a:solidFill>
            <a:srgbClr val="FFF6ED"/>
          </a:solidFill>
          <a:ln w="12700">
            <a:solidFill>
              <a:srgbClr val="FFF6ED"/>
            </a:solidFill>
            <a:prstDash val="solid"/>
          </a:ln>
        </p:spPr>
      </p:sp>
      <p:sp>
        <p:nvSpPr>
          <p:cNvPr id="7" name="Text 4"/>
          <p:cNvSpPr txBox="1"/>
          <p:nvPr/>
        </p:nvSpPr>
        <p:spPr>
          <a:xfrm>
            <a:off x="8869680" y="4023360"/>
            <a:ext cx="2499055" cy="1600200"/>
          </a:xfrm>
          <a:prstGeom prst="rect">
            <a:avLst/>
          </a:prstGeom>
          <a:noFill/>
          <a:ln/>
        </p:spPr>
        <p:txBody>
          <a:bodyPr wrap="square" lIns="0" tIns="0" rIns="0" bIns="0" rtlCol="0" anchor="ctr"/>
          <a:lstStyle/>
          <a:p>
            <a:pPr indent="0" marL="0">
              <a:buNone/>
            </a:pPr>
            <a:r>
              <a:rPr lang="en-US" sz="1100" b="1" spc="150" kern="0" dirty="0">
                <a:solidFill>
                  <a:srgbClr val="F48047"/>
                </a:solidFill>
              </a:rPr>
              <a:t>ECI AND ONGOING</a:t>
            </a:r>
            <a:endParaRPr lang="en-US" sz="1100" dirty="0"/>
          </a:p>
          <a:p>
            <a:pPr indent="0" marL="0">
              <a:buNone/>
            </a:pPr>
            <a:r>
              <a:rPr lang="en-US" sz="3400" b="1" dirty="0">
                <a:solidFill>
                  <a:srgbClr val="3D3C3C"/>
                </a:solidFill>
                <a:latin typeface="Poppins" pitchFamily="34" charset="0"/>
                <a:ea typeface="Poppins" pitchFamily="34" charset="-122"/>
                <a:cs typeface="Poppins" pitchFamily="34" charset="-120"/>
              </a:rPr>
              <a:t>$211,000</a:t>
            </a:r>
            <a:endParaRPr lang="en-US" sz="1100" dirty="0"/>
          </a:p>
          <a:p>
            <a:pPr indent="0" marL="0">
              <a:buNone/>
            </a:pPr>
            <a:r>
              <a:rPr lang="en-US" sz="1300" dirty="0">
                <a:solidFill>
                  <a:srgbClr val="6B6E75"/>
                </a:solidFill>
              </a:rPr>
              <a:t>54.4% of total budget</a:t>
            </a:r>
            <a:endParaRPr lang="en-US" sz="1100" dirty="0"/>
          </a:p>
        </p:txBody>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Six more interactives and three submissions</a:t>
            </a:r>
            <a:endParaRPr lang="en-US" sz="2800" dirty="0"/>
          </a:p>
        </p:txBody>
      </p:sp>
      <p:sp>
        <p:nvSpPr>
          <p:cNvPr id="3" name="Subtitle"/>
          <p:cNvSpPr txBox="1"/>
          <p:nvPr/>
        </p:nvSpPr>
        <p:spPr>
          <a:xfrm>
            <a:off x="548640" y="1078992"/>
            <a:ext cx="11094415" cy="411480"/>
          </a:xfrm>
          <a:prstGeom prst="rect">
            <a:avLst/>
          </a:prstGeom>
          <a:noFill/>
          <a:ln/>
        </p:spPr>
        <p:txBody>
          <a:bodyPr wrap="square" lIns="0" tIns="0" rIns="0" bIns="0" rtlCol="0" anchor="ctr"/>
          <a:lstStyle/>
          <a:p>
            <a:pPr indent="0" marL="0">
              <a:buNone/>
            </a:pPr>
            <a:r>
              <a:rPr lang="en-US" sz="1500" dirty="0">
                <a:solidFill>
                  <a:srgbClr val="6B6E75"/>
                </a:solidFill>
              </a:rPr>
              <a:t>Our proposed support for the remainder of the C&amp;V Phase, within the existing budget.</a:t>
            </a:r>
            <a:endParaRPr lang="en-US" sz="1500" dirty="0"/>
          </a:p>
        </p:txBody>
      </p:sp>
      <p:sp>
        <p:nvSpPr>
          <p:cNvPr id="4" name="Text 2"/>
          <p:cNvSpPr txBox="1"/>
          <p:nvPr/>
        </p:nvSpPr>
        <p:spPr>
          <a:xfrm>
            <a:off x="548640" y="1783080"/>
            <a:ext cx="3423818" cy="1737360"/>
          </a:xfrm>
          <a:prstGeom prst="rect">
            <a:avLst/>
          </a:prstGeom>
          <a:noFill/>
          <a:ln/>
        </p:spPr>
        <p:txBody>
          <a:bodyPr wrap="square" lIns="0" tIns="0" rIns="0" bIns="0" rtlCol="0" anchor="b"/>
          <a:lstStyle/>
          <a:p>
            <a:pPr indent="0" marL="0">
              <a:buNone/>
            </a:pPr>
            <a:r>
              <a:rPr lang="en-US" sz="12000" b="1" dirty="0">
                <a:solidFill>
                  <a:srgbClr val="6B6E75"/>
                </a:solidFill>
                <a:latin typeface="Poppins" pitchFamily="34" charset="0"/>
                <a:ea typeface="Poppins" pitchFamily="34" charset="-122"/>
                <a:cs typeface="Poppins" pitchFamily="34" charset="-120"/>
              </a:rPr>
              <a:t>8</a:t>
            </a:r>
            <a:endParaRPr lang="en-US" sz="12000" dirty="0"/>
          </a:p>
        </p:txBody>
      </p:sp>
      <p:sp>
        <p:nvSpPr>
          <p:cNvPr id="5" name="Text 3"/>
          <p:cNvSpPr txBox="1"/>
          <p:nvPr/>
        </p:nvSpPr>
        <p:spPr>
          <a:xfrm>
            <a:off x="548640" y="3566160"/>
            <a:ext cx="3332378" cy="411480"/>
          </a:xfrm>
          <a:prstGeom prst="rect">
            <a:avLst/>
          </a:prstGeom>
          <a:noFill/>
          <a:ln/>
        </p:spPr>
        <p:txBody>
          <a:bodyPr wrap="square" lIns="0" tIns="0" rIns="0" bIns="0" rtlCol="0" anchor="ctr"/>
          <a:lstStyle/>
          <a:p>
            <a:pPr indent="0" marL="0">
              <a:buNone/>
            </a:pPr>
            <a:r>
              <a:rPr lang="en-US" sz="1800" dirty="0">
                <a:solidFill>
                  <a:srgbClr val="3D3C3C"/>
                </a:solidFill>
              </a:rPr>
              <a:t>interactives supported to date</a:t>
            </a:r>
            <a:endParaRPr lang="en-US" sz="1800" dirty="0"/>
          </a:p>
        </p:txBody>
      </p:sp>
      <p:sp>
        <p:nvSpPr>
          <p:cNvPr id="6" name="Text 4"/>
          <p:cNvSpPr txBox="1"/>
          <p:nvPr/>
        </p:nvSpPr>
        <p:spPr>
          <a:xfrm>
            <a:off x="4246778" y="1783080"/>
            <a:ext cx="3423818" cy="1737360"/>
          </a:xfrm>
          <a:prstGeom prst="rect">
            <a:avLst/>
          </a:prstGeom>
          <a:noFill/>
          <a:ln/>
        </p:spPr>
        <p:txBody>
          <a:bodyPr wrap="square" lIns="0" tIns="0" rIns="0" bIns="0" rtlCol="0" anchor="b"/>
          <a:lstStyle/>
          <a:p>
            <a:pPr indent="0" marL="0">
              <a:buNone/>
            </a:pPr>
            <a:r>
              <a:rPr lang="en-US" sz="12000" b="1" dirty="0">
                <a:solidFill>
                  <a:srgbClr val="004F00"/>
                </a:solidFill>
                <a:latin typeface="Poppins" pitchFamily="34" charset="0"/>
                <a:ea typeface="Poppins" pitchFamily="34" charset="-122"/>
                <a:cs typeface="Poppins" pitchFamily="34" charset="-120"/>
              </a:rPr>
              <a:t>6</a:t>
            </a:r>
            <a:endParaRPr lang="en-US" sz="12000" dirty="0"/>
          </a:p>
        </p:txBody>
      </p:sp>
      <p:sp>
        <p:nvSpPr>
          <p:cNvPr id="7" name="Text 5"/>
          <p:cNvSpPr txBox="1"/>
          <p:nvPr/>
        </p:nvSpPr>
        <p:spPr>
          <a:xfrm>
            <a:off x="4246778" y="3566160"/>
            <a:ext cx="3332378" cy="411480"/>
          </a:xfrm>
          <a:prstGeom prst="rect">
            <a:avLst/>
          </a:prstGeom>
          <a:noFill/>
          <a:ln/>
        </p:spPr>
        <p:txBody>
          <a:bodyPr wrap="square" lIns="0" tIns="0" rIns="0" bIns="0" rtlCol="0" anchor="ctr"/>
          <a:lstStyle/>
          <a:p>
            <a:pPr indent="0" marL="0">
              <a:buNone/>
            </a:pPr>
            <a:r>
              <a:rPr lang="en-US" sz="1800" dirty="0">
                <a:solidFill>
                  <a:srgbClr val="3D3C3C"/>
                </a:solidFill>
              </a:rPr>
              <a:t>further interactives proposed</a:t>
            </a:r>
            <a:endParaRPr lang="en-US" sz="1800" dirty="0"/>
          </a:p>
        </p:txBody>
      </p:sp>
      <p:sp>
        <p:nvSpPr>
          <p:cNvPr id="8" name="Shape 6"/>
          <p:cNvSpPr/>
          <p:nvPr/>
        </p:nvSpPr>
        <p:spPr>
          <a:xfrm>
            <a:off x="4063898" y="2057400"/>
            <a:ext cx="0" cy="1920240"/>
          </a:xfrm>
          <a:prstGeom prst="line">
            <a:avLst/>
          </a:prstGeom>
          <a:noFill/>
          <a:ln w="12700">
            <a:solidFill>
              <a:srgbClr val="D9DBE0"/>
            </a:solidFill>
            <a:prstDash val="solid"/>
          </a:ln>
        </p:spPr>
      </p:sp>
      <p:sp>
        <p:nvSpPr>
          <p:cNvPr id="9" name="Text 7"/>
          <p:cNvSpPr txBox="1"/>
          <p:nvPr/>
        </p:nvSpPr>
        <p:spPr>
          <a:xfrm>
            <a:off x="7944917" y="1783080"/>
            <a:ext cx="3423818" cy="1737360"/>
          </a:xfrm>
          <a:prstGeom prst="rect">
            <a:avLst/>
          </a:prstGeom>
          <a:noFill/>
          <a:ln/>
        </p:spPr>
        <p:txBody>
          <a:bodyPr wrap="square" lIns="0" tIns="0" rIns="0" bIns="0" rtlCol="0" anchor="b"/>
          <a:lstStyle/>
          <a:p>
            <a:pPr indent="0" marL="0">
              <a:buNone/>
            </a:pPr>
            <a:r>
              <a:rPr lang="en-US" sz="12000" b="1" dirty="0">
                <a:solidFill>
                  <a:srgbClr val="F48047"/>
                </a:solidFill>
                <a:latin typeface="Poppins" pitchFamily="34" charset="0"/>
                <a:ea typeface="Poppins" pitchFamily="34" charset="-122"/>
                <a:cs typeface="Poppins" pitchFamily="34" charset="-120"/>
              </a:rPr>
              <a:t>3</a:t>
            </a:r>
            <a:endParaRPr lang="en-US" sz="12000" dirty="0"/>
          </a:p>
        </p:txBody>
      </p:sp>
      <p:sp>
        <p:nvSpPr>
          <p:cNvPr id="10" name="Text 8"/>
          <p:cNvSpPr txBox="1"/>
          <p:nvPr/>
        </p:nvSpPr>
        <p:spPr>
          <a:xfrm>
            <a:off x="7944917" y="3566160"/>
            <a:ext cx="3332378" cy="411480"/>
          </a:xfrm>
          <a:prstGeom prst="rect">
            <a:avLst/>
          </a:prstGeom>
          <a:noFill/>
          <a:ln/>
        </p:spPr>
        <p:txBody>
          <a:bodyPr wrap="square" lIns="0" tIns="0" rIns="0" bIns="0" rtlCol="0" anchor="ctr"/>
          <a:lstStyle/>
          <a:p>
            <a:pPr indent="0" marL="0">
              <a:buNone/>
            </a:pPr>
            <a:r>
              <a:rPr lang="en-US" sz="1800" dirty="0">
                <a:solidFill>
                  <a:srgbClr val="3D3C3C"/>
                </a:solidFill>
              </a:rPr>
              <a:t>submissions supported (approx.)</a:t>
            </a:r>
            <a:endParaRPr lang="en-US" sz="1800" dirty="0"/>
          </a:p>
        </p:txBody>
      </p:sp>
      <p:sp>
        <p:nvSpPr>
          <p:cNvPr id="11" name="Shape 9"/>
          <p:cNvSpPr/>
          <p:nvPr/>
        </p:nvSpPr>
        <p:spPr>
          <a:xfrm>
            <a:off x="7762037" y="2057400"/>
            <a:ext cx="0" cy="1920240"/>
          </a:xfrm>
          <a:prstGeom prst="line">
            <a:avLst/>
          </a:prstGeom>
          <a:noFill/>
          <a:ln w="12700">
            <a:solidFill>
              <a:srgbClr val="D9DBE0"/>
            </a:solidFill>
            <a:prstDash val="solid"/>
          </a:ln>
        </p:spPr>
      </p:sp>
      <p:sp>
        <p:nvSpPr>
          <p:cNvPr id="12" name="Text 10"/>
          <p:cNvSpPr txBox="1"/>
          <p:nvPr/>
        </p:nvSpPr>
        <p:spPr>
          <a:xfrm>
            <a:off x="548640" y="4251960"/>
            <a:ext cx="4572000" cy="274320"/>
          </a:xfrm>
          <a:prstGeom prst="rect">
            <a:avLst/>
          </a:prstGeom>
          <a:noFill/>
          <a:ln/>
        </p:spPr>
        <p:txBody>
          <a:bodyPr wrap="square" lIns="0" tIns="0" rIns="0" bIns="0" rtlCol="0" anchor="ctr"/>
          <a:lstStyle/>
          <a:p>
            <a:pPr indent="0" marL="0">
              <a:buNone/>
            </a:pPr>
            <a:r>
              <a:rPr lang="en-US" sz="1100" b="1" spc="150" kern="0" dirty="0">
                <a:solidFill>
                  <a:srgbClr val="6B6E75"/>
                </a:solidFill>
              </a:rPr>
              <a:t>C&amp;V PHASE INTERACTIVES</a:t>
            </a:r>
            <a:endParaRPr lang="en-US" sz="1100" dirty="0"/>
          </a:p>
        </p:txBody>
      </p:sp>
      <p:sp>
        <p:nvSpPr>
          <p:cNvPr id="13" name="Shape 11"/>
          <p:cNvSpPr/>
          <p:nvPr/>
        </p:nvSpPr>
        <p:spPr>
          <a:xfrm>
            <a:off x="548640" y="4663440"/>
            <a:ext cx="493776" cy="384048"/>
          </a:xfrm>
          <a:prstGeom prst="rect">
            <a:avLst/>
          </a:prstGeom>
          <a:solidFill>
            <a:srgbClr val="B8BBC2"/>
          </a:solidFill>
          <a:ln w="12700">
            <a:solidFill>
              <a:srgbClr val="B8BBC2"/>
            </a:solidFill>
            <a:prstDash val="solid"/>
          </a:ln>
        </p:spPr>
      </p:sp>
      <p:sp>
        <p:nvSpPr>
          <p:cNvPr id="14" name="Shape 12"/>
          <p:cNvSpPr/>
          <p:nvPr/>
        </p:nvSpPr>
        <p:spPr>
          <a:xfrm>
            <a:off x="1115568" y="4663440"/>
            <a:ext cx="493776" cy="384048"/>
          </a:xfrm>
          <a:prstGeom prst="rect">
            <a:avLst/>
          </a:prstGeom>
          <a:solidFill>
            <a:srgbClr val="B8BBC2"/>
          </a:solidFill>
          <a:ln w="12700">
            <a:solidFill>
              <a:srgbClr val="B8BBC2"/>
            </a:solidFill>
            <a:prstDash val="solid"/>
          </a:ln>
        </p:spPr>
      </p:sp>
      <p:sp>
        <p:nvSpPr>
          <p:cNvPr id="15" name="Shape 13"/>
          <p:cNvSpPr/>
          <p:nvPr/>
        </p:nvSpPr>
        <p:spPr>
          <a:xfrm>
            <a:off x="1682496" y="4663440"/>
            <a:ext cx="493776" cy="384048"/>
          </a:xfrm>
          <a:prstGeom prst="rect">
            <a:avLst/>
          </a:prstGeom>
          <a:solidFill>
            <a:srgbClr val="B8BBC2"/>
          </a:solidFill>
          <a:ln w="12700">
            <a:solidFill>
              <a:srgbClr val="B8BBC2"/>
            </a:solidFill>
            <a:prstDash val="solid"/>
          </a:ln>
        </p:spPr>
      </p:sp>
      <p:sp>
        <p:nvSpPr>
          <p:cNvPr id="16" name="Shape 14"/>
          <p:cNvSpPr/>
          <p:nvPr/>
        </p:nvSpPr>
        <p:spPr>
          <a:xfrm>
            <a:off x="2249424" y="4663440"/>
            <a:ext cx="493776" cy="384048"/>
          </a:xfrm>
          <a:prstGeom prst="rect">
            <a:avLst/>
          </a:prstGeom>
          <a:solidFill>
            <a:srgbClr val="B8BBC2"/>
          </a:solidFill>
          <a:ln w="12700">
            <a:solidFill>
              <a:srgbClr val="B8BBC2"/>
            </a:solidFill>
            <a:prstDash val="solid"/>
          </a:ln>
        </p:spPr>
      </p:sp>
      <p:sp>
        <p:nvSpPr>
          <p:cNvPr id="17" name="Shape 15"/>
          <p:cNvSpPr/>
          <p:nvPr/>
        </p:nvSpPr>
        <p:spPr>
          <a:xfrm>
            <a:off x="2816352" y="4663440"/>
            <a:ext cx="493776" cy="384048"/>
          </a:xfrm>
          <a:prstGeom prst="rect">
            <a:avLst/>
          </a:prstGeom>
          <a:solidFill>
            <a:srgbClr val="B8BBC2"/>
          </a:solidFill>
          <a:ln w="12700">
            <a:solidFill>
              <a:srgbClr val="B8BBC2"/>
            </a:solidFill>
            <a:prstDash val="solid"/>
          </a:ln>
        </p:spPr>
      </p:sp>
      <p:sp>
        <p:nvSpPr>
          <p:cNvPr id="18" name="Shape 16"/>
          <p:cNvSpPr/>
          <p:nvPr/>
        </p:nvSpPr>
        <p:spPr>
          <a:xfrm>
            <a:off x="3383280" y="4663440"/>
            <a:ext cx="493776" cy="384048"/>
          </a:xfrm>
          <a:prstGeom prst="rect">
            <a:avLst/>
          </a:prstGeom>
          <a:solidFill>
            <a:srgbClr val="B8BBC2"/>
          </a:solidFill>
          <a:ln w="12700">
            <a:solidFill>
              <a:srgbClr val="B8BBC2"/>
            </a:solidFill>
            <a:prstDash val="solid"/>
          </a:ln>
        </p:spPr>
      </p:sp>
      <p:sp>
        <p:nvSpPr>
          <p:cNvPr id="19" name="Shape 17"/>
          <p:cNvSpPr/>
          <p:nvPr/>
        </p:nvSpPr>
        <p:spPr>
          <a:xfrm>
            <a:off x="3950208" y="4663440"/>
            <a:ext cx="493776" cy="384048"/>
          </a:xfrm>
          <a:prstGeom prst="rect">
            <a:avLst/>
          </a:prstGeom>
          <a:solidFill>
            <a:srgbClr val="B8BBC2"/>
          </a:solidFill>
          <a:ln w="12700">
            <a:solidFill>
              <a:srgbClr val="B8BBC2"/>
            </a:solidFill>
            <a:prstDash val="solid"/>
          </a:ln>
        </p:spPr>
      </p:sp>
      <p:sp>
        <p:nvSpPr>
          <p:cNvPr id="20" name="Shape 18"/>
          <p:cNvSpPr/>
          <p:nvPr/>
        </p:nvSpPr>
        <p:spPr>
          <a:xfrm>
            <a:off x="4517136" y="4663440"/>
            <a:ext cx="493776" cy="384048"/>
          </a:xfrm>
          <a:prstGeom prst="rect">
            <a:avLst/>
          </a:prstGeom>
          <a:solidFill>
            <a:srgbClr val="B8BBC2"/>
          </a:solidFill>
          <a:ln w="12700">
            <a:solidFill>
              <a:srgbClr val="B8BBC2"/>
            </a:solidFill>
            <a:prstDash val="solid"/>
          </a:ln>
        </p:spPr>
      </p:sp>
      <p:sp>
        <p:nvSpPr>
          <p:cNvPr id="21" name="Shape 19"/>
          <p:cNvSpPr/>
          <p:nvPr/>
        </p:nvSpPr>
        <p:spPr>
          <a:xfrm>
            <a:off x="5084064" y="4663440"/>
            <a:ext cx="493776" cy="384048"/>
          </a:xfrm>
          <a:prstGeom prst="rect">
            <a:avLst/>
          </a:prstGeom>
          <a:solidFill>
            <a:srgbClr val="004F00"/>
          </a:solidFill>
          <a:ln w="12700">
            <a:solidFill>
              <a:srgbClr val="004F00"/>
            </a:solidFill>
            <a:prstDash val="solid"/>
          </a:ln>
        </p:spPr>
      </p:sp>
      <p:sp>
        <p:nvSpPr>
          <p:cNvPr id="22" name="Shape 20"/>
          <p:cNvSpPr/>
          <p:nvPr/>
        </p:nvSpPr>
        <p:spPr>
          <a:xfrm>
            <a:off x="5650992" y="4663440"/>
            <a:ext cx="493776" cy="384048"/>
          </a:xfrm>
          <a:prstGeom prst="rect">
            <a:avLst/>
          </a:prstGeom>
          <a:solidFill>
            <a:srgbClr val="004F00"/>
          </a:solidFill>
          <a:ln w="12700">
            <a:solidFill>
              <a:srgbClr val="004F00"/>
            </a:solidFill>
            <a:prstDash val="solid"/>
          </a:ln>
        </p:spPr>
      </p:sp>
      <p:sp>
        <p:nvSpPr>
          <p:cNvPr id="23" name="Shape 21"/>
          <p:cNvSpPr/>
          <p:nvPr/>
        </p:nvSpPr>
        <p:spPr>
          <a:xfrm>
            <a:off x="6217920" y="4663440"/>
            <a:ext cx="493776" cy="384048"/>
          </a:xfrm>
          <a:prstGeom prst="rect">
            <a:avLst/>
          </a:prstGeom>
          <a:solidFill>
            <a:srgbClr val="004F00"/>
          </a:solidFill>
          <a:ln w="12700">
            <a:solidFill>
              <a:srgbClr val="004F00"/>
            </a:solidFill>
            <a:prstDash val="solid"/>
          </a:ln>
        </p:spPr>
      </p:sp>
      <p:sp>
        <p:nvSpPr>
          <p:cNvPr id="24" name="Shape 22"/>
          <p:cNvSpPr/>
          <p:nvPr/>
        </p:nvSpPr>
        <p:spPr>
          <a:xfrm>
            <a:off x="6784848" y="4663440"/>
            <a:ext cx="493776" cy="384048"/>
          </a:xfrm>
          <a:prstGeom prst="rect">
            <a:avLst/>
          </a:prstGeom>
          <a:solidFill>
            <a:srgbClr val="004F00"/>
          </a:solidFill>
          <a:ln w="12700">
            <a:solidFill>
              <a:srgbClr val="004F00"/>
            </a:solidFill>
            <a:prstDash val="solid"/>
          </a:ln>
        </p:spPr>
      </p:sp>
      <p:sp>
        <p:nvSpPr>
          <p:cNvPr id="25" name="Shape 23"/>
          <p:cNvSpPr/>
          <p:nvPr/>
        </p:nvSpPr>
        <p:spPr>
          <a:xfrm>
            <a:off x="7351776" y="4663440"/>
            <a:ext cx="493776" cy="384048"/>
          </a:xfrm>
          <a:prstGeom prst="rect">
            <a:avLst/>
          </a:prstGeom>
          <a:solidFill>
            <a:srgbClr val="004F00"/>
          </a:solidFill>
          <a:ln w="12700">
            <a:solidFill>
              <a:srgbClr val="004F00"/>
            </a:solidFill>
            <a:prstDash val="solid"/>
          </a:ln>
        </p:spPr>
      </p:sp>
      <p:sp>
        <p:nvSpPr>
          <p:cNvPr id="26" name="Shape 24"/>
          <p:cNvSpPr/>
          <p:nvPr/>
        </p:nvSpPr>
        <p:spPr>
          <a:xfrm>
            <a:off x="7918704" y="4663440"/>
            <a:ext cx="493776" cy="384048"/>
          </a:xfrm>
          <a:prstGeom prst="rect">
            <a:avLst/>
          </a:prstGeom>
          <a:solidFill>
            <a:srgbClr val="004F00"/>
          </a:solidFill>
          <a:ln w="12700">
            <a:solidFill>
              <a:srgbClr val="004F00"/>
            </a:solidFill>
            <a:prstDash val="solid"/>
          </a:ln>
        </p:spPr>
      </p:sp>
      <p:sp>
        <p:nvSpPr>
          <p:cNvPr id="27" name="Text 25"/>
          <p:cNvSpPr txBox="1"/>
          <p:nvPr/>
        </p:nvSpPr>
        <p:spPr>
          <a:xfrm>
            <a:off x="8869680" y="4251960"/>
            <a:ext cx="2743200" cy="274320"/>
          </a:xfrm>
          <a:prstGeom prst="rect">
            <a:avLst/>
          </a:prstGeom>
          <a:noFill/>
          <a:ln/>
        </p:spPr>
        <p:txBody>
          <a:bodyPr wrap="square" lIns="0" tIns="0" rIns="0" bIns="0" rtlCol="0" anchor="ctr"/>
          <a:lstStyle/>
          <a:p>
            <a:pPr indent="0" marL="0">
              <a:buNone/>
            </a:pPr>
            <a:r>
              <a:rPr lang="en-US" sz="1100" b="1" spc="150" kern="0" dirty="0">
                <a:solidFill>
                  <a:srgbClr val="6B6E75"/>
                </a:solidFill>
              </a:rPr>
              <a:t>SUBMISSIONS</a:t>
            </a:r>
            <a:endParaRPr lang="en-US" sz="1100" dirty="0"/>
          </a:p>
        </p:txBody>
      </p:sp>
      <p:sp>
        <p:nvSpPr>
          <p:cNvPr id="28" name="Shape 26"/>
          <p:cNvSpPr/>
          <p:nvPr/>
        </p:nvSpPr>
        <p:spPr>
          <a:xfrm>
            <a:off x="8869680" y="4663440"/>
            <a:ext cx="493776" cy="384048"/>
          </a:xfrm>
          <a:prstGeom prst="rect">
            <a:avLst/>
          </a:prstGeom>
          <a:solidFill>
            <a:srgbClr val="F48047"/>
          </a:solidFill>
          <a:ln w="12700">
            <a:solidFill>
              <a:srgbClr val="F48047"/>
            </a:solidFill>
            <a:prstDash val="solid"/>
          </a:ln>
        </p:spPr>
      </p:sp>
      <p:sp>
        <p:nvSpPr>
          <p:cNvPr id="29" name="Shape 27"/>
          <p:cNvSpPr/>
          <p:nvPr/>
        </p:nvSpPr>
        <p:spPr>
          <a:xfrm>
            <a:off x="9436608" y="4663440"/>
            <a:ext cx="493776" cy="384048"/>
          </a:xfrm>
          <a:prstGeom prst="rect">
            <a:avLst/>
          </a:prstGeom>
          <a:solidFill>
            <a:srgbClr val="F48047"/>
          </a:solidFill>
          <a:ln w="12700">
            <a:solidFill>
              <a:srgbClr val="F48047"/>
            </a:solidFill>
            <a:prstDash val="solid"/>
          </a:ln>
        </p:spPr>
      </p:sp>
      <p:sp>
        <p:nvSpPr>
          <p:cNvPr id="30" name="Shape 28"/>
          <p:cNvSpPr/>
          <p:nvPr/>
        </p:nvSpPr>
        <p:spPr>
          <a:xfrm>
            <a:off x="10003536" y="4663440"/>
            <a:ext cx="493776" cy="384048"/>
          </a:xfrm>
          <a:prstGeom prst="rect">
            <a:avLst/>
          </a:prstGeom>
          <a:solidFill>
            <a:srgbClr val="F48047"/>
          </a:solidFill>
          <a:ln w="12700">
            <a:solidFill>
              <a:srgbClr val="F48047"/>
            </a:solidFill>
            <a:prstDash val="solid"/>
          </a:ln>
        </p:spPr>
      </p:sp>
      <p:sp>
        <p:nvSpPr>
          <p:cNvPr id="31" name="Text 29"/>
          <p:cNvSpPr txBox="1"/>
          <p:nvPr/>
        </p:nvSpPr>
        <p:spPr>
          <a:xfrm>
            <a:off x="548640" y="5257800"/>
            <a:ext cx="11094415" cy="548640"/>
          </a:xfrm>
          <a:prstGeom prst="rect">
            <a:avLst/>
          </a:prstGeom>
          <a:noFill/>
          <a:ln/>
        </p:spPr>
        <p:txBody>
          <a:bodyPr wrap="square" lIns="0" tIns="0" rIns="0" bIns="0" rtlCol="0" anchor="ctr"/>
          <a:lstStyle/>
          <a:p>
            <a:pPr indent="0" marL="0">
              <a:buNone/>
            </a:pPr>
            <a:r>
              <a:rPr lang="en-US" sz="1300" dirty="0">
                <a:solidFill>
                  <a:srgbClr val="6B6E75"/>
                </a:solidFill>
              </a:rPr>
              <a:t>Interactive support now focuses on preparation and rehearsal. TSG no longer attends the interactives in person, which allows us to extend our support across more sessions.</a:t>
            </a:r>
            <a:endParaRPr lang="en-US" sz="1300" dirty="0"/>
          </a:p>
        </p:txBody>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The interactives we propose to support</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640080"/>
                <a:gridCol w="5486400"/>
                <a:gridCol w="2651760"/>
                <a:gridCol w="2316175"/>
              </a:tblGrid>
              <a:tr h="274320">
                <a:tc>
                  <a:txBody>
                    <a:bodyPr/>
                    <a:lstStyle/>
                    <a:p>
                      <a:pPr algn="ctr" indent="0" marL="0">
                        <a:buNone/>
                      </a:pPr>
                      <a:r>
                        <a:rPr lang="en-US" sz="1200" b="1" dirty="0">
                          <a:solidFill>
                            <a:srgbClr val="FFFFFF"/>
                          </a:solidFill>
                        </a:rPr>
                        <a:t>#</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l" indent="0" marL="0">
                        <a:buNone/>
                      </a:pPr>
                      <a:r>
                        <a:rPr lang="en-US" sz="1200" b="1" dirty="0">
                          <a:solidFill>
                            <a:srgbClr val="FFFFFF"/>
                          </a:solidFill>
                        </a:rPr>
                        <a:t>Interactive topic</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l" indent="0" marL="0">
                        <a:buNone/>
                      </a:pPr>
                      <a:r>
                        <a:rPr lang="en-US" sz="1200" b="1" dirty="0">
                          <a:solidFill>
                            <a:srgbClr val="FFFFFF"/>
                          </a:solidFill>
                        </a:rPr>
                        <a:t>Session</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c>
                  <a:txBody>
                    <a:bodyPr/>
                    <a:lstStyle/>
                    <a:p>
                      <a:pPr algn="l" indent="0" marL="0">
                        <a:buNone/>
                      </a:pPr>
                      <a:r>
                        <a:rPr lang="en-US" sz="1200" b="1" dirty="0">
                          <a:solidFill>
                            <a:srgbClr val="FFFFFF"/>
                          </a:solidFill>
                        </a:rPr>
                        <a:t>Status</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3D3C3C"/>
                    </a:solidFill>
                  </a:tcPr>
                </a:tc>
              </a:tr>
              <a:tr h="274320">
                <a:tc>
                  <a:txBody>
                    <a:bodyPr/>
                    <a:lstStyle/>
                    <a:p>
                      <a:pPr algn="ctr" indent="0" marL="0">
                        <a:buNone/>
                      </a:pPr>
                      <a:r>
                        <a:rPr lang="en-US" sz="1200" dirty="0">
                          <a:solidFill>
                            <a:srgbClr val="6B6E75"/>
                          </a:solidFill>
                        </a:rPr>
                        <a:t>1</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Capacity and Service</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1</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2">
                  <a:txBody>
                    <a:bodyPr/>
                    <a:lstStyle/>
                    <a:p>
                      <a:pPr indent="0" marL="0">
                        <a:buNone/>
                      </a:pPr>
                      <a:r>
                        <a:rPr lang="en-US" sz="1200" dirty="0">
                          <a:solidFill>
                            <a:srgbClr val="3D3C3C"/>
                          </a:solidFill>
                        </a:rPr>
                        <a:t>Alignment</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1</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3</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c>
                  <a:txBody>
                    <a:bodyPr/>
                    <a:lstStyle/>
                    <a:p>
                      <a:pPr indent="0" marL="0">
                        <a:buNone/>
                      </a:pPr>
                      <a:r>
                        <a:rPr lang="en-US" sz="1200" dirty="0">
                          <a:solidFill>
                            <a:srgbClr val="3D3C3C"/>
                          </a:solidFill>
                        </a:rPr>
                        <a:t>Workshop 3</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4</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2">
                  <a:txBody>
                    <a:bodyPr/>
                    <a:lstStyle/>
                    <a:p>
                      <a:pPr indent="0" marL="0">
                        <a:buNone/>
                      </a:pPr>
                      <a:r>
                        <a:rPr lang="en-US" sz="1200" dirty="0">
                          <a:solidFill>
                            <a:srgbClr val="3D3C3C"/>
                          </a:solidFill>
                        </a:rPr>
                        <a:t>Alternative Alignment</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5</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c>
                  <a:txBody>
                    <a:bodyPr/>
                    <a:lstStyle/>
                    <a:p>
                      <a:pPr indent="0" marL="0">
                        <a:buNone/>
                      </a:pPr>
                      <a:r>
                        <a:rPr lang="en-US" sz="1200" dirty="0">
                          <a:solidFill>
                            <a:srgbClr val="3D3C3C"/>
                          </a:solidFill>
                        </a:rPr>
                        <a:t>Workshop 3</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6</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rowSpan="2">
                  <a:txBody>
                    <a:bodyPr/>
                    <a:lstStyle/>
                    <a:p>
                      <a:pPr indent="0" marL="0">
                        <a:buNone/>
                      </a:pPr>
                      <a:r>
                        <a:rPr lang="en-US" sz="1200" dirty="0">
                          <a:solidFill>
                            <a:srgbClr val="3D3C3C"/>
                          </a:solidFill>
                        </a:rPr>
                        <a:t>Fire and Life Safety</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7</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vMerge="1">
                  <a:tcPr/>
                </a:tc>
                <a:tc>
                  <a:txBody>
                    <a:bodyPr/>
                    <a:lstStyle/>
                    <a:p>
                      <a:pPr indent="0" marL="0">
                        <a:buNone/>
                      </a:pPr>
                      <a:r>
                        <a:rPr lang="en-US" sz="1200" dirty="0">
                          <a:solidFill>
                            <a:srgbClr val="3D3C3C"/>
                          </a:solidFill>
                        </a:rPr>
                        <a:t>Workshop 3</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8</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Tunnel Requirements and AMF</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6B6E75"/>
                          </a:solidFill>
                        </a:rPr>
                        <a:t>Completed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r>
              <a:tr h="274320">
                <a:tc>
                  <a:txBody>
                    <a:bodyPr/>
                    <a:lstStyle/>
                    <a:p>
                      <a:pPr algn="ctr" indent="0" marL="0">
                        <a:buNone/>
                      </a:pPr>
                      <a:r>
                        <a:rPr lang="en-US" sz="1200" dirty="0">
                          <a:solidFill>
                            <a:srgbClr val="6B6E75"/>
                          </a:solidFill>
                        </a:rPr>
                        <a:t>9</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Rolling Stock and Station Design</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004F00"/>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r>
              <a:tr h="274320">
                <a:tc>
                  <a:txBody>
                    <a:bodyPr/>
                    <a:lstStyle/>
                    <a:p>
                      <a:pPr algn="ctr" indent="0" marL="0">
                        <a:buNone/>
                      </a:pPr>
                      <a:r>
                        <a:rPr lang="en-US" sz="1200" dirty="0">
                          <a:solidFill>
                            <a:srgbClr val="6B6E75"/>
                          </a:solidFill>
                        </a:rPr>
                        <a:t>10</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Power and Grid Connection</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004F00"/>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r>
              <a:tr h="274320">
                <a:tc>
                  <a:txBody>
                    <a:bodyPr/>
                    <a:lstStyle/>
                    <a:p>
                      <a:pPr algn="ctr" indent="0" marL="0">
                        <a:buNone/>
                      </a:pPr>
                      <a:r>
                        <a:rPr lang="en-US" sz="1200" dirty="0">
                          <a:solidFill>
                            <a:srgbClr val="6B6E75"/>
                          </a:solidFill>
                        </a:rPr>
                        <a:t>11</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TSSI and AP1 Scope Interface</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1</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004F00"/>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r>
              <a:tr h="274320">
                <a:tc>
                  <a:txBody>
                    <a:bodyPr/>
                    <a:lstStyle/>
                    <a:p>
                      <a:pPr algn="ctr" indent="0" marL="0">
                        <a:buNone/>
                      </a:pPr>
                      <a:r>
                        <a:rPr lang="en-US" sz="1200" dirty="0">
                          <a:solidFill>
                            <a:srgbClr val="6B6E75"/>
                          </a:solidFill>
                        </a:rPr>
                        <a:t>12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Asset Management and Maintenance Strategy</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2</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004F00"/>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r>
              <a:tr h="274320">
                <a:tc>
                  <a:txBody>
                    <a:bodyPr/>
                    <a:lstStyle/>
                    <a:p>
                      <a:pPr algn="ctr" indent="0" marL="0">
                        <a:buNone/>
                      </a:pPr>
                      <a:r>
                        <a:rPr lang="en-US" sz="1200" dirty="0">
                          <a:solidFill>
                            <a:srgbClr val="6B6E75"/>
                          </a:solidFill>
                        </a:rPr>
                        <a:t>13</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Safety and Sustainability</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1</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004F00"/>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r>
              <a:tr h="274320">
                <a:tc>
                  <a:txBody>
                    <a:bodyPr/>
                    <a:lstStyle/>
                    <a:p>
                      <a:pPr algn="ctr" indent="0" marL="0">
                        <a:buNone/>
                      </a:pPr>
                      <a:r>
                        <a:rPr lang="en-US" sz="1200" dirty="0">
                          <a:solidFill>
                            <a:srgbClr val="6B6E75"/>
                          </a:solidFill>
                        </a:rPr>
                        <a:t>14</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Alignment</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Workshop 4</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004F00"/>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E8F1E8"/>
                    </a:solidFill>
                  </a:tcPr>
                </a:tc>
              </a:tr>
              <a:tr h="274320">
                <a:tc>
                  <a:txBody>
                    <a:bodyPr/>
                    <a:lstStyle/>
                    <a:p>
                      <a:pPr algn="ctr" indent="0" marL="0">
                        <a:buNone/>
                      </a:pPr>
                      <a:r>
                        <a:rPr lang="en-US" sz="1200" b="1" dirty="0">
                          <a:solidFill>
                            <a:srgbClr val="F48047"/>
                          </a:solidFill>
                        </a:rPr>
                        <a:t>+</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3D3C3C"/>
                          </a:solidFill>
                        </a:rPr>
                        <a:t>Submission support</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dirty="0">
                          <a:solidFill>
                            <a:srgbClr val="3D3C3C"/>
                          </a:solidFill>
                        </a:rPr>
                        <a:t>Approx. 3 submissions</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tcPr>
                </a:tc>
                <a:tc>
                  <a:txBody>
                    <a:bodyPr/>
                    <a:lstStyle/>
                    <a:p>
                      <a:pPr indent="0" marL="0">
                        <a:buNone/>
                      </a:pPr>
                      <a:r>
                        <a:rPr lang="en-US" sz="1200" b="1" dirty="0">
                          <a:solidFill>
                            <a:srgbClr val="F48047"/>
                          </a:solidFill>
                        </a:rPr>
                        <a:t>Proposed</a:t>
                      </a:r>
                      <a:endParaRPr lang="en-US" sz="1200" dirty="0"/>
                    </a:p>
                  </a:txBody>
                  <a:tcPr marL="109728" marR="109728" marT="27432" marB="27432" anchor="ctr">
                    <a:lnL w="9525" cap="flat" cmpd="sng" algn="ctr">
                      <a:solidFill>
                        <a:srgbClr val="D9DBE0"/>
                      </a:solidFill>
                      <a:prstDash val="solid"/>
                      <a:round/>
                      <a:headEnd type="none" w="med" len="med"/>
                      <a:tailEnd type="none" w="med" len="med"/>
                    </a:lnL>
                    <a:lnR w="9525" cap="flat" cmpd="sng" algn="ctr">
                      <a:solidFill>
                        <a:srgbClr val="D9DBE0"/>
                      </a:solidFill>
                      <a:prstDash val="solid"/>
                      <a:round/>
                      <a:headEnd type="none" w="med" len="med"/>
                      <a:tailEnd type="none" w="med" len="med"/>
                    </a:lnR>
                    <a:lnT w="9525" cap="flat" cmpd="sng" algn="ctr">
                      <a:solidFill>
                        <a:srgbClr val="D9DBE0"/>
                      </a:solidFill>
                      <a:prstDash val="solid"/>
                      <a:round/>
                      <a:headEnd type="none" w="med" len="med"/>
                      <a:tailEnd type="none" w="med" len="med"/>
                    </a:lnT>
                    <a:lnB w="9525" cap="flat" cmpd="sng" algn="ctr">
                      <a:solidFill>
                        <a:srgbClr val="D9DBE0"/>
                      </a:solidFill>
                      <a:prstDash val="solid"/>
                      <a:round/>
                      <a:headEnd type="none" w="med" len="med"/>
                      <a:tailEnd type="none" w="med" len="med"/>
                    </a:lnB>
                    <a:solidFill>
                      <a:srgbClr val="FFF6ED"/>
                    </a:solidFill>
                  </a:tcPr>
                </a:tc>
              </a:tr>
            </a:tbl>
          </a:graphicData>
        </a:graphic>
      </p:graphicFrame>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Two December workshops to realign before the ECI</a:t>
            </a:r>
            <a:endParaRPr lang="en-US" sz="2800" dirty="0"/>
          </a:p>
        </p:txBody>
      </p:sp>
      <p:sp>
        <p:nvSpPr>
          <p:cNvPr id="3" name="Subtitle"/>
          <p:cNvSpPr txBox="1"/>
          <p:nvPr/>
        </p:nvSpPr>
        <p:spPr>
          <a:xfrm>
            <a:off x="548640" y="1078992"/>
            <a:ext cx="11094415" cy="411480"/>
          </a:xfrm>
          <a:prstGeom prst="rect">
            <a:avLst/>
          </a:prstGeom>
          <a:noFill/>
          <a:ln/>
        </p:spPr>
        <p:txBody>
          <a:bodyPr wrap="square" lIns="0" tIns="0" rIns="0" bIns="0" rtlCol="0" anchor="ctr"/>
          <a:lstStyle/>
          <a:p>
            <a:pPr indent="0" marL="0">
              <a:buNone/>
            </a:pPr>
            <a:r>
              <a:rPr lang="en-US" sz="1500" dirty="0">
                <a:solidFill>
                  <a:srgbClr val="6B6E75"/>
                </a:solidFill>
              </a:rPr>
              <a:t>The ECI Phase will be decisive. We will reflect on what we have learned about ourselves, HSRA, the other ECI partners and the process, and enter the ECI with a clear strategy.</a:t>
            </a:r>
            <a:endParaRPr lang="en-US" sz="1500" dirty="0"/>
          </a:p>
        </p:txBody>
      </p:sp>
      <p:sp>
        <p:nvSpPr>
          <p:cNvPr id="4" name="Shape 2"/>
          <p:cNvSpPr/>
          <p:nvPr/>
        </p:nvSpPr>
        <p:spPr>
          <a:xfrm>
            <a:off x="548640" y="1737360"/>
            <a:ext cx="5364328" cy="4297680"/>
          </a:xfrm>
          <a:prstGeom prst="rect">
            <a:avLst/>
          </a:prstGeom>
          <a:solidFill>
            <a:srgbClr val="F2F3F5"/>
          </a:solidFill>
          <a:ln w="12700">
            <a:solidFill>
              <a:srgbClr val="F2F3F5"/>
            </a:solidFill>
            <a:prstDash val="solid"/>
          </a:ln>
        </p:spPr>
      </p:sp>
      <p:sp>
        <p:nvSpPr>
          <p:cNvPr id="5" name="Text 3"/>
          <p:cNvSpPr/>
          <p:nvPr/>
        </p:nvSpPr>
        <p:spPr>
          <a:xfrm>
            <a:off x="868680" y="2057400"/>
            <a:ext cx="548640" cy="548640"/>
          </a:xfrm>
          <a:prstGeom prst="ellipse">
            <a:avLst/>
          </a:prstGeom>
          <a:solidFill>
            <a:srgbClr val="004F00"/>
          </a:solid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1</a:t>
            </a:r>
            <a:endParaRPr lang="en-US" sz="2000" dirty="0"/>
          </a:p>
        </p:txBody>
      </p:sp>
      <p:sp>
        <p:nvSpPr>
          <p:cNvPr id="6" name="Text 4"/>
          <p:cNvSpPr txBox="1"/>
          <p:nvPr/>
        </p:nvSpPr>
        <p:spPr>
          <a:xfrm>
            <a:off x="1600200" y="2194560"/>
            <a:ext cx="3992728" cy="274320"/>
          </a:xfrm>
          <a:prstGeom prst="rect">
            <a:avLst/>
          </a:prstGeom>
          <a:noFill/>
          <a:ln/>
        </p:spPr>
        <p:txBody>
          <a:bodyPr wrap="square" lIns="0" tIns="0" rIns="0" bIns="0" rtlCol="0" anchor="ctr"/>
          <a:lstStyle/>
          <a:p>
            <a:pPr indent="0" marL="0">
              <a:buNone/>
            </a:pPr>
            <a:r>
              <a:rPr lang="en-US" sz="1100" b="1" spc="150" kern="0" dirty="0">
                <a:solidFill>
                  <a:srgbClr val="F48047"/>
                </a:solidFill>
              </a:rPr>
              <a:t>EARLY DECEMBER 2026</a:t>
            </a:r>
            <a:endParaRPr lang="en-US" sz="1100" dirty="0"/>
          </a:p>
        </p:txBody>
      </p:sp>
      <p:sp>
        <p:nvSpPr>
          <p:cNvPr id="7" name="Text 5"/>
          <p:cNvSpPr txBox="1"/>
          <p:nvPr/>
        </p:nvSpPr>
        <p:spPr>
          <a:xfrm>
            <a:off x="868680" y="2743200"/>
            <a:ext cx="4724248" cy="411480"/>
          </a:xfrm>
          <a:prstGeom prst="rect">
            <a:avLst/>
          </a:prstGeom>
          <a:noFill/>
          <a:ln/>
        </p:spPr>
        <p:txBody>
          <a:bodyPr wrap="square" lIns="0" tIns="0" rIns="0" bIns="0" rtlCol="0" anchor="ctr"/>
          <a:lstStyle/>
          <a:p>
            <a:pPr indent="0" marL="0">
              <a:buNone/>
            </a:pPr>
            <a:r>
              <a:rPr lang="en-US" sz="2000" b="1" dirty="0">
                <a:solidFill>
                  <a:srgbClr val="3D3C3C"/>
                </a:solidFill>
                <a:latin typeface="Poppins" pitchFamily="34" charset="0"/>
                <a:ea typeface="Poppins" pitchFamily="34" charset="-122"/>
                <a:cs typeface="Poppins" pitchFamily="34" charset="-120"/>
              </a:rPr>
              <a:t>Customer Centricity Coaching</a:t>
            </a:r>
            <a:endParaRPr lang="en-US" sz="2000" dirty="0"/>
          </a:p>
        </p:txBody>
      </p:sp>
      <p:sp>
        <p:nvSpPr>
          <p:cNvPr id="8" name="Text 6"/>
          <p:cNvSpPr txBox="1"/>
          <p:nvPr/>
        </p:nvSpPr>
        <p:spPr>
          <a:xfrm>
            <a:off x="868680" y="3154680"/>
            <a:ext cx="4724248" cy="320040"/>
          </a:xfrm>
          <a:prstGeom prst="rect">
            <a:avLst/>
          </a:prstGeom>
          <a:noFill/>
          <a:ln/>
        </p:spPr>
        <p:txBody>
          <a:bodyPr wrap="square" lIns="0" tIns="0" rIns="0" bIns="0" rtlCol="0" anchor="ctr"/>
          <a:lstStyle/>
          <a:p>
            <a:pPr indent="0" marL="0">
              <a:buNone/>
            </a:pPr>
            <a:r>
              <a:rPr lang="en-US" sz="1400" i="1" dirty="0">
                <a:solidFill>
                  <a:srgbClr val="6B6E75"/>
                </a:solidFill>
              </a:rPr>
              <a:t>Reflecting through an external and an internal lens</a:t>
            </a:r>
            <a:endParaRPr lang="en-US" sz="1400" dirty="0"/>
          </a:p>
        </p:txBody>
      </p:sp>
      <p:sp>
        <p:nvSpPr>
          <p:cNvPr id="9" name="Text 7"/>
          <p:cNvSpPr txBox="1"/>
          <p:nvPr/>
        </p:nvSpPr>
        <p:spPr>
          <a:xfrm>
            <a:off x="868680" y="3657600"/>
            <a:ext cx="4724248" cy="685800"/>
          </a:xfrm>
          <a:prstGeom prst="rect">
            <a:avLst/>
          </a:prstGeom>
          <a:noFill/>
          <a:ln/>
        </p:spPr>
        <p:txBody>
          <a:bodyPr wrap="square" lIns="0" tIns="0" rIns="0" bIns="0" rtlCol="0" anchor="t"/>
          <a:lstStyle/>
          <a:p>
            <a:pPr indent="0" marL="0">
              <a:buNone/>
            </a:pPr>
            <a:r>
              <a:rPr lang="en-US" sz="1400" b="1" dirty="0">
                <a:solidFill>
                  <a:srgbClr val="004F00"/>
                </a:solidFill>
              </a:rPr>
              <a:t>External lens</a:t>
            </a:r>
            <a:endParaRPr lang="en-US" sz="1400" dirty="0"/>
          </a:p>
          <a:p>
            <a:pPr indent="0" marL="0">
              <a:buNone/>
            </a:pPr>
            <a:r>
              <a:rPr lang="en-US" sz="1400" dirty="0">
                <a:solidFill>
                  <a:srgbClr val="3D3C3C"/>
                </a:solidFill>
              </a:rPr>
              <a:t>What we now know about HSRA, its priorities and how it assesses partners</a:t>
            </a:r>
            <a:endParaRPr lang="en-US" sz="1400" dirty="0"/>
          </a:p>
        </p:txBody>
      </p:sp>
      <p:sp>
        <p:nvSpPr>
          <p:cNvPr id="10" name="Text 8"/>
          <p:cNvSpPr txBox="1"/>
          <p:nvPr/>
        </p:nvSpPr>
        <p:spPr>
          <a:xfrm>
            <a:off x="868680" y="4389120"/>
            <a:ext cx="4724248" cy="685800"/>
          </a:xfrm>
          <a:prstGeom prst="rect">
            <a:avLst/>
          </a:prstGeom>
          <a:noFill/>
          <a:ln/>
        </p:spPr>
        <p:txBody>
          <a:bodyPr wrap="square" lIns="0" tIns="0" rIns="0" bIns="0" rtlCol="0" anchor="t"/>
          <a:lstStyle/>
          <a:p>
            <a:pPr indent="0" marL="0">
              <a:buNone/>
            </a:pPr>
            <a:r>
              <a:rPr lang="en-US" sz="1400" b="1" dirty="0">
                <a:solidFill>
                  <a:srgbClr val="004F00"/>
                </a:solidFill>
              </a:rPr>
              <a:t>Internal lens</a:t>
            </a:r>
            <a:endParaRPr lang="en-US" sz="1400" dirty="0"/>
          </a:p>
          <a:p>
            <a:pPr indent="0" marL="0">
              <a:buNone/>
            </a:pPr>
            <a:r>
              <a:rPr lang="en-US" sz="1400" dirty="0">
                <a:solidFill>
                  <a:srgbClr val="3D3C3C"/>
                </a:solidFill>
              </a:rPr>
              <a:t>How the JV has worked together, and the cultural alignment needed for 2027</a:t>
            </a:r>
            <a:endParaRPr lang="en-US" sz="1400" dirty="0"/>
          </a:p>
        </p:txBody>
      </p:sp>
      <p:sp>
        <p:nvSpPr>
          <p:cNvPr id="11" name="Shape 9"/>
          <p:cNvSpPr/>
          <p:nvPr/>
        </p:nvSpPr>
        <p:spPr>
          <a:xfrm>
            <a:off x="868680" y="5166360"/>
            <a:ext cx="4724248" cy="0"/>
          </a:xfrm>
          <a:prstGeom prst="line">
            <a:avLst/>
          </a:prstGeom>
          <a:noFill/>
          <a:ln w="12700">
            <a:solidFill>
              <a:srgbClr val="D9DBE0"/>
            </a:solidFill>
            <a:prstDash val="solid"/>
          </a:ln>
        </p:spPr>
      </p:sp>
      <p:sp>
        <p:nvSpPr>
          <p:cNvPr id="12" name="Text 10"/>
          <p:cNvSpPr txBox="1"/>
          <p:nvPr/>
        </p:nvSpPr>
        <p:spPr>
          <a:xfrm>
            <a:off x="868680" y="5257800"/>
            <a:ext cx="4724248" cy="594360"/>
          </a:xfrm>
          <a:prstGeom prst="rect">
            <a:avLst/>
          </a:prstGeom>
          <a:noFill/>
          <a:ln/>
        </p:spPr>
        <p:txBody>
          <a:bodyPr wrap="square" lIns="0" tIns="0" rIns="0" bIns="0" rtlCol="0" anchor="ctr"/>
          <a:lstStyle/>
          <a:p>
            <a:pPr indent="0" marL="0">
              <a:buNone/>
            </a:pPr>
            <a:r>
              <a:rPr lang="en-US" sz="1400" b="1" dirty="0">
                <a:solidFill>
                  <a:srgbClr val="F48047"/>
                </a:solidFill>
              </a:rPr>
              <a:t>Outcome:  </a:t>
            </a:r>
            <a:pPr indent="0" marL="0">
              <a:buNone/>
            </a:pPr>
            <a:r>
              <a:rPr lang="en-US" sz="1400" dirty="0">
                <a:solidFill>
                  <a:srgbClr val="3D3C3C"/>
                </a:solidFill>
              </a:rPr>
              <a:t>A shared view of HSRA and agreed ways of working</a:t>
            </a:r>
            <a:endParaRPr lang="en-US" sz="1400" dirty="0"/>
          </a:p>
        </p:txBody>
      </p:sp>
      <p:sp>
        <p:nvSpPr>
          <p:cNvPr id="13" name="Shape 11"/>
          <p:cNvSpPr/>
          <p:nvPr/>
        </p:nvSpPr>
        <p:spPr>
          <a:xfrm>
            <a:off x="6278728" y="1737360"/>
            <a:ext cx="5364328" cy="4297680"/>
          </a:xfrm>
          <a:prstGeom prst="rect">
            <a:avLst/>
          </a:prstGeom>
          <a:solidFill>
            <a:srgbClr val="F2F3F5"/>
          </a:solidFill>
          <a:ln w="12700">
            <a:solidFill>
              <a:srgbClr val="F2F3F5"/>
            </a:solidFill>
            <a:prstDash val="solid"/>
          </a:ln>
        </p:spPr>
      </p:sp>
      <p:sp>
        <p:nvSpPr>
          <p:cNvPr id="14" name="Text 12"/>
          <p:cNvSpPr/>
          <p:nvPr/>
        </p:nvSpPr>
        <p:spPr>
          <a:xfrm>
            <a:off x="6598768" y="2057400"/>
            <a:ext cx="548640" cy="548640"/>
          </a:xfrm>
          <a:prstGeom prst="ellipse">
            <a:avLst/>
          </a:prstGeom>
          <a:solidFill>
            <a:srgbClr val="004F00"/>
          </a:solidFill>
          <a:ln/>
        </p:spPr>
        <p:txBody>
          <a:bodyPr wrap="square" lIns="0" tIns="0" rIns="0" bIns="0" rtlCol="0" anchor="ctr"/>
          <a:lstStyle/>
          <a:p>
            <a:pPr algn="ctr" indent="0" marL="0">
              <a:buNone/>
            </a:pPr>
            <a:r>
              <a:rPr lang="en-US" sz="2000" b="1" dirty="0">
                <a:solidFill>
                  <a:srgbClr val="FFFFFF"/>
                </a:solidFill>
                <a:latin typeface="Poppins" pitchFamily="34" charset="0"/>
                <a:ea typeface="Poppins" pitchFamily="34" charset="-122"/>
                <a:cs typeface="Poppins" pitchFamily="34" charset="-120"/>
              </a:rPr>
              <a:t>2</a:t>
            </a:r>
            <a:endParaRPr lang="en-US" sz="2000" dirty="0"/>
          </a:p>
        </p:txBody>
      </p:sp>
      <p:sp>
        <p:nvSpPr>
          <p:cNvPr id="15" name="Text 13"/>
          <p:cNvSpPr txBox="1"/>
          <p:nvPr/>
        </p:nvSpPr>
        <p:spPr>
          <a:xfrm>
            <a:off x="7330288" y="2194560"/>
            <a:ext cx="3992728" cy="274320"/>
          </a:xfrm>
          <a:prstGeom prst="rect">
            <a:avLst/>
          </a:prstGeom>
          <a:noFill/>
          <a:ln/>
        </p:spPr>
        <p:txBody>
          <a:bodyPr wrap="square" lIns="0" tIns="0" rIns="0" bIns="0" rtlCol="0" anchor="ctr"/>
          <a:lstStyle/>
          <a:p>
            <a:pPr indent="0" marL="0">
              <a:buNone/>
            </a:pPr>
            <a:r>
              <a:rPr lang="en-US" sz="1100" b="1" spc="150" kern="0" dirty="0">
                <a:solidFill>
                  <a:srgbClr val="F48047"/>
                </a:solidFill>
              </a:rPr>
              <a:t>EARLY DECEMBER 2026</a:t>
            </a:r>
            <a:endParaRPr lang="en-US" sz="1100" dirty="0"/>
          </a:p>
        </p:txBody>
      </p:sp>
      <p:sp>
        <p:nvSpPr>
          <p:cNvPr id="16" name="Text 14"/>
          <p:cNvSpPr txBox="1"/>
          <p:nvPr/>
        </p:nvSpPr>
        <p:spPr>
          <a:xfrm>
            <a:off x="6598768" y="2743200"/>
            <a:ext cx="4724248" cy="411480"/>
          </a:xfrm>
          <a:prstGeom prst="rect">
            <a:avLst/>
          </a:prstGeom>
          <a:noFill/>
          <a:ln/>
        </p:spPr>
        <p:txBody>
          <a:bodyPr wrap="square" lIns="0" tIns="0" rIns="0" bIns="0" rtlCol="0" anchor="ctr"/>
          <a:lstStyle/>
          <a:p>
            <a:pPr indent="0" marL="0">
              <a:buNone/>
            </a:pPr>
            <a:r>
              <a:rPr lang="en-US" sz="2000" b="1" dirty="0">
                <a:solidFill>
                  <a:srgbClr val="3D3C3C"/>
                </a:solidFill>
                <a:latin typeface="Poppins" pitchFamily="34" charset="0"/>
                <a:ea typeface="Poppins" pitchFamily="34" charset="-122"/>
                <a:cs typeface="Poppins" pitchFamily="34" charset="-120"/>
              </a:rPr>
              <a:t>Partner Development and Strategy</a:t>
            </a:r>
            <a:endParaRPr lang="en-US" sz="2000" dirty="0"/>
          </a:p>
        </p:txBody>
      </p:sp>
      <p:sp>
        <p:nvSpPr>
          <p:cNvPr id="17" name="Text 15"/>
          <p:cNvSpPr txBox="1"/>
          <p:nvPr/>
        </p:nvSpPr>
        <p:spPr>
          <a:xfrm>
            <a:off x="6598768" y="3154680"/>
            <a:ext cx="4724248" cy="320040"/>
          </a:xfrm>
          <a:prstGeom prst="rect">
            <a:avLst/>
          </a:prstGeom>
          <a:noFill/>
          <a:ln/>
        </p:spPr>
        <p:txBody>
          <a:bodyPr wrap="square" lIns="0" tIns="0" rIns="0" bIns="0" rtlCol="0" anchor="ctr"/>
          <a:lstStyle/>
          <a:p>
            <a:pPr indent="0" marL="0">
              <a:buNone/>
            </a:pPr>
            <a:r>
              <a:rPr lang="en-US" sz="1400" i="1" dirty="0">
                <a:solidFill>
                  <a:srgbClr val="6B6E75"/>
                </a:solidFill>
              </a:rPr>
              <a:t>A strategy workshop to define how GoFar will compete</a:t>
            </a:r>
            <a:endParaRPr lang="en-US" sz="1400" dirty="0"/>
          </a:p>
        </p:txBody>
      </p:sp>
      <p:sp>
        <p:nvSpPr>
          <p:cNvPr id="18" name="Text 16"/>
          <p:cNvSpPr txBox="1"/>
          <p:nvPr/>
        </p:nvSpPr>
        <p:spPr>
          <a:xfrm>
            <a:off x="6598768" y="3657600"/>
            <a:ext cx="4724248" cy="685800"/>
          </a:xfrm>
          <a:prstGeom prst="rect">
            <a:avLst/>
          </a:prstGeom>
          <a:noFill/>
          <a:ln/>
        </p:spPr>
        <p:txBody>
          <a:bodyPr wrap="square" lIns="0" tIns="0" rIns="0" bIns="0" rtlCol="0" anchor="t"/>
          <a:lstStyle/>
          <a:p>
            <a:pPr indent="0" marL="0">
              <a:buNone/>
            </a:pPr>
            <a:r>
              <a:rPr lang="en-US" sz="1400" b="1" dirty="0">
                <a:solidFill>
                  <a:srgbClr val="004F00"/>
                </a:solidFill>
              </a:rPr>
              <a:t>Positioning</a:t>
            </a:r>
            <a:endParaRPr lang="en-US" sz="1400" dirty="0"/>
          </a:p>
          <a:p>
            <a:pPr indent="0" marL="0">
              <a:buNone/>
            </a:pPr>
            <a:r>
              <a:rPr lang="en-US" sz="1400" dirty="0">
                <a:solidFill>
                  <a:srgbClr val="3D3C3C"/>
                </a:solidFill>
              </a:rPr>
              <a:t>Win themes and GoFar's unique selling proposition</a:t>
            </a:r>
            <a:endParaRPr lang="en-US" sz="1400" dirty="0"/>
          </a:p>
        </p:txBody>
      </p:sp>
      <p:sp>
        <p:nvSpPr>
          <p:cNvPr id="19" name="Text 17"/>
          <p:cNvSpPr txBox="1"/>
          <p:nvPr/>
        </p:nvSpPr>
        <p:spPr>
          <a:xfrm>
            <a:off x="6598768" y="4389120"/>
            <a:ext cx="4724248" cy="685800"/>
          </a:xfrm>
          <a:prstGeom prst="rect">
            <a:avLst/>
          </a:prstGeom>
          <a:noFill/>
          <a:ln/>
        </p:spPr>
        <p:txBody>
          <a:bodyPr wrap="square" lIns="0" tIns="0" rIns="0" bIns="0" rtlCol="0" anchor="t"/>
          <a:lstStyle/>
          <a:p>
            <a:pPr indent="0" marL="0">
              <a:buNone/>
            </a:pPr>
            <a:r>
              <a:rPr lang="en-US" sz="1400" b="1" dirty="0">
                <a:solidFill>
                  <a:srgbClr val="004F00"/>
                </a:solidFill>
              </a:rPr>
              <a:t>Competitors</a:t>
            </a:r>
            <a:endParaRPr lang="en-US" sz="1400" dirty="0"/>
          </a:p>
          <a:p>
            <a:pPr indent="0" marL="0">
              <a:buNone/>
            </a:pPr>
            <a:r>
              <a:rPr lang="en-US" sz="1400" dirty="0">
                <a:solidFill>
                  <a:srgbClr val="3D3C3C"/>
                </a:solidFill>
              </a:rPr>
              <a:t>A map of the other ECI partners, their strengths and likely approach</a:t>
            </a:r>
            <a:endParaRPr lang="en-US" sz="1400" dirty="0"/>
          </a:p>
        </p:txBody>
      </p:sp>
      <p:sp>
        <p:nvSpPr>
          <p:cNvPr id="20" name="Shape 18"/>
          <p:cNvSpPr/>
          <p:nvPr/>
        </p:nvSpPr>
        <p:spPr>
          <a:xfrm>
            <a:off x="6598768" y="5166360"/>
            <a:ext cx="4724248" cy="0"/>
          </a:xfrm>
          <a:prstGeom prst="line">
            <a:avLst/>
          </a:prstGeom>
          <a:noFill/>
          <a:ln w="12700">
            <a:solidFill>
              <a:srgbClr val="D9DBE0"/>
            </a:solidFill>
            <a:prstDash val="solid"/>
          </a:ln>
        </p:spPr>
      </p:sp>
      <p:sp>
        <p:nvSpPr>
          <p:cNvPr id="21" name="Text 19"/>
          <p:cNvSpPr txBox="1"/>
          <p:nvPr/>
        </p:nvSpPr>
        <p:spPr>
          <a:xfrm>
            <a:off x="6598768" y="5257800"/>
            <a:ext cx="4724248" cy="594360"/>
          </a:xfrm>
          <a:prstGeom prst="rect">
            <a:avLst/>
          </a:prstGeom>
          <a:noFill/>
          <a:ln/>
        </p:spPr>
        <p:txBody>
          <a:bodyPr wrap="square" lIns="0" tIns="0" rIns="0" bIns="0" rtlCol="0" anchor="ctr"/>
          <a:lstStyle/>
          <a:p>
            <a:pPr indent="0" marL="0">
              <a:buNone/>
            </a:pPr>
            <a:r>
              <a:rPr lang="en-US" sz="1400" b="1" dirty="0">
                <a:solidFill>
                  <a:srgbClr val="F48047"/>
                </a:solidFill>
              </a:rPr>
              <a:t>Outcome:  </a:t>
            </a:r>
            <a:pPr indent="0" marL="0">
              <a:buNone/>
            </a:pPr>
            <a:r>
              <a:rPr lang="en-US" sz="1400" dirty="0">
                <a:solidFill>
                  <a:srgbClr val="3D3C3C"/>
                </a:solidFill>
              </a:rPr>
              <a:t>A clear ECI strategy and key messages</a:t>
            </a:r>
            <a:endParaRPr lang="en-US" sz="1400" dirty="0"/>
          </a:p>
        </p:txBody>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January to June: support for every ECI interactive</a:t>
            </a:r>
            <a:endParaRPr lang="en-US" sz="2800" dirty="0"/>
          </a:p>
        </p:txBody>
      </p:sp>
      <p:sp>
        <p:nvSpPr>
          <p:cNvPr id="3" name="Subtitle"/>
          <p:cNvSpPr txBox="1"/>
          <p:nvPr/>
        </p:nvSpPr>
        <p:spPr>
          <a:xfrm>
            <a:off x="548640" y="1078992"/>
            <a:ext cx="11094415" cy="411480"/>
          </a:xfrm>
          <a:prstGeom prst="rect">
            <a:avLst/>
          </a:prstGeom>
          <a:noFill/>
          <a:ln/>
        </p:spPr>
        <p:txBody>
          <a:bodyPr wrap="square" lIns="0" tIns="0" rIns="0" bIns="0" rtlCol="0" anchor="ctr"/>
          <a:lstStyle/>
          <a:p>
            <a:pPr indent="0" marL="0">
              <a:buNone/>
            </a:pPr>
            <a:r>
              <a:rPr lang="en-US" sz="1500" dirty="0">
                <a:solidFill>
                  <a:srgbClr val="6B6E75"/>
                </a:solidFill>
              </a:rPr>
              <a:t>An estimated 12 interactives, each following our eight-step process, with TSG in the room for live support.</a:t>
            </a:r>
            <a:endParaRPr lang="en-US" sz="1500" dirty="0"/>
          </a:p>
        </p:txBody>
      </p:sp>
      <p:sp>
        <p:nvSpPr>
          <p:cNvPr id="4" name="Text 2"/>
          <p:cNvSpPr txBox="1"/>
          <p:nvPr/>
        </p:nvSpPr>
        <p:spPr>
          <a:xfrm>
            <a:off x="548640" y="1828800"/>
            <a:ext cx="1849069" cy="274320"/>
          </a:xfrm>
          <a:prstGeom prst="rect">
            <a:avLst/>
          </a:prstGeom>
          <a:noFill/>
          <a:ln/>
        </p:spPr>
        <p:txBody>
          <a:bodyPr wrap="square" lIns="0" tIns="0" rIns="0" bIns="0" rtlCol="0" anchor="ctr"/>
          <a:lstStyle/>
          <a:p>
            <a:pPr algn="ctr" indent="0" marL="0">
              <a:buNone/>
            </a:pPr>
            <a:r>
              <a:rPr lang="en-US" sz="1200" b="1" dirty="0">
                <a:solidFill>
                  <a:srgbClr val="6B6E75"/>
                </a:solidFill>
              </a:rPr>
              <a:t>Jan</a:t>
            </a:r>
            <a:endParaRPr lang="en-US" sz="1200" dirty="0"/>
          </a:p>
        </p:txBody>
      </p:sp>
      <p:sp>
        <p:nvSpPr>
          <p:cNvPr id="5" name="Text 3"/>
          <p:cNvSpPr txBox="1"/>
          <p:nvPr/>
        </p:nvSpPr>
        <p:spPr>
          <a:xfrm>
            <a:off x="2397709" y="1828800"/>
            <a:ext cx="1849069" cy="274320"/>
          </a:xfrm>
          <a:prstGeom prst="rect">
            <a:avLst/>
          </a:prstGeom>
          <a:noFill/>
          <a:ln/>
        </p:spPr>
        <p:txBody>
          <a:bodyPr wrap="square" lIns="0" tIns="0" rIns="0" bIns="0" rtlCol="0" anchor="ctr"/>
          <a:lstStyle/>
          <a:p>
            <a:pPr algn="ctr" indent="0" marL="0">
              <a:buNone/>
            </a:pPr>
            <a:r>
              <a:rPr lang="en-US" sz="1200" b="1" dirty="0">
                <a:solidFill>
                  <a:srgbClr val="6B6E75"/>
                </a:solidFill>
              </a:rPr>
              <a:t>Feb</a:t>
            </a:r>
            <a:endParaRPr lang="en-US" sz="1200" dirty="0"/>
          </a:p>
        </p:txBody>
      </p:sp>
      <p:sp>
        <p:nvSpPr>
          <p:cNvPr id="6" name="Text 4"/>
          <p:cNvSpPr txBox="1"/>
          <p:nvPr/>
        </p:nvSpPr>
        <p:spPr>
          <a:xfrm>
            <a:off x="4246778" y="1828800"/>
            <a:ext cx="1849069" cy="274320"/>
          </a:xfrm>
          <a:prstGeom prst="rect">
            <a:avLst/>
          </a:prstGeom>
          <a:noFill/>
          <a:ln/>
        </p:spPr>
        <p:txBody>
          <a:bodyPr wrap="square" lIns="0" tIns="0" rIns="0" bIns="0" rtlCol="0" anchor="ctr"/>
          <a:lstStyle/>
          <a:p>
            <a:pPr algn="ctr" indent="0" marL="0">
              <a:buNone/>
            </a:pPr>
            <a:r>
              <a:rPr lang="en-US" sz="1200" b="1" dirty="0">
                <a:solidFill>
                  <a:srgbClr val="6B6E75"/>
                </a:solidFill>
              </a:rPr>
              <a:t>Mar</a:t>
            </a:r>
            <a:endParaRPr lang="en-US" sz="1200" dirty="0"/>
          </a:p>
        </p:txBody>
      </p:sp>
      <p:sp>
        <p:nvSpPr>
          <p:cNvPr id="7" name="Text 5"/>
          <p:cNvSpPr txBox="1"/>
          <p:nvPr/>
        </p:nvSpPr>
        <p:spPr>
          <a:xfrm>
            <a:off x="6095848" y="1828800"/>
            <a:ext cx="1849069" cy="274320"/>
          </a:xfrm>
          <a:prstGeom prst="rect">
            <a:avLst/>
          </a:prstGeom>
          <a:noFill/>
          <a:ln/>
        </p:spPr>
        <p:txBody>
          <a:bodyPr wrap="square" lIns="0" tIns="0" rIns="0" bIns="0" rtlCol="0" anchor="ctr"/>
          <a:lstStyle/>
          <a:p>
            <a:pPr algn="ctr" indent="0" marL="0">
              <a:buNone/>
            </a:pPr>
            <a:r>
              <a:rPr lang="en-US" sz="1200" b="1" dirty="0">
                <a:solidFill>
                  <a:srgbClr val="6B6E75"/>
                </a:solidFill>
              </a:rPr>
              <a:t>Apr</a:t>
            </a:r>
            <a:endParaRPr lang="en-US" sz="1200" dirty="0"/>
          </a:p>
        </p:txBody>
      </p:sp>
      <p:sp>
        <p:nvSpPr>
          <p:cNvPr id="8" name="Text 6"/>
          <p:cNvSpPr txBox="1"/>
          <p:nvPr/>
        </p:nvSpPr>
        <p:spPr>
          <a:xfrm>
            <a:off x="7944917" y="1828800"/>
            <a:ext cx="1849069" cy="274320"/>
          </a:xfrm>
          <a:prstGeom prst="rect">
            <a:avLst/>
          </a:prstGeom>
          <a:noFill/>
          <a:ln/>
        </p:spPr>
        <p:txBody>
          <a:bodyPr wrap="square" lIns="0" tIns="0" rIns="0" bIns="0" rtlCol="0" anchor="ctr"/>
          <a:lstStyle/>
          <a:p>
            <a:pPr algn="ctr" indent="0" marL="0">
              <a:buNone/>
            </a:pPr>
            <a:r>
              <a:rPr lang="en-US" sz="1200" b="1" dirty="0">
                <a:solidFill>
                  <a:srgbClr val="6B6E75"/>
                </a:solidFill>
              </a:rPr>
              <a:t>May</a:t>
            </a:r>
            <a:endParaRPr lang="en-US" sz="1200" dirty="0"/>
          </a:p>
        </p:txBody>
      </p:sp>
      <p:sp>
        <p:nvSpPr>
          <p:cNvPr id="9" name="Text 7"/>
          <p:cNvSpPr txBox="1"/>
          <p:nvPr/>
        </p:nvSpPr>
        <p:spPr>
          <a:xfrm>
            <a:off x="9793986" y="1828800"/>
            <a:ext cx="1849069" cy="274320"/>
          </a:xfrm>
          <a:prstGeom prst="rect">
            <a:avLst/>
          </a:prstGeom>
          <a:noFill/>
          <a:ln/>
        </p:spPr>
        <p:txBody>
          <a:bodyPr wrap="square" lIns="0" tIns="0" rIns="0" bIns="0" rtlCol="0" anchor="ctr"/>
          <a:lstStyle/>
          <a:p>
            <a:pPr algn="ctr" indent="0" marL="0">
              <a:buNone/>
            </a:pPr>
            <a:r>
              <a:rPr lang="en-US" sz="1200" b="1" dirty="0">
                <a:solidFill>
                  <a:srgbClr val="6B6E75"/>
                </a:solidFill>
              </a:rPr>
              <a:t>Jun</a:t>
            </a:r>
            <a:endParaRPr lang="en-US" sz="1200" dirty="0"/>
          </a:p>
        </p:txBody>
      </p:sp>
      <p:sp>
        <p:nvSpPr>
          <p:cNvPr id="10" name="Text 8"/>
          <p:cNvSpPr/>
          <p:nvPr/>
        </p:nvSpPr>
        <p:spPr>
          <a:xfrm>
            <a:off x="548640" y="2176272"/>
            <a:ext cx="8275091" cy="411480"/>
          </a:xfrm>
          <a:prstGeom prst="rect">
            <a:avLst/>
          </a:prstGeom>
          <a:solidFill>
            <a:srgbClr val="004F00"/>
          </a:solidFill>
          <a:ln/>
        </p:spPr>
        <p:txBody>
          <a:bodyPr wrap="square" lIns="0" tIns="0" rIns="0" bIns="0" rtlCol="0" anchor="ctr"/>
          <a:lstStyle/>
          <a:p>
            <a:pPr algn="ctr" indent="0" marL="0">
              <a:buNone/>
            </a:pPr>
            <a:r>
              <a:rPr lang="en-US" sz="1300" b="1" dirty="0">
                <a:solidFill>
                  <a:srgbClr val="FFFFFF"/>
                </a:solidFill>
              </a:rPr>
              <a:t>Interactive preparation and live support</a:t>
            </a:r>
            <a:endParaRPr lang="en-US" sz="1300" dirty="0"/>
          </a:p>
        </p:txBody>
      </p:sp>
      <p:sp>
        <p:nvSpPr>
          <p:cNvPr id="11" name="Text 9"/>
          <p:cNvSpPr/>
          <p:nvPr/>
        </p:nvSpPr>
        <p:spPr>
          <a:xfrm>
            <a:off x="8915171" y="2176272"/>
            <a:ext cx="2727884" cy="411480"/>
          </a:xfrm>
          <a:prstGeom prst="rect">
            <a:avLst/>
          </a:prstGeom>
          <a:solidFill>
            <a:srgbClr val="F48047"/>
          </a:solidFill>
          <a:ln/>
        </p:spPr>
        <p:txBody>
          <a:bodyPr wrap="square" lIns="0" tIns="0" rIns="0" bIns="0" rtlCol="0" anchor="ctr"/>
          <a:lstStyle/>
          <a:p>
            <a:pPr algn="ctr" indent="0" marL="0">
              <a:buNone/>
            </a:pPr>
            <a:r>
              <a:rPr lang="en-US" sz="1300" b="1" dirty="0">
                <a:solidFill>
                  <a:srgbClr val="FFFFFF"/>
                </a:solidFill>
              </a:rPr>
              <a:t>Final interactives</a:t>
            </a:r>
            <a:endParaRPr lang="en-US" sz="1300" dirty="0"/>
          </a:p>
        </p:txBody>
      </p:sp>
      <p:sp>
        <p:nvSpPr>
          <p:cNvPr id="12" name="Text 10"/>
          <p:cNvSpPr txBox="1"/>
          <p:nvPr/>
        </p:nvSpPr>
        <p:spPr>
          <a:xfrm>
            <a:off x="548640" y="2971800"/>
            <a:ext cx="2567864" cy="274320"/>
          </a:xfrm>
          <a:prstGeom prst="rect">
            <a:avLst/>
          </a:prstGeom>
          <a:noFill/>
          <a:ln/>
        </p:spPr>
        <p:txBody>
          <a:bodyPr wrap="square" lIns="0" tIns="0" rIns="0" bIns="0" rtlCol="0" anchor="ctr"/>
          <a:lstStyle/>
          <a:p>
            <a:pPr indent="0" marL="0">
              <a:buNone/>
            </a:pPr>
            <a:r>
              <a:rPr lang="en-US" sz="1100" b="1" spc="150" kern="0" dirty="0">
                <a:solidFill>
                  <a:srgbClr val="F48047"/>
                </a:solidFill>
              </a:rPr>
              <a:t>PREPARE</a:t>
            </a:r>
            <a:endParaRPr lang="en-US" sz="1100" dirty="0"/>
          </a:p>
        </p:txBody>
      </p:sp>
      <p:sp>
        <p:nvSpPr>
          <p:cNvPr id="13" name="Shape 11"/>
          <p:cNvSpPr/>
          <p:nvPr/>
        </p:nvSpPr>
        <p:spPr>
          <a:xfrm>
            <a:off x="548640" y="3337560"/>
            <a:ext cx="2567864" cy="822960"/>
          </a:xfrm>
          <a:prstGeom prst="rect">
            <a:avLst/>
          </a:prstGeom>
          <a:solidFill>
            <a:srgbClr val="F2F3F5"/>
          </a:solidFill>
          <a:ln w="12700">
            <a:solidFill>
              <a:srgbClr val="F2F3F5"/>
            </a:solidFill>
            <a:prstDash val="solid"/>
          </a:ln>
        </p:spPr>
      </p:sp>
      <p:sp>
        <p:nvSpPr>
          <p:cNvPr id="14" name="Text 12"/>
          <p:cNvSpPr/>
          <p:nvPr/>
        </p:nvSpPr>
        <p:spPr>
          <a:xfrm>
            <a:off x="713232" y="353872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5" name="Text 13"/>
          <p:cNvSpPr txBox="1"/>
          <p:nvPr/>
        </p:nvSpPr>
        <p:spPr>
          <a:xfrm>
            <a:off x="1280160" y="3337560"/>
            <a:ext cx="1699184" cy="822960"/>
          </a:xfrm>
          <a:prstGeom prst="rect">
            <a:avLst/>
          </a:prstGeom>
          <a:noFill/>
          <a:ln/>
        </p:spPr>
        <p:txBody>
          <a:bodyPr wrap="square" lIns="0" tIns="0" rIns="0" bIns="0" rtlCol="0" anchor="ctr"/>
          <a:lstStyle/>
          <a:p>
            <a:pPr indent="0" marL="0">
              <a:buNone/>
            </a:pPr>
            <a:r>
              <a:rPr lang="en-US" sz="1300" dirty="0">
                <a:solidFill>
                  <a:srgbClr val="3D3C3C"/>
                </a:solidFill>
              </a:rPr>
              <a:t>Content discussion and objective setting</a:t>
            </a:r>
            <a:endParaRPr lang="en-US" sz="1300" dirty="0"/>
          </a:p>
        </p:txBody>
      </p:sp>
      <p:sp>
        <p:nvSpPr>
          <p:cNvPr id="16" name="Shape 14"/>
          <p:cNvSpPr/>
          <p:nvPr/>
        </p:nvSpPr>
        <p:spPr>
          <a:xfrm>
            <a:off x="548640" y="4297680"/>
            <a:ext cx="2567864" cy="822960"/>
          </a:xfrm>
          <a:prstGeom prst="rect">
            <a:avLst/>
          </a:prstGeom>
          <a:solidFill>
            <a:srgbClr val="F2F3F5"/>
          </a:solidFill>
          <a:ln w="12700">
            <a:solidFill>
              <a:srgbClr val="F2F3F5"/>
            </a:solidFill>
            <a:prstDash val="solid"/>
          </a:ln>
        </p:spPr>
      </p:sp>
      <p:sp>
        <p:nvSpPr>
          <p:cNvPr id="17" name="Text 15"/>
          <p:cNvSpPr/>
          <p:nvPr/>
        </p:nvSpPr>
        <p:spPr>
          <a:xfrm>
            <a:off x="713232" y="449884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8" name="Text 16"/>
          <p:cNvSpPr txBox="1"/>
          <p:nvPr/>
        </p:nvSpPr>
        <p:spPr>
          <a:xfrm>
            <a:off x="1280160" y="4297680"/>
            <a:ext cx="1699184" cy="822960"/>
          </a:xfrm>
          <a:prstGeom prst="rect">
            <a:avLst/>
          </a:prstGeom>
          <a:noFill/>
          <a:ln/>
        </p:spPr>
        <p:txBody>
          <a:bodyPr wrap="square" lIns="0" tIns="0" rIns="0" bIns="0" rtlCol="0" anchor="ctr"/>
          <a:lstStyle/>
          <a:p>
            <a:pPr indent="0" marL="0">
              <a:buNone/>
            </a:pPr>
            <a:r>
              <a:rPr lang="en-US" sz="1300" dirty="0">
                <a:solidFill>
                  <a:srgbClr val="3D3C3C"/>
                </a:solidFill>
              </a:rPr>
              <a:t>Informal team alignment and personal coaching</a:t>
            </a:r>
            <a:endParaRPr lang="en-US" sz="1300" dirty="0"/>
          </a:p>
        </p:txBody>
      </p:sp>
      <p:sp>
        <p:nvSpPr>
          <p:cNvPr id="19" name="Text 17"/>
          <p:cNvSpPr txBox="1"/>
          <p:nvPr/>
        </p:nvSpPr>
        <p:spPr>
          <a:xfrm>
            <a:off x="3098216" y="4023360"/>
            <a:ext cx="310896" cy="457200"/>
          </a:xfrm>
          <a:prstGeom prst="rect">
            <a:avLst/>
          </a:prstGeom>
          <a:noFill/>
          <a:ln/>
        </p:spPr>
        <p:txBody>
          <a:bodyPr wrap="square" lIns="0" tIns="0" rIns="0" bIns="0" rtlCol="0" anchor="ctr"/>
          <a:lstStyle/>
          <a:p>
            <a:pPr algn="ctr" indent="0" marL="0">
              <a:buNone/>
            </a:pPr>
            <a:r>
              <a:rPr lang="en-US" sz="2400" dirty="0">
                <a:solidFill>
                  <a:srgbClr val="F48047"/>
                </a:solidFill>
              </a:rPr>
              <a:t>›</a:t>
            </a:r>
            <a:endParaRPr lang="en-US" sz="2400" dirty="0"/>
          </a:p>
        </p:txBody>
      </p:sp>
      <p:sp>
        <p:nvSpPr>
          <p:cNvPr id="20" name="Text 18"/>
          <p:cNvSpPr txBox="1"/>
          <p:nvPr/>
        </p:nvSpPr>
        <p:spPr>
          <a:xfrm>
            <a:off x="3390824" y="2971800"/>
            <a:ext cx="2567864" cy="274320"/>
          </a:xfrm>
          <a:prstGeom prst="rect">
            <a:avLst/>
          </a:prstGeom>
          <a:noFill/>
          <a:ln/>
        </p:spPr>
        <p:txBody>
          <a:bodyPr wrap="square" lIns="0" tIns="0" rIns="0" bIns="0" rtlCol="0" anchor="ctr"/>
          <a:lstStyle/>
          <a:p>
            <a:pPr indent="0" marL="0">
              <a:buNone/>
            </a:pPr>
            <a:r>
              <a:rPr lang="en-US" sz="1100" b="1" spc="150" kern="0" dirty="0">
                <a:solidFill>
                  <a:srgbClr val="F48047"/>
                </a:solidFill>
              </a:rPr>
              <a:t>DEVELOP</a:t>
            </a:r>
            <a:endParaRPr lang="en-US" sz="1100" dirty="0"/>
          </a:p>
        </p:txBody>
      </p:sp>
      <p:sp>
        <p:nvSpPr>
          <p:cNvPr id="21" name="Shape 19"/>
          <p:cNvSpPr/>
          <p:nvPr/>
        </p:nvSpPr>
        <p:spPr>
          <a:xfrm>
            <a:off x="3390824" y="3337560"/>
            <a:ext cx="2567864" cy="822960"/>
          </a:xfrm>
          <a:prstGeom prst="rect">
            <a:avLst/>
          </a:prstGeom>
          <a:solidFill>
            <a:srgbClr val="F2F3F5"/>
          </a:solidFill>
          <a:ln w="12700">
            <a:solidFill>
              <a:srgbClr val="F2F3F5"/>
            </a:solidFill>
            <a:prstDash val="solid"/>
          </a:ln>
        </p:spPr>
      </p:sp>
      <p:sp>
        <p:nvSpPr>
          <p:cNvPr id="22" name="Text 20"/>
          <p:cNvSpPr/>
          <p:nvPr/>
        </p:nvSpPr>
        <p:spPr>
          <a:xfrm>
            <a:off x="3555416" y="353872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3" name="Text 21"/>
          <p:cNvSpPr txBox="1"/>
          <p:nvPr/>
        </p:nvSpPr>
        <p:spPr>
          <a:xfrm>
            <a:off x="4122344" y="3337560"/>
            <a:ext cx="1699184" cy="822960"/>
          </a:xfrm>
          <a:prstGeom prst="rect">
            <a:avLst/>
          </a:prstGeom>
          <a:noFill/>
          <a:ln/>
        </p:spPr>
        <p:txBody>
          <a:bodyPr wrap="square" lIns="0" tIns="0" rIns="0" bIns="0" rtlCol="0" anchor="ctr"/>
          <a:lstStyle/>
          <a:p>
            <a:pPr indent="0" marL="0">
              <a:buNone/>
            </a:pPr>
            <a:r>
              <a:rPr lang="en-US" sz="1300" dirty="0">
                <a:solidFill>
                  <a:srgbClr val="3D3C3C"/>
                </a:solidFill>
              </a:rPr>
              <a:t>Presentation development and refinement</a:t>
            </a:r>
            <a:endParaRPr lang="en-US" sz="1300" dirty="0"/>
          </a:p>
        </p:txBody>
      </p:sp>
      <p:sp>
        <p:nvSpPr>
          <p:cNvPr id="24" name="Shape 22"/>
          <p:cNvSpPr/>
          <p:nvPr/>
        </p:nvSpPr>
        <p:spPr>
          <a:xfrm>
            <a:off x="3390824" y="4297680"/>
            <a:ext cx="2567864" cy="822960"/>
          </a:xfrm>
          <a:prstGeom prst="rect">
            <a:avLst/>
          </a:prstGeom>
          <a:solidFill>
            <a:srgbClr val="F2F3F5"/>
          </a:solidFill>
          <a:ln w="12700">
            <a:solidFill>
              <a:srgbClr val="F2F3F5"/>
            </a:solidFill>
            <a:prstDash val="solid"/>
          </a:ln>
        </p:spPr>
      </p:sp>
      <p:sp>
        <p:nvSpPr>
          <p:cNvPr id="25" name="Text 23"/>
          <p:cNvSpPr/>
          <p:nvPr/>
        </p:nvSpPr>
        <p:spPr>
          <a:xfrm>
            <a:off x="3555416" y="449884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6" name="Text 24"/>
          <p:cNvSpPr txBox="1"/>
          <p:nvPr/>
        </p:nvSpPr>
        <p:spPr>
          <a:xfrm>
            <a:off x="4122344" y="4297680"/>
            <a:ext cx="1699184" cy="822960"/>
          </a:xfrm>
          <a:prstGeom prst="rect">
            <a:avLst/>
          </a:prstGeom>
          <a:noFill/>
          <a:ln/>
        </p:spPr>
        <p:txBody>
          <a:bodyPr wrap="square" lIns="0" tIns="0" rIns="0" bIns="0" rtlCol="0" anchor="ctr"/>
          <a:lstStyle/>
          <a:p>
            <a:pPr indent="0" marL="0">
              <a:buNone/>
            </a:pPr>
            <a:r>
              <a:rPr lang="en-US" sz="1300" dirty="0">
                <a:solidFill>
                  <a:srgbClr val="3D3C3C"/>
                </a:solidFill>
              </a:rPr>
              <a:t>Speaker guide and run sheet</a:t>
            </a:r>
            <a:endParaRPr lang="en-US" sz="1300" dirty="0"/>
          </a:p>
        </p:txBody>
      </p:sp>
      <p:sp>
        <p:nvSpPr>
          <p:cNvPr id="27" name="Text 25"/>
          <p:cNvSpPr txBox="1"/>
          <p:nvPr/>
        </p:nvSpPr>
        <p:spPr>
          <a:xfrm>
            <a:off x="5940400" y="4023360"/>
            <a:ext cx="310896" cy="457200"/>
          </a:xfrm>
          <a:prstGeom prst="rect">
            <a:avLst/>
          </a:prstGeom>
          <a:noFill/>
          <a:ln/>
        </p:spPr>
        <p:txBody>
          <a:bodyPr wrap="square" lIns="0" tIns="0" rIns="0" bIns="0" rtlCol="0" anchor="ctr"/>
          <a:lstStyle/>
          <a:p>
            <a:pPr algn="ctr" indent="0" marL="0">
              <a:buNone/>
            </a:pPr>
            <a:r>
              <a:rPr lang="en-US" sz="2400" dirty="0">
                <a:solidFill>
                  <a:srgbClr val="F48047"/>
                </a:solidFill>
              </a:rPr>
              <a:t>›</a:t>
            </a:r>
            <a:endParaRPr lang="en-US" sz="2400" dirty="0"/>
          </a:p>
        </p:txBody>
      </p:sp>
      <p:sp>
        <p:nvSpPr>
          <p:cNvPr id="28" name="Text 26"/>
          <p:cNvSpPr txBox="1"/>
          <p:nvPr/>
        </p:nvSpPr>
        <p:spPr>
          <a:xfrm>
            <a:off x="6233008" y="2971800"/>
            <a:ext cx="2567864" cy="274320"/>
          </a:xfrm>
          <a:prstGeom prst="rect">
            <a:avLst/>
          </a:prstGeom>
          <a:noFill/>
          <a:ln/>
        </p:spPr>
        <p:txBody>
          <a:bodyPr wrap="square" lIns="0" tIns="0" rIns="0" bIns="0" rtlCol="0" anchor="ctr"/>
          <a:lstStyle/>
          <a:p>
            <a:pPr indent="0" marL="0">
              <a:buNone/>
            </a:pPr>
            <a:r>
              <a:rPr lang="en-US" sz="1100" b="1" spc="150" kern="0" dirty="0">
                <a:solidFill>
                  <a:srgbClr val="F48047"/>
                </a:solidFill>
              </a:rPr>
              <a:t>REHEARSE</a:t>
            </a:r>
            <a:endParaRPr lang="en-US" sz="1100" dirty="0"/>
          </a:p>
        </p:txBody>
      </p:sp>
      <p:sp>
        <p:nvSpPr>
          <p:cNvPr id="29" name="Shape 27"/>
          <p:cNvSpPr/>
          <p:nvPr/>
        </p:nvSpPr>
        <p:spPr>
          <a:xfrm>
            <a:off x="6233008" y="3337560"/>
            <a:ext cx="2567864" cy="822960"/>
          </a:xfrm>
          <a:prstGeom prst="rect">
            <a:avLst/>
          </a:prstGeom>
          <a:solidFill>
            <a:srgbClr val="F2F3F5"/>
          </a:solidFill>
          <a:ln w="12700">
            <a:solidFill>
              <a:srgbClr val="F2F3F5"/>
            </a:solidFill>
            <a:prstDash val="solid"/>
          </a:ln>
        </p:spPr>
      </p:sp>
      <p:sp>
        <p:nvSpPr>
          <p:cNvPr id="30" name="Text 28"/>
          <p:cNvSpPr/>
          <p:nvPr/>
        </p:nvSpPr>
        <p:spPr>
          <a:xfrm>
            <a:off x="6397600" y="353872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31" name="Text 29"/>
          <p:cNvSpPr txBox="1"/>
          <p:nvPr/>
        </p:nvSpPr>
        <p:spPr>
          <a:xfrm>
            <a:off x="6964528" y="3337560"/>
            <a:ext cx="1699184" cy="822960"/>
          </a:xfrm>
          <a:prstGeom prst="rect">
            <a:avLst/>
          </a:prstGeom>
          <a:noFill/>
          <a:ln/>
        </p:spPr>
        <p:txBody>
          <a:bodyPr wrap="square" lIns="0" tIns="0" rIns="0" bIns="0" rtlCol="0" anchor="ctr"/>
          <a:lstStyle/>
          <a:p>
            <a:pPr indent="0" marL="0">
              <a:buNone/>
            </a:pPr>
            <a:r>
              <a:rPr lang="en-US" sz="1300" dirty="0">
                <a:solidFill>
                  <a:srgbClr val="3D3C3C"/>
                </a:solidFill>
              </a:rPr>
              <a:t>First rehearsal and structured debrief</a:t>
            </a:r>
            <a:endParaRPr lang="en-US" sz="1300" dirty="0"/>
          </a:p>
        </p:txBody>
      </p:sp>
      <p:sp>
        <p:nvSpPr>
          <p:cNvPr id="32" name="Shape 30"/>
          <p:cNvSpPr/>
          <p:nvPr/>
        </p:nvSpPr>
        <p:spPr>
          <a:xfrm>
            <a:off x="6233008" y="4297680"/>
            <a:ext cx="2567864" cy="822960"/>
          </a:xfrm>
          <a:prstGeom prst="rect">
            <a:avLst/>
          </a:prstGeom>
          <a:solidFill>
            <a:srgbClr val="F2F3F5"/>
          </a:solidFill>
          <a:ln w="12700">
            <a:solidFill>
              <a:srgbClr val="F2F3F5"/>
            </a:solidFill>
            <a:prstDash val="solid"/>
          </a:ln>
        </p:spPr>
      </p:sp>
      <p:sp>
        <p:nvSpPr>
          <p:cNvPr id="33" name="Text 31"/>
          <p:cNvSpPr/>
          <p:nvPr/>
        </p:nvSpPr>
        <p:spPr>
          <a:xfrm>
            <a:off x="6397600" y="449884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4" name="Text 32"/>
          <p:cNvSpPr txBox="1"/>
          <p:nvPr/>
        </p:nvSpPr>
        <p:spPr>
          <a:xfrm>
            <a:off x="6964528" y="4297680"/>
            <a:ext cx="1699184" cy="822960"/>
          </a:xfrm>
          <a:prstGeom prst="rect">
            <a:avLst/>
          </a:prstGeom>
          <a:noFill/>
          <a:ln/>
        </p:spPr>
        <p:txBody>
          <a:bodyPr wrap="square" lIns="0" tIns="0" rIns="0" bIns="0" rtlCol="0" anchor="ctr"/>
          <a:lstStyle/>
          <a:p>
            <a:pPr indent="0" marL="0">
              <a:buNone/>
            </a:pPr>
            <a:r>
              <a:rPr lang="en-US" sz="1300" dirty="0">
                <a:solidFill>
                  <a:srgbClr val="3D3C3C"/>
                </a:solidFill>
              </a:rPr>
              <a:t>Final rehearsal and refinement</a:t>
            </a:r>
            <a:endParaRPr lang="en-US" sz="1300" dirty="0"/>
          </a:p>
        </p:txBody>
      </p:sp>
      <p:sp>
        <p:nvSpPr>
          <p:cNvPr id="35" name="Text 33"/>
          <p:cNvSpPr txBox="1"/>
          <p:nvPr/>
        </p:nvSpPr>
        <p:spPr>
          <a:xfrm>
            <a:off x="8782583" y="4023360"/>
            <a:ext cx="310896" cy="457200"/>
          </a:xfrm>
          <a:prstGeom prst="rect">
            <a:avLst/>
          </a:prstGeom>
          <a:noFill/>
          <a:ln/>
        </p:spPr>
        <p:txBody>
          <a:bodyPr wrap="square" lIns="0" tIns="0" rIns="0" bIns="0" rtlCol="0" anchor="ctr"/>
          <a:lstStyle/>
          <a:p>
            <a:pPr algn="ctr" indent="0" marL="0">
              <a:buNone/>
            </a:pPr>
            <a:r>
              <a:rPr lang="en-US" sz="2400" dirty="0">
                <a:solidFill>
                  <a:srgbClr val="F48047"/>
                </a:solidFill>
              </a:rPr>
              <a:t>›</a:t>
            </a:r>
            <a:endParaRPr lang="en-US" sz="2400" dirty="0"/>
          </a:p>
        </p:txBody>
      </p:sp>
      <p:sp>
        <p:nvSpPr>
          <p:cNvPr id="36" name="Text 34"/>
          <p:cNvSpPr txBox="1"/>
          <p:nvPr/>
        </p:nvSpPr>
        <p:spPr>
          <a:xfrm>
            <a:off x="9075191" y="2971800"/>
            <a:ext cx="2567864" cy="274320"/>
          </a:xfrm>
          <a:prstGeom prst="rect">
            <a:avLst/>
          </a:prstGeom>
          <a:noFill/>
          <a:ln/>
        </p:spPr>
        <p:txBody>
          <a:bodyPr wrap="square" lIns="0" tIns="0" rIns="0" bIns="0" rtlCol="0" anchor="ctr"/>
          <a:lstStyle/>
          <a:p>
            <a:pPr indent="0" marL="0">
              <a:buNone/>
            </a:pPr>
            <a:r>
              <a:rPr lang="en-US" sz="1100" b="1" spc="150" kern="0" dirty="0">
                <a:solidFill>
                  <a:srgbClr val="F48047"/>
                </a:solidFill>
              </a:rPr>
              <a:t>DELIVER</a:t>
            </a:r>
            <a:endParaRPr lang="en-US" sz="1100" dirty="0"/>
          </a:p>
        </p:txBody>
      </p:sp>
      <p:sp>
        <p:nvSpPr>
          <p:cNvPr id="37" name="Shape 35"/>
          <p:cNvSpPr/>
          <p:nvPr/>
        </p:nvSpPr>
        <p:spPr>
          <a:xfrm>
            <a:off x="9075191" y="3337560"/>
            <a:ext cx="2567864" cy="822960"/>
          </a:xfrm>
          <a:prstGeom prst="rect">
            <a:avLst/>
          </a:prstGeom>
          <a:solidFill>
            <a:srgbClr val="F2F3F5"/>
          </a:solidFill>
          <a:ln w="12700">
            <a:solidFill>
              <a:srgbClr val="F2F3F5"/>
            </a:solidFill>
            <a:prstDash val="solid"/>
          </a:ln>
        </p:spPr>
      </p:sp>
      <p:sp>
        <p:nvSpPr>
          <p:cNvPr id="38" name="Text 36"/>
          <p:cNvSpPr/>
          <p:nvPr/>
        </p:nvSpPr>
        <p:spPr>
          <a:xfrm>
            <a:off x="9239783" y="353872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9" name="Text 37"/>
          <p:cNvSpPr txBox="1"/>
          <p:nvPr/>
        </p:nvSpPr>
        <p:spPr>
          <a:xfrm>
            <a:off x="9806711" y="3337560"/>
            <a:ext cx="1699184" cy="822960"/>
          </a:xfrm>
          <a:prstGeom prst="rect">
            <a:avLst/>
          </a:prstGeom>
          <a:noFill/>
          <a:ln/>
        </p:spPr>
        <p:txBody>
          <a:bodyPr wrap="square" lIns="0" tIns="0" rIns="0" bIns="0" rtlCol="0" anchor="ctr"/>
          <a:lstStyle/>
          <a:p>
            <a:pPr indent="0" marL="0">
              <a:buNone/>
            </a:pPr>
            <a:r>
              <a:rPr lang="en-US" sz="1300" dirty="0">
                <a:solidFill>
                  <a:srgbClr val="3D3C3C"/>
                </a:solidFill>
              </a:rPr>
              <a:t>Live support at the interactive</a:t>
            </a:r>
            <a:endParaRPr lang="en-US" sz="1300" dirty="0"/>
          </a:p>
        </p:txBody>
      </p:sp>
      <p:sp>
        <p:nvSpPr>
          <p:cNvPr id="40" name="Shape 38"/>
          <p:cNvSpPr/>
          <p:nvPr/>
        </p:nvSpPr>
        <p:spPr>
          <a:xfrm>
            <a:off x="9075191" y="4297680"/>
            <a:ext cx="2567864" cy="822960"/>
          </a:xfrm>
          <a:prstGeom prst="rect">
            <a:avLst/>
          </a:prstGeom>
          <a:solidFill>
            <a:srgbClr val="F2F3F5"/>
          </a:solidFill>
          <a:ln w="12700">
            <a:solidFill>
              <a:srgbClr val="F2F3F5"/>
            </a:solidFill>
            <a:prstDash val="solid"/>
          </a:ln>
        </p:spPr>
      </p:sp>
      <p:sp>
        <p:nvSpPr>
          <p:cNvPr id="41" name="Text 39"/>
          <p:cNvSpPr/>
          <p:nvPr/>
        </p:nvSpPr>
        <p:spPr>
          <a:xfrm>
            <a:off x="9239783" y="4498848"/>
            <a:ext cx="420624" cy="420624"/>
          </a:xfrm>
          <a:prstGeom prst="ellipse">
            <a:avLst/>
          </a:prstGeom>
          <a:solidFill>
            <a:srgbClr val="004F00"/>
          </a:solid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42" name="Text 40"/>
          <p:cNvSpPr txBox="1"/>
          <p:nvPr/>
        </p:nvSpPr>
        <p:spPr>
          <a:xfrm>
            <a:off x="9806711" y="4297680"/>
            <a:ext cx="1699184" cy="822960"/>
          </a:xfrm>
          <a:prstGeom prst="rect">
            <a:avLst/>
          </a:prstGeom>
          <a:noFill/>
          <a:ln/>
        </p:spPr>
        <p:txBody>
          <a:bodyPr wrap="square" lIns="0" tIns="0" rIns="0" bIns="0" rtlCol="0" anchor="ctr"/>
          <a:lstStyle/>
          <a:p>
            <a:pPr indent="0" marL="0">
              <a:buNone/>
            </a:pPr>
            <a:r>
              <a:rPr lang="en-US" sz="1300" dirty="0">
                <a:solidFill>
                  <a:srgbClr val="3D3C3C"/>
                </a:solidFill>
              </a:rPr>
              <a:t>Post-interactive debrief</a:t>
            </a:r>
            <a:endParaRPr lang="en-US" sz="1300" dirty="0"/>
          </a:p>
        </p:txBody>
      </p:sp>
      <p:sp>
        <p:nvSpPr>
          <p:cNvPr id="43" name="Text 41"/>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400" b="1" dirty="0">
                <a:solidFill>
                  <a:srgbClr val="F48047"/>
                </a:solidFill>
              </a:rPr>
              <a:t>Final interactives:  </a:t>
            </a:r>
            <a:pPr indent="0" marL="0">
              <a:buNone/>
            </a:pPr>
            <a:r>
              <a:rPr lang="en-US" sz="1400" dirty="0">
                <a:solidFill>
                  <a:srgbClr val="3D3C3C"/>
                </a:solidFill>
              </a:rPr>
              <a:t>the most intensive support, where HSRA looks for evidence that GoFar has listened, adapted and grown.</a:t>
            </a:r>
            <a:endParaRPr lang="en-US" sz="1400" dirty="0"/>
          </a:p>
        </p:txBody>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Three lessons from the C&amp;V Phase</a:t>
            </a:r>
            <a:endParaRPr lang="en-US" sz="2800" dirty="0"/>
          </a:p>
        </p:txBody>
      </p:sp>
      <p:sp>
        <p:nvSpPr>
          <p:cNvPr id="3" name="Text 1"/>
          <p:cNvSpPr txBox="1"/>
          <p:nvPr/>
        </p:nvSpPr>
        <p:spPr>
          <a:xfrm>
            <a:off x="548640" y="1371600"/>
            <a:ext cx="3484778" cy="822960"/>
          </a:xfrm>
          <a:prstGeom prst="rect">
            <a:avLst/>
          </a:prstGeom>
          <a:noFill/>
          <a:ln/>
        </p:spPr>
        <p:txBody>
          <a:bodyPr wrap="square" lIns="0" tIns="0" rIns="0" bIns="0" rtlCol="0" anchor="ctr"/>
          <a:lstStyle/>
          <a:p>
            <a:pPr indent="0" marL="0">
              <a:buNone/>
            </a:pPr>
            <a:r>
              <a:rPr lang="en-US" sz="4800" b="1" dirty="0">
                <a:solidFill>
                  <a:srgbClr val="F48047"/>
                </a:solidFill>
                <a:latin typeface="Poppins" pitchFamily="34" charset="0"/>
                <a:ea typeface="Poppins" pitchFamily="34" charset="-122"/>
                <a:cs typeface="Poppins" pitchFamily="34" charset="-120"/>
              </a:rPr>
              <a:t>01</a:t>
            </a:r>
            <a:endParaRPr lang="en-US" sz="4800" dirty="0"/>
          </a:p>
        </p:txBody>
      </p:sp>
      <p:sp>
        <p:nvSpPr>
          <p:cNvPr id="4" name="Text 2"/>
          <p:cNvSpPr txBox="1"/>
          <p:nvPr/>
        </p:nvSpPr>
        <p:spPr>
          <a:xfrm>
            <a:off x="548640" y="2240280"/>
            <a:ext cx="3484778" cy="777240"/>
          </a:xfrm>
          <a:prstGeom prst="rect">
            <a:avLst/>
          </a:prstGeom>
          <a:noFill/>
          <a:ln/>
        </p:spPr>
        <p:txBody>
          <a:bodyPr wrap="square" lIns="0" tIns="0" rIns="0" bIns="0" rtlCol="0" anchor="t"/>
          <a:lstStyle/>
          <a:p>
            <a:pPr indent="0" marL="0">
              <a:buNone/>
            </a:pPr>
            <a:r>
              <a:rPr lang="en-US" sz="2000" b="1" dirty="0">
                <a:solidFill>
                  <a:srgbClr val="3D3C3C"/>
                </a:solidFill>
                <a:latin typeface="Poppins" pitchFamily="34" charset="0"/>
                <a:ea typeface="Poppins" pitchFamily="34" charset="-122"/>
                <a:cs typeface="Poppins" pitchFamily="34" charset="-120"/>
              </a:rPr>
              <a:t>Preparation is paramount</a:t>
            </a:r>
            <a:endParaRPr lang="en-US" sz="2000" dirty="0"/>
          </a:p>
        </p:txBody>
      </p:sp>
      <p:sp>
        <p:nvSpPr>
          <p:cNvPr id="5" name="Text 3"/>
          <p:cNvSpPr txBox="1"/>
          <p:nvPr/>
        </p:nvSpPr>
        <p:spPr>
          <a:xfrm>
            <a:off x="548640" y="3017520"/>
            <a:ext cx="3484778" cy="1188720"/>
          </a:xfrm>
          <a:prstGeom prst="rect">
            <a:avLst/>
          </a:prstGeom>
          <a:noFill/>
          <a:ln/>
        </p:spPr>
        <p:txBody>
          <a:bodyPr wrap="square" lIns="0" tIns="0" rIns="0" bIns="0" rtlCol="0" anchor="t"/>
          <a:lstStyle/>
          <a:p>
            <a:pPr indent="0" marL="0">
              <a:buNone/>
            </a:pPr>
            <a:r>
              <a:rPr lang="en-US" sz="1400" dirty="0">
                <a:solidFill>
                  <a:srgbClr val="3D3C3C"/>
                </a:solidFill>
              </a:rPr>
              <a:t>Thorough preparation gives the team its key messages and puts GoFar in a strong light, even when slides are not presented.</a:t>
            </a:r>
            <a:endParaRPr lang="en-US" sz="1400" dirty="0"/>
          </a:p>
        </p:txBody>
      </p:sp>
      <p:sp>
        <p:nvSpPr>
          <p:cNvPr id="6" name="Shape 4"/>
          <p:cNvSpPr/>
          <p:nvPr/>
        </p:nvSpPr>
        <p:spPr>
          <a:xfrm>
            <a:off x="548640" y="4297680"/>
            <a:ext cx="3484778" cy="1371600"/>
          </a:xfrm>
          <a:prstGeom prst="rect">
            <a:avLst/>
          </a:prstGeom>
          <a:solidFill>
            <a:srgbClr val="E8F1E8"/>
          </a:solidFill>
          <a:ln w="12700">
            <a:solidFill>
              <a:srgbClr val="E8F1E8"/>
            </a:solidFill>
            <a:prstDash val="solid"/>
          </a:ln>
        </p:spPr>
      </p:sp>
      <p:sp>
        <p:nvSpPr>
          <p:cNvPr id="7" name="Text 5"/>
          <p:cNvSpPr txBox="1"/>
          <p:nvPr/>
        </p:nvSpPr>
        <p:spPr>
          <a:xfrm>
            <a:off x="777240" y="4434840"/>
            <a:ext cx="3027578" cy="1143000"/>
          </a:xfrm>
          <a:prstGeom prst="rect">
            <a:avLst/>
          </a:prstGeom>
          <a:noFill/>
          <a:ln/>
        </p:spPr>
        <p:txBody>
          <a:bodyPr wrap="square" lIns="0" tIns="0" rIns="0" bIns="0" rtlCol="0" anchor="t"/>
          <a:lstStyle/>
          <a:p>
            <a:pPr indent="0" marL="0">
              <a:buNone/>
            </a:pPr>
            <a:r>
              <a:rPr lang="en-US" sz="1000" b="1" spc="150" kern="0" dirty="0">
                <a:solidFill>
                  <a:srgbClr val="004F00"/>
                </a:solidFill>
              </a:rPr>
              <a:t>IN PRACTICE</a:t>
            </a:r>
            <a:endParaRPr lang="en-US" sz="1000" dirty="0"/>
          </a:p>
          <a:p>
            <a:pPr indent="0" marL="0">
              <a:buNone/>
            </a:pPr>
            <a:r>
              <a:rPr lang="en-US" sz="1300" dirty="0">
                <a:solidFill>
                  <a:srgbClr val="3D3C3C"/>
                </a:solidFill>
              </a:rPr>
              <a:t>On 13 October, GoFar was not asked to present, yet the team was better informed and ready because of the work done the night before.</a:t>
            </a:r>
            <a:endParaRPr lang="en-US" sz="1000" dirty="0"/>
          </a:p>
        </p:txBody>
      </p:sp>
      <p:sp>
        <p:nvSpPr>
          <p:cNvPr id="8" name="Text 6"/>
          <p:cNvSpPr txBox="1"/>
          <p:nvPr/>
        </p:nvSpPr>
        <p:spPr>
          <a:xfrm>
            <a:off x="4353458" y="1371600"/>
            <a:ext cx="3484778" cy="822960"/>
          </a:xfrm>
          <a:prstGeom prst="rect">
            <a:avLst/>
          </a:prstGeom>
          <a:noFill/>
          <a:ln/>
        </p:spPr>
        <p:txBody>
          <a:bodyPr wrap="square" lIns="0" tIns="0" rIns="0" bIns="0" rtlCol="0" anchor="ctr"/>
          <a:lstStyle/>
          <a:p>
            <a:pPr indent="0" marL="0">
              <a:buNone/>
            </a:pPr>
            <a:r>
              <a:rPr lang="en-US" sz="4800" b="1" dirty="0">
                <a:solidFill>
                  <a:srgbClr val="F48047"/>
                </a:solidFill>
                <a:latin typeface="Poppins" pitchFamily="34" charset="0"/>
                <a:ea typeface="Poppins" pitchFamily="34" charset="-122"/>
                <a:cs typeface="Poppins" pitchFamily="34" charset="-120"/>
              </a:rPr>
              <a:t>02</a:t>
            </a:r>
            <a:endParaRPr lang="en-US" sz="4800" dirty="0"/>
          </a:p>
        </p:txBody>
      </p:sp>
      <p:sp>
        <p:nvSpPr>
          <p:cNvPr id="9" name="Text 7"/>
          <p:cNvSpPr txBox="1"/>
          <p:nvPr/>
        </p:nvSpPr>
        <p:spPr>
          <a:xfrm>
            <a:off x="4353458" y="2240280"/>
            <a:ext cx="3484778" cy="777240"/>
          </a:xfrm>
          <a:prstGeom prst="rect">
            <a:avLst/>
          </a:prstGeom>
          <a:noFill/>
          <a:ln/>
        </p:spPr>
        <p:txBody>
          <a:bodyPr wrap="square" lIns="0" tIns="0" rIns="0" bIns="0" rtlCol="0" anchor="t"/>
          <a:lstStyle/>
          <a:p>
            <a:pPr indent="0" marL="0">
              <a:buNone/>
            </a:pPr>
            <a:r>
              <a:rPr lang="en-US" sz="2000" b="1" dirty="0">
                <a:solidFill>
                  <a:srgbClr val="3D3C3C"/>
                </a:solidFill>
                <a:latin typeface="Poppins" pitchFamily="34" charset="0"/>
                <a:ea typeface="Poppins" pitchFamily="34" charset="-122"/>
                <a:cs typeface="Poppins" pitchFamily="34" charset="-120"/>
              </a:rPr>
              <a:t>HSRA values guidance and capability</a:t>
            </a:r>
            <a:endParaRPr lang="en-US" sz="2000" dirty="0"/>
          </a:p>
        </p:txBody>
      </p:sp>
      <p:sp>
        <p:nvSpPr>
          <p:cNvPr id="10" name="Text 8"/>
          <p:cNvSpPr txBox="1"/>
          <p:nvPr/>
        </p:nvSpPr>
        <p:spPr>
          <a:xfrm>
            <a:off x="4353458" y="3017520"/>
            <a:ext cx="3484778" cy="1188720"/>
          </a:xfrm>
          <a:prstGeom prst="rect">
            <a:avLst/>
          </a:prstGeom>
          <a:noFill/>
          <a:ln/>
        </p:spPr>
        <p:txBody>
          <a:bodyPr wrap="square" lIns="0" tIns="0" rIns="0" bIns="0" rtlCol="0" anchor="t"/>
          <a:lstStyle/>
          <a:p>
            <a:pPr indent="0" marL="0">
              <a:buNone/>
            </a:pPr>
            <a:r>
              <a:rPr lang="en-US" sz="1400" dirty="0">
                <a:solidFill>
                  <a:srgbClr val="3D3C3C"/>
                </a:solidFill>
              </a:rPr>
              <a:t>HSRA is looking for as much guidance as possible and responds to partners who bring structure and clarity.</a:t>
            </a:r>
            <a:endParaRPr lang="en-US" sz="1400" dirty="0"/>
          </a:p>
        </p:txBody>
      </p:sp>
      <p:sp>
        <p:nvSpPr>
          <p:cNvPr id="11" name="Shape 9"/>
          <p:cNvSpPr/>
          <p:nvPr/>
        </p:nvSpPr>
        <p:spPr>
          <a:xfrm>
            <a:off x="4353458" y="4297680"/>
            <a:ext cx="3484778" cy="1371600"/>
          </a:xfrm>
          <a:prstGeom prst="rect">
            <a:avLst/>
          </a:prstGeom>
          <a:solidFill>
            <a:srgbClr val="E8F1E8"/>
          </a:solidFill>
          <a:ln w="12700">
            <a:solidFill>
              <a:srgbClr val="E8F1E8"/>
            </a:solidFill>
            <a:prstDash val="solid"/>
          </a:ln>
        </p:spPr>
      </p:sp>
      <p:sp>
        <p:nvSpPr>
          <p:cNvPr id="12" name="Text 10"/>
          <p:cNvSpPr txBox="1"/>
          <p:nvPr/>
        </p:nvSpPr>
        <p:spPr>
          <a:xfrm>
            <a:off x="4582058" y="4434840"/>
            <a:ext cx="3027578" cy="1143000"/>
          </a:xfrm>
          <a:prstGeom prst="rect">
            <a:avLst/>
          </a:prstGeom>
          <a:noFill/>
          <a:ln/>
        </p:spPr>
        <p:txBody>
          <a:bodyPr wrap="square" lIns="0" tIns="0" rIns="0" bIns="0" rtlCol="0" anchor="t"/>
          <a:lstStyle/>
          <a:p>
            <a:pPr indent="0" marL="0">
              <a:buNone/>
            </a:pPr>
            <a:r>
              <a:rPr lang="en-US" sz="1000" b="1" spc="150" kern="0" dirty="0">
                <a:solidFill>
                  <a:srgbClr val="004F00"/>
                </a:solidFill>
              </a:rPr>
              <a:t>IN PRACTICE</a:t>
            </a:r>
            <a:endParaRPr lang="en-US" sz="1000" dirty="0"/>
          </a:p>
          <a:p>
            <a:pPr indent="0" marL="0">
              <a:buNone/>
            </a:pPr>
            <a:r>
              <a:rPr lang="en-US" sz="1300" dirty="0">
                <a:solidFill>
                  <a:srgbClr val="3D3C3C"/>
                </a:solidFill>
              </a:rPr>
              <a:t>In the Fire and Life Safety workshop, HSRA used GoFar's slides to run the meeting, as they covered every point on its agenda.</a:t>
            </a:r>
            <a:endParaRPr lang="en-US" sz="1000" dirty="0"/>
          </a:p>
        </p:txBody>
      </p:sp>
      <p:sp>
        <p:nvSpPr>
          <p:cNvPr id="13" name="Text 11"/>
          <p:cNvSpPr txBox="1"/>
          <p:nvPr/>
        </p:nvSpPr>
        <p:spPr>
          <a:xfrm>
            <a:off x="8158277" y="1371600"/>
            <a:ext cx="3484778" cy="822960"/>
          </a:xfrm>
          <a:prstGeom prst="rect">
            <a:avLst/>
          </a:prstGeom>
          <a:noFill/>
          <a:ln/>
        </p:spPr>
        <p:txBody>
          <a:bodyPr wrap="square" lIns="0" tIns="0" rIns="0" bIns="0" rtlCol="0" anchor="ctr"/>
          <a:lstStyle/>
          <a:p>
            <a:pPr indent="0" marL="0">
              <a:buNone/>
            </a:pPr>
            <a:r>
              <a:rPr lang="en-US" sz="4800" b="1" dirty="0">
                <a:solidFill>
                  <a:srgbClr val="F48047"/>
                </a:solidFill>
                <a:latin typeface="Poppins" pitchFamily="34" charset="0"/>
                <a:ea typeface="Poppins" pitchFamily="34" charset="-122"/>
                <a:cs typeface="Poppins" pitchFamily="34" charset="-120"/>
              </a:rPr>
              <a:t>03</a:t>
            </a:r>
            <a:endParaRPr lang="en-US" sz="4800" dirty="0"/>
          </a:p>
        </p:txBody>
      </p:sp>
      <p:sp>
        <p:nvSpPr>
          <p:cNvPr id="14" name="Text 12"/>
          <p:cNvSpPr txBox="1"/>
          <p:nvPr/>
        </p:nvSpPr>
        <p:spPr>
          <a:xfrm>
            <a:off x="8158277" y="2240280"/>
            <a:ext cx="3484778" cy="777240"/>
          </a:xfrm>
          <a:prstGeom prst="rect">
            <a:avLst/>
          </a:prstGeom>
          <a:noFill/>
          <a:ln/>
        </p:spPr>
        <p:txBody>
          <a:bodyPr wrap="square" lIns="0" tIns="0" rIns="0" bIns="0" rtlCol="0" anchor="t"/>
          <a:lstStyle/>
          <a:p>
            <a:pPr indent="0" marL="0">
              <a:buNone/>
            </a:pPr>
            <a:r>
              <a:rPr lang="en-US" sz="2000" b="1" dirty="0">
                <a:solidFill>
                  <a:srgbClr val="3D3C3C"/>
                </a:solidFill>
                <a:latin typeface="Poppins" pitchFamily="34" charset="0"/>
                <a:ea typeface="Poppins" pitchFamily="34" charset="-122"/>
                <a:cs typeface="Poppins" pitchFamily="34" charset="-120"/>
              </a:rPr>
              <a:t>Listening builds credibility</a:t>
            </a:r>
            <a:endParaRPr lang="en-US" sz="2000" dirty="0"/>
          </a:p>
        </p:txBody>
      </p:sp>
      <p:sp>
        <p:nvSpPr>
          <p:cNvPr id="15" name="Text 13"/>
          <p:cNvSpPr txBox="1"/>
          <p:nvPr/>
        </p:nvSpPr>
        <p:spPr>
          <a:xfrm>
            <a:off x="8158277" y="3017520"/>
            <a:ext cx="3484778" cy="1188720"/>
          </a:xfrm>
          <a:prstGeom prst="rect">
            <a:avLst/>
          </a:prstGeom>
          <a:noFill/>
          <a:ln/>
        </p:spPr>
        <p:txBody>
          <a:bodyPr wrap="square" lIns="0" tIns="0" rIns="0" bIns="0" rtlCol="0" anchor="t"/>
          <a:lstStyle/>
          <a:p>
            <a:pPr indent="0" marL="0">
              <a:buNone/>
            </a:pPr>
            <a:r>
              <a:rPr lang="en-US" sz="1400" dirty="0">
                <a:solidFill>
                  <a:srgbClr val="3D3C3C"/>
                </a:solidFill>
              </a:rPr>
              <a:t>Responding to what HSRA has asked for, and building on its own work, earns more trust than innovation for its own sake.</a:t>
            </a:r>
            <a:endParaRPr lang="en-US" sz="1400" dirty="0"/>
          </a:p>
        </p:txBody>
      </p:sp>
      <p:sp>
        <p:nvSpPr>
          <p:cNvPr id="16" name="Shape 14"/>
          <p:cNvSpPr/>
          <p:nvPr/>
        </p:nvSpPr>
        <p:spPr>
          <a:xfrm>
            <a:off x="8158277" y="4297680"/>
            <a:ext cx="3484778" cy="1371600"/>
          </a:xfrm>
          <a:prstGeom prst="rect">
            <a:avLst/>
          </a:prstGeom>
          <a:solidFill>
            <a:srgbClr val="E8F1E8"/>
          </a:solidFill>
          <a:ln w="12700">
            <a:solidFill>
              <a:srgbClr val="E8F1E8"/>
            </a:solidFill>
            <a:prstDash val="solid"/>
          </a:ln>
        </p:spPr>
      </p:sp>
      <p:sp>
        <p:nvSpPr>
          <p:cNvPr id="17" name="Text 15"/>
          <p:cNvSpPr txBox="1"/>
          <p:nvPr/>
        </p:nvSpPr>
        <p:spPr>
          <a:xfrm>
            <a:off x="8386877" y="4434840"/>
            <a:ext cx="3027578" cy="1143000"/>
          </a:xfrm>
          <a:prstGeom prst="rect">
            <a:avLst/>
          </a:prstGeom>
          <a:noFill/>
          <a:ln/>
        </p:spPr>
        <p:txBody>
          <a:bodyPr wrap="square" lIns="0" tIns="0" rIns="0" bIns="0" rtlCol="0" anchor="t"/>
          <a:lstStyle/>
          <a:p>
            <a:pPr indent="0" marL="0">
              <a:buNone/>
            </a:pPr>
            <a:r>
              <a:rPr lang="en-US" sz="1000" b="1" spc="150" kern="0" dirty="0">
                <a:solidFill>
                  <a:srgbClr val="004F00"/>
                </a:solidFill>
              </a:rPr>
              <a:t>IN PRACTICE</a:t>
            </a:r>
            <a:endParaRPr lang="en-US" sz="1000" dirty="0"/>
          </a:p>
          <a:p>
            <a:pPr indent="0" marL="0">
              <a:buNone/>
            </a:pPr>
            <a:r>
              <a:rPr lang="en-US" sz="1300" dirty="0">
                <a:solidFill>
                  <a:srgbClr val="3D3C3C"/>
                </a:solidFill>
              </a:rPr>
              <a:t>The alternative alignment gained support because it built on HSRA's Business Case. Another partner's late, untested idea did not progress.</a:t>
            </a:r>
            <a:endParaRPr lang="en-US" sz="1000" dirty="0"/>
          </a:p>
        </p:txBody>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685800"/>
          </a:xfrm>
          <a:prstGeom prst="rect">
            <a:avLst/>
          </a:prstGeom>
          <a:noFill/>
          <a:ln/>
        </p:spPr>
        <p:txBody>
          <a:bodyPr wrap="square" lIns="0" tIns="0" rIns="0" bIns="0" rtlCol="0" anchor="t"/>
          <a:lstStyle/>
          <a:p>
            <a:pPr algn="l" indent="0" marL="0">
              <a:buNone/>
            </a:pPr>
            <a:r>
              <a:rPr lang="en-US" sz="2800" b="1" dirty="0">
                <a:solidFill>
                  <a:schemeClr val="tx1"/>
                </a:solidFill>
                <a:latin typeface="Poppins" pitchFamily="34" charset="0"/>
                <a:ea typeface="Poppins" pitchFamily="34" charset="-122"/>
                <a:cs typeface="Poppins" pitchFamily="34" charset="-120"/>
              </a:rPr>
              <a:t>What worked well and what to watch going forward</a:t>
            </a:r>
            <a:endParaRPr lang="en-US" sz="2800" dirty="0"/>
          </a:p>
        </p:txBody>
      </p:sp>
      <p:sp>
        <p:nvSpPr>
          <p:cNvPr id="3" name="Text 1"/>
          <p:cNvSpPr txBox="1"/>
          <p:nvPr/>
        </p:nvSpPr>
        <p:spPr>
          <a:xfrm>
            <a:off x="548640" y="1325880"/>
            <a:ext cx="5318608" cy="411480"/>
          </a:xfrm>
          <a:prstGeom prst="rect">
            <a:avLst/>
          </a:prstGeom>
          <a:noFill/>
          <a:ln/>
        </p:spPr>
        <p:txBody>
          <a:bodyPr wrap="square" lIns="0" tIns="0" rIns="0" bIns="0" rtlCol="0" anchor="ctr"/>
          <a:lstStyle/>
          <a:p>
            <a:pPr indent="0" marL="0">
              <a:buNone/>
            </a:pPr>
            <a:r>
              <a:rPr lang="en-US" sz="2000" b="1" dirty="0">
                <a:solidFill>
                  <a:srgbClr val="004F00"/>
                </a:solidFill>
                <a:latin typeface="Poppins" pitchFamily="34" charset="0"/>
                <a:ea typeface="Poppins" pitchFamily="34" charset="-122"/>
                <a:cs typeface="Poppins" pitchFamily="34" charset="-120"/>
              </a:rPr>
              <a:t>What worked well</a:t>
            </a:r>
            <a:endParaRPr lang="en-US" sz="2000" dirty="0"/>
          </a:p>
        </p:txBody>
      </p:sp>
      <p:sp>
        <p:nvSpPr>
          <p:cNvPr id="4" name="Shape 2"/>
          <p:cNvSpPr/>
          <p:nvPr/>
        </p:nvSpPr>
        <p:spPr>
          <a:xfrm>
            <a:off x="548640" y="1965960"/>
            <a:ext cx="457200" cy="457200"/>
          </a:xfrm>
          <a:prstGeom prst="ellipse">
            <a:avLst/>
          </a:prstGeom>
          <a:solidFill>
            <a:srgbClr val="004F00"/>
          </a:solidFill>
          <a:ln w="12700">
            <a:solidFill>
              <a:srgbClr val="004F00"/>
            </a:solidFill>
            <a:prstDash val="solid"/>
          </a:ln>
        </p:spPr>
      </p:sp>
      <p:pic>
        <p:nvPicPr>
          <p:cNvPr id="5" name="Image 0" descr="preencoded.png">    </p:cNvPr>
          <p:cNvPicPr>
            <a:picLocks noChangeAspect="1"/>
          </p:cNvPicPr>
          <p:nvPr/>
        </p:nvPicPr>
        <p:blipFill>
          <a:blip r:embed="rId1"/>
          <a:stretch>
            <a:fillRect/>
          </a:stretch>
        </p:blipFill>
        <p:spPr>
          <a:xfrm>
            <a:off x="658368" y="2075688"/>
            <a:ext cx="237744" cy="237744"/>
          </a:xfrm>
          <a:prstGeom prst="rect">
            <a:avLst/>
          </a:prstGeom>
        </p:spPr>
      </p:pic>
      <p:sp>
        <p:nvSpPr>
          <p:cNvPr id="6" name="Text 3"/>
          <p:cNvSpPr txBox="1"/>
          <p:nvPr/>
        </p:nvSpPr>
        <p:spPr>
          <a:xfrm>
            <a:off x="1234440" y="192024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Context before the solution</a:t>
            </a:r>
            <a:endParaRPr lang="en-US" sz="1400" dirty="0"/>
          </a:p>
          <a:p>
            <a:pPr indent="0" marL="0">
              <a:buNone/>
            </a:pPr>
            <a:r>
              <a:rPr lang="en-US" sz="1400" dirty="0">
                <a:solidFill>
                  <a:srgbClr val="3D3C3C"/>
                </a:solidFill>
              </a:rPr>
              <a:t>Framing each idea around HSRA's needs and benefits made complex proposals easy to support.</a:t>
            </a:r>
            <a:endParaRPr lang="en-US" sz="1400" dirty="0"/>
          </a:p>
        </p:txBody>
      </p:sp>
      <p:sp>
        <p:nvSpPr>
          <p:cNvPr id="7" name="Shape 4"/>
          <p:cNvSpPr/>
          <p:nvPr/>
        </p:nvSpPr>
        <p:spPr>
          <a:xfrm>
            <a:off x="548640" y="3017520"/>
            <a:ext cx="457200" cy="457200"/>
          </a:xfrm>
          <a:prstGeom prst="ellipse">
            <a:avLst/>
          </a:prstGeom>
          <a:solidFill>
            <a:srgbClr val="004F00"/>
          </a:solidFill>
          <a:ln w="12700">
            <a:solidFill>
              <a:srgbClr val="004F00"/>
            </a:solidFill>
            <a:prstDash val="solid"/>
          </a:ln>
        </p:spPr>
      </p:sp>
      <p:pic>
        <p:nvPicPr>
          <p:cNvPr id="8" name="Image 1" descr="preencoded.png">    </p:cNvPr>
          <p:cNvPicPr>
            <a:picLocks noChangeAspect="1"/>
          </p:cNvPicPr>
          <p:nvPr/>
        </p:nvPicPr>
        <p:blipFill>
          <a:blip r:embed="rId2"/>
          <a:stretch>
            <a:fillRect/>
          </a:stretch>
        </p:blipFill>
        <p:spPr>
          <a:xfrm>
            <a:off x="658368" y="3127248"/>
            <a:ext cx="237744" cy="237744"/>
          </a:xfrm>
          <a:prstGeom prst="rect">
            <a:avLst/>
          </a:prstGeom>
        </p:spPr>
      </p:pic>
      <p:sp>
        <p:nvSpPr>
          <p:cNvPr id="9" name="Text 5"/>
          <p:cNvSpPr txBox="1"/>
          <p:nvPr/>
        </p:nvSpPr>
        <p:spPr>
          <a:xfrm>
            <a:off x="1234440" y="297180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Clear, simple messages</a:t>
            </a:r>
            <a:endParaRPr lang="en-US" sz="1400" dirty="0"/>
          </a:p>
          <a:p>
            <a:pPr indent="0" marL="0">
              <a:buNone/>
            </a:pPr>
            <a:r>
              <a:rPr lang="en-US" sz="1400" dirty="0">
                <a:solidFill>
                  <a:srgbClr val="3D3C3C"/>
                </a:solidFill>
              </a:rPr>
              <a:t>Distilling technical material into a few client-relevant points helped HSRA follow and adopt our thinking.</a:t>
            </a:r>
            <a:endParaRPr lang="en-US" sz="1400" dirty="0"/>
          </a:p>
        </p:txBody>
      </p:sp>
      <p:sp>
        <p:nvSpPr>
          <p:cNvPr id="10" name="Shape 6"/>
          <p:cNvSpPr/>
          <p:nvPr/>
        </p:nvSpPr>
        <p:spPr>
          <a:xfrm>
            <a:off x="548640" y="4069080"/>
            <a:ext cx="457200" cy="457200"/>
          </a:xfrm>
          <a:prstGeom prst="ellipse">
            <a:avLst/>
          </a:prstGeom>
          <a:solidFill>
            <a:srgbClr val="004F00"/>
          </a:solidFill>
          <a:ln w="12700">
            <a:solidFill>
              <a:srgbClr val="004F00"/>
            </a:solidFill>
            <a:prstDash val="solid"/>
          </a:ln>
        </p:spPr>
      </p:sp>
      <p:pic>
        <p:nvPicPr>
          <p:cNvPr id="11" name="Image 2" descr="preencoded.png">    </p:cNvPr>
          <p:cNvPicPr>
            <a:picLocks noChangeAspect="1"/>
          </p:cNvPicPr>
          <p:nvPr/>
        </p:nvPicPr>
        <p:blipFill>
          <a:blip r:embed="rId3"/>
          <a:stretch>
            <a:fillRect/>
          </a:stretch>
        </p:blipFill>
        <p:spPr>
          <a:xfrm>
            <a:off x="658368" y="4178808"/>
            <a:ext cx="237744" cy="237744"/>
          </a:xfrm>
          <a:prstGeom prst="rect">
            <a:avLst/>
          </a:prstGeom>
        </p:spPr>
      </p:pic>
      <p:sp>
        <p:nvSpPr>
          <p:cNvPr id="12" name="Text 7"/>
          <p:cNvSpPr txBox="1"/>
          <p:nvPr/>
        </p:nvSpPr>
        <p:spPr>
          <a:xfrm>
            <a:off x="1234440" y="402336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A collaborative tone</a:t>
            </a:r>
            <a:endParaRPr lang="en-US" sz="1400" dirty="0"/>
          </a:p>
          <a:p>
            <a:pPr indent="0" marL="0">
              <a:buNone/>
            </a:pPr>
            <a:r>
              <a:rPr lang="en-US" sz="1400" dirty="0">
                <a:solidFill>
                  <a:srgbClr val="3D3C3C"/>
                </a:solidFill>
              </a:rPr>
              <a:t>Acknowledging other partners' work and seeking shared agreement built goodwill in the room.</a:t>
            </a:r>
            <a:endParaRPr lang="en-US" sz="1400" dirty="0"/>
          </a:p>
        </p:txBody>
      </p:sp>
      <p:sp>
        <p:nvSpPr>
          <p:cNvPr id="13" name="Shape 8"/>
          <p:cNvSpPr/>
          <p:nvPr/>
        </p:nvSpPr>
        <p:spPr>
          <a:xfrm>
            <a:off x="548640" y="5120640"/>
            <a:ext cx="457200" cy="457200"/>
          </a:xfrm>
          <a:prstGeom prst="ellipse">
            <a:avLst/>
          </a:prstGeom>
          <a:solidFill>
            <a:srgbClr val="004F00"/>
          </a:solidFill>
          <a:ln w="12700">
            <a:solidFill>
              <a:srgbClr val="004F00"/>
            </a:solidFill>
            <a:prstDash val="solid"/>
          </a:ln>
        </p:spPr>
      </p:sp>
      <p:pic>
        <p:nvPicPr>
          <p:cNvPr id="14" name="Image 3" descr="preencoded.png">    </p:cNvPr>
          <p:cNvPicPr>
            <a:picLocks noChangeAspect="1"/>
          </p:cNvPicPr>
          <p:nvPr/>
        </p:nvPicPr>
        <p:blipFill>
          <a:blip r:embed="rId4"/>
          <a:stretch>
            <a:fillRect/>
          </a:stretch>
        </p:blipFill>
        <p:spPr>
          <a:xfrm>
            <a:off x="658368" y="5230368"/>
            <a:ext cx="237744" cy="237744"/>
          </a:xfrm>
          <a:prstGeom prst="rect">
            <a:avLst/>
          </a:prstGeom>
        </p:spPr>
      </p:pic>
      <p:sp>
        <p:nvSpPr>
          <p:cNvPr id="15" name="Text 9"/>
          <p:cNvSpPr txBox="1"/>
          <p:nvPr/>
        </p:nvSpPr>
        <p:spPr>
          <a:xfrm>
            <a:off x="1234440" y="507492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A strong presence</a:t>
            </a:r>
            <a:endParaRPr lang="en-US" sz="1400" dirty="0"/>
          </a:p>
          <a:p>
            <a:pPr indent="0" marL="0">
              <a:buNone/>
            </a:pPr>
            <a:r>
              <a:rPr lang="en-US" sz="1400" dirty="0">
                <a:solidFill>
                  <a:srgbClr val="3D3C3C"/>
                </a:solidFill>
              </a:rPr>
              <a:t>Engaged, consistent body language made GoFar visibly the strongest ECI partner.</a:t>
            </a:r>
            <a:endParaRPr lang="en-US" sz="1400" dirty="0"/>
          </a:p>
        </p:txBody>
      </p:sp>
      <p:sp>
        <p:nvSpPr>
          <p:cNvPr id="16" name="Text 10"/>
          <p:cNvSpPr txBox="1"/>
          <p:nvPr/>
        </p:nvSpPr>
        <p:spPr>
          <a:xfrm>
            <a:off x="6324448" y="1325880"/>
            <a:ext cx="5318608" cy="411480"/>
          </a:xfrm>
          <a:prstGeom prst="rect">
            <a:avLst/>
          </a:prstGeom>
          <a:noFill/>
          <a:ln/>
        </p:spPr>
        <p:txBody>
          <a:bodyPr wrap="square" lIns="0" tIns="0" rIns="0" bIns="0" rtlCol="0" anchor="ctr"/>
          <a:lstStyle/>
          <a:p>
            <a:pPr indent="0" marL="0">
              <a:buNone/>
            </a:pPr>
            <a:r>
              <a:rPr lang="en-US" sz="2000" b="1" dirty="0">
                <a:solidFill>
                  <a:srgbClr val="F48047"/>
                </a:solidFill>
                <a:latin typeface="Poppins" pitchFamily="34" charset="0"/>
                <a:ea typeface="Poppins" pitchFamily="34" charset="-122"/>
                <a:cs typeface="Poppins" pitchFamily="34" charset="-120"/>
              </a:rPr>
              <a:t>What to watch</a:t>
            </a:r>
            <a:endParaRPr lang="en-US" sz="2000" dirty="0"/>
          </a:p>
        </p:txBody>
      </p:sp>
      <p:sp>
        <p:nvSpPr>
          <p:cNvPr id="17" name="Shape 11"/>
          <p:cNvSpPr/>
          <p:nvPr/>
        </p:nvSpPr>
        <p:spPr>
          <a:xfrm>
            <a:off x="6324448" y="1965960"/>
            <a:ext cx="457200" cy="457200"/>
          </a:xfrm>
          <a:prstGeom prst="ellipse">
            <a:avLst/>
          </a:prstGeom>
          <a:solidFill>
            <a:srgbClr val="F48047"/>
          </a:solidFill>
          <a:ln w="12700">
            <a:solidFill>
              <a:srgbClr val="F48047"/>
            </a:solidFill>
            <a:prstDash val="solid"/>
          </a:ln>
        </p:spPr>
      </p:sp>
      <p:pic>
        <p:nvPicPr>
          <p:cNvPr id="18" name="Image 4" descr="preencoded.png">    </p:cNvPr>
          <p:cNvPicPr>
            <a:picLocks noChangeAspect="1"/>
          </p:cNvPicPr>
          <p:nvPr/>
        </p:nvPicPr>
        <p:blipFill>
          <a:blip r:embed="rId5"/>
          <a:stretch>
            <a:fillRect/>
          </a:stretch>
        </p:blipFill>
        <p:spPr>
          <a:xfrm>
            <a:off x="6434176" y="2075688"/>
            <a:ext cx="237744" cy="237744"/>
          </a:xfrm>
          <a:prstGeom prst="rect">
            <a:avLst/>
          </a:prstGeom>
        </p:spPr>
      </p:pic>
      <p:sp>
        <p:nvSpPr>
          <p:cNvPr id="19" name="Text 12"/>
          <p:cNvSpPr txBox="1"/>
          <p:nvPr/>
        </p:nvSpPr>
        <p:spPr>
          <a:xfrm>
            <a:off x="7010248" y="192024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One agreed position</a:t>
            </a:r>
            <a:endParaRPr lang="en-US" sz="1400" dirty="0"/>
          </a:p>
          <a:p>
            <a:pPr indent="0" marL="0">
              <a:buNone/>
            </a:pPr>
            <a:r>
              <a:rPr lang="en-US" sz="1400" dirty="0">
                <a:solidFill>
                  <a:srgbClr val="3D3C3C"/>
                </a:solidFill>
              </a:rPr>
              <a:t>Share a weekly update on the latest design position, and raise concerns early rather than defaulting to yes.</a:t>
            </a:r>
            <a:endParaRPr lang="en-US" sz="1400" dirty="0"/>
          </a:p>
        </p:txBody>
      </p:sp>
      <p:sp>
        <p:nvSpPr>
          <p:cNvPr id="20" name="Shape 13"/>
          <p:cNvSpPr/>
          <p:nvPr/>
        </p:nvSpPr>
        <p:spPr>
          <a:xfrm>
            <a:off x="6324448" y="3017520"/>
            <a:ext cx="457200" cy="457200"/>
          </a:xfrm>
          <a:prstGeom prst="ellipse">
            <a:avLst/>
          </a:prstGeom>
          <a:solidFill>
            <a:srgbClr val="F48047"/>
          </a:solidFill>
          <a:ln w="12700">
            <a:solidFill>
              <a:srgbClr val="F48047"/>
            </a:solidFill>
            <a:prstDash val="solid"/>
          </a:ln>
        </p:spPr>
      </p:sp>
      <p:pic>
        <p:nvPicPr>
          <p:cNvPr id="21" name="Image 5" descr="preencoded.png">    </p:cNvPr>
          <p:cNvPicPr>
            <a:picLocks noChangeAspect="1"/>
          </p:cNvPicPr>
          <p:nvPr/>
        </p:nvPicPr>
        <p:blipFill>
          <a:blip r:embed="rId6"/>
          <a:stretch>
            <a:fillRect/>
          </a:stretch>
        </p:blipFill>
        <p:spPr>
          <a:xfrm>
            <a:off x="6434176" y="3127248"/>
            <a:ext cx="237744" cy="237744"/>
          </a:xfrm>
          <a:prstGeom prst="rect">
            <a:avLst/>
          </a:prstGeom>
        </p:spPr>
      </p:pic>
      <p:sp>
        <p:nvSpPr>
          <p:cNvPr id="22" name="Text 14"/>
          <p:cNvSpPr txBox="1"/>
          <p:nvPr/>
        </p:nvSpPr>
        <p:spPr>
          <a:xfrm>
            <a:off x="7010248" y="297180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Focus over volume</a:t>
            </a:r>
            <a:endParaRPr lang="en-US" sz="1400" dirty="0"/>
          </a:p>
          <a:p>
            <a:pPr indent="0" marL="0">
              <a:buNone/>
            </a:pPr>
            <a:r>
              <a:rPr lang="en-US" sz="1400" dirty="0">
                <a:solidFill>
                  <a:srgbClr val="3D3C3C"/>
                </a:solidFill>
              </a:rPr>
              <a:t>Track HSRA's many requests in one place, and present a few focused slides with detail held in reserve.</a:t>
            </a:r>
            <a:endParaRPr lang="en-US" sz="1400" dirty="0"/>
          </a:p>
        </p:txBody>
      </p:sp>
      <p:sp>
        <p:nvSpPr>
          <p:cNvPr id="23" name="Shape 15"/>
          <p:cNvSpPr/>
          <p:nvPr/>
        </p:nvSpPr>
        <p:spPr>
          <a:xfrm>
            <a:off x="6324448" y="4069080"/>
            <a:ext cx="457200" cy="457200"/>
          </a:xfrm>
          <a:prstGeom prst="ellipse">
            <a:avLst/>
          </a:prstGeom>
          <a:solidFill>
            <a:srgbClr val="F48047"/>
          </a:solidFill>
          <a:ln w="12700">
            <a:solidFill>
              <a:srgbClr val="F48047"/>
            </a:solidFill>
            <a:prstDash val="solid"/>
          </a:ln>
        </p:spPr>
      </p:sp>
      <p:pic>
        <p:nvPicPr>
          <p:cNvPr id="24" name="Image 6" descr="preencoded.png">    </p:cNvPr>
          <p:cNvPicPr>
            <a:picLocks noChangeAspect="1"/>
          </p:cNvPicPr>
          <p:nvPr/>
        </p:nvPicPr>
        <p:blipFill>
          <a:blip r:embed="rId7"/>
          <a:stretch>
            <a:fillRect/>
          </a:stretch>
        </p:blipFill>
        <p:spPr>
          <a:xfrm>
            <a:off x="6434176" y="4178808"/>
            <a:ext cx="237744" cy="237744"/>
          </a:xfrm>
          <a:prstGeom prst="rect">
            <a:avLst/>
          </a:prstGeom>
        </p:spPr>
      </p:pic>
      <p:sp>
        <p:nvSpPr>
          <p:cNvPr id="25" name="Text 16"/>
          <p:cNvSpPr txBox="1"/>
          <p:nvPr/>
        </p:nvSpPr>
        <p:spPr>
          <a:xfrm>
            <a:off x="7010248" y="402336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Prepared for challenge</a:t>
            </a:r>
            <a:endParaRPr lang="en-US" sz="1400" dirty="0"/>
          </a:p>
          <a:p>
            <a:pPr indent="0" marL="0">
              <a:buNone/>
            </a:pPr>
            <a:r>
              <a:rPr lang="en-US" sz="1400" dirty="0">
                <a:solidFill>
                  <a:srgbClr val="3D3C3C"/>
                </a:solidFill>
              </a:rPr>
              <a:t>Treat HSRA's fixed requirements as fixed, and have evidence ready for competitors who raise doubt.</a:t>
            </a:r>
            <a:endParaRPr lang="en-US" sz="1400" dirty="0"/>
          </a:p>
        </p:txBody>
      </p:sp>
      <p:sp>
        <p:nvSpPr>
          <p:cNvPr id="26" name="Shape 17"/>
          <p:cNvSpPr/>
          <p:nvPr/>
        </p:nvSpPr>
        <p:spPr>
          <a:xfrm>
            <a:off x="6324448" y="5120640"/>
            <a:ext cx="457200" cy="457200"/>
          </a:xfrm>
          <a:prstGeom prst="ellipse">
            <a:avLst/>
          </a:prstGeom>
          <a:solidFill>
            <a:srgbClr val="F48047"/>
          </a:solidFill>
          <a:ln w="12700">
            <a:solidFill>
              <a:srgbClr val="F48047"/>
            </a:solidFill>
            <a:prstDash val="solid"/>
          </a:ln>
        </p:spPr>
      </p:sp>
      <p:pic>
        <p:nvPicPr>
          <p:cNvPr id="27" name="Image 7" descr="preencoded.png">    </p:cNvPr>
          <p:cNvPicPr>
            <a:picLocks noChangeAspect="1"/>
          </p:cNvPicPr>
          <p:nvPr/>
        </p:nvPicPr>
        <p:blipFill>
          <a:blip r:embed="rId8"/>
          <a:stretch>
            <a:fillRect/>
          </a:stretch>
        </p:blipFill>
        <p:spPr>
          <a:xfrm>
            <a:off x="6434176" y="5230368"/>
            <a:ext cx="237744" cy="237744"/>
          </a:xfrm>
          <a:prstGeom prst="rect">
            <a:avLst/>
          </a:prstGeom>
        </p:spPr>
      </p:pic>
      <p:sp>
        <p:nvSpPr>
          <p:cNvPr id="28" name="Text 18"/>
          <p:cNvSpPr txBox="1"/>
          <p:nvPr/>
        </p:nvSpPr>
        <p:spPr>
          <a:xfrm>
            <a:off x="7010248" y="5074920"/>
            <a:ext cx="4632808" cy="914400"/>
          </a:xfrm>
          <a:prstGeom prst="rect">
            <a:avLst/>
          </a:prstGeom>
          <a:noFill/>
          <a:ln/>
        </p:spPr>
        <p:txBody>
          <a:bodyPr wrap="square" lIns="0" tIns="0" rIns="0" bIns="0" rtlCol="0" anchor="t"/>
          <a:lstStyle/>
          <a:p>
            <a:pPr indent="0" marL="0">
              <a:buNone/>
            </a:pPr>
            <a:r>
              <a:rPr lang="en-US" sz="1400" b="1" dirty="0">
                <a:solidFill>
                  <a:srgbClr val="3D3C3C"/>
                </a:solidFill>
              </a:rPr>
              <a:t>Continuity and capacity</a:t>
            </a:r>
            <a:endParaRPr lang="en-US" sz="1400" dirty="0"/>
          </a:p>
          <a:p>
            <a:pPr indent="0" marL="0">
              <a:buNone/>
            </a:pPr>
            <a:r>
              <a:rPr lang="en-US" sz="1400" dirty="0">
                <a:solidFill>
                  <a:srgbClr val="3D3C3C"/>
                </a:solidFill>
              </a:rPr>
              <a:t>Keep consistent faces across sessions, and get ahead of work before Christmas to avoid fatigue in 2027.</a:t>
            </a:r>
            <a:endParaRPr lang="en-US" sz="1400" dirty="0"/>
          </a:p>
        </p:txBody>
      </p:sp>
      <p:sp>
        <p:nvSpPr>
          <p:cNvPr id="29" name="Shape 19"/>
          <p:cNvSpPr/>
          <p:nvPr/>
        </p:nvSpPr>
        <p:spPr>
          <a:xfrm>
            <a:off x="6095848" y="1325880"/>
            <a:ext cx="0" cy="4572000"/>
          </a:xfrm>
          <a:prstGeom prst="line">
            <a:avLst/>
          </a:prstGeom>
          <a:noFill/>
          <a:ln w="12700">
            <a:solidFill>
              <a:srgbClr val="D9DBE0"/>
            </a:solidFill>
            <a:prstDash val="solid"/>
          </a:ln>
        </p:spPr>
      </p:sp>
      <p:sp>
        <p:nvSpPr>
          <p:cNvPr id="25" name="Slide Number Placeholder 0"/>
          <p:cNvSpPr>
            <a:spLocks noGrp="1"/>
          </p:cNvSpPr>
          <p:nvPr>
            <p:ph type="sldNum" sz="quarter" idx="4294967295"/>
          </p:nvPr>
        </p:nvSpPr>
        <p:spPr>
          <a:xfrm>
            <a:off x="11259007" y="6309360"/>
            <a:ext cx="384048" cy="27432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FFFFFF"/>
                </a:solidFill>
                <a:latin typeface="Open Sans"/>
                <a:ea typeface="Open Sans"/>
                <a:cs typeface="Open Sans"/>
              </a:defRPr>
            </a:lvl1pPr>
          </a:lstStyle>
          <a:p>
            <a:pPr algn="ct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oFar TSG">
  <a:themeElements>
    <a:clrScheme name="GoFar TSG">
      <a:dk1>
        <a:srgbClr val="3D3C3C"/>
      </a:dk1>
      <a:lt1>
        <a:srgbClr val="FFFFFF"/>
      </a:lt1>
      <a:dk2>
        <a:srgbClr val="004F00"/>
      </a:dk2>
      <a:lt2>
        <a:srgbClr val="F2F3F5"/>
      </a:lt2>
      <a:accent1>
        <a:srgbClr val="004F00"/>
      </a:accent1>
      <a:accent2>
        <a:srgbClr val="F48047"/>
      </a:accent2>
      <a:accent3>
        <a:srgbClr val="0E98D7"/>
      </a:accent3>
      <a:accent4>
        <a:srgbClr val="EE2B7A"/>
      </a:accent4>
      <a:accent5>
        <a:srgbClr val="2EB88A"/>
      </a:accent5>
      <a:accent6>
        <a:srgbClr val="44546A"/>
      </a:accent6>
      <a:hlink>
        <a:srgbClr val="0E98D7"/>
      </a:hlink>
      <a:folHlink>
        <a:srgbClr val="9E1F63"/>
      </a:folHlink>
    </a:clrScheme>
    <a:fontScheme name="GoFar TSG">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Supporting GoFar across the project</dc:title>
  <dc:subject>PptxGenJS Presentation</dc:subject>
  <dc:creator>The Strategy Group</dc:creator>
  <cp:lastModifiedBy>The Strategy Group</cp:lastModifiedBy>
  <cp:revision>1</cp:revision>
  <dcterms:created xsi:type="dcterms:W3CDTF">2026-10-16T00:02:31Z</dcterms:created>
  <dcterms:modified xsi:type="dcterms:W3CDTF">2026-10-16T00:02:31Z</dcterms:modified>
</cp:coreProperties>
</file>