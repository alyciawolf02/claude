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e248eaf-e4a4-e1c9-05f7-ae188bf0156a}">
          <p14:sldIdLst>
            <p14:sldId id="256"/>
            <p14:sldId id="257"/>
            <p14:sldId id="258"/>
          </p14:sldIdLst>
        </p14:section>
        <p14:section name="C&amp;V Phase" id="{f316964b-22eb-c004-b9cf-3112dbcaa05f}">
          <p14:sldIdLst>
            <p14:sldId id="259"/>
            <p14:sldId id="260"/>
          </p14:sldIdLst>
        </p14:section>
        <p14:section name="Pre-ECI" id="{f3aed514-409a-257c-92c8-fd88c4b1092a}">
          <p14:sldIdLst>
            <p14:sldId id="261"/>
          </p14:sldIdLst>
        </p14:section>
        <p14:section name="ECI Phase" id="{4327ef5e-5260-9c4c-421d-46d8a34e45b8}">
          <p14:sldIdLst>
            <p14:sldId id="262"/>
          </p14:sldIdLst>
        </p14:section>
        <p14:section name="Reflections" id="{f66cde2f-ddca-4b29-5f6f-3b7ef2667552}">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confirm TSG's support for the rest of the C&amp;V Phase, before the ECI Phase and from January to June 2027, and share what we have learned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stages are complete. The rest of the deck focuses on the three stages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as contracted. Pre-ECI interactive preparation was reduced to $10,000 for goodwill and paid separately. The C&amp;V Phase allocation is $81,600.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further interactives at approximately $3,100 each ($18,600) and three submissions at three hours each ($2,367) total $20,967, within the remaining C&amp;V budget of approximately $22,600.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Interactives 1 to 8 are complete. We propose to support interactives 9 to 14 and approximately three submissions for the remainder of the C&amp;V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Funded from the Foundation Sessions allocation (Strategy Workshop and Culture and Customer Centricity Workshops). Customer Centricity Coaching combines an external reflection on HSRA with an internal reflection on JV culture. The Partner Development and Strategy workshop defines win themes, the USP and the competitive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final submission interactives we add a deep content review against everything HSRA has said, asked and signalled, narrative calibration to show GoFar has listened and adapted, and intensive rehearsal with TSG attending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in the 13 October session, a GoFar team member noted they knew far more than they would have without preparing. Lesson 2: after the 15 October Fire and Life Safety workshop, the team reported HSRA used GoFar's slides as the agenda. Lesson 3: the 6 October debrief noted GoFar built on HSRA's own work, while John Holland Acciona floated a late idea that went nowhere.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Drawn from the 6 October Alternative Alignment debrief and the October preparation sessions. HSRA's agendas, outcomes documents and RFCs often arrive from several sources with short deadlines; John Holland Acciona continues to raise doubts; HSRA has said fixed requirements such as 240 m cross passage spacing are not for debate; and the team flagged the need to get ahead of work before Christmas.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image" Target="../media/image-1003-5.png"/><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2A2A"/>
        </a:solidFill>
      </p:bgPr>
    </p:bg>
    <p:spTree>
      <p:nvGrpSpPr>
        <p:cNvPr id="1" name=""/>
        <p:cNvGrpSpPr/>
        <p:nvPr/>
      </p:nvGrpSpPr>
      <p:grpSpPr>
        <a:xfrm>
          <a:off x="0" y="0"/>
          <a:ext cx="0" cy="0"/>
          <a:chOff x="0" y="0"/>
          <a:chExt cx="0" cy="0"/>
        </a:xfrm>
      </p:grpSpPr>
      <p:pic>
        <p:nvPicPr>
          <p:cNvPr id="2" name="Image 0" descr="train.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B2A2A">
              <a:alpha val="75000"/>
            </a:srgbClr>
          </a:solidFill>
          <a:ln/>
        </p:spPr>
      </p:sp>
      <p:pic>
        <p:nvPicPr>
          <p:cNvPr id="4" name="Image 1" descr="geo_orange.png">    </p:cNvPr>
          <p:cNvPicPr>
            <a:picLocks noChangeAspect="1"/>
          </p:cNvPicPr>
          <p:nvPr/>
        </p:nvPicPr>
        <p:blipFill>
          <a:blip r:embed="rId2"/>
          <a:stretch>
            <a:fillRect/>
          </a:stretch>
        </p:blipFill>
        <p:spPr>
          <a:xfrm>
            <a:off x="7955280" y="457200"/>
            <a:ext cx="2926080" cy="2926080"/>
          </a:xfrm>
          <a:prstGeom prst="rect">
            <a:avLst/>
          </a:prstGeom>
        </p:spPr>
      </p:pic>
      <p:pic>
        <p:nvPicPr>
          <p:cNvPr id="5" name="Image 2" descr="geo_blue.png">    </p:cNvPr>
          <p:cNvPicPr>
            <a:picLocks noChangeAspect="1"/>
          </p:cNvPicPr>
          <p:nvPr/>
        </p:nvPicPr>
        <p:blipFill>
          <a:blip r:embed="rId3"/>
          <a:stretch>
            <a:fillRect/>
          </a:stretch>
        </p:blipFill>
        <p:spPr>
          <a:xfrm>
            <a:off x="8778240" y="1188720"/>
            <a:ext cx="2377440" cy="2377440"/>
          </a:xfrm>
          <a:prstGeom prst="rect">
            <a:avLst/>
          </a:prstGeom>
        </p:spPr>
      </p:pic>
      <p:pic>
        <p:nvPicPr>
          <p:cNvPr id="6" name="Image 3" descr="geo_pink.png">    </p:cNvPr>
          <p:cNvPicPr>
            <a:picLocks noChangeAspect="1"/>
          </p:cNvPicPr>
          <p:nvPr/>
        </p:nvPicPr>
        <p:blipFill>
          <a:blip r:embed="rId4"/>
          <a:stretch>
            <a:fillRect/>
          </a:stretch>
        </p:blipFill>
        <p:spPr>
          <a:xfrm>
            <a:off x="7498080" y="1554480"/>
            <a:ext cx="2011680" cy="2011680"/>
          </a:xfrm>
          <a:prstGeom prst="rect">
            <a:avLst/>
          </a:prstGeom>
        </p:spPr>
      </p:pic>
      <p:pic>
        <p:nvPicPr>
          <p:cNvPr id="7" name="Image 4" descr="tsg_white.png">    </p:cNvPr>
          <p:cNvPicPr>
            <a:picLocks noChangeAspect="1"/>
          </p:cNvPicPr>
          <p:nvPr/>
        </p:nvPicPr>
        <p:blipFill>
          <a:blip r:embed="rId5"/>
          <a:stretch>
            <a:fillRect/>
          </a:stretch>
        </p:blipFill>
        <p:spPr>
          <a:xfrm>
            <a:off x="548640" y="502920"/>
            <a:ext cx="1463040" cy="676656"/>
          </a:xfrm>
          <a:prstGeom prst="rect">
            <a:avLst/>
          </a:prstGeom>
        </p:spPr>
      </p:pic>
      <p:sp>
        <p:nvSpPr>
          <p:cNvPr id="8" name="Text 1"/>
          <p:cNvSpPr/>
          <p:nvPr>
            <p:ph idx="106" type="title" hasCustomPrompt="1"/>
          </p:nvPr>
        </p:nvSpPr>
        <p:spPr>
          <a:xfrm>
            <a:off x="548640" y="2926080"/>
            <a:ext cx="822960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9" name="Text 1"/>
          <p:cNvSpPr/>
          <p:nvPr>
            <p:ph idx="107" type="body" hasCustomPrompt="1"/>
          </p:nvPr>
        </p:nvSpPr>
        <p:spPr>
          <a:xfrm>
            <a:off x="548640" y="4709160"/>
            <a:ext cx="8229600" cy="1097280"/>
          </a:xfrm>
          <a:prstGeom prst="rect">
            <a:avLst/>
          </a:prstGeom>
          <a:noFill/>
          <a:ln/>
        </p:spPr>
        <p:txBody>
          <a:bodyPr wrap="square" rtlCol="0"/>
          <a:lstStyle>
            <a:lvl1pPr algn="l" indent="0" marL="0">
              <a:buNone/>
              <a:defRPr lang="en-US" sz="1600" dirty="0">
                <a:solidFill>
                  <a:schemeClr val="bg1"/>
                </a:solidFill>
              </a:defRPr>
            </a:lvl1pPr>
          </a:lstStyle>
          <a:p>
            <a:pPr algn="l" indent="0" marL="0">
              <a:buNone/>
            </a:pPr>
            <a:r>
              <a:rPr lang="en-US" sz="1600" dirty="0">
                <a:solidFill>
                  <a:schemeClr val="bg1"/>
                </a:solidFill>
              </a:rPr>
              <a:t>Subtitle</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2B2A2A"/>
        </a:solidFill>
      </p:bgPr>
    </p:bg>
    <p:spTree>
      <p:nvGrpSpPr>
        <p:cNvPr id="1" name=""/>
        <p:cNvGrpSpPr/>
        <p:nvPr/>
      </p:nvGrpSpPr>
      <p:grpSpPr>
        <a:xfrm>
          <a:off x="0" y="0"/>
          <a:ext cx="0" cy="0"/>
          <a:chOff x="0" y="0"/>
          <a:chExt cx="0" cy="0"/>
        </a:xfrm>
      </p:grpSpPr>
      <p:pic>
        <p:nvPicPr>
          <p:cNvPr id="2" name="Image 0" descr="train.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B2A2A">
              <a:alpha val="75000"/>
            </a:srgbClr>
          </a:solidFill>
          <a:ln/>
        </p:spPr>
      </p:sp>
      <p:pic>
        <p:nvPicPr>
          <p:cNvPr id="4" name="Image 1" descr="geo_orange.png">    </p:cNvPr>
          <p:cNvPicPr>
            <a:picLocks noChangeAspect="1"/>
          </p:cNvPicPr>
          <p:nvPr/>
        </p:nvPicPr>
        <p:blipFill>
          <a:blip r:embed="rId2"/>
          <a:stretch>
            <a:fillRect/>
          </a:stretch>
        </p:blipFill>
        <p:spPr>
          <a:xfrm>
            <a:off x="7955280" y="457200"/>
            <a:ext cx="2926080" cy="2926080"/>
          </a:xfrm>
          <a:prstGeom prst="rect">
            <a:avLst/>
          </a:prstGeom>
        </p:spPr>
      </p:pic>
      <p:pic>
        <p:nvPicPr>
          <p:cNvPr id="5" name="Image 2" descr="geo_blue.png">    </p:cNvPr>
          <p:cNvPicPr>
            <a:picLocks noChangeAspect="1"/>
          </p:cNvPicPr>
          <p:nvPr/>
        </p:nvPicPr>
        <p:blipFill>
          <a:blip r:embed="rId3"/>
          <a:stretch>
            <a:fillRect/>
          </a:stretch>
        </p:blipFill>
        <p:spPr>
          <a:xfrm>
            <a:off x="8778240" y="1188720"/>
            <a:ext cx="2377440" cy="2377440"/>
          </a:xfrm>
          <a:prstGeom prst="rect">
            <a:avLst/>
          </a:prstGeom>
        </p:spPr>
      </p:pic>
      <p:pic>
        <p:nvPicPr>
          <p:cNvPr id="6" name="Image 3" descr="geo_pink.png">    </p:cNvPr>
          <p:cNvPicPr>
            <a:picLocks noChangeAspect="1"/>
          </p:cNvPicPr>
          <p:nvPr/>
        </p:nvPicPr>
        <p:blipFill>
          <a:blip r:embed="rId4"/>
          <a:stretch>
            <a:fillRect/>
          </a:stretch>
        </p:blipFill>
        <p:spPr>
          <a:xfrm>
            <a:off x="7498080" y="1554480"/>
            <a:ext cx="2011680" cy="2011680"/>
          </a:xfrm>
          <a:prstGeom prst="rect">
            <a:avLst/>
          </a:prstGeom>
        </p:spPr>
      </p:pic>
      <p:pic>
        <p:nvPicPr>
          <p:cNvPr id="7" name="Image 4" descr="tsg_white.png">    </p:cNvPr>
          <p:cNvPicPr>
            <a:picLocks noChangeAspect="1"/>
          </p:cNvPicPr>
          <p:nvPr/>
        </p:nvPicPr>
        <p:blipFill>
          <a:blip r:embed="rId5"/>
          <a:stretch>
            <a:fillRect/>
          </a:stretch>
        </p:blipFill>
        <p:spPr>
          <a:xfrm>
            <a:off x="548640" y="502920"/>
            <a:ext cx="1463040" cy="676656"/>
          </a:xfrm>
          <a:prstGeom prst="rect">
            <a:avLst/>
          </a:prstGeom>
        </p:spPr>
      </p:pic>
      <p:sp>
        <p:nvSpPr>
          <p:cNvPr id="8" name="Text 1"/>
          <p:cNvSpPr/>
          <p:nvPr>
            <p:ph idx="106" type="title" hasCustomPrompt="1"/>
          </p:nvPr>
        </p:nvSpPr>
        <p:spPr>
          <a:xfrm>
            <a:off x="548640" y="2743200"/>
            <a:ext cx="82296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r>
              <a:rPr lang="en-US" sz="5400" b="1" dirty="0">
                <a:solidFill>
                  <a:schemeClr val="bg1"/>
                </a:solidFill>
              </a:rPr>
              <a:t>Thank you</a:t>
            </a:r>
            <a:endParaRPr lang="en-US" sz="5400" dirty="0"/>
          </a:p>
        </p:txBody>
      </p:sp>
      <p:sp>
        <p:nvSpPr>
          <p:cNvPr id="9" name="Text 1"/>
          <p:cNvSpPr/>
          <p:nvPr>
            <p:ph idx="107" type="body" hasCustomPrompt="1"/>
          </p:nvPr>
        </p:nvSpPr>
        <p:spPr>
          <a:xfrm>
            <a:off x="548640" y="3977640"/>
            <a:ext cx="8229600" cy="914400"/>
          </a:xfrm>
          <a:prstGeom prst="rect">
            <a:avLst/>
          </a:prstGeom>
          <a:noFill/>
          <a:ln/>
        </p:spPr>
        <p:txBody>
          <a:bodyPr wrap="square" rtlCol="0"/>
          <a:lstStyle>
            <a:lvl1pPr algn="l" indent="0" marL="0">
              <a:buNone/>
              <a:defRPr lang="en-US" sz="1600" dirty="0">
                <a:solidFill>
                  <a:schemeClr val="bg1"/>
                </a:solidFill>
              </a:defRPr>
            </a:lvl1pPr>
          </a:lstStyle>
          <a:p>
            <a:pPr algn="l" indent="0" marL="0">
              <a:buNone/>
            </a:pPr>
            <a:r>
              <a:rPr lang="en-US" sz="1600" dirty="0">
                <a:solidFill>
                  <a:schemeClr val="bg1"/>
                </a:solidFill>
              </a:rPr>
              <a:t>Body</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rtlCol="0"/>
          <a:lstStyle>
            <a:lvl1pPr algn="l" indent="0" marL="0">
              <a:buNone/>
              <a:defRPr lang="en-US" sz="1100" b="1" spc="200" kern="0" dirty="0">
                <a:solidFill>
                  <a:schemeClr val="accent1"/>
                </a:solidFill>
              </a:defRPr>
            </a:lvl1pPr>
          </a:lstStyle>
          <a:p>
            <a:pPr algn="l" indent="0" marL="0">
              <a:buNone/>
            </a:pPr>
            <a:r>
              <a:rPr lang="en-US" sz="1100" b="1" spc="200" kern="0" dirty="0">
                <a:solidFill>
                  <a:schemeClr val="accent1"/>
                </a:solidFill>
              </a:rPr>
              <a:t>SECTION</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Title</a:t>
            </a:r>
            <a:endParaRPr lang="en-US" sz="2800" dirty="0"/>
          </a:p>
        </p:txBody>
      </p:sp>
      <p:pic>
        <p:nvPicPr>
          <p:cNvPr id="4" name="Image 0" descr="tsg.png">    </p:cNvPr>
          <p:cNvPicPr>
            <a:picLocks noChangeAspect="1"/>
          </p:cNvPicPr>
          <p:nvPr/>
        </p:nvPicPr>
        <p:blipFill>
          <a:blip r:embed="rId1"/>
          <a:stretch>
            <a:fillRect/>
          </a:stretch>
        </p:blipFill>
        <p:spPr>
          <a:xfrm>
            <a:off x="548640" y="6263640"/>
            <a:ext cx="841248" cy="393192"/>
          </a:xfrm>
          <a:prstGeom prst="rect">
            <a:avLst/>
          </a:prstGeom>
        </p:spPr>
      </p:pic>
      <p:sp>
        <p:nvSpPr>
          <p:cNvPr id="5" name="Shape 0"/>
          <p:cNvSpPr/>
          <p:nvPr/>
        </p:nvSpPr>
        <p:spPr>
          <a:xfrm>
            <a:off x="1554480" y="6281928"/>
            <a:ext cx="0" cy="347472"/>
          </a:xfrm>
          <a:prstGeom prst="line">
            <a:avLst/>
          </a:prstGeom>
          <a:noFill/>
          <a:ln w="12700">
            <a:solidFill>
              <a:srgbClr val="D9DBE0"/>
            </a:solidFill>
            <a:prstDash val="solid"/>
          </a:ln>
        </p:spPr>
      </p:sp>
      <p:pic>
        <p:nvPicPr>
          <p:cNvPr id="6" name="Image 1" descr="gofar.png">    </p:cNvPr>
          <p:cNvPicPr>
            <a:picLocks noChangeAspect="1"/>
          </p:cNvPicPr>
          <p:nvPr/>
        </p:nvPicPr>
        <p:blipFill>
          <a:blip r:embed="rId2"/>
          <a:stretch>
            <a:fillRect/>
          </a:stretch>
        </p:blipFill>
        <p:spPr>
          <a:xfrm>
            <a:off x="1719072" y="6281928"/>
            <a:ext cx="850392" cy="347472"/>
          </a:xfrm>
          <a:prstGeom prst="rect">
            <a:avLst/>
          </a:prstGeom>
        </p:spPr>
      </p:pic>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6" type="title" hasCustomPrompt="1"/>
          </p:nvPr>
        </p:nvSpPr>
        <p:spPr>
          <a:xfrm>
            <a:off x="548640" y="2926080"/>
            <a:ext cx="8229600" cy="1600200"/>
          </a:xfrm>
          <a:prstGeom prst="rect">
            <a:avLst/>
          </a:prstGeom>
          <a:noFill/>
          <a:ln/>
        </p:spPr>
        <p:txBody>
          <a:bodyPr wrap="square" lIns="0" tIns="0" rIns="0" bIns="0" rtlCol="0" anchor="b"/>
          <a:lstStyle/>
          <a:p>
            <a:pPr algn="l" indent="0" marL="0">
              <a:buNone/>
            </a:pPr>
            <a:r>
              <a:rPr lang="en-US" sz="4400" b="1" dirty="0">
                <a:solidFill>
                  <a:schemeClr val="bg1"/>
                </a:solidFill>
              </a:rPr>
              <a:t>Supporting GoFar across the project</a:t>
            </a:r>
            <a:endParaRPr lang="en-US" sz="4400" dirty="0"/>
          </a:p>
        </p:txBody>
      </p:sp>
      <p:sp>
        <p:nvSpPr>
          <p:cNvPr id="3" name="Text 1"/>
          <p:cNvSpPr/>
          <p:nvPr>
            <p:ph idx="107" type="body" hasCustomPrompt="1"/>
          </p:nvPr>
        </p:nvSpPr>
        <p:spPr>
          <a:xfrm>
            <a:off x="548640" y="4709160"/>
            <a:ext cx="8229600" cy="1097280"/>
          </a:xfrm>
          <a:prstGeom prst="rect">
            <a:avLst/>
          </a:prstGeom>
          <a:noFill/>
          <a:ln/>
        </p:spPr>
        <p:txBody>
          <a:bodyPr wrap="square" lIns="0" tIns="0" rIns="0" bIns="0" rtlCol="0" anchor="t"/>
          <a:lstStyle/>
          <a:p>
            <a:pPr algn="l" indent="0" marL="0">
              <a:buNone/>
            </a:pPr>
            <a:r>
              <a:rPr lang="en-US" sz="1600" dirty="0">
                <a:solidFill>
                  <a:schemeClr val="bg1"/>
                </a:solidFill>
              </a:rPr>
              <a:t>Proposed support for the C&amp;V and ECI Phases</a:t>
            </a:r>
            <a:endParaRPr lang="en-US" sz="1600" dirty="0"/>
          </a:p>
          <a:p>
            <a:pPr algn="l" indent="0" marL="0">
              <a:buNone/>
            </a:pPr>
            <a:r>
              <a:rPr lang="en-US" sz="1300" dirty="0">
                <a:solidFill>
                  <a:srgbClr val="D9DBE0"/>
                </a:solidFill>
              </a:rPr>
              <a:t>Presented by The Strategy Group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OVERVIEW</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Our support focuses on the C&amp;V and ECI Phases</a:t>
            </a:r>
            <a:endParaRPr lang="en-US" sz="2800" dirty="0"/>
          </a:p>
        </p:txBody>
      </p:sp>
      <p:sp>
        <p:nvSpPr>
          <p:cNvPr id="4" name="Text 2"/>
          <p:cNvSpPr txBox="1"/>
          <p:nvPr/>
        </p:nvSpPr>
        <p:spPr>
          <a:xfrm>
            <a:off x="548640" y="1325880"/>
            <a:ext cx="11094415" cy="457200"/>
          </a:xfrm>
          <a:prstGeom prst="rect">
            <a:avLst/>
          </a:prstGeom>
          <a:noFill/>
          <a:ln/>
        </p:spPr>
        <p:txBody>
          <a:bodyPr wrap="square" lIns="0" tIns="0" rIns="0" bIns="0" rtlCol="0" anchor="t"/>
          <a:lstStyle/>
          <a:p>
            <a:pPr indent="0" marL="0">
              <a:buNone/>
            </a:pPr>
            <a:r>
              <a:rPr lang="en-US" sz="1400" dirty="0">
                <a:solidFill>
                  <a:srgbClr val="6E7178"/>
                </a:solidFill>
              </a:rPr>
              <a:t>Our proposal covers the C&amp;V and ECI Phases. Support for the RFP phase is yet to be scoped.</a:t>
            </a:r>
            <a:endParaRPr lang="en-US" sz="1400" dirty="0"/>
          </a:p>
        </p:txBody>
      </p:sp>
      <p:sp>
        <p:nvSpPr>
          <p:cNvPr id="5" name="Shape 3"/>
          <p:cNvSpPr/>
          <p:nvPr/>
        </p:nvSpPr>
        <p:spPr>
          <a:xfrm>
            <a:off x="1577614" y="4937760"/>
            <a:ext cx="9036467" cy="0"/>
          </a:xfrm>
          <a:prstGeom prst="line">
            <a:avLst/>
          </a:prstGeom>
          <a:noFill/>
          <a:ln w="25400">
            <a:solidFill>
              <a:srgbClr val="D9DBE0"/>
            </a:solidFill>
            <a:prstDash val="solid"/>
          </a:ln>
        </p:spPr>
      </p:sp>
      <p:sp>
        <p:nvSpPr>
          <p:cNvPr id="6" name="Shape 4"/>
          <p:cNvSpPr/>
          <p:nvPr/>
        </p:nvSpPr>
        <p:spPr>
          <a:xfrm>
            <a:off x="548640" y="2148840"/>
            <a:ext cx="2057949" cy="2331720"/>
          </a:xfrm>
          <a:prstGeom prst="rect">
            <a:avLst/>
          </a:prstGeom>
          <a:solidFill>
            <a:srgbClr val="E6F6F0"/>
          </a:solidFill>
          <a:ln w="12700">
            <a:solidFill>
              <a:srgbClr val="E6F6F0"/>
            </a:solidFill>
            <a:prstDash val="solid"/>
          </a:ln>
        </p:spPr>
      </p:sp>
      <p:sp>
        <p:nvSpPr>
          <p:cNvPr id="7" name="Text 5"/>
          <p:cNvSpPr txBox="1"/>
          <p:nvPr/>
        </p:nvSpPr>
        <p:spPr>
          <a:xfrm>
            <a:off x="749808" y="2377440"/>
            <a:ext cx="1692189" cy="256032"/>
          </a:xfrm>
          <a:prstGeom prst="rect">
            <a:avLst/>
          </a:prstGeom>
          <a:noFill/>
          <a:ln/>
        </p:spPr>
        <p:txBody>
          <a:bodyPr wrap="square" lIns="0" tIns="0" rIns="0" bIns="0" rtlCol="0" anchor="ctr"/>
          <a:lstStyle/>
          <a:p>
            <a:pPr indent="0" marL="0">
              <a:buNone/>
            </a:pPr>
            <a:r>
              <a:rPr lang="en-US" sz="1000" b="1" spc="150" kern="0" dirty="0">
                <a:solidFill>
                  <a:srgbClr val="2EB88A"/>
                </a:solidFill>
              </a:rPr>
              <a:t>COMPLETED</a:t>
            </a:r>
            <a:endParaRPr lang="en-US" sz="1000" dirty="0"/>
          </a:p>
        </p:txBody>
      </p:sp>
      <p:sp>
        <p:nvSpPr>
          <p:cNvPr id="8" name="Text 6"/>
          <p:cNvSpPr txBox="1"/>
          <p:nvPr/>
        </p:nvSpPr>
        <p:spPr>
          <a:xfrm>
            <a:off x="749808" y="2697480"/>
            <a:ext cx="1692189" cy="411480"/>
          </a:xfrm>
          <a:prstGeom prst="rect">
            <a:avLst/>
          </a:prstGeom>
          <a:noFill/>
          <a:ln/>
        </p:spPr>
        <p:txBody>
          <a:bodyPr wrap="square" lIns="0" tIns="0" rIns="0" bIns="0" rtlCol="0" anchor="ctr"/>
          <a:lstStyle/>
          <a:p>
            <a:pPr indent="0" marL="0">
              <a:buNone/>
            </a:pPr>
            <a:r>
              <a:rPr lang="en-US" sz="1800" b="1" dirty="0">
                <a:solidFill>
                  <a:srgbClr val="3D3C3C"/>
                </a:solidFill>
              </a:rPr>
              <a:t>EOI</a:t>
            </a:r>
            <a:endParaRPr lang="en-US" sz="1800" dirty="0"/>
          </a:p>
        </p:txBody>
      </p:sp>
      <p:sp>
        <p:nvSpPr>
          <p:cNvPr id="9" name="Text 7"/>
          <p:cNvSpPr txBox="1"/>
          <p:nvPr/>
        </p:nvSpPr>
        <p:spPr>
          <a:xfrm>
            <a:off x="749808" y="3081528"/>
            <a:ext cx="1692189" cy="274320"/>
          </a:xfrm>
          <a:prstGeom prst="rect">
            <a:avLst/>
          </a:prstGeom>
          <a:noFill/>
          <a:ln/>
        </p:spPr>
        <p:txBody>
          <a:bodyPr wrap="square" lIns="0" tIns="0" rIns="0" bIns="0" rtlCol="0" anchor="ctr"/>
          <a:lstStyle/>
          <a:p>
            <a:pPr indent="0" marL="0">
              <a:buNone/>
            </a:pPr>
            <a:r>
              <a:rPr lang="en-US" sz="1200" dirty="0">
                <a:solidFill>
                  <a:srgbClr val="6E7178"/>
                </a:solidFill>
              </a:rPr>
              <a:t>July</a:t>
            </a:r>
            <a:endParaRPr lang="en-US" sz="1200" dirty="0"/>
          </a:p>
        </p:txBody>
      </p:sp>
      <p:sp>
        <p:nvSpPr>
          <p:cNvPr id="10" name="Text 8"/>
          <p:cNvSpPr txBox="1"/>
          <p:nvPr/>
        </p:nvSpPr>
        <p:spPr>
          <a:xfrm>
            <a:off x="749808" y="3474720"/>
            <a:ext cx="1692189" cy="868680"/>
          </a:xfrm>
          <a:prstGeom prst="rect">
            <a:avLst/>
          </a:prstGeom>
          <a:noFill/>
          <a:ln/>
        </p:spPr>
        <p:txBody>
          <a:bodyPr wrap="square" lIns="0" tIns="0" rIns="0" bIns="0" rtlCol="0" anchor="t"/>
          <a:lstStyle/>
          <a:p>
            <a:pPr indent="0" marL="0">
              <a:buNone/>
            </a:pPr>
            <a:r>
              <a:rPr lang="en-US" sz="1300" dirty="0">
                <a:solidFill>
                  <a:srgbClr val="3D3C3C"/>
                </a:solidFill>
              </a:rPr>
              <a:t>Interactive preparation</a:t>
            </a:r>
            <a:endParaRPr lang="en-US" sz="1300" dirty="0"/>
          </a:p>
        </p:txBody>
      </p:sp>
      <p:sp>
        <p:nvSpPr>
          <p:cNvPr id="11" name="Shape 9"/>
          <p:cNvSpPr/>
          <p:nvPr/>
        </p:nvSpPr>
        <p:spPr>
          <a:xfrm>
            <a:off x="1431310" y="4791456"/>
            <a:ext cx="292608" cy="292608"/>
          </a:xfrm>
          <a:prstGeom prst="ellipse">
            <a:avLst/>
          </a:prstGeom>
          <a:solidFill>
            <a:srgbClr val="2EB88A"/>
          </a:solidFill>
          <a:ln w="31750">
            <a:solidFill>
              <a:srgbClr val="2EB88A"/>
            </a:solidFill>
            <a:prstDash val="solid"/>
          </a:ln>
        </p:spPr>
      </p:sp>
      <p:sp>
        <p:nvSpPr>
          <p:cNvPr id="12" name="Shape 10"/>
          <p:cNvSpPr/>
          <p:nvPr/>
        </p:nvSpPr>
        <p:spPr>
          <a:xfrm>
            <a:off x="2807757" y="2148840"/>
            <a:ext cx="2057949" cy="2331720"/>
          </a:xfrm>
          <a:prstGeom prst="rect">
            <a:avLst/>
          </a:prstGeom>
          <a:solidFill>
            <a:srgbClr val="E6F6F0"/>
          </a:solidFill>
          <a:ln w="12700">
            <a:solidFill>
              <a:srgbClr val="E6F6F0"/>
            </a:solidFill>
            <a:prstDash val="solid"/>
          </a:ln>
        </p:spPr>
      </p:sp>
      <p:sp>
        <p:nvSpPr>
          <p:cNvPr id="13" name="Text 11"/>
          <p:cNvSpPr txBox="1"/>
          <p:nvPr/>
        </p:nvSpPr>
        <p:spPr>
          <a:xfrm>
            <a:off x="3008925" y="2377440"/>
            <a:ext cx="1692189" cy="256032"/>
          </a:xfrm>
          <a:prstGeom prst="rect">
            <a:avLst/>
          </a:prstGeom>
          <a:noFill/>
          <a:ln/>
        </p:spPr>
        <p:txBody>
          <a:bodyPr wrap="square" lIns="0" tIns="0" rIns="0" bIns="0" rtlCol="0" anchor="ctr"/>
          <a:lstStyle/>
          <a:p>
            <a:pPr indent="0" marL="0">
              <a:buNone/>
            </a:pPr>
            <a:r>
              <a:rPr lang="en-US" sz="1000" b="1" spc="150" kern="0" dirty="0">
                <a:solidFill>
                  <a:srgbClr val="2EB88A"/>
                </a:solidFill>
              </a:rPr>
              <a:t>COMPLETED</a:t>
            </a:r>
            <a:endParaRPr lang="en-US" sz="1000" dirty="0"/>
          </a:p>
        </p:txBody>
      </p:sp>
      <p:sp>
        <p:nvSpPr>
          <p:cNvPr id="14" name="Text 12"/>
          <p:cNvSpPr txBox="1"/>
          <p:nvPr/>
        </p:nvSpPr>
        <p:spPr>
          <a:xfrm>
            <a:off x="3008925" y="2697480"/>
            <a:ext cx="1692189" cy="411480"/>
          </a:xfrm>
          <a:prstGeom prst="rect">
            <a:avLst/>
          </a:prstGeom>
          <a:noFill/>
          <a:ln/>
        </p:spPr>
        <p:txBody>
          <a:bodyPr wrap="square" lIns="0" tIns="0" rIns="0" bIns="0" rtlCol="0" anchor="ctr"/>
          <a:lstStyle/>
          <a:p>
            <a:pPr indent="0" marL="0">
              <a:buNone/>
            </a:pPr>
            <a:r>
              <a:rPr lang="en-US" sz="1800" b="1" dirty="0">
                <a:solidFill>
                  <a:srgbClr val="3D3C3C"/>
                </a:solidFill>
              </a:rPr>
              <a:t>Pre-C&amp;V</a:t>
            </a:r>
            <a:endParaRPr lang="en-US" sz="1800" dirty="0"/>
          </a:p>
        </p:txBody>
      </p:sp>
      <p:sp>
        <p:nvSpPr>
          <p:cNvPr id="15" name="Text 13"/>
          <p:cNvSpPr txBox="1"/>
          <p:nvPr/>
        </p:nvSpPr>
        <p:spPr>
          <a:xfrm>
            <a:off x="3008925" y="3081528"/>
            <a:ext cx="1692189" cy="274320"/>
          </a:xfrm>
          <a:prstGeom prst="rect">
            <a:avLst/>
          </a:prstGeom>
          <a:noFill/>
          <a:ln/>
        </p:spPr>
        <p:txBody>
          <a:bodyPr wrap="square" lIns="0" tIns="0" rIns="0" bIns="0" rtlCol="0" anchor="ctr"/>
          <a:lstStyle/>
          <a:p>
            <a:pPr indent="0" marL="0">
              <a:buNone/>
            </a:pPr>
            <a:r>
              <a:rPr lang="en-US" sz="1200" dirty="0">
                <a:solidFill>
                  <a:srgbClr val="6E7178"/>
                </a:solidFill>
              </a:rPr>
              <a:t>September</a:t>
            </a:r>
            <a:endParaRPr lang="en-US" sz="1200" dirty="0"/>
          </a:p>
        </p:txBody>
      </p:sp>
      <p:sp>
        <p:nvSpPr>
          <p:cNvPr id="16" name="Text 14"/>
          <p:cNvSpPr txBox="1"/>
          <p:nvPr/>
        </p:nvSpPr>
        <p:spPr>
          <a:xfrm>
            <a:off x="3008925" y="3474720"/>
            <a:ext cx="1692189" cy="868680"/>
          </a:xfrm>
          <a:prstGeom prst="rect">
            <a:avLst/>
          </a:prstGeom>
          <a:noFill/>
          <a:ln/>
        </p:spPr>
        <p:txBody>
          <a:bodyPr wrap="square" lIns="0" tIns="0" rIns="0" bIns="0" rtlCol="0" anchor="t"/>
          <a:lstStyle/>
          <a:p>
            <a:pPr indent="0" marL="0">
              <a:buNone/>
            </a:pPr>
            <a:r>
              <a:rPr lang="en-US" sz="1300" dirty="0">
                <a:solidFill>
                  <a:srgbClr val="3D3C3C"/>
                </a:solidFill>
              </a:rPr>
              <a:t>Cultural foundation session</a:t>
            </a:r>
            <a:endParaRPr lang="en-US" sz="1300" dirty="0"/>
          </a:p>
        </p:txBody>
      </p:sp>
      <p:sp>
        <p:nvSpPr>
          <p:cNvPr id="17" name="Shape 15"/>
          <p:cNvSpPr/>
          <p:nvPr/>
        </p:nvSpPr>
        <p:spPr>
          <a:xfrm>
            <a:off x="3690427" y="4791456"/>
            <a:ext cx="292608" cy="292608"/>
          </a:xfrm>
          <a:prstGeom prst="ellipse">
            <a:avLst/>
          </a:prstGeom>
          <a:solidFill>
            <a:srgbClr val="2EB88A"/>
          </a:solidFill>
          <a:ln w="31750">
            <a:solidFill>
              <a:srgbClr val="2EB88A"/>
            </a:solidFill>
            <a:prstDash val="solid"/>
          </a:ln>
        </p:spPr>
      </p:sp>
      <p:sp>
        <p:nvSpPr>
          <p:cNvPr id="18" name="Shape 16"/>
          <p:cNvSpPr/>
          <p:nvPr/>
        </p:nvSpPr>
        <p:spPr>
          <a:xfrm>
            <a:off x="5066873" y="2148840"/>
            <a:ext cx="2057949" cy="2331720"/>
          </a:xfrm>
          <a:prstGeom prst="rect">
            <a:avLst/>
          </a:prstGeom>
          <a:solidFill>
            <a:srgbClr val="E8F5FC"/>
          </a:solidFill>
          <a:ln w="12700">
            <a:solidFill>
              <a:srgbClr val="E8F5FC"/>
            </a:solidFill>
            <a:prstDash val="solid"/>
          </a:ln>
        </p:spPr>
      </p:sp>
      <p:sp>
        <p:nvSpPr>
          <p:cNvPr id="19" name="Text 17"/>
          <p:cNvSpPr txBox="1"/>
          <p:nvPr/>
        </p:nvSpPr>
        <p:spPr>
          <a:xfrm>
            <a:off x="5268041" y="2377440"/>
            <a:ext cx="1692189" cy="256032"/>
          </a:xfrm>
          <a:prstGeom prst="rect">
            <a:avLst/>
          </a:prstGeom>
          <a:noFill/>
          <a:ln/>
        </p:spPr>
        <p:txBody>
          <a:bodyPr wrap="square" lIns="0" tIns="0" rIns="0" bIns="0" rtlCol="0" anchor="ctr"/>
          <a:lstStyle/>
          <a:p>
            <a:pPr indent="0" marL="0">
              <a:buNone/>
            </a:pPr>
            <a:r>
              <a:rPr lang="en-US" sz="1000" b="1" spc="150" kern="0" dirty="0">
                <a:solidFill>
                  <a:srgbClr val="0E98D7"/>
                </a:solidFill>
              </a:rPr>
              <a:t>UNDERWAY</a:t>
            </a:r>
            <a:endParaRPr lang="en-US" sz="1000" dirty="0"/>
          </a:p>
        </p:txBody>
      </p:sp>
      <p:sp>
        <p:nvSpPr>
          <p:cNvPr id="20" name="Text 18"/>
          <p:cNvSpPr txBox="1"/>
          <p:nvPr/>
        </p:nvSpPr>
        <p:spPr>
          <a:xfrm>
            <a:off x="5268041" y="2697480"/>
            <a:ext cx="1692189" cy="411480"/>
          </a:xfrm>
          <a:prstGeom prst="rect">
            <a:avLst/>
          </a:prstGeom>
          <a:noFill/>
          <a:ln/>
        </p:spPr>
        <p:txBody>
          <a:bodyPr wrap="square" lIns="0" tIns="0" rIns="0" bIns="0" rtlCol="0" anchor="ctr"/>
          <a:lstStyle/>
          <a:p>
            <a:pPr indent="0" marL="0">
              <a:buNone/>
            </a:pPr>
            <a:r>
              <a:rPr lang="en-US" sz="1800" b="1" dirty="0">
                <a:solidFill>
                  <a:srgbClr val="3D3C3C"/>
                </a:solidFill>
              </a:rPr>
              <a:t>C&amp;V Phase</a:t>
            </a:r>
            <a:endParaRPr lang="en-US" sz="1800" dirty="0"/>
          </a:p>
        </p:txBody>
      </p:sp>
      <p:sp>
        <p:nvSpPr>
          <p:cNvPr id="21" name="Text 19"/>
          <p:cNvSpPr txBox="1"/>
          <p:nvPr/>
        </p:nvSpPr>
        <p:spPr>
          <a:xfrm>
            <a:off x="5268041" y="3081528"/>
            <a:ext cx="1692189" cy="274320"/>
          </a:xfrm>
          <a:prstGeom prst="rect">
            <a:avLst/>
          </a:prstGeom>
          <a:noFill/>
          <a:ln/>
        </p:spPr>
        <p:txBody>
          <a:bodyPr wrap="square" lIns="0" tIns="0" rIns="0" bIns="0" rtlCol="0" anchor="ctr"/>
          <a:lstStyle/>
          <a:p>
            <a:pPr indent="0" marL="0">
              <a:buNone/>
            </a:pPr>
            <a:r>
              <a:rPr lang="en-US" sz="1200" dirty="0">
                <a:solidFill>
                  <a:srgbClr val="6E7178"/>
                </a:solidFill>
              </a:rPr>
              <a:t>Now</a:t>
            </a:r>
            <a:endParaRPr lang="en-US" sz="1200" dirty="0"/>
          </a:p>
        </p:txBody>
      </p:sp>
      <p:sp>
        <p:nvSpPr>
          <p:cNvPr id="22" name="Text 20"/>
          <p:cNvSpPr txBox="1"/>
          <p:nvPr/>
        </p:nvSpPr>
        <p:spPr>
          <a:xfrm>
            <a:off x="5268041" y="3474720"/>
            <a:ext cx="1692189" cy="868680"/>
          </a:xfrm>
          <a:prstGeom prst="rect">
            <a:avLst/>
          </a:prstGeom>
          <a:noFill/>
          <a:ln/>
        </p:spPr>
        <p:txBody>
          <a:bodyPr wrap="square" lIns="0" tIns="0" rIns="0" bIns="0" rtlCol="0" anchor="t"/>
          <a:lstStyle/>
          <a:p>
            <a:pPr indent="0" marL="0">
              <a:buNone/>
            </a:pPr>
            <a:r>
              <a:rPr lang="en-US" sz="1300" dirty="0">
                <a:solidFill>
                  <a:srgbClr val="3D3C3C"/>
                </a:solidFill>
              </a:rPr>
              <a:t>Interactive readiness</a:t>
            </a:r>
            <a:endParaRPr lang="en-US" sz="1300" dirty="0"/>
          </a:p>
        </p:txBody>
      </p:sp>
      <p:sp>
        <p:nvSpPr>
          <p:cNvPr id="23" name="Shape 21"/>
          <p:cNvSpPr/>
          <p:nvPr/>
        </p:nvSpPr>
        <p:spPr>
          <a:xfrm>
            <a:off x="5949544" y="4791456"/>
            <a:ext cx="292608" cy="292608"/>
          </a:xfrm>
          <a:prstGeom prst="ellipse">
            <a:avLst/>
          </a:prstGeom>
          <a:solidFill>
            <a:srgbClr val="0E98D7"/>
          </a:solidFill>
          <a:ln w="31750">
            <a:solidFill>
              <a:srgbClr val="0E98D7"/>
            </a:solidFill>
            <a:prstDash val="solid"/>
          </a:ln>
        </p:spPr>
      </p:sp>
      <p:sp>
        <p:nvSpPr>
          <p:cNvPr id="24" name="Shape 22"/>
          <p:cNvSpPr/>
          <p:nvPr/>
        </p:nvSpPr>
        <p:spPr>
          <a:xfrm>
            <a:off x="7325990" y="2148840"/>
            <a:ext cx="2057949" cy="2331720"/>
          </a:xfrm>
          <a:prstGeom prst="rect">
            <a:avLst/>
          </a:prstGeom>
          <a:solidFill>
            <a:srgbClr val="FFF6ED"/>
          </a:solidFill>
          <a:ln w="12700">
            <a:solidFill>
              <a:srgbClr val="FFF6ED"/>
            </a:solidFill>
            <a:prstDash val="solid"/>
          </a:ln>
        </p:spPr>
      </p:sp>
      <p:sp>
        <p:nvSpPr>
          <p:cNvPr id="25" name="Text 23"/>
          <p:cNvSpPr txBox="1"/>
          <p:nvPr/>
        </p:nvSpPr>
        <p:spPr>
          <a:xfrm>
            <a:off x="7527158" y="2377440"/>
            <a:ext cx="1692189" cy="256032"/>
          </a:xfrm>
          <a:prstGeom prst="rect">
            <a:avLst/>
          </a:prstGeom>
          <a:noFill/>
          <a:ln/>
        </p:spPr>
        <p:txBody>
          <a:bodyPr wrap="square" lIns="0" tIns="0" rIns="0" bIns="0" rtlCol="0" anchor="ctr"/>
          <a:lstStyle/>
          <a:p>
            <a:pPr indent="0" marL="0">
              <a:buNone/>
            </a:pPr>
            <a:r>
              <a:rPr lang="en-US" sz="1000" b="1" spc="150" kern="0" dirty="0">
                <a:solidFill>
                  <a:srgbClr val="F48047"/>
                </a:solidFill>
              </a:rPr>
              <a:t>UPCOMING</a:t>
            </a:r>
            <a:endParaRPr lang="en-US" sz="1000" dirty="0"/>
          </a:p>
        </p:txBody>
      </p:sp>
      <p:sp>
        <p:nvSpPr>
          <p:cNvPr id="26" name="Text 24"/>
          <p:cNvSpPr txBox="1"/>
          <p:nvPr/>
        </p:nvSpPr>
        <p:spPr>
          <a:xfrm>
            <a:off x="7527158" y="2697480"/>
            <a:ext cx="1692189" cy="411480"/>
          </a:xfrm>
          <a:prstGeom prst="rect">
            <a:avLst/>
          </a:prstGeom>
          <a:noFill/>
          <a:ln/>
        </p:spPr>
        <p:txBody>
          <a:bodyPr wrap="square" lIns="0" tIns="0" rIns="0" bIns="0" rtlCol="0" anchor="ctr"/>
          <a:lstStyle/>
          <a:p>
            <a:pPr indent="0" marL="0">
              <a:buNone/>
            </a:pPr>
            <a:r>
              <a:rPr lang="en-US" sz="1800" b="1" dirty="0">
                <a:solidFill>
                  <a:srgbClr val="3D3C3C"/>
                </a:solidFill>
              </a:rPr>
              <a:t>Pre-ECI</a:t>
            </a:r>
            <a:endParaRPr lang="en-US" sz="1800" dirty="0"/>
          </a:p>
        </p:txBody>
      </p:sp>
      <p:sp>
        <p:nvSpPr>
          <p:cNvPr id="27" name="Text 25"/>
          <p:cNvSpPr txBox="1"/>
          <p:nvPr/>
        </p:nvSpPr>
        <p:spPr>
          <a:xfrm>
            <a:off x="7527158" y="3081528"/>
            <a:ext cx="1692189" cy="274320"/>
          </a:xfrm>
          <a:prstGeom prst="rect">
            <a:avLst/>
          </a:prstGeom>
          <a:noFill/>
          <a:ln/>
        </p:spPr>
        <p:txBody>
          <a:bodyPr wrap="square" lIns="0" tIns="0" rIns="0" bIns="0" rtlCol="0" anchor="ctr"/>
          <a:lstStyle/>
          <a:p>
            <a:pPr indent="0" marL="0">
              <a:buNone/>
            </a:pPr>
            <a:r>
              <a:rPr lang="en-US" sz="1200" dirty="0">
                <a:solidFill>
                  <a:srgbClr val="6E7178"/>
                </a:solidFill>
              </a:rPr>
              <a:t>December</a:t>
            </a:r>
            <a:endParaRPr lang="en-US" sz="1200" dirty="0"/>
          </a:p>
        </p:txBody>
      </p:sp>
      <p:sp>
        <p:nvSpPr>
          <p:cNvPr id="28" name="Text 26"/>
          <p:cNvSpPr txBox="1"/>
          <p:nvPr/>
        </p:nvSpPr>
        <p:spPr>
          <a:xfrm>
            <a:off x="7527158" y="3474720"/>
            <a:ext cx="1692189" cy="868680"/>
          </a:xfrm>
          <a:prstGeom prst="rect">
            <a:avLst/>
          </a:prstGeom>
          <a:noFill/>
          <a:ln/>
        </p:spPr>
        <p:txBody>
          <a:bodyPr wrap="square" lIns="0" tIns="0" rIns="0" bIns="0" rtlCol="0" anchor="t"/>
          <a:lstStyle/>
          <a:p>
            <a:pPr indent="0" marL="0">
              <a:buNone/>
            </a:pPr>
            <a:r>
              <a:rPr lang="en-US" sz="1300" dirty="0">
                <a:solidFill>
                  <a:srgbClr val="3D3C3C"/>
                </a:solidFill>
              </a:rPr>
              <a:t>Customer centricity and strategy workshops</a:t>
            </a:r>
            <a:endParaRPr lang="en-US" sz="1300" dirty="0"/>
          </a:p>
        </p:txBody>
      </p:sp>
      <p:sp>
        <p:nvSpPr>
          <p:cNvPr id="29" name="Shape 27"/>
          <p:cNvSpPr/>
          <p:nvPr/>
        </p:nvSpPr>
        <p:spPr>
          <a:xfrm>
            <a:off x="8208660" y="4791456"/>
            <a:ext cx="292608" cy="292608"/>
          </a:xfrm>
          <a:prstGeom prst="ellipse">
            <a:avLst/>
          </a:prstGeom>
          <a:solidFill>
            <a:srgbClr val="FFFFFF"/>
          </a:solidFill>
          <a:ln w="31750">
            <a:solidFill>
              <a:srgbClr val="F48047"/>
            </a:solidFill>
            <a:prstDash val="solid"/>
          </a:ln>
        </p:spPr>
      </p:sp>
      <p:sp>
        <p:nvSpPr>
          <p:cNvPr id="30" name="Shape 28"/>
          <p:cNvSpPr/>
          <p:nvPr/>
        </p:nvSpPr>
        <p:spPr>
          <a:xfrm>
            <a:off x="9585107" y="2148840"/>
            <a:ext cx="2057949" cy="2331720"/>
          </a:xfrm>
          <a:prstGeom prst="rect">
            <a:avLst/>
          </a:prstGeom>
          <a:solidFill>
            <a:srgbClr val="FDEAF2"/>
          </a:solidFill>
          <a:ln w="12700">
            <a:solidFill>
              <a:srgbClr val="FDEAF2"/>
            </a:solidFill>
            <a:prstDash val="solid"/>
          </a:ln>
        </p:spPr>
      </p:sp>
      <p:sp>
        <p:nvSpPr>
          <p:cNvPr id="31" name="Text 29"/>
          <p:cNvSpPr txBox="1"/>
          <p:nvPr/>
        </p:nvSpPr>
        <p:spPr>
          <a:xfrm>
            <a:off x="9786275" y="2377440"/>
            <a:ext cx="1692189" cy="256032"/>
          </a:xfrm>
          <a:prstGeom prst="rect">
            <a:avLst/>
          </a:prstGeom>
          <a:noFill/>
          <a:ln/>
        </p:spPr>
        <p:txBody>
          <a:bodyPr wrap="square" lIns="0" tIns="0" rIns="0" bIns="0" rtlCol="0" anchor="ctr"/>
          <a:lstStyle/>
          <a:p>
            <a:pPr indent="0" marL="0">
              <a:buNone/>
            </a:pPr>
            <a:r>
              <a:rPr lang="en-US" sz="1000" b="1" spc="150" kern="0" dirty="0">
                <a:solidFill>
                  <a:srgbClr val="EE2B7A"/>
                </a:solidFill>
              </a:rPr>
              <a:t>UPCOMING</a:t>
            </a:r>
            <a:endParaRPr lang="en-US" sz="1000" dirty="0"/>
          </a:p>
        </p:txBody>
      </p:sp>
      <p:sp>
        <p:nvSpPr>
          <p:cNvPr id="32" name="Text 30"/>
          <p:cNvSpPr txBox="1"/>
          <p:nvPr/>
        </p:nvSpPr>
        <p:spPr>
          <a:xfrm>
            <a:off x="9786275" y="2697480"/>
            <a:ext cx="1692189" cy="411480"/>
          </a:xfrm>
          <a:prstGeom prst="rect">
            <a:avLst/>
          </a:prstGeom>
          <a:noFill/>
          <a:ln/>
        </p:spPr>
        <p:txBody>
          <a:bodyPr wrap="square" lIns="0" tIns="0" rIns="0" bIns="0" rtlCol="0" anchor="ctr"/>
          <a:lstStyle/>
          <a:p>
            <a:pPr indent="0" marL="0">
              <a:buNone/>
            </a:pPr>
            <a:r>
              <a:rPr lang="en-US" sz="1800" b="1" dirty="0">
                <a:solidFill>
                  <a:srgbClr val="3D3C3C"/>
                </a:solidFill>
              </a:rPr>
              <a:t>ECI Phase</a:t>
            </a:r>
            <a:endParaRPr lang="en-US" sz="1800" dirty="0"/>
          </a:p>
        </p:txBody>
      </p:sp>
      <p:sp>
        <p:nvSpPr>
          <p:cNvPr id="33" name="Text 31"/>
          <p:cNvSpPr txBox="1"/>
          <p:nvPr/>
        </p:nvSpPr>
        <p:spPr>
          <a:xfrm>
            <a:off x="9786275" y="3081528"/>
            <a:ext cx="1692189" cy="274320"/>
          </a:xfrm>
          <a:prstGeom prst="rect">
            <a:avLst/>
          </a:prstGeom>
          <a:noFill/>
          <a:ln/>
        </p:spPr>
        <p:txBody>
          <a:bodyPr wrap="square" lIns="0" tIns="0" rIns="0" bIns="0" rtlCol="0" anchor="ctr"/>
          <a:lstStyle/>
          <a:p>
            <a:pPr indent="0" marL="0">
              <a:buNone/>
            </a:pPr>
            <a:r>
              <a:rPr lang="en-US" sz="1200" dirty="0">
                <a:solidFill>
                  <a:srgbClr val="6E7178"/>
                </a:solidFill>
              </a:rPr>
              <a:t>2027</a:t>
            </a:r>
            <a:endParaRPr lang="en-US" sz="1200" dirty="0"/>
          </a:p>
        </p:txBody>
      </p:sp>
      <p:sp>
        <p:nvSpPr>
          <p:cNvPr id="34" name="Text 32"/>
          <p:cNvSpPr txBox="1"/>
          <p:nvPr/>
        </p:nvSpPr>
        <p:spPr>
          <a:xfrm>
            <a:off x="9786275" y="3474720"/>
            <a:ext cx="1692189" cy="868680"/>
          </a:xfrm>
          <a:prstGeom prst="rect">
            <a:avLst/>
          </a:prstGeom>
          <a:noFill/>
          <a:ln/>
        </p:spPr>
        <p:txBody>
          <a:bodyPr wrap="square" lIns="0" tIns="0" rIns="0" bIns="0" rtlCol="0" anchor="t"/>
          <a:lstStyle/>
          <a:p>
            <a:pPr indent="0" marL="0">
              <a:buNone/>
            </a:pPr>
            <a:r>
              <a:rPr lang="en-US" sz="1300" dirty="0">
                <a:solidFill>
                  <a:srgbClr val="3D3C3C"/>
                </a:solidFill>
              </a:rPr>
              <a:t>Structured interactive support</a:t>
            </a:r>
            <a:endParaRPr lang="en-US" sz="1300" dirty="0"/>
          </a:p>
        </p:txBody>
      </p:sp>
      <p:sp>
        <p:nvSpPr>
          <p:cNvPr id="35" name="Shape 33"/>
          <p:cNvSpPr/>
          <p:nvPr/>
        </p:nvSpPr>
        <p:spPr>
          <a:xfrm>
            <a:off x="10467777" y="4791456"/>
            <a:ext cx="292608" cy="292608"/>
          </a:xfrm>
          <a:prstGeom prst="ellipse">
            <a:avLst/>
          </a:prstGeom>
          <a:solidFill>
            <a:srgbClr val="FFFFFF"/>
          </a:solidFill>
          <a:ln w="31750">
            <a:solidFill>
              <a:srgbClr val="EE2B7A"/>
            </a:solidFill>
            <a:prstDash val="solid"/>
          </a:ln>
        </p:spPr>
      </p:sp>
      <p:sp>
        <p:nvSpPr>
          <p:cNvPr id="36" name="Text 34"/>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400" b="1" dirty="0">
                <a:solidFill>
                  <a:srgbClr val="0E98D7"/>
                </a:solidFill>
              </a:rPr>
              <a:t>Our remaining support:  </a:t>
            </a:r>
            <a:pPr indent="0" marL="0">
              <a:buNone/>
            </a:pPr>
            <a:r>
              <a:rPr lang="en-US" sz="1400" dirty="0">
                <a:solidFill>
                  <a:srgbClr val="3D3C3C"/>
                </a:solidFill>
              </a:rPr>
              <a:t>completing the C&amp;V Phase, realigning before the ECI Phase, and supporting every ECI interactive from January to June 2027.</a:t>
            </a:r>
            <a:endParaRPr lang="en-US" sz="14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OVERVIEW</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The C&amp;V and ECI Phases share a similar budget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772400" cy="914400"/>
        </p:xfrm>
        <a:graphic>
          <a:graphicData uri="http://schemas.openxmlformats.org/drawingml/2006/table">
            <a:tbl>
              <a:tblPr/>
              <a:tblGrid>
                <a:gridCol w="4480560"/>
                <a:gridCol w="3291840"/>
              </a:tblGrid>
              <a:tr h="256032">
                <a:tc>
                  <a:txBody>
                    <a:bodyPr/>
                    <a:lstStyle/>
                    <a:p>
                      <a:pPr algn="l" indent="0" marL="0">
                        <a:buNone/>
                      </a:pPr>
                      <a:r>
                        <a:rPr lang="en-US" sz="1050" b="1" dirty="0">
                          <a:solidFill>
                            <a:srgbClr val="FFFFFF"/>
                          </a:solidFill>
                        </a:rPr>
                        <a:t>Project steps</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c>
                  <a:txBody>
                    <a:bodyPr/>
                    <a:lstStyle/>
                    <a:p>
                      <a:pPr algn="r" indent="0" marL="0">
                        <a:buNone/>
                      </a:pPr>
                      <a:r>
                        <a:rPr lang="en-US" sz="1050" b="1" dirty="0">
                          <a:solidFill>
                            <a:srgbClr val="FFFFFF"/>
                          </a:solidFill>
                        </a:rPr>
                        <a:t>Investment (excl. GST)</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r>
              <a:tr h="256032">
                <a:tc gridSpan="2">
                  <a:txBody>
                    <a:bodyPr/>
                    <a:lstStyle/>
                    <a:p>
                      <a:pPr indent="0" marL="0">
                        <a:buNone/>
                      </a:pPr>
                      <a:r>
                        <a:rPr lang="en-US" sz="1050" b="1" dirty="0">
                          <a:solidFill>
                            <a:srgbClr val="3D3C3C"/>
                          </a:solidFill>
                        </a:rPr>
                        <a:t>Pre-ECI: Interactive Preparation</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cPr/>
                </a:tc>
              </a:tr>
              <a:tr h="256032">
                <a:tc>
                  <a:txBody>
                    <a:bodyPr/>
                    <a:lstStyle/>
                    <a:p>
                      <a:pPr indent="0" marL="0">
                        <a:buNone/>
                      </a:pPr>
                      <a:r>
                        <a:rPr lang="en-US" sz="1050" dirty="0">
                          <a:solidFill>
                            <a:srgbClr val="9A9DA3"/>
                          </a:solidFill>
                        </a:rPr>
                        <a:t>Virtual team introduction and alignment session</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rowSpan="3">
                  <a:txBody>
                    <a:bodyPr/>
                    <a:lstStyle/>
                    <a:p>
                      <a:pPr algn="r" indent="0" marL="0">
                        <a:buNone/>
                      </a:pPr>
                      <a:r>
                        <a:rPr lang="en-US" sz="1050" dirty="0">
                          <a:solidFill>
                            <a:srgbClr val="9A9DA3"/>
                          </a:solidFill>
                        </a:rPr>
                        <a:t>Reduced to $10,000 for goodwill (paid separately to this contract)</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a:txBody>
                    <a:bodyPr/>
                    <a:lstStyle/>
                    <a:p>
                      <a:pPr indent="0" marL="0">
                        <a:buNone/>
                      </a:pPr>
                      <a:r>
                        <a:rPr lang="en-US" sz="1050" dirty="0">
                          <a:solidFill>
                            <a:srgbClr val="9A9DA3"/>
                          </a:solidFill>
                        </a:rPr>
                        <a:t>Pre-interactive team alignment session</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cPr/>
                </a:tc>
              </a:tr>
              <a:tr h="256032">
                <a:tc>
                  <a:txBody>
                    <a:bodyPr/>
                    <a:lstStyle/>
                    <a:p>
                      <a:pPr indent="0" marL="0">
                        <a:buNone/>
                      </a:pPr>
                      <a:r>
                        <a:rPr lang="en-US" sz="1050" dirty="0">
                          <a:solidFill>
                            <a:srgbClr val="9A9DA3"/>
                          </a:solidFill>
                        </a:rPr>
                        <a:t>Eight-step interactive preparation process</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cPr/>
                </a:tc>
              </a:tr>
              <a:tr h="256032">
                <a:tc>
                  <a:txBody>
                    <a:bodyPr/>
                    <a:lstStyle/>
                    <a:p>
                      <a:pPr indent="0" marL="0">
                        <a:buNone/>
                      </a:pPr>
                      <a:r>
                        <a:rPr lang="en-US" sz="1050" dirty="0">
                          <a:solidFill>
                            <a:srgbClr val="3D3C3C"/>
                          </a:solidFill>
                        </a:rPr>
                        <a:t>Presentation coaching</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algn="r" indent="0" marL="0">
                        <a:buNone/>
                      </a:pPr>
                      <a:r>
                        <a:rPr lang="en-US" sz="1050" dirty="0">
                          <a:solidFill>
                            <a:srgbClr val="3D3C3C"/>
                          </a:solidFill>
                        </a:rPr>
                        <a:t>$15,000 ($5,000 each)</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gridSpan="2">
                  <a:txBody>
                    <a:bodyPr/>
                    <a:lstStyle/>
                    <a:p>
                      <a:pPr indent="0" marL="0">
                        <a:buNone/>
                      </a:pPr>
                      <a:r>
                        <a:rPr lang="en-US" sz="1050" b="1" dirty="0">
                          <a:solidFill>
                            <a:srgbClr val="3D3C3C"/>
                          </a:solidFill>
                        </a:rPr>
                        <a:t>Foundation Sessions</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cPr/>
                </a:tc>
              </a:tr>
              <a:tr h="256032">
                <a:tc>
                  <a:txBody>
                    <a:bodyPr/>
                    <a:lstStyle/>
                    <a:p>
                      <a:pPr indent="0" marL="0">
                        <a:buNone/>
                      </a:pPr>
                      <a:r>
                        <a:rPr lang="en-US" sz="1050" dirty="0">
                          <a:solidFill>
                            <a:srgbClr val="3D3C3C"/>
                          </a:solidFill>
                        </a:rPr>
                        <a:t>Strategy Workshop</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algn="r" indent="0" marL="0">
                        <a:buNone/>
                      </a:pPr>
                      <a:r>
                        <a:rPr lang="en-US" sz="1050" dirty="0">
                          <a:solidFill>
                            <a:srgbClr val="3D3C3C"/>
                          </a:solidFill>
                        </a:rPr>
                        <a:t>$23,000</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a:txBody>
                    <a:bodyPr/>
                    <a:lstStyle/>
                    <a:p>
                      <a:pPr indent="0" marL="0">
                        <a:buNone/>
                      </a:pPr>
                      <a:r>
                        <a:rPr lang="en-US" sz="1050" dirty="0">
                          <a:solidFill>
                            <a:srgbClr val="3D3C3C"/>
                          </a:solidFill>
                        </a:rPr>
                        <a:t>Culture and Customer Centricity Workshop (x2)</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algn="r" indent="0" marL="0">
                        <a:buNone/>
                      </a:pPr>
                      <a:r>
                        <a:rPr lang="en-US" sz="1050" dirty="0">
                          <a:solidFill>
                            <a:srgbClr val="3D3C3C"/>
                          </a:solidFill>
                        </a:rPr>
                        <a:t>$46,000</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a:txBody>
                    <a:bodyPr/>
                    <a:lstStyle/>
                    <a:p>
                      <a:pPr indent="0" marL="0">
                        <a:buNone/>
                      </a:pPr>
                      <a:r>
                        <a:rPr lang="en-US" sz="1050" dirty="0">
                          <a:solidFill>
                            <a:srgbClr val="3D3C3C"/>
                          </a:solidFill>
                        </a:rPr>
                        <a:t>Interactive Readiness and Roleplay</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algn="r" indent="0" marL="0">
                        <a:buNone/>
                      </a:pPr>
                      <a:r>
                        <a:rPr lang="en-US" sz="1050" dirty="0">
                          <a:solidFill>
                            <a:srgbClr val="3D3C3C"/>
                          </a:solidFill>
                        </a:rPr>
                        <a:t>$11,500</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gridSpan="2">
                  <a:txBody>
                    <a:bodyPr/>
                    <a:lstStyle/>
                    <a:p>
                      <a:pPr indent="0" marL="0">
                        <a:buNone/>
                      </a:pPr>
                      <a:r>
                        <a:rPr lang="en-US" sz="1050" b="1" dirty="0">
                          <a:solidFill>
                            <a:srgbClr val="3D3C3C"/>
                          </a:solidFill>
                        </a:rPr>
                        <a:t>C&amp;V Phase Support</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cPr/>
                </a:tc>
              </a:tr>
              <a:tr h="256032">
                <a:tc>
                  <a:txBody>
                    <a:bodyPr/>
                    <a:lstStyle/>
                    <a:p>
                      <a:pPr indent="0" marL="0">
                        <a:buNone/>
                      </a:pPr>
                      <a:r>
                        <a:rPr lang="en-US" sz="1050" dirty="0">
                          <a:solidFill>
                            <a:srgbClr val="3D3C3C"/>
                          </a:solidFill>
                        </a:rPr>
                        <a:t>Interactive readiness and debrief sessions</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algn="r" indent="0" marL="0">
                        <a:buNone/>
                      </a:pPr>
                      <a:r>
                        <a:rPr lang="en-US" sz="1050" dirty="0">
                          <a:solidFill>
                            <a:srgbClr val="3D3C3C"/>
                          </a:solidFill>
                        </a:rPr>
                        <a:t>$81,600 (est. 14 sessions)</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gridSpan="2">
                  <a:txBody>
                    <a:bodyPr/>
                    <a:lstStyle/>
                    <a:p>
                      <a:pPr indent="0" marL="0">
                        <a:buNone/>
                      </a:pPr>
                      <a:r>
                        <a:rPr lang="en-US" sz="1050" b="1" dirty="0">
                          <a:solidFill>
                            <a:srgbClr val="3D3C3C"/>
                          </a:solidFill>
                        </a:rPr>
                        <a:t>ECI Phase Support</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cPr/>
                </a:tc>
              </a:tr>
              <a:tr h="256032">
                <a:tc>
                  <a:txBody>
                    <a:bodyPr/>
                    <a:lstStyle/>
                    <a:p>
                      <a:pPr indent="0" marL="0">
                        <a:buNone/>
                      </a:pPr>
                      <a:r>
                        <a:rPr lang="en-US" sz="1050" dirty="0">
                          <a:solidFill>
                            <a:srgbClr val="3D3C3C"/>
                          </a:solidFill>
                        </a:rPr>
                        <a:t>Client interactive preparation and support</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algn="r" indent="0" marL="0">
                        <a:buNone/>
                      </a:pPr>
                      <a:r>
                        <a:rPr lang="en-US" sz="1050" dirty="0">
                          <a:solidFill>
                            <a:srgbClr val="3D3C3C"/>
                          </a:solidFill>
                        </a:rPr>
                        <a:t>$174,000 (est. 12 sessions)</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gridSpan="2">
                  <a:txBody>
                    <a:bodyPr/>
                    <a:lstStyle/>
                    <a:p>
                      <a:pPr indent="0" marL="0">
                        <a:buNone/>
                      </a:pPr>
                      <a:r>
                        <a:rPr lang="en-US" sz="1050" b="1" dirty="0">
                          <a:solidFill>
                            <a:srgbClr val="3D3C3C"/>
                          </a:solidFill>
                        </a:rPr>
                        <a:t>Ongoing Support</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cPr/>
                </a:tc>
              </a:tr>
              <a:tr h="256032">
                <a:tc>
                  <a:txBody>
                    <a:bodyPr/>
                    <a:lstStyle/>
                    <a:p>
                      <a:pPr indent="0" marL="0">
                        <a:buNone/>
                      </a:pPr>
                      <a:r>
                        <a:rPr lang="en-US" sz="1050" dirty="0">
                          <a:solidFill>
                            <a:srgbClr val="3D3C3C"/>
                          </a:solidFill>
                        </a:rPr>
                        <a:t>Strategy and Positioning Support</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algn="r" indent="0" marL="0">
                        <a:buNone/>
                      </a:pPr>
                      <a:r>
                        <a:rPr lang="en-US" sz="1050" dirty="0">
                          <a:solidFill>
                            <a:srgbClr val="3D3C3C"/>
                          </a:solidFill>
                        </a:rPr>
                        <a:t>$37,000</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56032">
                <a:tc>
                  <a:txBody>
                    <a:bodyPr/>
                    <a:lstStyle/>
                    <a:p>
                      <a:pPr indent="0" marL="0">
                        <a:buNone/>
                      </a:pPr>
                      <a:r>
                        <a:rPr lang="en-US" sz="1050" b="1" dirty="0">
                          <a:solidFill>
                            <a:srgbClr val="3D3C3C"/>
                          </a:solidFill>
                        </a:rPr>
                        <a:t>Total</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4F5F7"/>
                    </a:solidFill>
                  </a:tcPr>
                </a:tc>
                <a:tc>
                  <a:txBody>
                    <a:bodyPr/>
                    <a:lstStyle/>
                    <a:p>
                      <a:pPr algn="r" indent="0" marL="0">
                        <a:buNone/>
                      </a:pPr>
                      <a:r>
                        <a:rPr lang="en-US" sz="1050" b="1" dirty="0">
                          <a:solidFill>
                            <a:srgbClr val="3D3C3C"/>
                          </a:solidFill>
                        </a:rPr>
                        <a:t>$388,100</a:t>
                      </a:r>
                      <a:endParaRPr lang="en-US" sz="1050" dirty="0"/>
                    </a:p>
                  </a:txBody>
                  <a:tcPr marL="91440" marR="91440"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4F5F7"/>
                    </a:solidFill>
                  </a:tcPr>
                </a:tc>
              </a:tr>
            </a:tbl>
          </a:graphicData>
        </a:graphic>
      </p:graphicFrame>
      <p:pic>
        <p:nvPicPr>
          <p:cNvPr id="5" name="Image 0" descr="grad_blue.png">    </p:cNvPr>
          <p:cNvPicPr>
            <a:picLocks noChangeAspect="1"/>
          </p:cNvPicPr>
          <p:nvPr/>
        </p:nvPicPr>
        <p:blipFill>
          <a:blip r:embed="rId1"/>
          <a:srcRect l="0" r="0" t="0" b="0"/>
          <a:stretch/>
        </p:blipFill>
        <p:spPr>
          <a:xfrm>
            <a:off x="8686800" y="1828800"/>
            <a:ext cx="2956255" cy="1828800"/>
          </a:xfrm>
          <a:prstGeom prst="rect">
            <a:avLst/>
          </a:prstGeom>
        </p:spPr>
      </p:pic>
      <p:sp>
        <p:nvSpPr>
          <p:cNvPr id="6" name="Text 2"/>
          <p:cNvSpPr txBox="1"/>
          <p:nvPr/>
        </p:nvSpPr>
        <p:spPr>
          <a:xfrm>
            <a:off x="8961120" y="1828800"/>
            <a:ext cx="2407615" cy="1828800"/>
          </a:xfrm>
          <a:prstGeom prst="rect">
            <a:avLst/>
          </a:prstGeom>
          <a:noFill/>
          <a:ln/>
        </p:spPr>
        <p:txBody>
          <a:bodyPr wrap="square" lIns="0" tIns="0" rIns="0" bIns="0" rtlCol="0" anchor="ctr"/>
          <a:lstStyle/>
          <a:p>
            <a:pPr indent="0" marL="0">
              <a:buNone/>
            </a:pPr>
            <a:r>
              <a:rPr lang="en-US" sz="1100" b="1" spc="150" kern="0" dirty="0">
                <a:solidFill>
                  <a:srgbClr val="FFFFFF"/>
                </a:solidFill>
              </a:rPr>
              <a:t>PRE-ECI AND C&amp;V</a:t>
            </a:r>
            <a:endParaRPr lang="en-US" sz="1100" dirty="0"/>
          </a:p>
          <a:p>
            <a:pPr indent="0" marL="0">
              <a:buNone/>
            </a:pPr>
            <a:r>
              <a:rPr lang="en-US" sz="3600" b="1" dirty="0">
                <a:solidFill>
                  <a:srgbClr val="FFFFFF"/>
                </a:solidFill>
              </a:rPr>
              <a:t>$177,100</a:t>
            </a:r>
            <a:endParaRPr lang="en-US" sz="1100" dirty="0"/>
          </a:p>
          <a:p>
            <a:pPr indent="0" marL="0">
              <a:buNone/>
            </a:pPr>
            <a:r>
              <a:rPr lang="en-US" sz="1300" dirty="0">
                <a:solidFill>
                  <a:srgbClr val="FFFFFF"/>
                </a:solidFill>
              </a:rPr>
              <a:t>45.6% of total budget</a:t>
            </a:r>
            <a:endParaRPr lang="en-US" sz="1100" dirty="0"/>
          </a:p>
        </p:txBody>
      </p:sp>
      <p:pic>
        <p:nvPicPr>
          <p:cNvPr id="7" name="Image 1" descr="grad_purple.png">    </p:cNvPr>
          <p:cNvPicPr>
            <a:picLocks noChangeAspect="1"/>
          </p:cNvPicPr>
          <p:nvPr/>
        </p:nvPicPr>
        <p:blipFill>
          <a:blip r:embed="rId2"/>
          <a:srcRect l="0" r="0" t="0" b="0"/>
          <a:stretch/>
        </p:blipFill>
        <p:spPr>
          <a:xfrm>
            <a:off x="8686800" y="3886200"/>
            <a:ext cx="2956255" cy="1828800"/>
          </a:xfrm>
          <a:prstGeom prst="rect">
            <a:avLst/>
          </a:prstGeom>
        </p:spPr>
      </p:pic>
      <p:sp>
        <p:nvSpPr>
          <p:cNvPr id="8" name="Text 3"/>
          <p:cNvSpPr txBox="1"/>
          <p:nvPr/>
        </p:nvSpPr>
        <p:spPr>
          <a:xfrm>
            <a:off x="8961120" y="3886200"/>
            <a:ext cx="2407615" cy="1828800"/>
          </a:xfrm>
          <a:prstGeom prst="rect">
            <a:avLst/>
          </a:prstGeom>
          <a:noFill/>
          <a:ln/>
        </p:spPr>
        <p:txBody>
          <a:bodyPr wrap="square" lIns="0" tIns="0" rIns="0" bIns="0" rtlCol="0" anchor="ctr"/>
          <a:lstStyle/>
          <a:p>
            <a:pPr indent="0" marL="0">
              <a:buNone/>
            </a:pPr>
            <a:r>
              <a:rPr lang="en-US" sz="1100" b="1" spc="150" kern="0" dirty="0">
                <a:solidFill>
                  <a:srgbClr val="FFFFFF"/>
                </a:solidFill>
              </a:rPr>
              <a:t>ECI AND ONGOING</a:t>
            </a:r>
            <a:endParaRPr lang="en-US" sz="1100" dirty="0"/>
          </a:p>
          <a:p>
            <a:pPr indent="0" marL="0">
              <a:buNone/>
            </a:pPr>
            <a:r>
              <a:rPr lang="en-US" sz="3600" b="1" dirty="0">
                <a:solidFill>
                  <a:srgbClr val="FFFFFF"/>
                </a:solidFill>
              </a:rPr>
              <a:t>$211,000</a:t>
            </a:r>
            <a:endParaRPr lang="en-US" sz="1100" dirty="0"/>
          </a:p>
          <a:p>
            <a:pPr indent="0" marL="0">
              <a:buNone/>
            </a:pPr>
            <a:r>
              <a:rPr lang="en-US" sz="1300" dirty="0">
                <a:solidFill>
                  <a:srgbClr val="FFFFFF"/>
                </a:solidFill>
              </a:rPr>
              <a:t>54.4% of total budget</a:t>
            </a:r>
            <a:endParaRPr lang="en-US" sz="11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C&amp;V PHASE</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Six more interactives and three submissions</a:t>
            </a:r>
            <a:endParaRPr lang="en-US" sz="2800" dirty="0"/>
          </a:p>
        </p:txBody>
      </p:sp>
      <p:sp>
        <p:nvSpPr>
          <p:cNvPr id="4" name="Text 2"/>
          <p:cNvSpPr txBox="1"/>
          <p:nvPr/>
        </p:nvSpPr>
        <p:spPr>
          <a:xfrm>
            <a:off x="548640" y="1325880"/>
            <a:ext cx="11094415" cy="457200"/>
          </a:xfrm>
          <a:prstGeom prst="rect">
            <a:avLst/>
          </a:prstGeom>
          <a:noFill/>
          <a:ln/>
        </p:spPr>
        <p:txBody>
          <a:bodyPr wrap="square" lIns="0" tIns="0" rIns="0" bIns="0" rtlCol="0" anchor="t"/>
          <a:lstStyle/>
          <a:p>
            <a:pPr indent="0" marL="0">
              <a:buNone/>
            </a:pPr>
            <a:r>
              <a:rPr lang="en-US" sz="1400" dirty="0">
                <a:solidFill>
                  <a:srgbClr val="6E7178"/>
                </a:solidFill>
              </a:rPr>
              <a:t>Our proposed support for the remainder of the C&amp;V Phase, within the existing budget.</a:t>
            </a:r>
            <a:endParaRPr lang="en-US" sz="1400" dirty="0"/>
          </a:p>
        </p:txBody>
      </p:sp>
      <p:pic>
        <p:nvPicPr>
          <p:cNvPr id="5" name="Image 0" descr="grad_blue.png">    </p:cNvPr>
          <p:cNvPicPr>
            <a:picLocks noChangeAspect="1"/>
          </p:cNvPicPr>
          <p:nvPr/>
        </p:nvPicPr>
        <p:blipFill>
          <a:blip r:embed="rId1"/>
          <a:srcRect l="0" r="0" t="0" b="0"/>
          <a:stretch/>
        </p:blipFill>
        <p:spPr>
          <a:xfrm>
            <a:off x="548640" y="1920240"/>
            <a:ext cx="3484778" cy="2331720"/>
          </a:xfrm>
          <a:prstGeom prst="rect">
            <a:avLst/>
          </a:prstGeom>
        </p:spPr>
      </p:pic>
      <p:sp>
        <p:nvSpPr>
          <p:cNvPr id="6" name="Text 3"/>
          <p:cNvSpPr txBox="1"/>
          <p:nvPr/>
        </p:nvSpPr>
        <p:spPr>
          <a:xfrm>
            <a:off x="868680" y="2057400"/>
            <a:ext cx="2844698" cy="1600200"/>
          </a:xfrm>
          <a:prstGeom prst="rect">
            <a:avLst/>
          </a:prstGeom>
          <a:noFill/>
          <a:ln/>
        </p:spPr>
        <p:txBody>
          <a:bodyPr wrap="square" lIns="0" tIns="0" rIns="0" bIns="0" rtlCol="0" anchor="b"/>
          <a:lstStyle/>
          <a:p>
            <a:pPr indent="0" marL="0">
              <a:buNone/>
            </a:pPr>
            <a:r>
              <a:rPr lang="en-US" sz="9600" b="1" dirty="0">
                <a:solidFill>
                  <a:srgbClr val="FFFFFF"/>
                </a:solidFill>
              </a:rPr>
              <a:t>8</a:t>
            </a:r>
            <a:endParaRPr lang="en-US" sz="9600" dirty="0"/>
          </a:p>
        </p:txBody>
      </p:sp>
      <p:sp>
        <p:nvSpPr>
          <p:cNvPr id="7" name="Text 4"/>
          <p:cNvSpPr txBox="1"/>
          <p:nvPr/>
        </p:nvSpPr>
        <p:spPr>
          <a:xfrm>
            <a:off x="868680" y="3657600"/>
            <a:ext cx="2844698" cy="411480"/>
          </a:xfrm>
          <a:prstGeom prst="rect">
            <a:avLst/>
          </a:prstGeom>
          <a:noFill/>
          <a:ln/>
        </p:spPr>
        <p:txBody>
          <a:bodyPr wrap="square" lIns="0" tIns="0" rIns="0" bIns="0" rtlCol="0" anchor="ctr"/>
          <a:lstStyle/>
          <a:p>
            <a:pPr indent="0" marL="0">
              <a:buNone/>
            </a:pPr>
            <a:r>
              <a:rPr lang="en-US" sz="1500" dirty="0">
                <a:solidFill>
                  <a:srgbClr val="FFFFFF"/>
                </a:solidFill>
              </a:rPr>
              <a:t>interactives supported to date</a:t>
            </a:r>
            <a:endParaRPr lang="en-US" sz="1500" dirty="0"/>
          </a:p>
        </p:txBody>
      </p:sp>
      <p:pic>
        <p:nvPicPr>
          <p:cNvPr id="8" name="Image 1" descr="grad_orange.png">    </p:cNvPr>
          <p:cNvPicPr>
            <a:picLocks noChangeAspect="1"/>
          </p:cNvPicPr>
          <p:nvPr/>
        </p:nvPicPr>
        <p:blipFill>
          <a:blip r:embed="rId2"/>
          <a:srcRect l="0" r="0" t="0" b="0"/>
          <a:stretch/>
        </p:blipFill>
        <p:spPr>
          <a:xfrm>
            <a:off x="4353458" y="1920240"/>
            <a:ext cx="3484778" cy="2331720"/>
          </a:xfrm>
          <a:prstGeom prst="rect">
            <a:avLst/>
          </a:prstGeom>
        </p:spPr>
      </p:pic>
      <p:sp>
        <p:nvSpPr>
          <p:cNvPr id="9" name="Text 5"/>
          <p:cNvSpPr txBox="1"/>
          <p:nvPr/>
        </p:nvSpPr>
        <p:spPr>
          <a:xfrm>
            <a:off x="4673498" y="2057400"/>
            <a:ext cx="2844698" cy="1600200"/>
          </a:xfrm>
          <a:prstGeom prst="rect">
            <a:avLst/>
          </a:prstGeom>
          <a:noFill/>
          <a:ln/>
        </p:spPr>
        <p:txBody>
          <a:bodyPr wrap="square" lIns="0" tIns="0" rIns="0" bIns="0" rtlCol="0" anchor="b"/>
          <a:lstStyle/>
          <a:p>
            <a:pPr indent="0" marL="0">
              <a:buNone/>
            </a:pPr>
            <a:r>
              <a:rPr lang="en-US" sz="9600" b="1" dirty="0">
                <a:solidFill>
                  <a:srgbClr val="FFFFFF"/>
                </a:solidFill>
              </a:rPr>
              <a:t>6</a:t>
            </a:r>
            <a:endParaRPr lang="en-US" sz="9600" dirty="0"/>
          </a:p>
        </p:txBody>
      </p:sp>
      <p:sp>
        <p:nvSpPr>
          <p:cNvPr id="10" name="Text 6"/>
          <p:cNvSpPr txBox="1"/>
          <p:nvPr/>
        </p:nvSpPr>
        <p:spPr>
          <a:xfrm>
            <a:off x="4673498" y="3657600"/>
            <a:ext cx="2844698" cy="411480"/>
          </a:xfrm>
          <a:prstGeom prst="rect">
            <a:avLst/>
          </a:prstGeom>
          <a:noFill/>
          <a:ln/>
        </p:spPr>
        <p:txBody>
          <a:bodyPr wrap="square" lIns="0" tIns="0" rIns="0" bIns="0" rtlCol="0" anchor="ctr"/>
          <a:lstStyle/>
          <a:p>
            <a:pPr indent="0" marL="0">
              <a:buNone/>
            </a:pPr>
            <a:r>
              <a:rPr lang="en-US" sz="1500" dirty="0">
                <a:solidFill>
                  <a:srgbClr val="FFFFFF"/>
                </a:solidFill>
              </a:rPr>
              <a:t>further interactives proposed</a:t>
            </a:r>
            <a:endParaRPr lang="en-US" sz="1500" dirty="0"/>
          </a:p>
        </p:txBody>
      </p:sp>
      <p:pic>
        <p:nvPicPr>
          <p:cNvPr id="11" name="Image 2" descr="grad_purple.png">    </p:cNvPr>
          <p:cNvPicPr>
            <a:picLocks noChangeAspect="1"/>
          </p:cNvPicPr>
          <p:nvPr/>
        </p:nvPicPr>
        <p:blipFill>
          <a:blip r:embed="rId3"/>
          <a:srcRect l="0" r="0" t="0" b="0"/>
          <a:stretch/>
        </p:blipFill>
        <p:spPr>
          <a:xfrm>
            <a:off x="8158277" y="1920240"/>
            <a:ext cx="3484778" cy="2331720"/>
          </a:xfrm>
          <a:prstGeom prst="rect">
            <a:avLst/>
          </a:prstGeom>
        </p:spPr>
      </p:pic>
      <p:sp>
        <p:nvSpPr>
          <p:cNvPr id="12" name="Text 7"/>
          <p:cNvSpPr txBox="1"/>
          <p:nvPr/>
        </p:nvSpPr>
        <p:spPr>
          <a:xfrm>
            <a:off x="8478317" y="2057400"/>
            <a:ext cx="2844698" cy="1600200"/>
          </a:xfrm>
          <a:prstGeom prst="rect">
            <a:avLst/>
          </a:prstGeom>
          <a:noFill/>
          <a:ln/>
        </p:spPr>
        <p:txBody>
          <a:bodyPr wrap="square" lIns="0" tIns="0" rIns="0" bIns="0" rtlCol="0" anchor="b"/>
          <a:lstStyle/>
          <a:p>
            <a:pPr indent="0" marL="0">
              <a:buNone/>
            </a:pPr>
            <a:r>
              <a:rPr lang="en-US" sz="9600" b="1" dirty="0">
                <a:solidFill>
                  <a:srgbClr val="FFFFFF"/>
                </a:solidFill>
              </a:rPr>
              <a:t>3</a:t>
            </a:r>
            <a:endParaRPr lang="en-US" sz="9600" dirty="0"/>
          </a:p>
        </p:txBody>
      </p:sp>
      <p:sp>
        <p:nvSpPr>
          <p:cNvPr id="13" name="Text 8"/>
          <p:cNvSpPr txBox="1"/>
          <p:nvPr/>
        </p:nvSpPr>
        <p:spPr>
          <a:xfrm>
            <a:off x="8478317" y="3657600"/>
            <a:ext cx="2844698" cy="411480"/>
          </a:xfrm>
          <a:prstGeom prst="rect">
            <a:avLst/>
          </a:prstGeom>
          <a:noFill/>
          <a:ln/>
        </p:spPr>
        <p:txBody>
          <a:bodyPr wrap="square" lIns="0" tIns="0" rIns="0" bIns="0" rtlCol="0" anchor="ctr"/>
          <a:lstStyle/>
          <a:p>
            <a:pPr indent="0" marL="0">
              <a:buNone/>
            </a:pPr>
            <a:r>
              <a:rPr lang="en-US" sz="1500" dirty="0">
                <a:solidFill>
                  <a:srgbClr val="FFFFFF"/>
                </a:solidFill>
              </a:rPr>
              <a:t>submissions supported (approx.)</a:t>
            </a:r>
            <a:endParaRPr lang="en-US" sz="1500" dirty="0"/>
          </a:p>
        </p:txBody>
      </p:sp>
      <p:sp>
        <p:nvSpPr>
          <p:cNvPr id="14" name="Text 9"/>
          <p:cNvSpPr txBox="1"/>
          <p:nvPr/>
        </p:nvSpPr>
        <p:spPr>
          <a:xfrm>
            <a:off x="548640" y="4526280"/>
            <a:ext cx="4572000" cy="256032"/>
          </a:xfrm>
          <a:prstGeom prst="rect">
            <a:avLst/>
          </a:prstGeom>
          <a:noFill/>
          <a:ln/>
        </p:spPr>
        <p:txBody>
          <a:bodyPr wrap="square" lIns="0" tIns="0" rIns="0" bIns="0" rtlCol="0" anchor="ctr"/>
          <a:lstStyle/>
          <a:p>
            <a:pPr indent="0" marL="0">
              <a:buNone/>
            </a:pPr>
            <a:r>
              <a:rPr lang="en-US" sz="1000" b="1" spc="150" kern="0" dirty="0">
                <a:solidFill>
                  <a:srgbClr val="6E7178"/>
                </a:solidFill>
              </a:rPr>
              <a:t>C&amp;V PHASE INTERACTIVES</a:t>
            </a:r>
            <a:endParaRPr lang="en-US" sz="1000" dirty="0"/>
          </a:p>
        </p:txBody>
      </p:sp>
      <p:sp>
        <p:nvSpPr>
          <p:cNvPr id="15" name="Shape 10"/>
          <p:cNvSpPr/>
          <p:nvPr/>
        </p:nvSpPr>
        <p:spPr>
          <a:xfrm>
            <a:off x="548640" y="4892040"/>
            <a:ext cx="489204" cy="329184"/>
          </a:xfrm>
          <a:prstGeom prst="rect">
            <a:avLst/>
          </a:prstGeom>
          <a:solidFill>
            <a:srgbClr val="0E98D7"/>
          </a:solidFill>
          <a:ln w="12700">
            <a:solidFill>
              <a:srgbClr val="0E98D7"/>
            </a:solidFill>
            <a:prstDash val="solid"/>
          </a:ln>
        </p:spPr>
      </p:sp>
      <p:sp>
        <p:nvSpPr>
          <p:cNvPr id="16" name="Shape 11"/>
          <p:cNvSpPr/>
          <p:nvPr/>
        </p:nvSpPr>
        <p:spPr>
          <a:xfrm>
            <a:off x="1101852" y="4892040"/>
            <a:ext cx="489204" cy="329184"/>
          </a:xfrm>
          <a:prstGeom prst="rect">
            <a:avLst/>
          </a:prstGeom>
          <a:solidFill>
            <a:srgbClr val="0E98D7"/>
          </a:solidFill>
          <a:ln w="12700">
            <a:solidFill>
              <a:srgbClr val="0E98D7"/>
            </a:solidFill>
            <a:prstDash val="solid"/>
          </a:ln>
        </p:spPr>
      </p:sp>
      <p:sp>
        <p:nvSpPr>
          <p:cNvPr id="17" name="Shape 12"/>
          <p:cNvSpPr/>
          <p:nvPr/>
        </p:nvSpPr>
        <p:spPr>
          <a:xfrm>
            <a:off x="1655064" y="4892040"/>
            <a:ext cx="489204" cy="329184"/>
          </a:xfrm>
          <a:prstGeom prst="rect">
            <a:avLst/>
          </a:prstGeom>
          <a:solidFill>
            <a:srgbClr val="0E98D7"/>
          </a:solidFill>
          <a:ln w="12700">
            <a:solidFill>
              <a:srgbClr val="0E98D7"/>
            </a:solidFill>
            <a:prstDash val="solid"/>
          </a:ln>
        </p:spPr>
      </p:sp>
      <p:sp>
        <p:nvSpPr>
          <p:cNvPr id="18" name="Shape 13"/>
          <p:cNvSpPr/>
          <p:nvPr/>
        </p:nvSpPr>
        <p:spPr>
          <a:xfrm>
            <a:off x="2208276" y="4892040"/>
            <a:ext cx="489204" cy="329184"/>
          </a:xfrm>
          <a:prstGeom prst="rect">
            <a:avLst/>
          </a:prstGeom>
          <a:solidFill>
            <a:srgbClr val="0E98D7"/>
          </a:solidFill>
          <a:ln w="12700">
            <a:solidFill>
              <a:srgbClr val="0E98D7"/>
            </a:solidFill>
            <a:prstDash val="solid"/>
          </a:ln>
        </p:spPr>
      </p:sp>
      <p:sp>
        <p:nvSpPr>
          <p:cNvPr id="19" name="Shape 14"/>
          <p:cNvSpPr/>
          <p:nvPr/>
        </p:nvSpPr>
        <p:spPr>
          <a:xfrm>
            <a:off x="2761488" y="4892040"/>
            <a:ext cx="489204" cy="329184"/>
          </a:xfrm>
          <a:prstGeom prst="rect">
            <a:avLst/>
          </a:prstGeom>
          <a:solidFill>
            <a:srgbClr val="0E98D7"/>
          </a:solidFill>
          <a:ln w="12700">
            <a:solidFill>
              <a:srgbClr val="0E98D7"/>
            </a:solidFill>
            <a:prstDash val="solid"/>
          </a:ln>
        </p:spPr>
      </p:sp>
      <p:sp>
        <p:nvSpPr>
          <p:cNvPr id="20" name="Shape 15"/>
          <p:cNvSpPr/>
          <p:nvPr/>
        </p:nvSpPr>
        <p:spPr>
          <a:xfrm>
            <a:off x="3314700" y="4892040"/>
            <a:ext cx="489204" cy="329184"/>
          </a:xfrm>
          <a:prstGeom prst="rect">
            <a:avLst/>
          </a:prstGeom>
          <a:solidFill>
            <a:srgbClr val="0E98D7"/>
          </a:solidFill>
          <a:ln w="12700">
            <a:solidFill>
              <a:srgbClr val="0E98D7"/>
            </a:solidFill>
            <a:prstDash val="solid"/>
          </a:ln>
        </p:spPr>
      </p:sp>
      <p:sp>
        <p:nvSpPr>
          <p:cNvPr id="21" name="Shape 16"/>
          <p:cNvSpPr/>
          <p:nvPr/>
        </p:nvSpPr>
        <p:spPr>
          <a:xfrm>
            <a:off x="3867912" y="4892040"/>
            <a:ext cx="489204" cy="329184"/>
          </a:xfrm>
          <a:prstGeom prst="rect">
            <a:avLst/>
          </a:prstGeom>
          <a:solidFill>
            <a:srgbClr val="0E98D7"/>
          </a:solidFill>
          <a:ln w="12700">
            <a:solidFill>
              <a:srgbClr val="0E98D7"/>
            </a:solidFill>
            <a:prstDash val="solid"/>
          </a:ln>
        </p:spPr>
      </p:sp>
      <p:sp>
        <p:nvSpPr>
          <p:cNvPr id="22" name="Shape 17"/>
          <p:cNvSpPr/>
          <p:nvPr/>
        </p:nvSpPr>
        <p:spPr>
          <a:xfrm>
            <a:off x="4421124" y="4892040"/>
            <a:ext cx="489204" cy="329184"/>
          </a:xfrm>
          <a:prstGeom prst="rect">
            <a:avLst/>
          </a:prstGeom>
          <a:solidFill>
            <a:srgbClr val="0E98D7"/>
          </a:solidFill>
          <a:ln w="12700">
            <a:solidFill>
              <a:srgbClr val="0E98D7"/>
            </a:solidFill>
            <a:prstDash val="solid"/>
          </a:ln>
        </p:spPr>
      </p:sp>
      <p:sp>
        <p:nvSpPr>
          <p:cNvPr id="23" name="Shape 18"/>
          <p:cNvSpPr/>
          <p:nvPr/>
        </p:nvSpPr>
        <p:spPr>
          <a:xfrm>
            <a:off x="4974336" y="4892040"/>
            <a:ext cx="489204" cy="329184"/>
          </a:xfrm>
          <a:prstGeom prst="rect">
            <a:avLst/>
          </a:prstGeom>
          <a:solidFill>
            <a:srgbClr val="F48047"/>
          </a:solidFill>
          <a:ln w="12700">
            <a:solidFill>
              <a:srgbClr val="F48047"/>
            </a:solidFill>
            <a:prstDash val="solid"/>
          </a:ln>
        </p:spPr>
      </p:sp>
      <p:sp>
        <p:nvSpPr>
          <p:cNvPr id="24" name="Shape 19"/>
          <p:cNvSpPr/>
          <p:nvPr/>
        </p:nvSpPr>
        <p:spPr>
          <a:xfrm>
            <a:off x="5527548" y="4892040"/>
            <a:ext cx="489204" cy="329184"/>
          </a:xfrm>
          <a:prstGeom prst="rect">
            <a:avLst/>
          </a:prstGeom>
          <a:solidFill>
            <a:srgbClr val="F48047"/>
          </a:solidFill>
          <a:ln w="12700">
            <a:solidFill>
              <a:srgbClr val="F48047"/>
            </a:solidFill>
            <a:prstDash val="solid"/>
          </a:ln>
        </p:spPr>
      </p:sp>
      <p:sp>
        <p:nvSpPr>
          <p:cNvPr id="25" name="Shape 20"/>
          <p:cNvSpPr/>
          <p:nvPr/>
        </p:nvSpPr>
        <p:spPr>
          <a:xfrm>
            <a:off x="6080760" y="4892040"/>
            <a:ext cx="489204" cy="329184"/>
          </a:xfrm>
          <a:prstGeom prst="rect">
            <a:avLst/>
          </a:prstGeom>
          <a:solidFill>
            <a:srgbClr val="F48047"/>
          </a:solidFill>
          <a:ln w="12700">
            <a:solidFill>
              <a:srgbClr val="F48047"/>
            </a:solidFill>
            <a:prstDash val="solid"/>
          </a:ln>
        </p:spPr>
      </p:sp>
      <p:sp>
        <p:nvSpPr>
          <p:cNvPr id="26" name="Shape 21"/>
          <p:cNvSpPr/>
          <p:nvPr/>
        </p:nvSpPr>
        <p:spPr>
          <a:xfrm>
            <a:off x="6633972" y="4892040"/>
            <a:ext cx="489204" cy="329184"/>
          </a:xfrm>
          <a:prstGeom prst="rect">
            <a:avLst/>
          </a:prstGeom>
          <a:solidFill>
            <a:srgbClr val="F48047"/>
          </a:solidFill>
          <a:ln w="12700">
            <a:solidFill>
              <a:srgbClr val="F48047"/>
            </a:solidFill>
            <a:prstDash val="solid"/>
          </a:ln>
        </p:spPr>
      </p:sp>
      <p:sp>
        <p:nvSpPr>
          <p:cNvPr id="27" name="Shape 22"/>
          <p:cNvSpPr/>
          <p:nvPr/>
        </p:nvSpPr>
        <p:spPr>
          <a:xfrm>
            <a:off x="7187184" y="4892040"/>
            <a:ext cx="489204" cy="329184"/>
          </a:xfrm>
          <a:prstGeom prst="rect">
            <a:avLst/>
          </a:prstGeom>
          <a:solidFill>
            <a:srgbClr val="F48047"/>
          </a:solidFill>
          <a:ln w="12700">
            <a:solidFill>
              <a:srgbClr val="F48047"/>
            </a:solidFill>
            <a:prstDash val="solid"/>
          </a:ln>
        </p:spPr>
      </p:sp>
      <p:sp>
        <p:nvSpPr>
          <p:cNvPr id="28" name="Shape 23"/>
          <p:cNvSpPr/>
          <p:nvPr/>
        </p:nvSpPr>
        <p:spPr>
          <a:xfrm>
            <a:off x="7740396" y="4892040"/>
            <a:ext cx="489204" cy="329184"/>
          </a:xfrm>
          <a:prstGeom prst="rect">
            <a:avLst/>
          </a:prstGeom>
          <a:solidFill>
            <a:srgbClr val="F48047"/>
          </a:solidFill>
          <a:ln w="12700">
            <a:solidFill>
              <a:srgbClr val="F48047"/>
            </a:solidFill>
            <a:prstDash val="solid"/>
          </a:ln>
        </p:spPr>
      </p:sp>
      <p:sp>
        <p:nvSpPr>
          <p:cNvPr id="29" name="Text 24"/>
          <p:cNvSpPr txBox="1"/>
          <p:nvPr/>
        </p:nvSpPr>
        <p:spPr>
          <a:xfrm>
            <a:off x="8641080" y="4526280"/>
            <a:ext cx="2743200" cy="256032"/>
          </a:xfrm>
          <a:prstGeom prst="rect">
            <a:avLst/>
          </a:prstGeom>
          <a:noFill/>
          <a:ln/>
        </p:spPr>
        <p:txBody>
          <a:bodyPr wrap="square" lIns="0" tIns="0" rIns="0" bIns="0" rtlCol="0" anchor="ctr"/>
          <a:lstStyle/>
          <a:p>
            <a:pPr indent="0" marL="0">
              <a:buNone/>
            </a:pPr>
            <a:r>
              <a:rPr lang="en-US" sz="1000" b="1" spc="150" kern="0" dirty="0">
                <a:solidFill>
                  <a:srgbClr val="6E7178"/>
                </a:solidFill>
              </a:rPr>
              <a:t>SUBMISSIONS</a:t>
            </a:r>
            <a:endParaRPr lang="en-US" sz="1000" dirty="0"/>
          </a:p>
        </p:txBody>
      </p:sp>
      <p:sp>
        <p:nvSpPr>
          <p:cNvPr id="30" name="Shape 25"/>
          <p:cNvSpPr/>
          <p:nvPr/>
        </p:nvSpPr>
        <p:spPr>
          <a:xfrm>
            <a:off x="8641080" y="4892040"/>
            <a:ext cx="489204" cy="329184"/>
          </a:xfrm>
          <a:prstGeom prst="rect">
            <a:avLst/>
          </a:prstGeom>
          <a:solidFill>
            <a:srgbClr val="EE2B7A"/>
          </a:solidFill>
          <a:ln w="12700">
            <a:solidFill>
              <a:srgbClr val="EE2B7A"/>
            </a:solidFill>
            <a:prstDash val="solid"/>
          </a:ln>
        </p:spPr>
      </p:sp>
      <p:sp>
        <p:nvSpPr>
          <p:cNvPr id="31" name="Shape 26"/>
          <p:cNvSpPr/>
          <p:nvPr/>
        </p:nvSpPr>
        <p:spPr>
          <a:xfrm>
            <a:off x="9194292" y="4892040"/>
            <a:ext cx="489204" cy="329184"/>
          </a:xfrm>
          <a:prstGeom prst="rect">
            <a:avLst/>
          </a:prstGeom>
          <a:solidFill>
            <a:srgbClr val="EE2B7A"/>
          </a:solidFill>
          <a:ln w="12700">
            <a:solidFill>
              <a:srgbClr val="EE2B7A"/>
            </a:solidFill>
            <a:prstDash val="solid"/>
          </a:ln>
        </p:spPr>
      </p:sp>
      <p:sp>
        <p:nvSpPr>
          <p:cNvPr id="32" name="Shape 27"/>
          <p:cNvSpPr/>
          <p:nvPr/>
        </p:nvSpPr>
        <p:spPr>
          <a:xfrm>
            <a:off x="9747504" y="4892040"/>
            <a:ext cx="489204" cy="329184"/>
          </a:xfrm>
          <a:prstGeom prst="rect">
            <a:avLst/>
          </a:prstGeom>
          <a:solidFill>
            <a:srgbClr val="EE2B7A"/>
          </a:solidFill>
          <a:ln w="12700">
            <a:solidFill>
              <a:srgbClr val="EE2B7A"/>
            </a:solidFill>
            <a:prstDash val="solid"/>
          </a:ln>
        </p:spPr>
      </p:sp>
      <p:sp>
        <p:nvSpPr>
          <p:cNvPr id="33" name="Text 28"/>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1200" dirty="0">
                <a:solidFill>
                  <a:srgbClr val="6E7178"/>
                </a:solidFill>
              </a:rPr>
              <a:t>We now focus on preparation and rehearsal rather than attending interactives in person, which extends our support across more sessions.</a:t>
            </a:r>
            <a:endParaRPr lang="en-US" sz="12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C&amp;V PHASE</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The interactives we propose to support</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640080"/>
                <a:gridCol w="5486400"/>
                <a:gridCol w="2651760"/>
                <a:gridCol w="2316175"/>
              </a:tblGrid>
              <a:tr h="274320">
                <a:tc>
                  <a:txBody>
                    <a:bodyPr/>
                    <a:lstStyle/>
                    <a:p>
                      <a:pPr algn="ctr" indent="0" marL="0">
                        <a:buNone/>
                      </a:pPr>
                      <a:r>
                        <a:rPr lang="en-US" sz="1150" b="1" dirty="0">
                          <a:solidFill>
                            <a:srgbClr val="FFFFFF"/>
                          </a:solidFill>
                        </a:rPr>
                        <a:t>#</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c>
                  <a:txBody>
                    <a:bodyPr/>
                    <a:lstStyle/>
                    <a:p>
                      <a:pPr algn="l" indent="0" marL="0">
                        <a:buNone/>
                      </a:pPr>
                      <a:r>
                        <a:rPr lang="en-US" sz="1150" b="1" dirty="0">
                          <a:solidFill>
                            <a:srgbClr val="FFFFFF"/>
                          </a:solidFill>
                        </a:rPr>
                        <a:t>Interactive topic</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c>
                  <a:txBody>
                    <a:bodyPr/>
                    <a:lstStyle/>
                    <a:p>
                      <a:pPr algn="l" indent="0" marL="0">
                        <a:buNone/>
                      </a:pPr>
                      <a:r>
                        <a:rPr lang="en-US" sz="1150" b="1" dirty="0">
                          <a:solidFill>
                            <a:srgbClr val="FFFFFF"/>
                          </a:solidFill>
                        </a:rPr>
                        <a:t>Session</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c>
                  <a:txBody>
                    <a:bodyPr/>
                    <a:lstStyle/>
                    <a:p>
                      <a:pPr algn="l" indent="0" marL="0">
                        <a:buNone/>
                      </a:pPr>
                      <a:r>
                        <a:rPr lang="en-US" sz="1150" b="1" dirty="0">
                          <a:solidFill>
                            <a:srgbClr val="FFFFFF"/>
                          </a:solidFill>
                        </a:rPr>
                        <a:t>Status</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r>
              <a:tr h="274320">
                <a:tc>
                  <a:txBody>
                    <a:bodyPr/>
                    <a:lstStyle/>
                    <a:p>
                      <a:pPr algn="ctr" indent="0" marL="0">
                        <a:buNone/>
                      </a:pPr>
                      <a:r>
                        <a:rPr lang="en-US" sz="1150" dirty="0">
                          <a:solidFill>
                            <a:srgbClr val="6E7178"/>
                          </a:solidFill>
                        </a:rPr>
                        <a:t>1</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Capacity and Service</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1</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rowSpan="2">
                  <a:txBody>
                    <a:bodyPr/>
                    <a:lstStyle/>
                    <a:p>
                      <a:pPr indent="0" marL="0">
                        <a:buNone/>
                      </a:pPr>
                      <a:r>
                        <a:rPr lang="en-US" sz="1150" dirty="0">
                          <a:solidFill>
                            <a:srgbClr val="3D3C3C"/>
                          </a:solidFill>
                        </a:rPr>
                        <a:t>Alignment</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1</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3</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cPr/>
                </a:tc>
                <a:tc>
                  <a:txBody>
                    <a:bodyPr/>
                    <a:lstStyle/>
                    <a:p>
                      <a:pPr indent="0" marL="0">
                        <a:buNone/>
                      </a:pPr>
                      <a:r>
                        <a:rPr lang="en-US" sz="1150" dirty="0">
                          <a:solidFill>
                            <a:srgbClr val="3D3C3C"/>
                          </a:solidFill>
                        </a:rPr>
                        <a:t>Workshop 3</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4</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rowSpan="2">
                  <a:txBody>
                    <a:bodyPr/>
                    <a:lstStyle/>
                    <a:p>
                      <a:pPr indent="0" marL="0">
                        <a:buNone/>
                      </a:pPr>
                      <a:r>
                        <a:rPr lang="en-US" sz="1150" dirty="0">
                          <a:solidFill>
                            <a:srgbClr val="3D3C3C"/>
                          </a:solidFill>
                        </a:rPr>
                        <a:t>Alternative Alignment</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5</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cPr/>
                </a:tc>
                <a:tc>
                  <a:txBody>
                    <a:bodyPr/>
                    <a:lstStyle/>
                    <a:p>
                      <a:pPr indent="0" marL="0">
                        <a:buNone/>
                      </a:pPr>
                      <a:r>
                        <a:rPr lang="en-US" sz="1150" dirty="0">
                          <a:solidFill>
                            <a:srgbClr val="3D3C3C"/>
                          </a:solidFill>
                        </a:rPr>
                        <a:t>Workshop 3</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6</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rowSpan="2">
                  <a:txBody>
                    <a:bodyPr/>
                    <a:lstStyle/>
                    <a:p>
                      <a:pPr indent="0" marL="0">
                        <a:buNone/>
                      </a:pPr>
                      <a:r>
                        <a:rPr lang="en-US" sz="1150" dirty="0">
                          <a:solidFill>
                            <a:srgbClr val="3D3C3C"/>
                          </a:solidFill>
                        </a:rPr>
                        <a:t>Fire and Life Safety</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7</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cPr/>
                </a:tc>
                <a:tc>
                  <a:txBody>
                    <a:bodyPr/>
                    <a:lstStyle/>
                    <a:p>
                      <a:pPr indent="0" marL="0">
                        <a:buNone/>
                      </a:pPr>
                      <a:r>
                        <a:rPr lang="en-US" sz="1150" dirty="0">
                          <a:solidFill>
                            <a:srgbClr val="3D3C3C"/>
                          </a:solidFill>
                        </a:rPr>
                        <a:t>Workshop 3</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8</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Tunnel Requirements and AMF</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0E98D7"/>
                          </a:solidFill>
                        </a:rPr>
                        <a:t>Completed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r>
              <a:tr h="274320">
                <a:tc>
                  <a:txBody>
                    <a:bodyPr/>
                    <a:lstStyle/>
                    <a:p>
                      <a:pPr algn="ctr" indent="0" marL="0">
                        <a:buNone/>
                      </a:pPr>
                      <a:r>
                        <a:rPr lang="en-US" sz="1150" dirty="0">
                          <a:solidFill>
                            <a:srgbClr val="6E7178"/>
                          </a:solidFill>
                        </a:rPr>
                        <a:t>9</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Rolling Stock and Station Design</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F48047"/>
                          </a:solidFill>
                        </a:rPr>
                        <a:t>Proposed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FF6ED"/>
                    </a:solidFill>
                  </a:tcPr>
                </a:tc>
              </a:tr>
              <a:tr h="274320">
                <a:tc>
                  <a:txBody>
                    <a:bodyPr/>
                    <a:lstStyle/>
                    <a:p>
                      <a:pPr algn="ctr" indent="0" marL="0">
                        <a:buNone/>
                      </a:pPr>
                      <a:r>
                        <a:rPr lang="en-US" sz="1150" dirty="0">
                          <a:solidFill>
                            <a:srgbClr val="6E7178"/>
                          </a:solidFill>
                        </a:rPr>
                        <a:t>10</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Power and Grid Connection</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F48047"/>
                          </a:solidFill>
                        </a:rPr>
                        <a:t>Proposed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FF6ED"/>
                    </a:solidFill>
                  </a:tcPr>
                </a:tc>
              </a:tr>
              <a:tr h="274320">
                <a:tc>
                  <a:txBody>
                    <a:bodyPr/>
                    <a:lstStyle/>
                    <a:p>
                      <a:pPr algn="ctr" indent="0" marL="0">
                        <a:buNone/>
                      </a:pPr>
                      <a:r>
                        <a:rPr lang="en-US" sz="1150" dirty="0">
                          <a:solidFill>
                            <a:srgbClr val="6E7178"/>
                          </a:solidFill>
                        </a:rPr>
                        <a:t>11</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TSSI and AP1 Scope Interface</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1</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F48047"/>
                          </a:solidFill>
                        </a:rPr>
                        <a:t>Proposed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FF6ED"/>
                    </a:solidFill>
                  </a:tcPr>
                </a:tc>
              </a:tr>
              <a:tr h="274320">
                <a:tc>
                  <a:txBody>
                    <a:bodyPr/>
                    <a:lstStyle/>
                    <a:p>
                      <a:pPr algn="ctr" indent="0" marL="0">
                        <a:buNone/>
                      </a:pPr>
                      <a:r>
                        <a:rPr lang="en-US" sz="1150" dirty="0">
                          <a:solidFill>
                            <a:srgbClr val="6E7178"/>
                          </a:solidFill>
                        </a:rPr>
                        <a:t>12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Asset Management and Maintenance Strategy</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2</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F48047"/>
                          </a:solidFill>
                        </a:rPr>
                        <a:t>Proposed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FF6ED"/>
                    </a:solidFill>
                  </a:tcPr>
                </a:tc>
              </a:tr>
              <a:tr h="274320">
                <a:tc>
                  <a:txBody>
                    <a:bodyPr/>
                    <a:lstStyle/>
                    <a:p>
                      <a:pPr algn="ctr" indent="0" marL="0">
                        <a:buNone/>
                      </a:pPr>
                      <a:r>
                        <a:rPr lang="en-US" sz="1150" dirty="0">
                          <a:solidFill>
                            <a:srgbClr val="6E7178"/>
                          </a:solidFill>
                        </a:rPr>
                        <a:t>13</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Safety and Sustainability</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1</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F48047"/>
                          </a:solidFill>
                        </a:rPr>
                        <a:t>Proposed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FF6ED"/>
                    </a:solidFill>
                  </a:tcPr>
                </a:tc>
              </a:tr>
              <a:tr h="274320">
                <a:tc>
                  <a:txBody>
                    <a:bodyPr/>
                    <a:lstStyle/>
                    <a:p>
                      <a:pPr algn="ctr" indent="0" marL="0">
                        <a:buNone/>
                      </a:pPr>
                      <a:r>
                        <a:rPr lang="en-US" sz="1150" dirty="0">
                          <a:solidFill>
                            <a:srgbClr val="6E7178"/>
                          </a:solidFill>
                        </a:rPr>
                        <a:t>14</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Alignment</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Workshop 4</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F48047"/>
                          </a:solidFill>
                        </a:rPr>
                        <a:t>Proposed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FF6ED"/>
                    </a:solidFill>
                  </a:tcPr>
                </a:tc>
              </a:tr>
              <a:tr h="274320">
                <a:tc>
                  <a:txBody>
                    <a:bodyPr/>
                    <a:lstStyle/>
                    <a:p>
                      <a:pPr algn="ctr" indent="0" marL="0">
                        <a:buNone/>
                      </a:pPr>
                      <a:r>
                        <a:rPr lang="en-US" sz="1150" b="1" dirty="0">
                          <a:solidFill>
                            <a:srgbClr val="EE2B7A"/>
                          </a:solidFill>
                        </a:rPr>
                        <a:t>+</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3D3C3C"/>
                          </a:solidFill>
                        </a:rPr>
                        <a:t>Submission support</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dirty="0">
                          <a:solidFill>
                            <a:srgbClr val="3D3C3C"/>
                          </a:solidFill>
                        </a:rPr>
                        <a:t>Approx. 3 submissions</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indent="0" marL="0">
                        <a:buNone/>
                      </a:pPr>
                      <a:r>
                        <a:rPr lang="en-US" sz="1150" b="1" dirty="0">
                          <a:solidFill>
                            <a:srgbClr val="EE2B7A"/>
                          </a:solidFill>
                        </a:rPr>
                        <a:t>Proposed</a:t>
                      </a:r>
                      <a:endParaRPr lang="en-US" sz="1150" dirty="0"/>
                    </a:p>
                  </a:txBody>
                  <a:tcPr marL="109728" marR="109728"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DEAF2"/>
                    </a:solidFill>
                  </a:tcPr>
                </a:tc>
              </a:tr>
            </a:tbl>
          </a:graphicData>
        </a:graphic>
      </p:graphicFrame>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PRE-ECI  |  DECEMBER 2026</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Two workshops to realign before the ECI Phase</a:t>
            </a:r>
            <a:endParaRPr lang="en-US" sz="2800" dirty="0"/>
          </a:p>
        </p:txBody>
      </p:sp>
      <p:sp>
        <p:nvSpPr>
          <p:cNvPr id="4" name="Text 2"/>
          <p:cNvSpPr txBox="1"/>
          <p:nvPr/>
        </p:nvSpPr>
        <p:spPr>
          <a:xfrm>
            <a:off x="548640" y="1325880"/>
            <a:ext cx="11094415" cy="457200"/>
          </a:xfrm>
          <a:prstGeom prst="rect">
            <a:avLst/>
          </a:prstGeom>
          <a:noFill/>
          <a:ln/>
        </p:spPr>
        <p:txBody>
          <a:bodyPr wrap="square" lIns="0" tIns="0" rIns="0" bIns="0" rtlCol="0" anchor="t"/>
          <a:lstStyle/>
          <a:p>
            <a:pPr indent="0" marL="0">
              <a:buNone/>
            </a:pPr>
            <a:r>
              <a:rPr lang="en-US" sz="1400" dirty="0">
                <a:solidFill>
                  <a:srgbClr val="6E7178"/>
                </a:solidFill>
              </a:rPr>
              <a:t>The ECI Phase will be decisive. We will reflect on what we have learned about ourselves, HSRA, the other ECI partners and the process, and enter the ECI with a clear strategy.</a:t>
            </a:r>
            <a:endParaRPr lang="en-US" sz="1400" dirty="0"/>
          </a:p>
        </p:txBody>
      </p:sp>
      <p:sp>
        <p:nvSpPr>
          <p:cNvPr id="5" name="Shape 3"/>
          <p:cNvSpPr/>
          <p:nvPr/>
        </p:nvSpPr>
        <p:spPr>
          <a:xfrm>
            <a:off x="548640" y="2103120"/>
            <a:ext cx="5364328" cy="3840480"/>
          </a:xfrm>
          <a:prstGeom prst="rect">
            <a:avLst/>
          </a:prstGeom>
          <a:solidFill>
            <a:srgbClr val="FFF6ED"/>
          </a:solidFill>
          <a:ln w="12700">
            <a:solidFill>
              <a:srgbClr val="FFF6ED"/>
            </a:solidFill>
            <a:prstDash val="solid"/>
          </a:ln>
        </p:spPr>
      </p:sp>
      <p:sp>
        <p:nvSpPr>
          <p:cNvPr id="6" name="Text 4"/>
          <p:cNvSpPr/>
          <p:nvPr/>
        </p:nvSpPr>
        <p:spPr>
          <a:xfrm>
            <a:off x="868680" y="2423160"/>
            <a:ext cx="502920" cy="502920"/>
          </a:xfrm>
          <a:prstGeom prst="ellipse">
            <a:avLst/>
          </a:prstGeom>
          <a:solidFill>
            <a:srgbClr val="F48047"/>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txBox="1"/>
          <p:nvPr/>
        </p:nvSpPr>
        <p:spPr>
          <a:xfrm>
            <a:off x="1554480" y="2377440"/>
            <a:ext cx="4175608" cy="365760"/>
          </a:xfrm>
          <a:prstGeom prst="rect">
            <a:avLst/>
          </a:prstGeom>
          <a:noFill/>
          <a:ln/>
        </p:spPr>
        <p:txBody>
          <a:bodyPr wrap="square" lIns="0" tIns="0" rIns="0" bIns="0" rtlCol="0" anchor="ctr"/>
          <a:lstStyle/>
          <a:p>
            <a:pPr indent="0" marL="0">
              <a:buNone/>
            </a:pPr>
            <a:r>
              <a:rPr lang="en-US" sz="1650" b="1" dirty="0">
                <a:solidFill>
                  <a:srgbClr val="3D3C3C"/>
                </a:solidFill>
              </a:rPr>
              <a:t>Customer Centricity Coaching</a:t>
            </a:r>
            <a:endParaRPr lang="en-US" sz="1650" dirty="0"/>
          </a:p>
        </p:txBody>
      </p:sp>
      <p:sp>
        <p:nvSpPr>
          <p:cNvPr id="8" name="Text 6"/>
          <p:cNvSpPr txBox="1"/>
          <p:nvPr/>
        </p:nvSpPr>
        <p:spPr>
          <a:xfrm>
            <a:off x="1554480" y="2743200"/>
            <a:ext cx="4084168" cy="274320"/>
          </a:xfrm>
          <a:prstGeom prst="rect">
            <a:avLst/>
          </a:prstGeom>
          <a:noFill/>
          <a:ln/>
        </p:spPr>
        <p:txBody>
          <a:bodyPr wrap="square" lIns="0" tIns="0" rIns="0" bIns="0" rtlCol="0" anchor="ctr"/>
          <a:lstStyle/>
          <a:p>
            <a:pPr indent="0" marL="0">
              <a:buNone/>
            </a:pPr>
            <a:r>
              <a:rPr lang="en-US" sz="1200" dirty="0">
                <a:solidFill>
                  <a:srgbClr val="6E7178"/>
                </a:solidFill>
              </a:rPr>
              <a:t>Reflecting through an external and an internal lens</a:t>
            </a:r>
            <a:endParaRPr lang="en-US" sz="1200" dirty="0"/>
          </a:p>
        </p:txBody>
      </p:sp>
      <p:sp>
        <p:nvSpPr>
          <p:cNvPr id="9" name="Text 7"/>
          <p:cNvSpPr txBox="1"/>
          <p:nvPr/>
        </p:nvSpPr>
        <p:spPr>
          <a:xfrm>
            <a:off x="868680" y="3291840"/>
            <a:ext cx="4724248" cy="731520"/>
          </a:xfrm>
          <a:prstGeom prst="rect">
            <a:avLst/>
          </a:prstGeom>
          <a:noFill/>
          <a:ln/>
        </p:spPr>
        <p:txBody>
          <a:bodyPr wrap="square" lIns="0" tIns="0" rIns="0" bIns="0" rtlCol="0" anchor="t"/>
          <a:lstStyle/>
          <a:p>
            <a:pPr indent="0" marL="0">
              <a:buNone/>
            </a:pPr>
            <a:r>
              <a:rPr lang="en-US" sz="1300" b="1" dirty="0">
                <a:solidFill>
                  <a:srgbClr val="F48047"/>
                </a:solidFill>
              </a:rPr>
              <a:t>External lens</a:t>
            </a:r>
            <a:endParaRPr lang="en-US" sz="1300" dirty="0"/>
          </a:p>
          <a:p>
            <a:pPr indent="0" marL="0">
              <a:buNone/>
            </a:pPr>
            <a:r>
              <a:rPr lang="en-US" sz="1300" dirty="0">
                <a:solidFill>
                  <a:srgbClr val="3D3C3C"/>
                </a:solidFill>
              </a:rPr>
              <a:t>What we now know about HSRA, its priorities and how it assesses partners</a:t>
            </a:r>
            <a:endParaRPr lang="en-US" sz="1300" dirty="0"/>
          </a:p>
        </p:txBody>
      </p:sp>
      <p:sp>
        <p:nvSpPr>
          <p:cNvPr id="10" name="Text 8"/>
          <p:cNvSpPr txBox="1"/>
          <p:nvPr/>
        </p:nvSpPr>
        <p:spPr>
          <a:xfrm>
            <a:off x="868680" y="4114800"/>
            <a:ext cx="4724248" cy="731520"/>
          </a:xfrm>
          <a:prstGeom prst="rect">
            <a:avLst/>
          </a:prstGeom>
          <a:noFill/>
          <a:ln/>
        </p:spPr>
        <p:txBody>
          <a:bodyPr wrap="square" lIns="0" tIns="0" rIns="0" bIns="0" rtlCol="0" anchor="t"/>
          <a:lstStyle/>
          <a:p>
            <a:pPr indent="0" marL="0">
              <a:buNone/>
            </a:pPr>
            <a:r>
              <a:rPr lang="en-US" sz="1300" b="1" dirty="0">
                <a:solidFill>
                  <a:srgbClr val="F48047"/>
                </a:solidFill>
              </a:rPr>
              <a:t>Internal lens</a:t>
            </a:r>
            <a:endParaRPr lang="en-US" sz="1300" dirty="0"/>
          </a:p>
          <a:p>
            <a:pPr indent="0" marL="0">
              <a:buNone/>
            </a:pPr>
            <a:r>
              <a:rPr lang="en-US" sz="1300" dirty="0">
                <a:solidFill>
                  <a:srgbClr val="3D3C3C"/>
                </a:solidFill>
              </a:rPr>
              <a:t>How the JV has worked together, and the cultural alignment needed for 2027</a:t>
            </a:r>
            <a:endParaRPr lang="en-US" sz="1300" dirty="0"/>
          </a:p>
        </p:txBody>
      </p:sp>
      <p:sp>
        <p:nvSpPr>
          <p:cNvPr id="11" name="Shape 9"/>
          <p:cNvSpPr/>
          <p:nvPr/>
        </p:nvSpPr>
        <p:spPr>
          <a:xfrm>
            <a:off x="868680" y="5029200"/>
            <a:ext cx="4724248" cy="640080"/>
          </a:xfrm>
          <a:prstGeom prst="rect">
            <a:avLst/>
          </a:prstGeom>
          <a:solidFill>
            <a:srgbClr val="FFFFFF"/>
          </a:solidFill>
          <a:ln w="12700">
            <a:solidFill>
              <a:srgbClr val="FFFFFF"/>
            </a:solidFill>
            <a:prstDash val="solid"/>
          </a:ln>
        </p:spPr>
      </p:sp>
      <p:sp>
        <p:nvSpPr>
          <p:cNvPr id="12" name="Text 10"/>
          <p:cNvSpPr txBox="1"/>
          <p:nvPr/>
        </p:nvSpPr>
        <p:spPr>
          <a:xfrm>
            <a:off x="1051560" y="5029200"/>
            <a:ext cx="4358488" cy="640080"/>
          </a:xfrm>
          <a:prstGeom prst="rect">
            <a:avLst/>
          </a:prstGeom>
          <a:noFill/>
          <a:ln/>
        </p:spPr>
        <p:txBody>
          <a:bodyPr wrap="square" lIns="0" tIns="0" rIns="0" bIns="0" rtlCol="0" anchor="ctr"/>
          <a:lstStyle/>
          <a:p>
            <a:pPr indent="0" marL="0">
              <a:buNone/>
            </a:pPr>
            <a:r>
              <a:rPr lang="en-US" sz="1300" b="1" dirty="0">
                <a:solidFill>
                  <a:srgbClr val="F48047"/>
                </a:solidFill>
              </a:rPr>
              <a:t>Outcome  </a:t>
            </a:r>
            <a:pPr indent="0" marL="0">
              <a:buNone/>
            </a:pPr>
            <a:r>
              <a:rPr lang="en-US" sz="1300" dirty="0">
                <a:solidFill>
                  <a:srgbClr val="3D3C3C"/>
                </a:solidFill>
              </a:rPr>
              <a:t>A shared view of HSRA and agreed ways of working</a:t>
            </a:r>
            <a:endParaRPr lang="en-US" sz="1300" dirty="0"/>
          </a:p>
        </p:txBody>
      </p:sp>
      <p:sp>
        <p:nvSpPr>
          <p:cNvPr id="13" name="Shape 11"/>
          <p:cNvSpPr/>
          <p:nvPr/>
        </p:nvSpPr>
        <p:spPr>
          <a:xfrm>
            <a:off x="6278728" y="2103120"/>
            <a:ext cx="5364328" cy="3840480"/>
          </a:xfrm>
          <a:prstGeom prst="rect">
            <a:avLst/>
          </a:prstGeom>
          <a:solidFill>
            <a:srgbClr val="FDEAF2"/>
          </a:solidFill>
          <a:ln w="12700">
            <a:solidFill>
              <a:srgbClr val="FDEAF2"/>
            </a:solidFill>
            <a:prstDash val="solid"/>
          </a:ln>
        </p:spPr>
      </p:sp>
      <p:sp>
        <p:nvSpPr>
          <p:cNvPr id="14" name="Text 12"/>
          <p:cNvSpPr/>
          <p:nvPr/>
        </p:nvSpPr>
        <p:spPr>
          <a:xfrm>
            <a:off x="6598768" y="2423160"/>
            <a:ext cx="502920" cy="502920"/>
          </a:xfrm>
          <a:prstGeom prst="ellipse">
            <a:avLst/>
          </a:prstGeom>
          <a:solidFill>
            <a:srgbClr val="EE2B7A"/>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5" name="Text 13"/>
          <p:cNvSpPr txBox="1"/>
          <p:nvPr/>
        </p:nvSpPr>
        <p:spPr>
          <a:xfrm>
            <a:off x="7284568" y="2377440"/>
            <a:ext cx="4175608" cy="365760"/>
          </a:xfrm>
          <a:prstGeom prst="rect">
            <a:avLst/>
          </a:prstGeom>
          <a:noFill/>
          <a:ln/>
        </p:spPr>
        <p:txBody>
          <a:bodyPr wrap="square" lIns="0" tIns="0" rIns="0" bIns="0" rtlCol="0" anchor="ctr"/>
          <a:lstStyle/>
          <a:p>
            <a:pPr indent="0" marL="0">
              <a:buNone/>
            </a:pPr>
            <a:r>
              <a:rPr lang="en-US" sz="1650" b="1" dirty="0">
                <a:solidFill>
                  <a:srgbClr val="3D3C3C"/>
                </a:solidFill>
              </a:rPr>
              <a:t>Partner Development and Strategy</a:t>
            </a:r>
            <a:endParaRPr lang="en-US" sz="1650" dirty="0"/>
          </a:p>
        </p:txBody>
      </p:sp>
      <p:sp>
        <p:nvSpPr>
          <p:cNvPr id="16" name="Text 14"/>
          <p:cNvSpPr txBox="1"/>
          <p:nvPr/>
        </p:nvSpPr>
        <p:spPr>
          <a:xfrm>
            <a:off x="7284568" y="2743200"/>
            <a:ext cx="4084168" cy="274320"/>
          </a:xfrm>
          <a:prstGeom prst="rect">
            <a:avLst/>
          </a:prstGeom>
          <a:noFill/>
          <a:ln/>
        </p:spPr>
        <p:txBody>
          <a:bodyPr wrap="square" lIns="0" tIns="0" rIns="0" bIns="0" rtlCol="0" anchor="ctr"/>
          <a:lstStyle/>
          <a:p>
            <a:pPr indent="0" marL="0">
              <a:buNone/>
            </a:pPr>
            <a:r>
              <a:rPr lang="en-US" sz="1200" dirty="0">
                <a:solidFill>
                  <a:srgbClr val="6E7178"/>
                </a:solidFill>
              </a:rPr>
              <a:t>Defining how GoFar will compete in the ECI Phase</a:t>
            </a:r>
            <a:endParaRPr lang="en-US" sz="1200" dirty="0"/>
          </a:p>
        </p:txBody>
      </p:sp>
      <p:sp>
        <p:nvSpPr>
          <p:cNvPr id="17" name="Text 15"/>
          <p:cNvSpPr txBox="1"/>
          <p:nvPr/>
        </p:nvSpPr>
        <p:spPr>
          <a:xfrm>
            <a:off x="6598768" y="3291840"/>
            <a:ext cx="4724248" cy="731520"/>
          </a:xfrm>
          <a:prstGeom prst="rect">
            <a:avLst/>
          </a:prstGeom>
          <a:noFill/>
          <a:ln/>
        </p:spPr>
        <p:txBody>
          <a:bodyPr wrap="square" lIns="0" tIns="0" rIns="0" bIns="0" rtlCol="0" anchor="t"/>
          <a:lstStyle/>
          <a:p>
            <a:pPr indent="0" marL="0">
              <a:buNone/>
            </a:pPr>
            <a:r>
              <a:rPr lang="en-US" sz="1300" b="1" dirty="0">
                <a:solidFill>
                  <a:srgbClr val="EE2B7A"/>
                </a:solidFill>
              </a:rPr>
              <a:t>Positioning</a:t>
            </a:r>
            <a:endParaRPr lang="en-US" sz="1300" dirty="0"/>
          </a:p>
          <a:p>
            <a:pPr indent="0" marL="0">
              <a:buNone/>
            </a:pPr>
            <a:r>
              <a:rPr lang="en-US" sz="1300" dirty="0">
                <a:solidFill>
                  <a:srgbClr val="3D3C3C"/>
                </a:solidFill>
              </a:rPr>
              <a:t>Win themes and GoFar's unique selling proposition</a:t>
            </a:r>
            <a:endParaRPr lang="en-US" sz="1300" dirty="0"/>
          </a:p>
        </p:txBody>
      </p:sp>
      <p:sp>
        <p:nvSpPr>
          <p:cNvPr id="18" name="Text 16"/>
          <p:cNvSpPr txBox="1"/>
          <p:nvPr/>
        </p:nvSpPr>
        <p:spPr>
          <a:xfrm>
            <a:off x="6598768" y="4114800"/>
            <a:ext cx="4724248" cy="731520"/>
          </a:xfrm>
          <a:prstGeom prst="rect">
            <a:avLst/>
          </a:prstGeom>
          <a:noFill/>
          <a:ln/>
        </p:spPr>
        <p:txBody>
          <a:bodyPr wrap="square" lIns="0" tIns="0" rIns="0" bIns="0" rtlCol="0" anchor="t"/>
          <a:lstStyle/>
          <a:p>
            <a:pPr indent="0" marL="0">
              <a:buNone/>
            </a:pPr>
            <a:r>
              <a:rPr lang="en-US" sz="1300" b="1" dirty="0">
                <a:solidFill>
                  <a:srgbClr val="EE2B7A"/>
                </a:solidFill>
              </a:rPr>
              <a:t>Competitors</a:t>
            </a:r>
            <a:endParaRPr lang="en-US" sz="1300" dirty="0"/>
          </a:p>
          <a:p>
            <a:pPr indent="0" marL="0">
              <a:buNone/>
            </a:pPr>
            <a:r>
              <a:rPr lang="en-US" sz="1300" dirty="0">
                <a:solidFill>
                  <a:srgbClr val="3D3C3C"/>
                </a:solidFill>
              </a:rPr>
              <a:t>A map of the other ECI partners, their strengths and likely approach</a:t>
            </a:r>
            <a:endParaRPr lang="en-US" sz="1300" dirty="0"/>
          </a:p>
        </p:txBody>
      </p:sp>
      <p:sp>
        <p:nvSpPr>
          <p:cNvPr id="19" name="Shape 17"/>
          <p:cNvSpPr/>
          <p:nvPr/>
        </p:nvSpPr>
        <p:spPr>
          <a:xfrm>
            <a:off x="6598768" y="5029200"/>
            <a:ext cx="4724248" cy="640080"/>
          </a:xfrm>
          <a:prstGeom prst="rect">
            <a:avLst/>
          </a:prstGeom>
          <a:solidFill>
            <a:srgbClr val="FFFFFF"/>
          </a:solidFill>
          <a:ln w="12700">
            <a:solidFill>
              <a:srgbClr val="FFFFFF"/>
            </a:solidFill>
            <a:prstDash val="solid"/>
          </a:ln>
        </p:spPr>
      </p:sp>
      <p:sp>
        <p:nvSpPr>
          <p:cNvPr id="20" name="Text 18"/>
          <p:cNvSpPr txBox="1"/>
          <p:nvPr/>
        </p:nvSpPr>
        <p:spPr>
          <a:xfrm>
            <a:off x="6781648" y="5029200"/>
            <a:ext cx="4358488" cy="640080"/>
          </a:xfrm>
          <a:prstGeom prst="rect">
            <a:avLst/>
          </a:prstGeom>
          <a:noFill/>
          <a:ln/>
        </p:spPr>
        <p:txBody>
          <a:bodyPr wrap="square" lIns="0" tIns="0" rIns="0" bIns="0" rtlCol="0" anchor="ctr"/>
          <a:lstStyle/>
          <a:p>
            <a:pPr indent="0" marL="0">
              <a:buNone/>
            </a:pPr>
            <a:r>
              <a:rPr lang="en-US" sz="1300" b="1" dirty="0">
                <a:solidFill>
                  <a:srgbClr val="EE2B7A"/>
                </a:solidFill>
              </a:rPr>
              <a:t>Outcome  </a:t>
            </a:r>
            <a:pPr indent="0" marL="0">
              <a:buNone/>
            </a:pPr>
            <a:r>
              <a:rPr lang="en-US" sz="1300" dirty="0">
                <a:solidFill>
                  <a:srgbClr val="3D3C3C"/>
                </a:solidFill>
              </a:rPr>
              <a:t>A clear ECI strategy and key messages</a:t>
            </a:r>
            <a:endParaRPr lang="en-US" sz="13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ECI PHASE  |  JANUARY TO JUNE 2027</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Structured support for every ECI interactive</a:t>
            </a:r>
            <a:endParaRPr lang="en-US" sz="2800" dirty="0"/>
          </a:p>
        </p:txBody>
      </p:sp>
      <p:sp>
        <p:nvSpPr>
          <p:cNvPr id="4" name="Text 2"/>
          <p:cNvSpPr txBox="1"/>
          <p:nvPr/>
        </p:nvSpPr>
        <p:spPr>
          <a:xfrm>
            <a:off x="548640" y="1325880"/>
            <a:ext cx="11094415" cy="457200"/>
          </a:xfrm>
          <a:prstGeom prst="rect">
            <a:avLst/>
          </a:prstGeom>
          <a:noFill/>
          <a:ln/>
        </p:spPr>
        <p:txBody>
          <a:bodyPr wrap="square" lIns="0" tIns="0" rIns="0" bIns="0" rtlCol="0" anchor="t"/>
          <a:lstStyle/>
          <a:p>
            <a:pPr indent="0" marL="0">
              <a:buNone/>
            </a:pPr>
            <a:r>
              <a:rPr lang="en-US" sz="1400" dirty="0">
                <a:solidFill>
                  <a:srgbClr val="6E7178"/>
                </a:solidFill>
              </a:rPr>
              <a:t>An estimated 12 interactives, each following our eight-step process, with TSG in the room for live support.</a:t>
            </a:r>
            <a:endParaRPr lang="en-US" sz="1400" dirty="0"/>
          </a:p>
        </p:txBody>
      </p:sp>
      <p:sp>
        <p:nvSpPr>
          <p:cNvPr id="5" name="Text 3"/>
          <p:cNvSpPr txBox="1"/>
          <p:nvPr/>
        </p:nvSpPr>
        <p:spPr>
          <a:xfrm>
            <a:off x="548640" y="1965960"/>
            <a:ext cx="1849069" cy="256032"/>
          </a:xfrm>
          <a:prstGeom prst="rect">
            <a:avLst/>
          </a:prstGeom>
          <a:noFill/>
          <a:ln/>
        </p:spPr>
        <p:txBody>
          <a:bodyPr wrap="square" lIns="0" tIns="0" rIns="0" bIns="0" rtlCol="0" anchor="ctr"/>
          <a:lstStyle/>
          <a:p>
            <a:pPr algn="ctr" indent="0" marL="0">
              <a:buNone/>
            </a:pPr>
            <a:r>
              <a:rPr lang="en-US" sz="1100" b="1" dirty="0">
                <a:solidFill>
                  <a:srgbClr val="6E7178"/>
                </a:solidFill>
              </a:rPr>
              <a:t>Jan</a:t>
            </a:r>
            <a:endParaRPr lang="en-US" sz="1100" dirty="0"/>
          </a:p>
        </p:txBody>
      </p:sp>
      <p:sp>
        <p:nvSpPr>
          <p:cNvPr id="6" name="Text 4"/>
          <p:cNvSpPr txBox="1"/>
          <p:nvPr/>
        </p:nvSpPr>
        <p:spPr>
          <a:xfrm>
            <a:off x="2397709" y="1965960"/>
            <a:ext cx="1849069" cy="256032"/>
          </a:xfrm>
          <a:prstGeom prst="rect">
            <a:avLst/>
          </a:prstGeom>
          <a:noFill/>
          <a:ln/>
        </p:spPr>
        <p:txBody>
          <a:bodyPr wrap="square" lIns="0" tIns="0" rIns="0" bIns="0" rtlCol="0" anchor="ctr"/>
          <a:lstStyle/>
          <a:p>
            <a:pPr algn="ctr" indent="0" marL="0">
              <a:buNone/>
            </a:pPr>
            <a:r>
              <a:rPr lang="en-US" sz="1100" b="1" dirty="0">
                <a:solidFill>
                  <a:srgbClr val="6E7178"/>
                </a:solidFill>
              </a:rPr>
              <a:t>Feb</a:t>
            </a:r>
            <a:endParaRPr lang="en-US" sz="1100" dirty="0"/>
          </a:p>
        </p:txBody>
      </p:sp>
      <p:sp>
        <p:nvSpPr>
          <p:cNvPr id="7" name="Text 5"/>
          <p:cNvSpPr txBox="1"/>
          <p:nvPr/>
        </p:nvSpPr>
        <p:spPr>
          <a:xfrm>
            <a:off x="4246778" y="1965960"/>
            <a:ext cx="1849069" cy="256032"/>
          </a:xfrm>
          <a:prstGeom prst="rect">
            <a:avLst/>
          </a:prstGeom>
          <a:noFill/>
          <a:ln/>
        </p:spPr>
        <p:txBody>
          <a:bodyPr wrap="square" lIns="0" tIns="0" rIns="0" bIns="0" rtlCol="0" anchor="ctr"/>
          <a:lstStyle/>
          <a:p>
            <a:pPr algn="ctr" indent="0" marL="0">
              <a:buNone/>
            </a:pPr>
            <a:r>
              <a:rPr lang="en-US" sz="1100" b="1" dirty="0">
                <a:solidFill>
                  <a:srgbClr val="6E7178"/>
                </a:solidFill>
              </a:rPr>
              <a:t>Mar</a:t>
            </a:r>
            <a:endParaRPr lang="en-US" sz="1100" dirty="0"/>
          </a:p>
        </p:txBody>
      </p:sp>
      <p:sp>
        <p:nvSpPr>
          <p:cNvPr id="8" name="Text 6"/>
          <p:cNvSpPr txBox="1"/>
          <p:nvPr/>
        </p:nvSpPr>
        <p:spPr>
          <a:xfrm>
            <a:off x="6095848" y="1965960"/>
            <a:ext cx="1849069" cy="256032"/>
          </a:xfrm>
          <a:prstGeom prst="rect">
            <a:avLst/>
          </a:prstGeom>
          <a:noFill/>
          <a:ln/>
        </p:spPr>
        <p:txBody>
          <a:bodyPr wrap="square" lIns="0" tIns="0" rIns="0" bIns="0" rtlCol="0" anchor="ctr"/>
          <a:lstStyle/>
          <a:p>
            <a:pPr algn="ctr" indent="0" marL="0">
              <a:buNone/>
            </a:pPr>
            <a:r>
              <a:rPr lang="en-US" sz="1100" b="1" dirty="0">
                <a:solidFill>
                  <a:srgbClr val="6E7178"/>
                </a:solidFill>
              </a:rPr>
              <a:t>Apr</a:t>
            </a:r>
            <a:endParaRPr lang="en-US" sz="1100" dirty="0"/>
          </a:p>
        </p:txBody>
      </p:sp>
      <p:sp>
        <p:nvSpPr>
          <p:cNvPr id="9" name="Text 7"/>
          <p:cNvSpPr txBox="1"/>
          <p:nvPr/>
        </p:nvSpPr>
        <p:spPr>
          <a:xfrm>
            <a:off x="7944917" y="1965960"/>
            <a:ext cx="1849069" cy="256032"/>
          </a:xfrm>
          <a:prstGeom prst="rect">
            <a:avLst/>
          </a:prstGeom>
          <a:noFill/>
          <a:ln/>
        </p:spPr>
        <p:txBody>
          <a:bodyPr wrap="square" lIns="0" tIns="0" rIns="0" bIns="0" rtlCol="0" anchor="ctr"/>
          <a:lstStyle/>
          <a:p>
            <a:pPr algn="ctr" indent="0" marL="0">
              <a:buNone/>
            </a:pPr>
            <a:r>
              <a:rPr lang="en-US" sz="1100" b="1" dirty="0">
                <a:solidFill>
                  <a:srgbClr val="6E7178"/>
                </a:solidFill>
              </a:rPr>
              <a:t>May</a:t>
            </a:r>
            <a:endParaRPr lang="en-US" sz="1100" dirty="0"/>
          </a:p>
        </p:txBody>
      </p:sp>
      <p:sp>
        <p:nvSpPr>
          <p:cNvPr id="10" name="Text 8"/>
          <p:cNvSpPr txBox="1"/>
          <p:nvPr/>
        </p:nvSpPr>
        <p:spPr>
          <a:xfrm>
            <a:off x="9793986" y="1965960"/>
            <a:ext cx="1849069" cy="256032"/>
          </a:xfrm>
          <a:prstGeom prst="rect">
            <a:avLst/>
          </a:prstGeom>
          <a:noFill/>
          <a:ln/>
        </p:spPr>
        <p:txBody>
          <a:bodyPr wrap="square" lIns="0" tIns="0" rIns="0" bIns="0" rtlCol="0" anchor="ctr"/>
          <a:lstStyle/>
          <a:p>
            <a:pPr algn="ctr" indent="0" marL="0">
              <a:buNone/>
            </a:pPr>
            <a:r>
              <a:rPr lang="en-US" sz="1100" b="1" dirty="0">
                <a:solidFill>
                  <a:srgbClr val="6E7178"/>
                </a:solidFill>
              </a:rPr>
              <a:t>Jun</a:t>
            </a:r>
            <a:endParaRPr lang="en-US" sz="1100" dirty="0"/>
          </a:p>
        </p:txBody>
      </p:sp>
      <p:sp>
        <p:nvSpPr>
          <p:cNvPr id="11" name="Text 9"/>
          <p:cNvSpPr/>
          <p:nvPr/>
        </p:nvSpPr>
        <p:spPr>
          <a:xfrm>
            <a:off x="548640" y="2286000"/>
            <a:ext cx="8275091" cy="384048"/>
          </a:xfrm>
          <a:prstGeom prst="rect">
            <a:avLst/>
          </a:prstGeom>
          <a:solidFill>
            <a:srgbClr val="0E98D7"/>
          </a:solidFill>
          <a:ln/>
        </p:spPr>
        <p:txBody>
          <a:bodyPr wrap="square" lIns="0" tIns="0" rIns="0" bIns="0" rtlCol="0" anchor="ctr"/>
          <a:lstStyle/>
          <a:p>
            <a:pPr algn="ctr" indent="0" marL="0">
              <a:buNone/>
            </a:pPr>
            <a:r>
              <a:rPr lang="en-US" sz="1200" b="1" dirty="0">
                <a:solidFill>
                  <a:srgbClr val="FFFFFF"/>
                </a:solidFill>
              </a:rPr>
              <a:t>Interactive preparation and live support</a:t>
            </a:r>
            <a:endParaRPr lang="en-US" sz="1200" dirty="0"/>
          </a:p>
        </p:txBody>
      </p:sp>
      <p:sp>
        <p:nvSpPr>
          <p:cNvPr id="12" name="Text 10"/>
          <p:cNvSpPr/>
          <p:nvPr/>
        </p:nvSpPr>
        <p:spPr>
          <a:xfrm>
            <a:off x="8915171" y="2286000"/>
            <a:ext cx="2727884" cy="384048"/>
          </a:xfrm>
          <a:prstGeom prst="rect">
            <a:avLst/>
          </a:prstGeom>
          <a:solidFill>
            <a:srgbClr val="EE2B7A"/>
          </a:solidFill>
          <a:ln/>
        </p:spPr>
        <p:txBody>
          <a:bodyPr wrap="square" lIns="0" tIns="0" rIns="0" bIns="0" rtlCol="0" anchor="ctr"/>
          <a:lstStyle/>
          <a:p>
            <a:pPr algn="ctr" indent="0" marL="0">
              <a:buNone/>
            </a:pPr>
            <a:r>
              <a:rPr lang="en-US" sz="1200" b="1" dirty="0">
                <a:solidFill>
                  <a:srgbClr val="FFFFFF"/>
                </a:solidFill>
              </a:rPr>
              <a:t>Final interactives</a:t>
            </a:r>
            <a:endParaRPr lang="en-US" sz="1200" dirty="0"/>
          </a:p>
        </p:txBody>
      </p:sp>
      <p:sp>
        <p:nvSpPr>
          <p:cNvPr id="13" name="Text 11"/>
          <p:cNvSpPr txBox="1"/>
          <p:nvPr/>
        </p:nvSpPr>
        <p:spPr>
          <a:xfrm>
            <a:off x="548640" y="2971800"/>
            <a:ext cx="2602154" cy="256032"/>
          </a:xfrm>
          <a:prstGeom prst="rect">
            <a:avLst/>
          </a:prstGeom>
          <a:noFill/>
          <a:ln/>
        </p:spPr>
        <p:txBody>
          <a:bodyPr wrap="square" lIns="0" tIns="0" rIns="0" bIns="0" rtlCol="0" anchor="ctr"/>
          <a:lstStyle/>
          <a:p>
            <a:pPr indent="0" marL="0">
              <a:buNone/>
            </a:pPr>
            <a:r>
              <a:rPr lang="en-US" sz="1000" b="1" spc="150" kern="0" dirty="0">
                <a:solidFill>
                  <a:srgbClr val="F48047"/>
                </a:solidFill>
              </a:rPr>
              <a:t>PREPARE</a:t>
            </a:r>
            <a:endParaRPr lang="en-US" sz="1000" dirty="0"/>
          </a:p>
        </p:txBody>
      </p:sp>
      <p:sp>
        <p:nvSpPr>
          <p:cNvPr id="14" name="Shape 12"/>
          <p:cNvSpPr/>
          <p:nvPr/>
        </p:nvSpPr>
        <p:spPr>
          <a:xfrm>
            <a:off x="548640" y="3319272"/>
            <a:ext cx="2602154" cy="804672"/>
          </a:xfrm>
          <a:prstGeom prst="rect">
            <a:avLst/>
          </a:prstGeom>
          <a:solidFill>
            <a:srgbClr val="FFF6ED"/>
          </a:solidFill>
          <a:ln w="12700">
            <a:solidFill>
              <a:srgbClr val="FFF6ED"/>
            </a:solidFill>
            <a:prstDash val="solid"/>
          </a:ln>
        </p:spPr>
      </p:sp>
      <p:sp>
        <p:nvSpPr>
          <p:cNvPr id="15" name="Text 13"/>
          <p:cNvSpPr/>
          <p:nvPr/>
        </p:nvSpPr>
        <p:spPr>
          <a:xfrm>
            <a:off x="704088" y="3502152"/>
            <a:ext cx="438912" cy="438912"/>
          </a:xfrm>
          <a:prstGeom prst="ellipse">
            <a:avLst/>
          </a:prstGeom>
          <a:solidFill>
            <a:srgbClr val="F48047"/>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6" name="Text 14"/>
          <p:cNvSpPr txBox="1"/>
          <p:nvPr/>
        </p:nvSpPr>
        <p:spPr>
          <a:xfrm>
            <a:off x="1280160" y="33192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Content discussion and objective setting</a:t>
            </a:r>
            <a:endParaRPr lang="en-US" sz="1200" dirty="0"/>
          </a:p>
        </p:txBody>
      </p:sp>
      <p:sp>
        <p:nvSpPr>
          <p:cNvPr id="17" name="Shape 15"/>
          <p:cNvSpPr/>
          <p:nvPr/>
        </p:nvSpPr>
        <p:spPr>
          <a:xfrm>
            <a:off x="548640" y="4233672"/>
            <a:ext cx="2602154" cy="804672"/>
          </a:xfrm>
          <a:prstGeom prst="rect">
            <a:avLst/>
          </a:prstGeom>
          <a:solidFill>
            <a:srgbClr val="FFF6ED"/>
          </a:solidFill>
          <a:ln w="12700">
            <a:solidFill>
              <a:srgbClr val="FFF6ED"/>
            </a:solidFill>
            <a:prstDash val="solid"/>
          </a:ln>
        </p:spPr>
      </p:sp>
      <p:sp>
        <p:nvSpPr>
          <p:cNvPr id="18" name="Text 16"/>
          <p:cNvSpPr/>
          <p:nvPr/>
        </p:nvSpPr>
        <p:spPr>
          <a:xfrm>
            <a:off x="704088" y="4416552"/>
            <a:ext cx="438912" cy="438912"/>
          </a:xfrm>
          <a:prstGeom prst="ellipse">
            <a:avLst/>
          </a:prstGeom>
          <a:solidFill>
            <a:srgbClr val="F48047"/>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9" name="Text 17"/>
          <p:cNvSpPr txBox="1"/>
          <p:nvPr/>
        </p:nvSpPr>
        <p:spPr>
          <a:xfrm>
            <a:off x="1280160" y="42336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Informal team alignment and personal coaching</a:t>
            </a:r>
            <a:endParaRPr lang="en-US" sz="1200" dirty="0"/>
          </a:p>
        </p:txBody>
      </p:sp>
      <p:sp>
        <p:nvSpPr>
          <p:cNvPr id="20" name="Text 18"/>
          <p:cNvSpPr txBox="1"/>
          <p:nvPr/>
        </p:nvSpPr>
        <p:spPr>
          <a:xfrm>
            <a:off x="3379394" y="2971800"/>
            <a:ext cx="2602154" cy="256032"/>
          </a:xfrm>
          <a:prstGeom prst="rect">
            <a:avLst/>
          </a:prstGeom>
          <a:noFill/>
          <a:ln/>
        </p:spPr>
        <p:txBody>
          <a:bodyPr wrap="square" lIns="0" tIns="0" rIns="0" bIns="0" rtlCol="0" anchor="ctr"/>
          <a:lstStyle/>
          <a:p>
            <a:pPr indent="0" marL="0">
              <a:buNone/>
            </a:pPr>
            <a:r>
              <a:rPr lang="en-US" sz="1000" b="1" spc="150" kern="0" dirty="0">
                <a:solidFill>
                  <a:srgbClr val="0E98D7"/>
                </a:solidFill>
              </a:rPr>
              <a:t>DEVELOP</a:t>
            </a:r>
            <a:endParaRPr lang="en-US" sz="1000" dirty="0"/>
          </a:p>
        </p:txBody>
      </p:sp>
      <p:sp>
        <p:nvSpPr>
          <p:cNvPr id="21" name="Shape 19"/>
          <p:cNvSpPr/>
          <p:nvPr/>
        </p:nvSpPr>
        <p:spPr>
          <a:xfrm>
            <a:off x="3379394" y="3319272"/>
            <a:ext cx="2602154" cy="804672"/>
          </a:xfrm>
          <a:prstGeom prst="rect">
            <a:avLst/>
          </a:prstGeom>
          <a:solidFill>
            <a:srgbClr val="E8F5FC"/>
          </a:solidFill>
          <a:ln w="12700">
            <a:solidFill>
              <a:srgbClr val="E8F5FC"/>
            </a:solidFill>
            <a:prstDash val="solid"/>
          </a:ln>
        </p:spPr>
      </p:sp>
      <p:sp>
        <p:nvSpPr>
          <p:cNvPr id="22" name="Text 20"/>
          <p:cNvSpPr/>
          <p:nvPr/>
        </p:nvSpPr>
        <p:spPr>
          <a:xfrm>
            <a:off x="3534842" y="3502152"/>
            <a:ext cx="438912" cy="438912"/>
          </a:xfrm>
          <a:prstGeom prst="ellipse">
            <a:avLst/>
          </a:prstGeom>
          <a:solidFill>
            <a:srgbClr val="0E98D7"/>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1"/>
          <p:cNvSpPr txBox="1"/>
          <p:nvPr/>
        </p:nvSpPr>
        <p:spPr>
          <a:xfrm>
            <a:off x="4110914" y="33192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Presentation development and refinement</a:t>
            </a:r>
            <a:endParaRPr lang="en-US" sz="1200" dirty="0"/>
          </a:p>
        </p:txBody>
      </p:sp>
      <p:sp>
        <p:nvSpPr>
          <p:cNvPr id="24" name="Shape 22"/>
          <p:cNvSpPr/>
          <p:nvPr/>
        </p:nvSpPr>
        <p:spPr>
          <a:xfrm>
            <a:off x="3379394" y="4233672"/>
            <a:ext cx="2602154" cy="804672"/>
          </a:xfrm>
          <a:prstGeom prst="rect">
            <a:avLst/>
          </a:prstGeom>
          <a:solidFill>
            <a:srgbClr val="E8F5FC"/>
          </a:solidFill>
          <a:ln w="12700">
            <a:solidFill>
              <a:srgbClr val="E8F5FC"/>
            </a:solidFill>
            <a:prstDash val="solid"/>
          </a:ln>
        </p:spPr>
      </p:sp>
      <p:sp>
        <p:nvSpPr>
          <p:cNvPr id="25" name="Text 23"/>
          <p:cNvSpPr/>
          <p:nvPr/>
        </p:nvSpPr>
        <p:spPr>
          <a:xfrm>
            <a:off x="3534842" y="4416552"/>
            <a:ext cx="438912" cy="438912"/>
          </a:xfrm>
          <a:prstGeom prst="ellipse">
            <a:avLst/>
          </a:prstGeom>
          <a:solidFill>
            <a:srgbClr val="0E98D7"/>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6" name="Text 24"/>
          <p:cNvSpPr txBox="1"/>
          <p:nvPr/>
        </p:nvSpPr>
        <p:spPr>
          <a:xfrm>
            <a:off x="4110914" y="42336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Speaker guide and run sheet</a:t>
            </a:r>
            <a:endParaRPr lang="en-US" sz="1200" dirty="0"/>
          </a:p>
        </p:txBody>
      </p:sp>
      <p:sp>
        <p:nvSpPr>
          <p:cNvPr id="27" name="Text 25"/>
          <p:cNvSpPr txBox="1"/>
          <p:nvPr/>
        </p:nvSpPr>
        <p:spPr>
          <a:xfrm>
            <a:off x="6210148" y="2971800"/>
            <a:ext cx="2602154" cy="256032"/>
          </a:xfrm>
          <a:prstGeom prst="rect">
            <a:avLst/>
          </a:prstGeom>
          <a:noFill/>
          <a:ln/>
        </p:spPr>
        <p:txBody>
          <a:bodyPr wrap="square" lIns="0" tIns="0" rIns="0" bIns="0" rtlCol="0" anchor="ctr"/>
          <a:lstStyle/>
          <a:p>
            <a:pPr indent="0" marL="0">
              <a:buNone/>
            </a:pPr>
            <a:r>
              <a:rPr lang="en-US" sz="1000" b="1" spc="150" kern="0" dirty="0">
                <a:solidFill>
                  <a:srgbClr val="EE2B7A"/>
                </a:solidFill>
              </a:rPr>
              <a:t>REHEARSE</a:t>
            </a:r>
            <a:endParaRPr lang="en-US" sz="1000" dirty="0"/>
          </a:p>
        </p:txBody>
      </p:sp>
      <p:sp>
        <p:nvSpPr>
          <p:cNvPr id="28" name="Shape 26"/>
          <p:cNvSpPr/>
          <p:nvPr/>
        </p:nvSpPr>
        <p:spPr>
          <a:xfrm>
            <a:off x="6210148" y="3319272"/>
            <a:ext cx="2602154" cy="804672"/>
          </a:xfrm>
          <a:prstGeom prst="rect">
            <a:avLst/>
          </a:prstGeom>
          <a:solidFill>
            <a:srgbClr val="FDEAF2"/>
          </a:solidFill>
          <a:ln w="12700">
            <a:solidFill>
              <a:srgbClr val="FDEAF2"/>
            </a:solidFill>
            <a:prstDash val="solid"/>
          </a:ln>
        </p:spPr>
      </p:sp>
      <p:sp>
        <p:nvSpPr>
          <p:cNvPr id="29" name="Text 27"/>
          <p:cNvSpPr/>
          <p:nvPr/>
        </p:nvSpPr>
        <p:spPr>
          <a:xfrm>
            <a:off x="6365596" y="3502152"/>
            <a:ext cx="438912" cy="438912"/>
          </a:xfrm>
          <a:prstGeom prst="ellipse">
            <a:avLst/>
          </a:prstGeom>
          <a:solidFill>
            <a:srgbClr val="EE2B7A"/>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0" name="Text 28"/>
          <p:cNvSpPr txBox="1"/>
          <p:nvPr/>
        </p:nvSpPr>
        <p:spPr>
          <a:xfrm>
            <a:off x="6941668" y="33192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First rehearsal and structured debrief</a:t>
            </a:r>
            <a:endParaRPr lang="en-US" sz="1200" dirty="0"/>
          </a:p>
        </p:txBody>
      </p:sp>
      <p:sp>
        <p:nvSpPr>
          <p:cNvPr id="31" name="Shape 29"/>
          <p:cNvSpPr/>
          <p:nvPr/>
        </p:nvSpPr>
        <p:spPr>
          <a:xfrm>
            <a:off x="6210148" y="4233672"/>
            <a:ext cx="2602154" cy="804672"/>
          </a:xfrm>
          <a:prstGeom prst="rect">
            <a:avLst/>
          </a:prstGeom>
          <a:solidFill>
            <a:srgbClr val="FDEAF2"/>
          </a:solidFill>
          <a:ln w="12700">
            <a:solidFill>
              <a:srgbClr val="FDEAF2"/>
            </a:solidFill>
            <a:prstDash val="solid"/>
          </a:ln>
        </p:spPr>
      </p:sp>
      <p:sp>
        <p:nvSpPr>
          <p:cNvPr id="32" name="Text 30"/>
          <p:cNvSpPr/>
          <p:nvPr/>
        </p:nvSpPr>
        <p:spPr>
          <a:xfrm>
            <a:off x="6365596" y="4416552"/>
            <a:ext cx="438912" cy="438912"/>
          </a:xfrm>
          <a:prstGeom prst="ellipse">
            <a:avLst/>
          </a:prstGeom>
          <a:solidFill>
            <a:srgbClr val="EE2B7A"/>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3" name="Text 31"/>
          <p:cNvSpPr txBox="1"/>
          <p:nvPr/>
        </p:nvSpPr>
        <p:spPr>
          <a:xfrm>
            <a:off x="6941668" y="42336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Final rehearsal and refinement</a:t>
            </a:r>
            <a:endParaRPr lang="en-US" sz="1200" dirty="0"/>
          </a:p>
        </p:txBody>
      </p:sp>
      <p:sp>
        <p:nvSpPr>
          <p:cNvPr id="34" name="Text 32"/>
          <p:cNvSpPr txBox="1"/>
          <p:nvPr/>
        </p:nvSpPr>
        <p:spPr>
          <a:xfrm>
            <a:off x="9040901" y="2971800"/>
            <a:ext cx="2602154" cy="256032"/>
          </a:xfrm>
          <a:prstGeom prst="rect">
            <a:avLst/>
          </a:prstGeom>
          <a:noFill/>
          <a:ln/>
        </p:spPr>
        <p:txBody>
          <a:bodyPr wrap="square" lIns="0" tIns="0" rIns="0" bIns="0" rtlCol="0" anchor="ctr"/>
          <a:lstStyle/>
          <a:p>
            <a:pPr indent="0" marL="0">
              <a:buNone/>
            </a:pPr>
            <a:r>
              <a:rPr lang="en-US" sz="1000" b="1" spc="150" kern="0" dirty="0">
                <a:solidFill>
                  <a:srgbClr val="2EB88A"/>
                </a:solidFill>
              </a:rPr>
              <a:t>DELIVER</a:t>
            </a:r>
            <a:endParaRPr lang="en-US" sz="1000" dirty="0"/>
          </a:p>
        </p:txBody>
      </p:sp>
      <p:sp>
        <p:nvSpPr>
          <p:cNvPr id="35" name="Shape 33"/>
          <p:cNvSpPr/>
          <p:nvPr/>
        </p:nvSpPr>
        <p:spPr>
          <a:xfrm>
            <a:off x="9040901" y="3319272"/>
            <a:ext cx="2602154" cy="804672"/>
          </a:xfrm>
          <a:prstGeom prst="rect">
            <a:avLst/>
          </a:prstGeom>
          <a:solidFill>
            <a:srgbClr val="E6F6F0"/>
          </a:solidFill>
          <a:ln w="12700">
            <a:solidFill>
              <a:srgbClr val="E6F6F0"/>
            </a:solidFill>
            <a:prstDash val="solid"/>
          </a:ln>
        </p:spPr>
      </p:sp>
      <p:sp>
        <p:nvSpPr>
          <p:cNvPr id="36" name="Text 34"/>
          <p:cNvSpPr/>
          <p:nvPr/>
        </p:nvSpPr>
        <p:spPr>
          <a:xfrm>
            <a:off x="9196349" y="3502152"/>
            <a:ext cx="438912" cy="438912"/>
          </a:xfrm>
          <a:prstGeom prst="ellipse">
            <a:avLst/>
          </a:prstGeom>
          <a:solidFill>
            <a:srgbClr val="2EB88A"/>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7" name="Text 35"/>
          <p:cNvSpPr txBox="1"/>
          <p:nvPr/>
        </p:nvSpPr>
        <p:spPr>
          <a:xfrm>
            <a:off x="9772421" y="33192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Live support at the interactive</a:t>
            </a:r>
            <a:endParaRPr lang="en-US" sz="1200" dirty="0"/>
          </a:p>
        </p:txBody>
      </p:sp>
      <p:sp>
        <p:nvSpPr>
          <p:cNvPr id="38" name="Shape 36"/>
          <p:cNvSpPr/>
          <p:nvPr/>
        </p:nvSpPr>
        <p:spPr>
          <a:xfrm>
            <a:off x="9040901" y="4233672"/>
            <a:ext cx="2602154" cy="804672"/>
          </a:xfrm>
          <a:prstGeom prst="rect">
            <a:avLst/>
          </a:prstGeom>
          <a:solidFill>
            <a:srgbClr val="E6F6F0"/>
          </a:solidFill>
          <a:ln w="12700">
            <a:solidFill>
              <a:srgbClr val="E6F6F0"/>
            </a:solidFill>
            <a:prstDash val="solid"/>
          </a:ln>
        </p:spPr>
      </p:sp>
      <p:sp>
        <p:nvSpPr>
          <p:cNvPr id="39" name="Text 37"/>
          <p:cNvSpPr/>
          <p:nvPr/>
        </p:nvSpPr>
        <p:spPr>
          <a:xfrm>
            <a:off x="9196349" y="4416552"/>
            <a:ext cx="438912" cy="438912"/>
          </a:xfrm>
          <a:prstGeom prst="ellipse">
            <a:avLst/>
          </a:prstGeom>
          <a:solidFill>
            <a:srgbClr val="2EB88A"/>
          </a:solid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0" name="Text 38"/>
          <p:cNvSpPr txBox="1"/>
          <p:nvPr/>
        </p:nvSpPr>
        <p:spPr>
          <a:xfrm>
            <a:off x="9772421" y="4233672"/>
            <a:ext cx="1733474" cy="804672"/>
          </a:xfrm>
          <a:prstGeom prst="rect">
            <a:avLst/>
          </a:prstGeom>
          <a:noFill/>
          <a:ln/>
        </p:spPr>
        <p:txBody>
          <a:bodyPr wrap="square" lIns="0" tIns="0" rIns="0" bIns="0" rtlCol="0" anchor="ctr"/>
          <a:lstStyle/>
          <a:p>
            <a:pPr indent="0" marL="0">
              <a:buNone/>
            </a:pPr>
            <a:r>
              <a:rPr lang="en-US" sz="1200" dirty="0">
                <a:solidFill>
                  <a:srgbClr val="3D3C3C"/>
                </a:solidFill>
              </a:rPr>
              <a:t>Post-interactive debrief</a:t>
            </a:r>
            <a:endParaRPr lang="en-US" sz="1200" dirty="0"/>
          </a:p>
        </p:txBody>
      </p:sp>
      <p:sp>
        <p:nvSpPr>
          <p:cNvPr id="41" name="Text 39"/>
          <p:cNvSpPr txBox="1"/>
          <p:nvPr/>
        </p:nvSpPr>
        <p:spPr>
          <a:xfrm>
            <a:off x="548640" y="5349240"/>
            <a:ext cx="11094415" cy="457200"/>
          </a:xfrm>
          <a:prstGeom prst="rect">
            <a:avLst/>
          </a:prstGeom>
          <a:noFill/>
          <a:ln/>
        </p:spPr>
        <p:txBody>
          <a:bodyPr wrap="square" lIns="0" tIns="0" rIns="0" bIns="0" rtlCol="0" anchor="ctr"/>
          <a:lstStyle/>
          <a:p>
            <a:pPr indent="0" marL="0">
              <a:buNone/>
            </a:pPr>
            <a:r>
              <a:rPr lang="en-US" sz="1300" b="1" dirty="0">
                <a:solidFill>
                  <a:srgbClr val="EE2B7A"/>
                </a:solidFill>
              </a:rPr>
              <a:t>Final interactives:  </a:t>
            </a:r>
            <a:pPr indent="0" marL="0">
              <a:buNone/>
            </a:pPr>
            <a:r>
              <a:rPr lang="en-US" sz="1300" dirty="0">
                <a:solidFill>
                  <a:srgbClr val="3D3C3C"/>
                </a:solidFill>
              </a:rPr>
              <a:t>our most intensive support, where HSRA looks for evidence that GoFar has listened, adapted and grown.</a:t>
            </a:r>
            <a:endParaRPr lang="en-US" sz="13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REFLECTIONS</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Three lessons from the C&amp;V Phase</a:t>
            </a:r>
            <a:endParaRPr lang="en-US" sz="2800" dirty="0"/>
          </a:p>
        </p:txBody>
      </p:sp>
      <p:sp>
        <p:nvSpPr>
          <p:cNvPr id="4" name="Text 2"/>
          <p:cNvSpPr txBox="1"/>
          <p:nvPr/>
        </p:nvSpPr>
        <p:spPr>
          <a:xfrm>
            <a:off x="548640" y="1508760"/>
            <a:ext cx="3484778" cy="731520"/>
          </a:xfrm>
          <a:prstGeom prst="rect">
            <a:avLst/>
          </a:prstGeom>
          <a:noFill/>
          <a:ln/>
        </p:spPr>
        <p:txBody>
          <a:bodyPr wrap="square" lIns="0" tIns="0" rIns="0" bIns="0" rtlCol="0" anchor="ctr"/>
          <a:lstStyle/>
          <a:p>
            <a:pPr indent="0" marL="0">
              <a:buNone/>
            </a:pPr>
            <a:r>
              <a:rPr lang="en-US" sz="4400" b="1" dirty="0">
                <a:solidFill>
                  <a:srgbClr val="F48047"/>
                </a:solidFill>
              </a:rPr>
              <a:t>01</a:t>
            </a:r>
            <a:endParaRPr lang="en-US" sz="4400" dirty="0"/>
          </a:p>
        </p:txBody>
      </p:sp>
      <p:sp>
        <p:nvSpPr>
          <p:cNvPr id="5" name="Text 3"/>
          <p:cNvSpPr txBox="1"/>
          <p:nvPr/>
        </p:nvSpPr>
        <p:spPr>
          <a:xfrm>
            <a:off x="548640" y="2286000"/>
            <a:ext cx="3484778" cy="731520"/>
          </a:xfrm>
          <a:prstGeom prst="rect">
            <a:avLst/>
          </a:prstGeom>
          <a:noFill/>
          <a:ln/>
        </p:spPr>
        <p:txBody>
          <a:bodyPr wrap="square" lIns="0" tIns="0" rIns="0" bIns="0" rtlCol="0" anchor="t"/>
          <a:lstStyle/>
          <a:p>
            <a:pPr indent="0" marL="0">
              <a:buNone/>
            </a:pPr>
            <a:r>
              <a:rPr lang="en-US" sz="1800" b="1" dirty="0">
                <a:solidFill>
                  <a:srgbClr val="3D3C3C"/>
                </a:solidFill>
              </a:rPr>
              <a:t>Preparation is paramount</a:t>
            </a:r>
            <a:endParaRPr lang="en-US" sz="1800" dirty="0"/>
          </a:p>
        </p:txBody>
      </p:sp>
      <p:sp>
        <p:nvSpPr>
          <p:cNvPr id="6" name="Text 4"/>
          <p:cNvSpPr txBox="1"/>
          <p:nvPr/>
        </p:nvSpPr>
        <p:spPr>
          <a:xfrm>
            <a:off x="548640" y="3017520"/>
            <a:ext cx="3484778" cy="1188720"/>
          </a:xfrm>
          <a:prstGeom prst="rect">
            <a:avLst/>
          </a:prstGeom>
          <a:noFill/>
          <a:ln/>
        </p:spPr>
        <p:txBody>
          <a:bodyPr wrap="square" lIns="0" tIns="0" rIns="0" bIns="0" rtlCol="0" anchor="t"/>
          <a:lstStyle/>
          <a:p>
            <a:pPr indent="0" marL="0">
              <a:buNone/>
            </a:pPr>
            <a:r>
              <a:rPr lang="en-US" sz="1250" dirty="0">
                <a:solidFill>
                  <a:srgbClr val="3D3C3C"/>
                </a:solidFill>
              </a:rPr>
              <a:t>Thorough preparation gives the team its key messages and puts GoFar in a strong light, even when slides are not presented.</a:t>
            </a:r>
            <a:endParaRPr lang="en-US" sz="1250" dirty="0"/>
          </a:p>
        </p:txBody>
      </p:sp>
      <p:sp>
        <p:nvSpPr>
          <p:cNvPr id="7" name="Shape 5"/>
          <p:cNvSpPr/>
          <p:nvPr/>
        </p:nvSpPr>
        <p:spPr>
          <a:xfrm>
            <a:off x="548640" y="4343400"/>
            <a:ext cx="3484778" cy="1645920"/>
          </a:xfrm>
          <a:prstGeom prst="rect">
            <a:avLst/>
          </a:prstGeom>
          <a:solidFill>
            <a:srgbClr val="FFF6ED"/>
          </a:solidFill>
          <a:ln w="12700">
            <a:solidFill>
              <a:srgbClr val="FFF6ED"/>
            </a:solidFill>
            <a:prstDash val="solid"/>
          </a:ln>
        </p:spPr>
      </p:sp>
      <p:sp>
        <p:nvSpPr>
          <p:cNvPr id="8" name="Text 6"/>
          <p:cNvSpPr txBox="1"/>
          <p:nvPr/>
        </p:nvSpPr>
        <p:spPr>
          <a:xfrm>
            <a:off x="777240" y="4480560"/>
            <a:ext cx="3027578" cy="1417320"/>
          </a:xfrm>
          <a:prstGeom prst="rect">
            <a:avLst/>
          </a:prstGeom>
          <a:noFill/>
          <a:ln/>
        </p:spPr>
        <p:txBody>
          <a:bodyPr wrap="square" lIns="0" tIns="0" rIns="0" bIns="0" rtlCol="0" anchor="t"/>
          <a:lstStyle/>
          <a:p>
            <a:pPr indent="0" marL="0">
              <a:buNone/>
            </a:pPr>
            <a:r>
              <a:rPr lang="en-US" sz="1000" b="1" spc="150" kern="0" dirty="0">
                <a:solidFill>
                  <a:srgbClr val="F48047"/>
                </a:solidFill>
              </a:rPr>
              <a:t>IN PRACTICE</a:t>
            </a:r>
            <a:endParaRPr lang="en-US" sz="1000" dirty="0"/>
          </a:p>
          <a:p>
            <a:pPr indent="0" marL="0">
              <a:buNone/>
            </a:pPr>
            <a:r>
              <a:rPr lang="en-US" sz="1200" dirty="0">
                <a:solidFill>
                  <a:srgbClr val="3D3C3C"/>
                </a:solidFill>
              </a:rPr>
              <a:t>On 13 October, GoFar was not asked to present, yet the team was better informed and ready because of the work done beforehand.</a:t>
            </a:r>
            <a:endParaRPr lang="en-US" sz="1000" dirty="0"/>
          </a:p>
        </p:txBody>
      </p:sp>
      <p:sp>
        <p:nvSpPr>
          <p:cNvPr id="9" name="Text 7"/>
          <p:cNvSpPr txBox="1"/>
          <p:nvPr/>
        </p:nvSpPr>
        <p:spPr>
          <a:xfrm>
            <a:off x="4353458" y="1508760"/>
            <a:ext cx="3484778" cy="731520"/>
          </a:xfrm>
          <a:prstGeom prst="rect">
            <a:avLst/>
          </a:prstGeom>
          <a:noFill/>
          <a:ln/>
        </p:spPr>
        <p:txBody>
          <a:bodyPr wrap="square" lIns="0" tIns="0" rIns="0" bIns="0" rtlCol="0" anchor="ctr"/>
          <a:lstStyle/>
          <a:p>
            <a:pPr indent="0" marL="0">
              <a:buNone/>
            </a:pPr>
            <a:r>
              <a:rPr lang="en-US" sz="4400" b="1" dirty="0">
                <a:solidFill>
                  <a:srgbClr val="0E98D7"/>
                </a:solidFill>
              </a:rPr>
              <a:t>02</a:t>
            </a:r>
            <a:endParaRPr lang="en-US" sz="4400" dirty="0"/>
          </a:p>
        </p:txBody>
      </p:sp>
      <p:sp>
        <p:nvSpPr>
          <p:cNvPr id="10" name="Text 8"/>
          <p:cNvSpPr txBox="1"/>
          <p:nvPr/>
        </p:nvSpPr>
        <p:spPr>
          <a:xfrm>
            <a:off x="4353458" y="2286000"/>
            <a:ext cx="3484778" cy="731520"/>
          </a:xfrm>
          <a:prstGeom prst="rect">
            <a:avLst/>
          </a:prstGeom>
          <a:noFill/>
          <a:ln/>
        </p:spPr>
        <p:txBody>
          <a:bodyPr wrap="square" lIns="0" tIns="0" rIns="0" bIns="0" rtlCol="0" anchor="t"/>
          <a:lstStyle/>
          <a:p>
            <a:pPr indent="0" marL="0">
              <a:buNone/>
            </a:pPr>
            <a:r>
              <a:rPr lang="en-US" sz="1800" b="1" dirty="0">
                <a:solidFill>
                  <a:srgbClr val="3D3C3C"/>
                </a:solidFill>
              </a:rPr>
              <a:t>HSRA values guidance and capability</a:t>
            </a:r>
            <a:endParaRPr lang="en-US" sz="1800" dirty="0"/>
          </a:p>
        </p:txBody>
      </p:sp>
      <p:sp>
        <p:nvSpPr>
          <p:cNvPr id="11" name="Text 9"/>
          <p:cNvSpPr txBox="1"/>
          <p:nvPr/>
        </p:nvSpPr>
        <p:spPr>
          <a:xfrm>
            <a:off x="4353458" y="3017520"/>
            <a:ext cx="3484778" cy="1188720"/>
          </a:xfrm>
          <a:prstGeom prst="rect">
            <a:avLst/>
          </a:prstGeom>
          <a:noFill/>
          <a:ln/>
        </p:spPr>
        <p:txBody>
          <a:bodyPr wrap="square" lIns="0" tIns="0" rIns="0" bIns="0" rtlCol="0" anchor="t"/>
          <a:lstStyle/>
          <a:p>
            <a:pPr indent="0" marL="0">
              <a:buNone/>
            </a:pPr>
            <a:r>
              <a:rPr lang="en-US" sz="1250" dirty="0">
                <a:solidFill>
                  <a:srgbClr val="3D3C3C"/>
                </a:solidFill>
              </a:rPr>
              <a:t>HSRA is looking for as much guidance as possible and responds to partners who bring structure and clarity.</a:t>
            </a:r>
            <a:endParaRPr lang="en-US" sz="1250" dirty="0"/>
          </a:p>
        </p:txBody>
      </p:sp>
      <p:sp>
        <p:nvSpPr>
          <p:cNvPr id="12" name="Shape 10"/>
          <p:cNvSpPr/>
          <p:nvPr/>
        </p:nvSpPr>
        <p:spPr>
          <a:xfrm>
            <a:off x="4353458" y="4343400"/>
            <a:ext cx="3484778" cy="1645920"/>
          </a:xfrm>
          <a:prstGeom prst="rect">
            <a:avLst/>
          </a:prstGeom>
          <a:solidFill>
            <a:srgbClr val="E8F5FC"/>
          </a:solidFill>
          <a:ln w="12700">
            <a:solidFill>
              <a:srgbClr val="E8F5FC"/>
            </a:solidFill>
            <a:prstDash val="solid"/>
          </a:ln>
        </p:spPr>
      </p:sp>
      <p:sp>
        <p:nvSpPr>
          <p:cNvPr id="13" name="Text 11"/>
          <p:cNvSpPr txBox="1"/>
          <p:nvPr/>
        </p:nvSpPr>
        <p:spPr>
          <a:xfrm>
            <a:off x="4582058" y="4480560"/>
            <a:ext cx="3027578" cy="1417320"/>
          </a:xfrm>
          <a:prstGeom prst="rect">
            <a:avLst/>
          </a:prstGeom>
          <a:noFill/>
          <a:ln/>
        </p:spPr>
        <p:txBody>
          <a:bodyPr wrap="square" lIns="0" tIns="0" rIns="0" bIns="0" rtlCol="0" anchor="t"/>
          <a:lstStyle/>
          <a:p>
            <a:pPr indent="0" marL="0">
              <a:buNone/>
            </a:pPr>
            <a:r>
              <a:rPr lang="en-US" sz="1000" b="1" spc="150" kern="0" dirty="0">
                <a:solidFill>
                  <a:srgbClr val="0E98D7"/>
                </a:solidFill>
              </a:rPr>
              <a:t>IN PRACTICE</a:t>
            </a:r>
            <a:endParaRPr lang="en-US" sz="1000" dirty="0"/>
          </a:p>
          <a:p>
            <a:pPr indent="0" marL="0">
              <a:buNone/>
            </a:pPr>
            <a:r>
              <a:rPr lang="en-US" sz="1200" dirty="0">
                <a:solidFill>
                  <a:srgbClr val="3D3C3C"/>
                </a:solidFill>
              </a:rPr>
              <a:t>In the Fire and Life Safety workshop, HSRA used GoFar's slides to run the meeting, as they covered every point on its agenda.</a:t>
            </a:r>
            <a:endParaRPr lang="en-US" sz="1000" dirty="0"/>
          </a:p>
        </p:txBody>
      </p:sp>
      <p:sp>
        <p:nvSpPr>
          <p:cNvPr id="14" name="Text 12"/>
          <p:cNvSpPr txBox="1"/>
          <p:nvPr/>
        </p:nvSpPr>
        <p:spPr>
          <a:xfrm>
            <a:off x="8158277" y="1508760"/>
            <a:ext cx="3484778" cy="731520"/>
          </a:xfrm>
          <a:prstGeom prst="rect">
            <a:avLst/>
          </a:prstGeom>
          <a:noFill/>
          <a:ln/>
        </p:spPr>
        <p:txBody>
          <a:bodyPr wrap="square" lIns="0" tIns="0" rIns="0" bIns="0" rtlCol="0" anchor="ctr"/>
          <a:lstStyle/>
          <a:p>
            <a:pPr indent="0" marL="0">
              <a:buNone/>
            </a:pPr>
            <a:r>
              <a:rPr lang="en-US" sz="4400" b="1" dirty="0">
                <a:solidFill>
                  <a:srgbClr val="EE2B7A"/>
                </a:solidFill>
              </a:rPr>
              <a:t>03</a:t>
            </a:r>
            <a:endParaRPr lang="en-US" sz="4400" dirty="0"/>
          </a:p>
        </p:txBody>
      </p:sp>
      <p:sp>
        <p:nvSpPr>
          <p:cNvPr id="15" name="Text 13"/>
          <p:cNvSpPr txBox="1"/>
          <p:nvPr/>
        </p:nvSpPr>
        <p:spPr>
          <a:xfrm>
            <a:off x="8158277" y="2286000"/>
            <a:ext cx="3484778" cy="731520"/>
          </a:xfrm>
          <a:prstGeom prst="rect">
            <a:avLst/>
          </a:prstGeom>
          <a:noFill/>
          <a:ln/>
        </p:spPr>
        <p:txBody>
          <a:bodyPr wrap="square" lIns="0" tIns="0" rIns="0" bIns="0" rtlCol="0" anchor="t"/>
          <a:lstStyle/>
          <a:p>
            <a:pPr indent="0" marL="0">
              <a:buNone/>
            </a:pPr>
            <a:r>
              <a:rPr lang="en-US" sz="1800" b="1" dirty="0">
                <a:solidFill>
                  <a:srgbClr val="3D3C3C"/>
                </a:solidFill>
              </a:rPr>
              <a:t>Listening builds credibility</a:t>
            </a:r>
            <a:endParaRPr lang="en-US" sz="1800" dirty="0"/>
          </a:p>
        </p:txBody>
      </p:sp>
      <p:sp>
        <p:nvSpPr>
          <p:cNvPr id="16" name="Text 14"/>
          <p:cNvSpPr txBox="1"/>
          <p:nvPr/>
        </p:nvSpPr>
        <p:spPr>
          <a:xfrm>
            <a:off x="8158277" y="3017520"/>
            <a:ext cx="3484778" cy="1188720"/>
          </a:xfrm>
          <a:prstGeom prst="rect">
            <a:avLst/>
          </a:prstGeom>
          <a:noFill/>
          <a:ln/>
        </p:spPr>
        <p:txBody>
          <a:bodyPr wrap="square" lIns="0" tIns="0" rIns="0" bIns="0" rtlCol="0" anchor="t"/>
          <a:lstStyle/>
          <a:p>
            <a:pPr indent="0" marL="0">
              <a:buNone/>
            </a:pPr>
            <a:r>
              <a:rPr lang="en-US" sz="1250" dirty="0">
                <a:solidFill>
                  <a:srgbClr val="3D3C3C"/>
                </a:solidFill>
              </a:rPr>
              <a:t>Responding to what HSRA has asked for, and building on its own work, earns more trust than innovation for its own sake.</a:t>
            </a:r>
            <a:endParaRPr lang="en-US" sz="1250" dirty="0"/>
          </a:p>
        </p:txBody>
      </p:sp>
      <p:sp>
        <p:nvSpPr>
          <p:cNvPr id="17" name="Shape 15"/>
          <p:cNvSpPr/>
          <p:nvPr/>
        </p:nvSpPr>
        <p:spPr>
          <a:xfrm>
            <a:off x="8158277" y="4343400"/>
            <a:ext cx="3484778" cy="1645920"/>
          </a:xfrm>
          <a:prstGeom prst="rect">
            <a:avLst/>
          </a:prstGeom>
          <a:solidFill>
            <a:srgbClr val="FDEAF2"/>
          </a:solidFill>
          <a:ln w="12700">
            <a:solidFill>
              <a:srgbClr val="FDEAF2"/>
            </a:solidFill>
            <a:prstDash val="solid"/>
          </a:ln>
        </p:spPr>
      </p:sp>
      <p:sp>
        <p:nvSpPr>
          <p:cNvPr id="18" name="Text 16"/>
          <p:cNvSpPr txBox="1"/>
          <p:nvPr/>
        </p:nvSpPr>
        <p:spPr>
          <a:xfrm>
            <a:off x="8386877" y="4480560"/>
            <a:ext cx="3027578" cy="1417320"/>
          </a:xfrm>
          <a:prstGeom prst="rect">
            <a:avLst/>
          </a:prstGeom>
          <a:noFill/>
          <a:ln/>
        </p:spPr>
        <p:txBody>
          <a:bodyPr wrap="square" lIns="0" tIns="0" rIns="0" bIns="0" rtlCol="0" anchor="t"/>
          <a:lstStyle/>
          <a:p>
            <a:pPr indent="0" marL="0">
              <a:buNone/>
            </a:pPr>
            <a:r>
              <a:rPr lang="en-US" sz="1000" b="1" spc="150" kern="0" dirty="0">
                <a:solidFill>
                  <a:srgbClr val="EE2B7A"/>
                </a:solidFill>
              </a:rPr>
              <a:t>IN PRACTICE</a:t>
            </a:r>
            <a:endParaRPr lang="en-US" sz="1000" dirty="0"/>
          </a:p>
          <a:p>
            <a:pPr indent="0" marL="0">
              <a:buNone/>
            </a:pPr>
            <a:r>
              <a:rPr lang="en-US" sz="1200" dirty="0">
                <a:solidFill>
                  <a:srgbClr val="3D3C3C"/>
                </a:solidFill>
              </a:rPr>
              <a:t>The alternative alignment gained support because it built on HSRA's Business Case. Another partner's late, untested idea did not progress.</a:t>
            </a:r>
            <a:endParaRPr lang="en-US" sz="10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REFLECTIONS</a:t>
            </a:r>
            <a:endParaRPr lang="en-US" sz="1100" dirty="0"/>
          </a:p>
        </p:txBody>
      </p:sp>
      <p:sp>
        <p:nvSpPr>
          <p:cNvPr id="3" name="Text 0"/>
          <p:cNvSpPr/>
          <p:nvPr>
            <p:ph idx="101"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What worked well and what to watch</a:t>
            </a:r>
            <a:endParaRPr lang="en-US" sz="2800" dirty="0"/>
          </a:p>
        </p:txBody>
      </p:sp>
      <p:sp>
        <p:nvSpPr>
          <p:cNvPr id="4" name="Shape 2"/>
          <p:cNvSpPr/>
          <p:nvPr/>
        </p:nvSpPr>
        <p:spPr>
          <a:xfrm>
            <a:off x="548640" y="1463040"/>
            <a:ext cx="5364328" cy="4572000"/>
          </a:xfrm>
          <a:prstGeom prst="rect">
            <a:avLst/>
          </a:prstGeom>
          <a:solidFill>
            <a:srgbClr val="E6F6F0"/>
          </a:solidFill>
          <a:ln w="12700">
            <a:solidFill>
              <a:srgbClr val="E6F6F0"/>
            </a:solidFill>
            <a:prstDash val="solid"/>
          </a:ln>
        </p:spPr>
      </p:sp>
      <p:sp>
        <p:nvSpPr>
          <p:cNvPr id="5" name="Text 3"/>
          <p:cNvSpPr txBox="1"/>
          <p:nvPr/>
        </p:nvSpPr>
        <p:spPr>
          <a:xfrm>
            <a:off x="868680" y="1691640"/>
            <a:ext cx="4724248" cy="365760"/>
          </a:xfrm>
          <a:prstGeom prst="rect">
            <a:avLst/>
          </a:prstGeom>
          <a:noFill/>
          <a:ln/>
        </p:spPr>
        <p:txBody>
          <a:bodyPr wrap="square" lIns="0" tIns="0" rIns="0" bIns="0" rtlCol="0" anchor="ctr"/>
          <a:lstStyle/>
          <a:p>
            <a:pPr indent="0" marL="0">
              <a:buNone/>
            </a:pPr>
            <a:r>
              <a:rPr lang="en-US" sz="1700" b="1" dirty="0">
                <a:solidFill>
                  <a:srgbClr val="2EB88A"/>
                </a:solidFill>
              </a:rPr>
              <a:t>What worked well</a:t>
            </a:r>
            <a:endParaRPr lang="en-US" sz="1700" dirty="0"/>
          </a:p>
        </p:txBody>
      </p:sp>
      <p:sp>
        <p:nvSpPr>
          <p:cNvPr id="6" name="Shape 4"/>
          <p:cNvSpPr/>
          <p:nvPr/>
        </p:nvSpPr>
        <p:spPr>
          <a:xfrm>
            <a:off x="868680" y="2267712"/>
            <a:ext cx="402336" cy="402336"/>
          </a:xfrm>
          <a:prstGeom prst="ellipse">
            <a:avLst/>
          </a:prstGeom>
          <a:solidFill>
            <a:srgbClr val="2EB88A"/>
          </a:solidFill>
          <a:ln w="12700">
            <a:solidFill>
              <a:srgbClr val="2EB88A"/>
            </a:solidFill>
            <a:prstDash val="solid"/>
          </a:ln>
        </p:spPr>
      </p:sp>
      <p:pic>
        <p:nvPicPr>
          <p:cNvPr id="7" name="Image 0" descr="preencoded.png">    </p:cNvPr>
          <p:cNvPicPr>
            <a:picLocks noChangeAspect="1"/>
          </p:cNvPicPr>
          <p:nvPr/>
        </p:nvPicPr>
        <p:blipFill>
          <a:blip r:embed="rId1"/>
          <a:stretch>
            <a:fillRect/>
          </a:stretch>
        </p:blipFill>
        <p:spPr>
          <a:xfrm>
            <a:off x="969264" y="2368296"/>
            <a:ext cx="201168" cy="201168"/>
          </a:xfrm>
          <a:prstGeom prst="rect">
            <a:avLst/>
          </a:prstGeom>
        </p:spPr>
      </p:pic>
      <p:sp>
        <p:nvSpPr>
          <p:cNvPr id="8" name="Text 5"/>
          <p:cNvSpPr txBox="1"/>
          <p:nvPr/>
        </p:nvSpPr>
        <p:spPr>
          <a:xfrm>
            <a:off x="1463040" y="2240280"/>
            <a:ext cx="4175608" cy="868680"/>
          </a:xfrm>
          <a:prstGeom prst="rect">
            <a:avLst/>
          </a:prstGeom>
          <a:noFill/>
          <a:ln/>
        </p:spPr>
        <p:txBody>
          <a:bodyPr wrap="square" lIns="0" tIns="0" rIns="0" bIns="0" rtlCol="0" anchor="t"/>
          <a:lstStyle/>
          <a:p>
            <a:pPr indent="0" marL="0">
              <a:buNone/>
            </a:pPr>
            <a:r>
              <a:rPr lang="en-US" sz="1200" b="1" dirty="0">
                <a:solidFill>
                  <a:srgbClr val="3D3C3C"/>
                </a:solidFill>
              </a:rPr>
              <a:t>Context before the solution</a:t>
            </a:r>
            <a:endParaRPr lang="en-US" sz="1200" dirty="0"/>
          </a:p>
          <a:p>
            <a:pPr indent="0" marL="0">
              <a:buNone/>
            </a:pPr>
            <a:r>
              <a:rPr lang="en-US" sz="1200" dirty="0">
                <a:solidFill>
                  <a:srgbClr val="3D3C3C"/>
                </a:solidFill>
              </a:rPr>
              <a:t>Framing each idea around HSRA's needs and benefits made complex proposals easy to support.</a:t>
            </a:r>
            <a:endParaRPr lang="en-US" sz="1200" dirty="0"/>
          </a:p>
        </p:txBody>
      </p:sp>
      <p:sp>
        <p:nvSpPr>
          <p:cNvPr id="9" name="Shape 6"/>
          <p:cNvSpPr/>
          <p:nvPr/>
        </p:nvSpPr>
        <p:spPr>
          <a:xfrm>
            <a:off x="868680" y="3200400"/>
            <a:ext cx="402336" cy="402336"/>
          </a:xfrm>
          <a:prstGeom prst="ellipse">
            <a:avLst/>
          </a:prstGeom>
          <a:solidFill>
            <a:srgbClr val="2EB88A"/>
          </a:solidFill>
          <a:ln w="12700">
            <a:solidFill>
              <a:srgbClr val="2EB88A"/>
            </a:solidFill>
            <a:prstDash val="solid"/>
          </a:ln>
        </p:spPr>
      </p:sp>
      <p:pic>
        <p:nvPicPr>
          <p:cNvPr id="10" name="Image 1" descr="preencoded.png">    </p:cNvPr>
          <p:cNvPicPr>
            <a:picLocks noChangeAspect="1"/>
          </p:cNvPicPr>
          <p:nvPr/>
        </p:nvPicPr>
        <p:blipFill>
          <a:blip r:embed="rId2"/>
          <a:stretch>
            <a:fillRect/>
          </a:stretch>
        </p:blipFill>
        <p:spPr>
          <a:xfrm>
            <a:off x="969264" y="3300984"/>
            <a:ext cx="201168" cy="201168"/>
          </a:xfrm>
          <a:prstGeom prst="rect">
            <a:avLst/>
          </a:prstGeom>
        </p:spPr>
      </p:pic>
      <p:sp>
        <p:nvSpPr>
          <p:cNvPr id="11" name="Text 7"/>
          <p:cNvSpPr txBox="1"/>
          <p:nvPr/>
        </p:nvSpPr>
        <p:spPr>
          <a:xfrm>
            <a:off x="1463040" y="3172968"/>
            <a:ext cx="4175608" cy="868680"/>
          </a:xfrm>
          <a:prstGeom prst="rect">
            <a:avLst/>
          </a:prstGeom>
          <a:noFill/>
          <a:ln/>
        </p:spPr>
        <p:txBody>
          <a:bodyPr wrap="square" lIns="0" tIns="0" rIns="0" bIns="0" rtlCol="0" anchor="t"/>
          <a:lstStyle/>
          <a:p>
            <a:pPr indent="0" marL="0">
              <a:buNone/>
            </a:pPr>
            <a:r>
              <a:rPr lang="en-US" sz="1200" b="1" dirty="0">
                <a:solidFill>
                  <a:srgbClr val="3D3C3C"/>
                </a:solidFill>
              </a:rPr>
              <a:t>Clear, simple messages</a:t>
            </a:r>
            <a:endParaRPr lang="en-US" sz="1200" dirty="0"/>
          </a:p>
          <a:p>
            <a:pPr indent="0" marL="0">
              <a:buNone/>
            </a:pPr>
            <a:r>
              <a:rPr lang="en-US" sz="1200" dirty="0">
                <a:solidFill>
                  <a:srgbClr val="3D3C3C"/>
                </a:solidFill>
              </a:rPr>
              <a:t>Distilling technical material into a few client-relevant points helped HSRA adopt our thinking.</a:t>
            </a:r>
            <a:endParaRPr lang="en-US" sz="1200" dirty="0"/>
          </a:p>
        </p:txBody>
      </p:sp>
      <p:sp>
        <p:nvSpPr>
          <p:cNvPr id="12" name="Shape 8"/>
          <p:cNvSpPr/>
          <p:nvPr/>
        </p:nvSpPr>
        <p:spPr>
          <a:xfrm>
            <a:off x="868680" y="4133088"/>
            <a:ext cx="402336" cy="402336"/>
          </a:xfrm>
          <a:prstGeom prst="ellipse">
            <a:avLst/>
          </a:prstGeom>
          <a:solidFill>
            <a:srgbClr val="2EB88A"/>
          </a:solidFill>
          <a:ln w="12700">
            <a:solidFill>
              <a:srgbClr val="2EB88A"/>
            </a:solidFill>
            <a:prstDash val="solid"/>
          </a:ln>
        </p:spPr>
      </p:sp>
      <p:pic>
        <p:nvPicPr>
          <p:cNvPr id="13" name="Image 2" descr="preencoded.png">    </p:cNvPr>
          <p:cNvPicPr>
            <a:picLocks noChangeAspect="1"/>
          </p:cNvPicPr>
          <p:nvPr/>
        </p:nvPicPr>
        <p:blipFill>
          <a:blip r:embed="rId3"/>
          <a:stretch>
            <a:fillRect/>
          </a:stretch>
        </p:blipFill>
        <p:spPr>
          <a:xfrm>
            <a:off x="969264" y="4233672"/>
            <a:ext cx="201168" cy="201168"/>
          </a:xfrm>
          <a:prstGeom prst="rect">
            <a:avLst/>
          </a:prstGeom>
        </p:spPr>
      </p:pic>
      <p:sp>
        <p:nvSpPr>
          <p:cNvPr id="14" name="Text 9"/>
          <p:cNvSpPr txBox="1"/>
          <p:nvPr/>
        </p:nvSpPr>
        <p:spPr>
          <a:xfrm>
            <a:off x="1463040" y="4105656"/>
            <a:ext cx="4175608" cy="868680"/>
          </a:xfrm>
          <a:prstGeom prst="rect">
            <a:avLst/>
          </a:prstGeom>
          <a:noFill/>
          <a:ln/>
        </p:spPr>
        <p:txBody>
          <a:bodyPr wrap="square" lIns="0" tIns="0" rIns="0" bIns="0" rtlCol="0" anchor="t"/>
          <a:lstStyle/>
          <a:p>
            <a:pPr indent="0" marL="0">
              <a:buNone/>
            </a:pPr>
            <a:r>
              <a:rPr lang="en-US" sz="1200" b="1" dirty="0">
                <a:solidFill>
                  <a:srgbClr val="3D3C3C"/>
                </a:solidFill>
              </a:rPr>
              <a:t>A collaborative tone</a:t>
            </a:r>
            <a:endParaRPr lang="en-US" sz="1200" dirty="0"/>
          </a:p>
          <a:p>
            <a:pPr indent="0" marL="0">
              <a:buNone/>
            </a:pPr>
            <a:r>
              <a:rPr lang="en-US" sz="1200" dirty="0">
                <a:solidFill>
                  <a:srgbClr val="3D3C3C"/>
                </a:solidFill>
              </a:rPr>
              <a:t>Acknowledging other partners' work and seeking shared agreement built goodwill.</a:t>
            </a:r>
            <a:endParaRPr lang="en-US" sz="1200" dirty="0"/>
          </a:p>
        </p:txBody>
      </p:sp>
      <p:sp>
        <p:nvSpPr>
          <p:cNvPr id="15" name="Shape 10"/>
          <p:cNvSpPr/>
          <p:nvPr/>
        </p:nvSpPr>
        <p:spPr>
          <a:xfrm>
            <a:off x="868680" y="5065776"/>
            <a:ext cx="402336" cy="402336"/>
          </a:xfrm>
          <a:prstGeom prst="ellipse">
            <a:avLst/>
          </a:prstGeom>
          <a:solidFill>
            <a:srgbClr val="2EB88A"/>
          </a:solidFill>
          <a:ln w="12700">
            <a:solidFill>
              <a:srgbClr val="2EB88A"/>
            </a:solidFill>
            <a:prstDash val="solid"/>
          </a:ln>
        </p:spPr>
      </p:sp>
      <p:pic>
        <p:nvPicPr>
          <p:cNvPr id="16" name="Image 3" descr="preencoded.png">    </p:cNvPr>
          <p:cNvPicPr>
            <a:picLocks noChangeAspect="1"/>
          </p:cNvPicPr>
          <p:nvPr/>
        </p:nvPicPr>
        <p:blipFill>
          <a:blip r:embed="rId4"/>
          <a:stretch>
            <a:fillRect/>
          </a:stretch>
        </p:blipFill>
        <p:spPr>
          <a:xfrm>
            <a:off x="969264" y="5166360"/>
            <a:ext cx="201168" cy="201168"/>
          </a:xfrm>
          <a:prstGeom prst="rect">
            <a:avLst/>
          </a:prstGeom>
        </p:spPr>
      </p:pic>
      <p:sp>
        <p:nvSpPr>
          <p:cNvPr id="17" name="Text 11"/>
          <p:cNvSpPr txBox="1"/>
          <p:nvPr/>
        </p:nvSpPr>
        <p:spPr>
          <a:xfrm>
            <a:off x="1463040" y="5038344"/>
            <a:ext cx="4175608" cy="868680"/>
          </a:xfrm>
          <a:prstGeom prst="rect">
            <a:avLst/>
          </a:prstGeom>
          <a:noFill/>
          <a:ln/>
        </p:spPr>
        <p:txBody>
          <a:bodyPr wrap="square" lIns="0" tIns="0" rIns="0" bIns="0" rtlCol="0" anchor="t"/>
          <a:lstStyle/>
          <a:p>
            <a:pPr indent="0" marL="0">
              <a:buNone/>
            </a:pPr>
            <a:r>
              <a:rPr lang="en-US" sz="1200" b="1" dirty="0">
                <a:solidFill>
                  <a:srgbClr val="3D3C3C"/>
                </a:solidFill>
              </a:rPr>
              <a:t>A strong presence</a:t>
            </a:r>
            <a:endParaRPr lang="en-US" sz="1200" dirty="0"/>
          </a:p>
          <a:p>
            <a:pPr indent="0" marL="0">
              <a:buNone/>
            </a:pPr>
            <a:r>
              <a:rPr lang="en-US" sz="1200" dirty="0">
                <a:solidFill>
                  <a:srgbClr val="3D3C3C"/>
                </a:solidFill>
              </a:rPr>
              <a:t>Engaged, consistent body language made GoFar visibly the strongest ECI partner.</a:t>
            </a:r>
            <a:endParaRPr lang="en-US" sz="1200" dirty="0"/>
          </a:p>
        </p:txBody>
      </p:sp>
      <p:sp>
        <p:nvSpPr>
          <p:cNvPr id="18" name="Shape 12"/>
          <p:cNvSpPr/>
          <p:nvPr/>
        </p:nvSpPr>
        <p:spPr>
          <a:xfrm>
            <a:off x="6278728" y="1463040"/>
            <a:ext cx="5364328" cy="4572000"/>
          </a:xfrm>
          <a:prstGeom prst="rect">
            <a:avLst/>
          </a:prstGeom>
          <a:solidFill>
            <a:srgbClr val="FFF6ED"/>
          </a:solidFill>
          <a:ln w="12700">
            <a:solidFill>
              <a:srgbClr val="FFF6ED"/>
            </a:solidFill>
            <a:prstDash val="solid"/>
          </a:ln>
        </p:spPr>
      </p:sp>
      <p:sp>
        <p:nvSpPr>
          <p:cNvPr id="19" name="Text 13"/>
          <p:cNvSpPr txBox="1"/>
          <p:nvPr/>
        </p:nvSpPr>
        <p:spPr>
          <a:xfrm>
            <a:off x="6598768" y="1691640"/>
            <a:ext cx="4724248" cy="365760"/>
          </a:xfrm>
          <a:prstGeom prst="rect">
            <a:avLst/>
          </a:prstGeom>
          <a:noFill/>
          <a:ln/>
        </p:spPr>
        <p:txBody>
          <a:bodyPr wrap="square" lIns="0" tIns="0" rIns="0" bIns="0" rtlCol="0" anchor="ctr"/>
          <a:lstStyle/>
          <a:p>
            <a:pPr indent="0" marL="0">
              <a:buNone/>
            </a:pPr>
            <a:r>
              <a:rPr lang="en-US" sz="1700" b="1" dirty="0">
                <a:solidFill>
                  <a:srgbClr val="F48047"/>
                </a:solidFill>
              </a:rPr>
              <a:t>What to watch going forward</a:t>
            </a:r>
            <a:endParaRPr lang="en-US" sz="1700" dirty="0"/>
          </a:p>
        </p:txBody>
      </p:sp>
      <p:sp>
        <p:nvSpPr>
          <p:cNvPr id="20" name="Shape 14"/>
          <p:cNvSpPr/>
          <p:nvPr/>
        </p:nvSpPr>
        <p:spPr>
          <a:xfrm>
            <a:off x="6598768" y="2267712"/>
            <a:ext cx="402336" cy="402336"/>
          </a:xfrm>
          <a:prstGeom prst="ellipse">
            <a:avLst/>
          </a:prstGeom>
          <a:solidFill>
            <a:srgbClr val="F48047"/>
          </a:solidFill>
          <a:ln w="12700">
            <a:solidFill>
              <a:srgbClr val="F48047"/>
            </a:solidFill>
            <a:prstDash val="solid"/>
          </a:ln>
        </p:spPr>
      </p:sp>
      <p:pic>
        <p:nvPicPr>
          <p:cNvPr id="21" name="Image 4" descr="preencoded.png">    </p:cNvPr>
          <p:cNvPicPr>
            <a:picLocks noChangeAspect="1"/>
          </p:cNvPicPr>
          <p:nvPr/>
        </p:nvPicPr>
        <p:blipFill>
          <a:blip r:embed="rId5"/>
          <a:stretch>
            <a:fillRect/>
          </a:stretch>
        </p:blipFill>
        <p:spPr>
          <a:xfrm>
            <a:off x="6699352" y="2368296"/>
            <a:ext cx="201168" cy="201168"/>
          </a:xfrm>
          <a:prstGeom prst="rect">
            <a:avLst/>
          </a:prstGeom>
        </p:spPr>
      </p:pic>
      <p:sp>
        <p:nvSpPr>
          <p:cNvPr id="22" name="Text 15"/>
          <p:cNvSpPr txBox="1"/>
          <p:nvPr/>
        </p:nvSpPr>
        <p:spPr>
          <a:xfrm>
            <a:off x="7193128" y="2240280"/>
            <a:ext cx="4175608" cy="868680"/>
          </a:xfrm>
          <a:prstGeom prst="rect">
            <a:avLst/>
          </a:prstGeom>
          <a:noFill/>
          <a:ln/>
        </p:spPr>
        <p:txBody>
          <a:bodyPr wrap="square" lIns="0" tIns="0" rIns="0" bIns="0" rtlCol="0" anchor="t"/>
          <a:lstStyle/>
          <a:p>
            <a:pPr indent="0" marL="0">
              <a:buNone/>
            </a:pPr>
            <a:r>
              <a:rPr lang="en-US" sz="1200" b="1" dirty="0">
                <a:solidFill>
                  <a:srgbClr val="3D3C3C"/>
                </a:solidFill>
              </a:rPr>
              <a:t>One agreed position</a:t>
            </a:r>
            <a:endParaRPr lang="en-US" sz="1200" dirty="0"/>
          </a:p>
          <a:p>
            <a:pPr indent="0" marL="0">
              <a:buNone/>
            </a:pPr>
            <a:r>
              <a:rPr lang="en-US" sz="1200" dirty="0">
                <a:solidFill>
                  <a:srgbClr val="3D3C3C"/>
                </a:solidFill>
              </a:rPr>
              <a:t>Share a weekly update on the latest design position, and raise concerns early rather than defaulting to yes.</a:t>
            </a:r>
            <a:endParaRPr lang="en-US" sz="1200" dirty="0"/>
          </a:p>
        </p:txBody>
      </p:sp>
      <p:sp>
        <p:nvSpPr>
          <p:cNvPr id="23" name="Shape 16"/>
          <p:cNvSpPr/>
          <p:nvPr/>
        </p:nvSpPr>
        <p:spPr>
          <a:xfrm>
            <a:off x="6598768" y="3200400"/>
            <a:ext cx="402336" cy="402336"/>
          </a:xfrm>
          <a:prstGeom prst="ellipse">
            <a:avLst/>
          </a:prstGeom>
          <a:solidFill>
            <a:srgbClr val="F48047"/>
          </a:solidFill>
          <a:ln w="12700">
            <a:solidFill>
              <a:srgbClr val="F48047"/>
            </a:solidFill>
            <a:prstDash val="solid"/>
          </a:ln>
        </p:spPr>
      </p:sp>
      <p:pic>
        <p:nvPicPr>
          <p:cNvPr id="24" name="Image 5" descr="preencoded.png">    </p:cNvPr>
          <p:cNvPicPr>
            <a:picLocks noChangeAspect="1"/>
          </p:cNvPicPr>
          <p:nvPr/>
        </p:nvPicPr>
        <p:blipFill>
          <a:blip r:embed="rId6"/>
          <a:stretch>
            <a:fillRect/>
          </a:stretch>
        </p:blipFill>
        <p:spPr>
          <a:xfrm>
            <a:off x="6699352" y="3300984"/>
            <a:ext cx="201168" cy="201168"/>
          </a:xfrm>
          <a:prstGeom prst="rect">
            <a:avLst/>
          </a:prstGeom>
        </p:spPr>
      </p:pic>
      <p:sp>
        <p:nvSpPr>
          <p:cNvPr id="25" name="Text 17"/>
          <p:cNvSpPr txBox="1"/>
          <p:nvPr/>
        </p:nvSpPr>
        <p:spPr>
          <a:xfrm>
            <a:off x="7193128" y="3172968"/>
            <a:ext cx="4175608" cy="868680"/>
          </a:xfrm>
          <a:prstGeom prst="rect">
            <a:avLst/>
          </a:prstGeom>
          <a:noFill/>
          <a:ln/>
        </p:spPr>
        <p:txBody>
          <a:bodyPr wrap="square" lIns="0" tIns="0" rIns="0" bIns="0" rtlCol="0" anchor="t"/>
          <a:lstStyle/>
          <a:p>
            <a:pPr indent="0" marL="0">
              <a:buNone/>
            </a:pPr>
            <a:r>
              <a:rPr lang="en-US" sz="1200" b="1" dirty="0">
                <a:solidFill>
                  <a:srgbClr val="3D3C3C"/>
                </a:solidFill>
              </a:rPr>
              <a:t>Focus over volume</a:t>
            </a:r>
            <a:endParaRPr lang="en-US" sz="1200" dirty="0"/>
          </a:p>
          <a:p>
            <a:pPr indent="0" marL="0">
              <a:buNone/>
            </a:pPr>
            <a:r>
              <a:rPr lang="en-US" sz="1200" dirty="0">
                <a:solidFill>
                  <a:srgbClr val="3D3C3C"/>
                </a:solidFill>
              </a:rPr>
              <a:t>Track HSRA's many requests in one place, and present a few focused slides with detail in reserve.</a:t>
            </a:r>
            <a:endParaRPr lang="en-US" sz="1200" dirty="0"/>
          </a:p>
        </p:txBody>
      </p:sp>
      <p:sp>
        <p:nvSpPr>
          <p:cNvPr id="26" name="Shape 18"/>
          <p:cNvSpPr/>
          <p:nvPr/>
        </p:nvSpPr>
        <p:spPr>
          <a:xfrm>
            <a:off x="6598768" y="4133088"/>
            <a:ext cx="402336" cy="402336"/>
          </a:xfrm>
          <a:prstGeom prst="ellipse">
            <a:avLst/>
          </a:prstGeom>
          <a:solidFill>
            <a:srgbClr val="F48047"/>
          </a:solidFill>
          <a:ln w="12700">
            <a:solidFill>
              <a:srgbClr val="F48047"/>
            </a:solidFill>
            <a:prstDash val="solid"/>
          </a:ln>
        </p:spPr>
      </p:sp>
      <p:pic>
        <p:nvPicPr>
          <p:cNvPr id="27" name="Image 6" descr="preencoded.png">    </p:cNvPr>
          <p:cNvPicPr>
            <a:picLocks noChangeAspect="1"/>
          </p:cNvPicPr>
          <p:nvPr/>
        </p:nvPicPr>
        <p:blipFill>
          <a:blip r:embed="rId7"/>
          <a:stretch>
            <a:fillRect/>
          </a:stretch>
        </p:blipFill>
        <p:spPr>
          <a:xfrm>
            <a:off x="6699352" y="4233672"/>
            <a:ext cx="201168" cy="201168"/>
          </a:xfrm>
          <a:prstGeom prst="rect">
            <a:avLst/>
          </a:prstGeom>
        </p:spPr>
      </p:pic>
      <p:sp>
        <p:nvSpPr>
          <p:cNvPr id="28" name="Text 19"/>
          <p:cNvSpPr txBox="1"/>
          <p:nvPr/>
        </p:nvSpPr>
        <p:spPr>
          <a:xfrm>
            <a:off x="7193128" y="4105656"/>
            <a:ext cx="4175608" cy="868680"/>
          </a:xfrm>
          <a:prstGeom prst="rect">
            <a:avLst/>
          </a:prstGeom>
          <a:noFill/>
          <a:ln/>
        </p:spPr>
        <p:txBody>
          <a:bodyPr wrap="square" lIns="0" tIns="0" rIns="0" bIns="0" rtlCol="0" anchor="t"/>
          <a:lstStyle/>
          <a:p>
            <a:pPr indent="0" marL="0">
              <a:buNone/>
            </a:pPr>
            <a:r>
              <a:rPr lang="en-US" sz="1200" b="1" dirty="0">
                <a:solidFill>
                  <a:srgbClr val="3D3C3C"/>
                </a:solidFill>
              </a:rPr>
              <a:t>Prepared for challenge</a:t>
            </a:r>
            <a:endParaRPr lang="en-US" sz="1200" dirty="0"/>
          </a:p>
          <a:p>
            <a:pPr indent="0" marL="0">
              <a:buNone/>
            </a:pPr>
            <a:r>
              <a:rPr lang="en-US" sz="1200" dirty="0">
                <a:solidFill>
                  <a:srgbClr val="3D3C3C"/>
                </a:solidFill>
              </a:rPr>
              <a:t>Treat HSRA's fixed requirements as fixed, and have evidence ready for competitors who raise doubt.</a:t>
            </a:r>
            <a:endParaRPr lang="en-US" sz="1200" dirty="0"/>
          </a:p>
        </p:txBody>
      </p:sp>
      <p:sp>
        <p:nvSpPr>
          <p:cNvPr id="29" name="Shape 20"/>
          <p:cNvSpPr/>
          <p:nvPr/>
        </p:nvSpPr>
        <p:spPr>
          <a:xfrm>
            <a:off x="6598768" y="5065776"/>
            <a:ext cx="402336" cy="402336"/>
          </a:xfrm>
          <a:prstGeom prst="ellipse">
            <a:avLst/>
          </a:prstGeom>
          <a:solidFill>
            <a:srgbClr val="F48047"/>
          </a:solidFill>
          <a:ln w="12700">
            <a:solidFill>
              <a:srgbClr val="F48047"/>
            </a:solidFill>
            <a:prstDash val="solid"/>
          </a:ln>
        </p:spPr>
      </p:sp>
      <p:pic>
        <p:nvPicPr>
          <p:cNvPr id="30" name="Image 7" descr="preencoded.png">    </p:cNvPr>
          <p:cNvPicPr>
            <a:picLocks noChangeAspect="1"/>
          </p:cNvPicPr>
          <p:nvPr/>
        </p:nvPicPr>
        <p:blipFill>
          <a:blip r:embed="rId8"/>
          <a:stretch>
            <a:fillRect/>
          </a:stretch>
        </p:blipFill>
        <p:spPr>
          <a:xfrm>
            <a:off x="6699352" y="5166360"/>
            <a:ext cx="201168" cy="201168"/>
          </a:xfrm>
          <a:prstGeom prst="rect">
            <a:avLst/>
          </a:prstGeom>
        </p:spPr>
      </p:pic>
      <p:sp>
        <p:nvSpPr>
          <p:cNvPr id="31" name="Text 21"/>
          <p:cNvSpPr txBox="1"/>
          <p:nvPr/>
        </p:nvSpPr>
        <p:spPr>
          <a:xfrm>
            <a:off x="7193128" y="5038344"/>
            <a:ext cx="4175608" cy="868680"/>
          </a:xfrm>
          <a:prstGeom prst="rect">
            <a:avLst/>
          </a:prstGeom>
          <a:noFill/>
          <a:ln/>
        </p:spPr>
        <p:txBody>
          <a:bodyPr wrap="square" lIns="0" tIns="0" rIns="0" bIns="0" rtlCol="0" anchor="t"/>
          <a:lstStyle/>
          <a:p>
            <a:pPr indent="0" marL="0">
              <a:buNone/>
            </a:pPr>
            <a:r>
              <a:rPr lang="en-US" sz="1200" b="1" dirty="0">
                <a:solidFill>
                  <a:srgbClr val="3D3C3C"/>
                </a:solidFill>
              </a:rPr>
              <a:t>Continuity and capacity</a:t>
            </a:r>
            <a:endParaRPr lang="en-US" sz="1200" dirty="0"/>
          </a:p>
          <a:p>
            <a:pPr indent="0" marL="0">
              <a:buNone/>
            </a:pPr>
            <a:r>
              <a:rPr lang="en-US" sz="1200" dirty="0">
                <a:solidFill>
                  <a:srgbClr val="3D3C3C"/>
                </a:solidFill>
              </a:rPr>
              <a:t>Keep consistent faces across sessions, and get ahead of work before Christmas.</a:t>
            </a:r>
            <a:endParaRPr lang="en-US" sz="12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FFFFF"/>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6" type="title" hasCustomPrompt="1"/>
          </p:nvPr>
        </p:nvSpPr>
        <p:spPr>
          <a:xfrm>
            <a:off x="548640" y="2743200"/>
            <a:ext cx="8229600" cy="109728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1"/>
          <p:cNvSpPr/>
          <p:nvPr>
            <p:ph idx="107" type="body" hasCustomPrompt="1"/>
          </p:nvPr>
        </p:nvSpPr>
        <p:spPr>
          <a:xfrm>
            <a:off x="548640" y="3977640"/>
            <a:ext cx="8229600" cy="914400"/>
          </a:xfrm>
          <a:prstGeom prst="rect">
            <a:avLst/>
          </a:prstGeom>
          <a:noFill/>
          <a:ln/>
        </p:spPr>
        <p:txBody>
          <a:bodyPr wrap="square" lIns="0" tIns="0" rIns="0" bIns="0" rtlCol="0" anchor="t"/>
          <a:lstStyle/>
          <a:p>
            <a:pPr algn="l" indent="0" marL="0">
              <a:buNone/>
            </a:pPr>
            <a:r>
              <a:rPr lang="en-US" sz="1600" dirty="0">
                <a:solidFill>
                  <a:schemeClr val="bg1"/>
                </a:solidFill>
              </a:rPr>
              <a:t>We look forward to continuing our partnership with GoFar through the ECI Phase.</a:t>
            </a:r>
            <a:endParaRPr lang="en-US" sz="1600" dirty="0"/>
          </a:p>
        </p:txBody>
      </p:sp>
    </p:spTree>
  </p:cSld>
  <p:clrMapOvr>
    <a:masterClrMapping/>
  </p:clrMapOvr>
</p:sld>
</file>

<file path=ppt/theme/theme1.xml><?xml version="1.0" encoding="utf-8"?>
<a:theme xmlns:a="http://schemas.openxmlformats.org/drawingml/2006/main" name="The Strategy Group">
  <a:themeElements>
    <a:clrScheme name="The Strategy Group">
      <a:dk1>
        <a:srgbClr val="3D3C3C"/>
      </a:dk1>
      <a:lt1>
        <a:srgbClr val="FFFFFF"/>
      </a:lt1>
      <a:dk2>
        <a:srgbClr val="44546A"/>
      </a:dk2>
      <a:lt2>
        <a:srgbClr val="E5E6EB"/>
      </a:lt2>
      <a:accent1>
        <a:srgbClr val="F48047"/>
      </a:accent1>
      <a:accent2>
        <a:srgbClr val="0E98D7"/>
      </a:accent2>
      <a:accent3>
        <a:srgbClr val="EE2B7A"/>
      </a:accent3>
      <a:accent4>
        <a:srgbClr val="2EB88A"/>
      </a:accent4>
      <a:accent5>
        <a:srgbClr val="54C8E9"/>
      </a:accent5>
      <a:accent6>
        <a:srgbClr val="9E1F63"/>
      </a:accent6>
      <a:hlink>
        <a:srgbClr val="0E98D7"/>
      </a:hlink>
      <a:folHlink>
        <a:srgbClr val="9E1F63"/>
      </a:folHlink>
    </a:clrScheme>
    <a:fontScheme name="The Strategy Group">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Supporting GoFar across the project</dc:title>
  <dc:subject>PptxGenJS Presentation</dc:subject>
  <dc:creator>The Strategy Group</dc:creator>
  <cp:lastModifiedBy>The Strategy Group</cp:lastModifiedBy>
  <cp:revision>1</cp:revision>
  <dcterms:created xsi:type="dcterms:W3CDTF">2026-10-16T00:07:43Z</dcterms:created>
  <dcterms:modified xsi:type="dcterms:W3CDTF">2026-10-16T00:07:43Z</dcterms:modified>
</cp:coreProperties>
</file>