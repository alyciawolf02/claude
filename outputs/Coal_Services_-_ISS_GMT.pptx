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7FFFDEDA_94C83A54.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44" r:id="rId4"/>
  </p:sldMasterIdLst>
  <p:notesMasterIdLst>
    <p:notesMasterId r:id="rId11"/>
  </p:notesMasterIdLst>
  <p:handoutMasterIdLst>
    <p:handoutMasterId r:id="rId12"/>
  </p:handoutMasterIdLst>
  <p:sldIdLst>
    <p:sldId id="2147475028" r:id="rId5"/>
    <p:sldId id="2147475312" r:id="rId6"/>
    <p:sldId id="2147475313" r:id="rId7"/>
    <p:sldId id="2147475306" r:id="rId8"/>
    <p:sldId id="2147475309" r:id="rId9"/>
    <p:sldId id="2147475162" r:id="rId10"/>
    <p:sldId id="2147475314" r:id="rId19"/>
    <p:sldId id="2147475315" r:id="rId20"/>
    <p:sldId id="2147475316" r:id="rId21"/>
    <p:sldId id="2147475317" r:id="rId22"/>
    <p:sldId id="2147475318" r:id="rId23"/>
    <p:sldId id="2147475319" r:id="rId24"/>
    <p:sldId id="2147475320" r:id="rId25"/>
    <p:sldId id="2147475321" r:id="rId26"/>
    <p:sldId id="2147475322" r:id="rId27"/>
    <p:sldId id="214747532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93" userDrawn="1">
          <p15:clr>
            <a:srgbClr val="A4A3A4"/>
          </p15:clr>
        </p15:guide>
        <p15:guide id="2" orient="horz" pos="459" userDrawn="1">
          <p15:clr>
            <a:srgbClr val="A4A3A4"/>
          </p15:clr>
        </p15:guide>
        <p15:guide id="3" orient="horz" pos="210" userDrawn="1">
          <p15:clr>
            <a:srgbClr val="A4A3A4"/>
          </p15:clr>
        </p15:guide>
        <p15:guide id="4" orient="horz" pos="845" userDrawn="1">
          <p15:clr>
            <a:srgbClr val="A4A3A4"/>
          </p15:clr>
        </p15:guide>
        <p15:guide id="5" pos="2094" userDrawn="1">
          <p15:clr>
            <a:srgbClr val="A4A3A4"/>
          </p15:clr>
        </p15:guide>
        <p15:guide id="6" orient="horz" pos="663" userDrawn="1">
          <p15:clr>
            <a:srgbClr val="A4A3A4"/>
          </p15:clr>
        </p15:guide>
        <p15:guide id="7" pos="3500" userDrawn="1">
          <p15:clr>
            <a:srgbClr val="A4A3A4"/>
          </p15:clr>
        </p15:guide>
        <p15:guide id="8" orient="horz" pos="1230" userDrawn="1">
          <p15:clr>
            <a:srgbClr val="A4A3A4"/>
          </p15:clr>
        </p15:guide>
        <p15:guide id="9" orient="horz" pos="1366" userDrawn="1">
          <p15:clr>
            <a:srgbClr val="A4A3A4"/>
          </p15:clr>
        </p15:guide>
        <p15:guide id="10" pos="3341" userDrawn="1">
          <p15:clr>
            <a:srgbClr val="A4A3A4"/>
          </p15:clr>
        </p15:guide>
        <p15:guide id="11" pos="447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86DCF1C-F1BF-08F1-4F68-1A5268AB94AA}" name="Sabrina Thomas" initials="ST" userId="S::sabrina@thestrategygroup.com.au::71d01e8f-f5be-4dc8-9c6f-d69dbfe8b323" providerId="AD"/>
  <p188:author id="{22B6604C-64F9-9A4C-3D6F-FB7164E2FB2B}" name="Alycia Wolf" initials="AW" userId="S::alycia@thestrategygroup.com.au::c3aef7f7-6659-44db-bf40-576699cfa133" providerId="AD"/>
  <p188:author id="{C60AD75F-BB7A-E2C4-F03F-DC0A34C79042}" name="Liam Hoffman" initials="LH" userId="S::liam@thestrategygroup.com.au::4302a22b-3367-4883-8fcc-8cd8ad62a05e" providerId="AD"/>
  <p188:author id="{A4BFD185-8211-450F-9F9A-53B799A822F0}" name="Nitara Zaid" initials="NZ" userId="S::nitara@thestrategygroup.com.au::ea140d9b-d5e3-432c-a95a-295be01fe418" providerId="AD"/>
  <p188:author id="{AF742A88-23A4-B02F-D282-C8D9BD3AD95C}" name="Jeffrey Tobias" initials="JT" userId="S::jeffrey@thestrategygroup.com.au::9ceb8861-4a13-48a9-ba56-a8c90f5fbffd" providerId="AD"/>
  <p188:author id="{E6A896AE-EBD8-0C62-3B4C-D040BFAA362F}" name="Eliza Beatty" initials="EB" userId="S::eliza@thestrategygroup.com.au::2d4a6939-6cb8-4242-ae6e-ed7e41a40c00" providerId="AD"/>
  <p188:author id="{766270B2-8F53-BD49-570B-6812A4EA1E43}" name="Pierre Schaupp" initials="PS" userId="S::pierre@thestrategygroup.com.au::b910f653-e3ec-49e2-a16b-41bba1208509" providerId="AD"/>
  <p188:author id="{E38D6DFE-8075-8B96-8568-A158DDC43B24}" name="Marcus Naoum" initials="MN" userId="S::marcus@thestrategygroup.com.au::4578fcc8-dbf2-452a-b11c-6b75cc6176d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helle Tabart" initials="MT"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CE40"/>
    <a:srgbClr val="2772A1"/>
    <a:srgbClr val="216197"/>
    <a:srgbClr val="091489"/>
    <a:srgbClr val="F7FCFF"/>
    <a:srgbClr val="5BC3E8"/>
    <a:srgbClr val="E7280F"/>
    <a:srgbClr val="14359D"/>
    <a:srgbClr val="DC1B3A"/>
    <a:srgbClr val="EA51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23"/>
    <p:restoredTop sz="96371"/>
  </p:normalViewPr>
  <p:slideViewPr>
    <p:cSldViewPr snapToGrid="0">
      <p:cViewPr varScale="1">
        <p:scale>
          <a:sx n="75" d="100"/>
          <a:sy n="75" d="100"/>
        </p:scale>
        <p:origin x="60" y="60"/>
      </p:cViewPr>
      <p:guideLst>
        <p:guide pos="393"/>
        <p:guide orient="horz" pos="459"/>
        <p:guide orient="horz" pos="210"/>
        <p:guide orient="horz" pos="845"/>
        <p:guide pos="2094"/>
        <p:guide orient="horz" pos="663"/>
        <p:guide pos="3500"/>
        <p:guide orient="horz" pos="1230"/>
        <p:guide orient="horz" pos="1366"/>
        <p:guide pos="3341"/>
        <p:guide pos="447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  <Relationship Id="rId19" Type="http://schemas.openxmlformats.org/officeDocument/2006/relationships/slide" Target="slides/slide7.xml"/>
  <Relationship Id="rId20" Type="http://schemas.openxmlformats.org/officeDocument/2006/relationships/slide" Target="slides/slide8.xml"/>
  <Relationship Id="rId21" Type="http://schemas.openxmlformats.org/officeDocument/2006/relationships/slide" Target="slides/slide9.xml"/>
  <Relationship Id="rId22" Type="http://schemas.openxmlformats.org/officeDocument/2006/relationships/slide" Target="slides/slide10.xml"/>
  <Relationship Id="rId23" Type="http://schemas.openxmlformats.org/officeDocument/2006/relationships/slide" Target="slides/slide11.xml"/>
  <Relationship Id="rId24" Type="http://schemas.openxmlformats.org/officeDocument/2006/relationships/slide" Target="slides/slide12.xml"/>
  <Relationship Id="rId25" Type="http://schemas.openxmlformats.org/officeDocument/2006/relationships/slide" Target="slides/slide13.xml"/>
  <Relationship Id="rId26" Type="http://schemas.openxmlformats.org/officeDocument/2006/relationships/slide" Target="slides/slide14.xml"/>
  <Relationship Id="rId27" Type="http://schemas.openxmlformats.org/officeDocument/2006/relationships/slide" Target="slides/slide15.xml"/>
  <Relationship Id="rId28" Type="http://schemas.openxmlformats.org/officeDocument/2006/relationships/slide" Target="slides/slide16.xml"/>
</Relationships>
</file>

<file path=ppt/comments/modernComment_7FFFDEDA_94C83A54.xml><?xml version="1.0" encoding="utf-8"?>
<p188:cmLst xmlns:a="http://schemas.openxmlformats.org/drawingml/2006/main" xmlns:r="http://schemas.openxmlformats.org/officeDocument/2006/relationships" xmlns:p188="http://schemas.microsoft.com/office/powerpoint/2018/8/main">
  <p188:cm id="{538FEA84-F55A-524A-BDC9-B1FF0FAAFBCE}" authorId="{B86DCF1C-F1BF-08F1-4F68-1A5268AB94AA}" status="resolved" created="2026-08-26T00:42:57.738">
    <pc:sldMkLst xmlns:pc="http://schemas.microsoft.com/office/powerpoint/2013/main/command">
      <pc:docMk/>
      <pc:sldMk cId="2496150100" sldId="2147475162"/>
    </pc:sldMkLst>
    <p188:replyLst>
      <p188:reply id="{A25D7D60-45CD-4245-97C7-E718ACDF7190}" authorId="{B86DCF1C-F1BF-08F1-4F68-1A5268AB94AA}" created="2026-08-26T00:43:19.532">
        <p188:txBody>
          <a:bodyPr/>
          <a:lstStyle/>
          <a:p>
            <a:r>
              <a:rPr lang="en-AU"/>
              <a:t>Introduce in Exec Summary - who are the people, roles, &amp; businesses</a:t>
            </a:r>
          </a:p>
        </p188:txBody>
      </p188:reply>
    </p188:replyLst>
    <p188:txBody>
      <a:bodyPr/>
      <a:lstStyle/>
      <a:p>
        <a:r>
          <a:rPr lang="en-AU"/>
          <a:t>Who we spoke to: Glencore, Yancoal etc - call out who are the stakeholders early - Portfolio level roles across these companies</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C5D396-7B96-4346-AAAE-754D44F7F52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Open Sans Light" pitchFamily="2" charset="0"/>
            </a:endParaRPr>
          </a:p>
        </p:txBody>
      </p:sp>
      <p:sp>
        <p:nvSpPr>
          <p:cNvPr id="3" name="Date Placeholder 2">
            <a:extLst>
              <a:ext uri="{FF2B5EF4-FFF2-40B4-BE49-F238E27FC236}">
                <a16:creationId xmlns:a16="http://schemas.microsoft.com/office/drawing/2014/main" id="{04D405ED-F3C3-C64D-896E-A82D517A68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BF9414-3D7D-694D-A4D4-2A38CD631945}" type="datetimeFigureOut">
              <a:rPr lang="en-US" smtClean="0">
                <a:latin typeface="Open Sans Light" pitchFamily="2" charset="0"/>
              </a:rPr>
              <a:t>10/9/2026</a:t>
            </a:fld>
            <a:endParaRPr lang="en-US">
              <a:latin typeface="Open Sans Light" pitchFamily="2" charset="0"/>
            </a:endParaRPr>
          </a:p>
        </p:txBody>
      </p:sp>
      <p:sp>
        <p:nvSpPr>
          <p:cNvPr id="4" name="Footer Placeholder 3">
            <a:extLst>
              <a:ext uri="{FF2B5EF4-FFF2-40B4-BE49-F238E27FC236}">
                <a16:creationId xmlns:a16="http://schemas.microsoft.com/office/drawing/2014/main" id="{CEA3EAB3-9FA5-9449-9881-6508ECDCCE6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Open Sans Light" pitchFamily="2" charset="0"/>
            </a:endParaRPr>
          </a:p>
        </p:txBody>
      </p:sp>
      <p:sp>
        <p:nvSpPr>
          <p:cNvPr id="5" name="Slide Number Placeholder 4">
            <a:extLst>
              <a:ext uri="{FF2B5EF4-FFF2-40B4-BE49-F238E27FC236}">
                <a16:creationId xmlns:a16="http://schemas.microsoft.com/office/drawing/2014/main" id="{35250E67-DC67-0A48-968B-2D9E1032923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9C1F1D-0F54-3E40-B5C3-72C471D17D1E}" type="slidenum">
              <a:rPr lang="en-US" smtClean="0">
                <a:latin typeface="Open Sans Light" pitchFamily="2" charset="0"/>
              </a:rPr>
              <a:t>‹#›</a:t>
            </a:fld>
            <a:endParaRPr lang="en-US">
              <a:latin typeface="Open Sans Light" pitchFamily="2" charset="0"/>
            </a:endParaRPr>
          </a:p>
        </p:txBody>
      </p:sp>
    </p:spTree>
    <p:extLst>
      <p:ext uri="{BB962C8B-B14F-4D97-AF65-F5344CB8AC3E}">
        <p14:creationId xmlns:p14="http://schemas.microsoft.com/office/powerpoint/2010/main" val="19724352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Open Sans Light"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Open Sans Light" pitchFamily="2" charset="0"/>
              </a:defRPr>
            </a:lvl1pPr>
          </a:lstStyle>
          <a:p>
            <a:fld id="{7DB8B409-6AE1-413F-AD0F-8F9B711D0698}" type="datetimeFigureOut">
              <a:rPr lang="en-AU" smtClean="0"/>
              <a:pPr/>
              <a:t>9/10/2026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Open Sans Light"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Open Sans Light" pitchFamily="2" charset="0"/>
              </a:defRPr>
            </a:lvl1pPr>
          </a:lstStyle>
          <a:p>
            <a:fld id="{F7CA7197-82FF-4B06-884D-DB6B1218D975}" type="slidenum">
              <a:rPr lang="en-AU" smtClean="0"/>
              <a:pPr/>
              <a:t>‹#›</a:t>
            </a:fld>
            <a:endParaRPr lang="en-AU"/>
          </a:p>
        </p:txBody>
      </p:sp>
    </p:spTree>
    <p:extLst>
      <p:ext uri="{BB962C8B-B14F-4D97-AF65-F5344CB8AC3E}">
        <p14:creationId xmlns:p14="http://schemas.microsoft.com/office/powerpoint/2010/main" val="4099036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Open Sans Light" pitchFamily="2"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458E0-DED2-A32C-D556-C1883115DC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8FFFCD-E4CE-3C23-0804-EDB7E13AE08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0CD06AB-528C-BA6A-9D45-A729565AC8A0}"/>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0D5A9081-92F1-4A80-AD88-272868A350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26A16B-77AB-CA40-A61B-349C0D85D40A}" type="slidenum">
              <a:rPr kumimoji="0" lang="en-AU"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AU"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4205164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ABC33-0630-C44E-094E-A911B8C6F9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0E357A-2ADB-8C2C-B0A6-AE96D1C5E57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6EF91B6-5EED-F325-623E-EB35A1EB776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54170B5-D445-CD1A-ADF0-8BA946385F6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CA7197-82FF-4B06-884D-DB6B1218D975}"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0199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A1430-AB41-3DAF-FB38-EF36062FAB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3EB322-B96D-2BF4-2641-BD224FF4665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386C62F-59EA-0C25-C812-65F2569C849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9BADFF4-CAF1-2370-D4C6-7CCDD211CBA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CA7197-82FF-4B06-884D-DB6B1218D975}"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30842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EDF1E-94B3-E43D-D60F-BEEE293913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25390-ED79-972C-51E6-67D79981A1E1}"/>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47D3724-A4C7-E9ED-6D53-7BEDE17259B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2CB06C1-CE9C-95CA-8BF6-4C899E0395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CA7197-82FF-4B06-884D-DB6B1218D975}"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04880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CC558-BAF5-83F9-CE64-EC41CD4C1B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6E537-57C5-B17E-2725-772C435A65A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AC68B61-1FAD-9EF9-96F4-9E2645B3C2C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9B71AC1-66A3-DD52-37FC-66C17958138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CA7197-82FF-4B06-884D-DB6B1218D975}"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2032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5DFCD-FE10-9784-4ACC-98A40D0D68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6C92D4-52B8-AB49-BBEB-9B81AB7EE3F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3EDC54B-5E73-6405-389A-FF28C920BE36}"/>
              </a:ext>
            </a:extLst>
          </p:cNvPr>
          <p:cNvSpPr>
            <a:spLocks noGrp="1"/>
          </p:cNvSpPr>
          <p:nvPr>
            <p:ph type="body" idx="1"/>
          </p:nvPr>
        </p:nvSpPr>
        <p:spPr/>
        <p:txBody>
          <a:bodyPr/>
          <a:lstStyle/>
          <a:p>
            <a:pPr marL="171450" indent="-171450">
              <a:buFont typeface="Arial" panose="020B0604020202020204" pitchFamily="34" charset="0"/>
              <a:buChar char="•"/>
            </a:pPr>
            <a:r>
              <a:rPr lang="en-GB" b="1"/>
              <a:t>1 – </a:t>
            </a:r>
            <a:r>
              <a:rPr lang="en-GB"/>
              <a:t>Both the Minerals Council and MEU raised questions around Coal Services’ ownership and business model structure</a:t>
            </a:r>
          </a:p>
          <a:p>
            <a:pPr marL="171450" indent="-171450">
              <a:buFont typeface="Arial" panose="020B0604020202020204" pitchFamily="34" charset="0"/>
              <a:buChar char="•"/>
            </a:pPr>
            <a:r>
              <a:rPr lang="en-GB" b="1"/>
              <a:t>2 – </a:t>
            </a:r>
            <a:r>
              <a:rPr lang="en-GB"/>
              <a:t>Diverse needs and expectations emerged from both stakeholder groups across shared experiences</a:t>
            </a:r>
          </a:p>
          <a:p>
            <a:pPr marL="171450" indent="-171450">
              <a:buFont typeface="Arial" panose="020B0604020202020204" pitchFamily="34" charset="0"/>
              <a:buChar char="•"/>
            </a:pPr>
            <a:r>
              <a:rPr lang="en-GB" b="1"/>
              <a:t>3 – </a:t>
            </a:r>
            <a:r>
              <a:rPr lang="en-GB"/>
              <a:t>Trust was the lowest scoring dimension across the whole assessment, although notably Value &amp; Strategic Alignment was a close second </a:t>
            </a:r>
          </a:p>
          <a:p>
            <a:pPr marL="171450" indent="-171450">
              <a:buFont typeface="Arial" panose="020B0604020202020204" pitchFamily="34" charset="0"/>
              <a:buChar char="•"/>
            </a:pPr>
            <a:r>
              <a:rPr lang="en-GB" b="1"/>
              <a:t>4 – </a:t>
            </a:r>
            <a:r>
              <a:rPr lang="en-GB"/>
              <a:t>CMI is where positive perceptions are lowest, but it presents the greatest opportunity for shifting stakeholder perspectives</a:t>
            </a:r>
          </a:p>
          <a:p>
            <a:pPr marL="171450" indent="-171450">
              <a:buFont typeface="Arial" panose="020B0604020202020204" pitchFamily="34" charset="0"/>
              <a:buChar char="•"/>
            </a:pPr>
            <a:r>
              <a:rPr lang="en-GB" b="1"/>
              <a:t>5 – </a:t>
            </a:r>
            <a:r>
              <a:rPr lang="en-GB"/>
              <a:t>Current service processes are often strong by incident or individual, rather than through a process designed to ensure consistency.</a:t>
            </a:r>
          </a:p>
        </p:txBody>
      </p:sp>
      <p:sp>
        <p:nvSpPr>
          <p:cNvPr id="4" name="Slide Number Placeholder 3">
            <a:extLst>
              <a:ext uri="{FF2B5EF4-FFF2-40B4-BE49-F238E27FC236}">
                <a16:creationId xmlns:a16="http://schemas.microsoft.com/office/drawing/2014/main" id="{9708016D-927F-76A2-97E0-DE7BAD2C87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CA7197-82FF-4B06-884D-DB6B1218D975}"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62996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8564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3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183A61-EB54-06EF-DE47-F7E9A571DB61}"/>
              </a:ext>
            </a:extLst>
          </p:cNvPr>
          <p:cNvSpPr/>
          <p:nvPr userDrawn="1"/>
        </p:nvSpPr>
        <p:spPr>
          <a:xfrm>
            <a:off x="0" y="0"/>
            <a:ext cx="12192000" cy="1316019"/>
          </a:xfrm>
          <a:prstGeom prst="rect">
            <a:avLst/>
          </a:prstGeom>
          <a:gradFill>
            <a:gsLst>
              <a:gs pos="0">
                <a:schemeClr val="accent3"/>
              </a:gs>
              <a:gs pos="100000">
                <a:schemeClr val="accent3">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a:ea typeface="+mn-ea"/>
              <a:cs typeface="+mn-cs"/>
            </a:endParaRPr>
          </a:p>
        </p:txBody>
      </p:sp>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solidFill>
                  <a:schemeClr val="bg1"/>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13871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2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183A61-EB54-06EF-DE47-F7E9A571DB61}"/>
              </a:ext>
            </a:extLst>
          </p:cNvPr>
          <p:cNvSpPr/>
          <p:nvPr userDrawn="1"/>
        </p:nvSpPr>
        <p:spPr>
          <a:xfrm>
            <a:off x="0" y="0"/>
            <a:ext cx="12192000" cy="1316019"/>
          </a:xfrm>
          <a:prstGeom prst="rect">
            <a:avLst/>
          </a:prstGeom>
          <a:gradFill>
            <a:gsLst>
              <a:gs pos="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a:ea typeface="+mn-ea"/>
              <a:cs typeface="+mn-cs"/>
            </a:endParaRPr>
          </a:p>
        </p:txBody>
      </p:sp>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solidFill>
                  <a:schemeClr val="bg1"/>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8574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1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183A61-EB54-06EF-DE47-F7E9A571DB61}"/>
              </a:ext>
            </a:extLst>
          </p:cNvPr>
          <p:cNvSpPr/>
          <p:nvPr userDrawn="1"/>
        </p:nvSpPr>
        <p:spPr>
          <a:xfrm>
            <a:off x="0" y="0"/>
            <a:ext cx="12192000" cy="1316019"/>
          </a:xfrm>
          <a:prstGeom prst="rect">
            <a:avLst/>
          </a:prstGeom>
          <a:gradFill>
            <a:gsLst>
              <a:gs pos="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a:ea typeface="+mn-ea"/>
              <a:cs typeface="+mn-cs"/>
            </a:endParaRPr>
          </a:p>
        </p:txBody>
      </p:sp>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solidFill>
                  <a:schemeClr val="bg1"/>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8721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5_Title Slide">
    <p:spTree>
      <p:nvGrpSpPr>
        <p:cNvPr id="1" name=""/>
        <p:cNvGrpSpPr/>
        <p:nvPr/>
      </p:nvGrpSpPr>
      <p:grpSpPr>
        <a:xfrm>
          <a:off x="0" y="0"/>
          <a:ext cx="0" cy="0"/>
          <a:chOff x="0" y="0"/>
          <a:chExt cx="0" cy="0"/>
        </a:xfrm>
      </p:grpSpPr>
      <p:sp>
        <p:nvSpPr>
          <p:cNvPr id="18" name="Subtitle 2">
            <a:extLst>
              <a:ext uri="{FF2B5EF4-FFF2-40B4-BE49-F238E27FC236}">
                <a16:creationId xmlns:a16="http://schemas.microsoft.com/office/drawing/2014/main" id="{8DF9EC0C-8D8A-394C-98CB-975B46260778}"/>
              </a:ext>
            </a:extLst>
          </p:cNvPr>
          <p:cNvSpPr>
            <a:spLocks noGrp="1"/>
          </p:cNvSpPr>
          <p:nvPr>
            <p:ph type="subTitle" idx="1"/>
          </p:nvPr>
        </p:nvSpPr>
        <p:spPr>
          <a:xfrm>
            <a:off x="499110" y="5177854"/>
            <a:ext cx="9144000" cy="1655762"/>
          </a:xfrm>
        </p:spPr>
        <p:txBody>
          <a:bodyPr>
            <a:normAutofit/>
          </a:bodyPr>
          <a:lstStyle>
            <a:lvl1pPr marL="0" indent="0" algn="l">
              <a:buNone/>
              <a:defRPr sz="2000">
                <a:solidFill>
                  <a:schemeClr val="bg2"/>
                </a:solidFill>
                <a:latin typeface="Open Sans Light" panose="020B0606030504020204" pitchFamily="34" charset="0"/>
                <a:ea typeface="Open Sans Light" panose="020B0606030504020204" pitchFamily="34" charset="0"/>
                <a:cs typeface="Open Sans Light" panose="020B06060305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Title 1">
            <a:extLst>
              <a:ext uri="{FF2B5EF4-FFF2-40B4-BE49-F238E27FC236}">
                <a16:creationId xmlns:a16="http://schemas.microsoft.com/office/drawing/2014/main" id="{E6174DF3-85AD-3849-AA29-99B8B3E8F7CA}"/>
              </a:ext>
            </a:extLst>
          </p:cNvPr>
          <p:cNvSpPr>
            <a:spLocks noGrp="1"/>
          </p:cNvSpPr>
          <p:nvPr>
            <p:ph type="ctrTitle"/>
          </p:nvPr>
        </p:nvSpPr>
        <p:spPr>
          <a:xfrm>
            <a:off x="499110" y="4096613"/>
            <a:ext cx="9144000" cy="947129"/>
          </a:xfrm>
        </p:spPr>
        <p:txBody>
          <a:bodyPr anchor="b">
            <a:normAutofit/>
          </a:bodyPr>
          <a:lstStyle>
            <a:lvl1pPr algn="l">
              <a:defRPr sz="4400" b="0">
                <a:solidFill>
                  <a:schemeClr val="bg1"/>
                </a:solidFill>
              </a:defRPr>
            </a:lvl1pPr>
          </a:lstStyle>
          <a:p>
            <a:r>
              <a:rPr lang="en-US"/>
              <a:t>Click to edit Master title style</a:t>
            </a:r>
          </a:p>
        </p:txBody>
      </p:sp>
      <p:sp>
        <p:nvSpPr>
          <p:cNvPr id="7" name="Slide Number Placeholder 3">
            <a:extLst>
              <a:ext uri="{FF2B5EF4-FFF2-40B4-BE49-F238E27FC236}">
                <a16:creationId xmlns:a16="http://schemas.microsoft.com/office/drawing/2014/main" id="{E155D132-6578-874E-A1F5-777D8134DC9D}"/>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733865409"/>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0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769188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9" y="1449389"/>
            <a:ext cx="769188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8411394"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a:off x="8421564" y="-1"/>
            <a:ext cx="3770435" cy="5640552"/>
          </a:xfrm>
          <a:prstGeom prst="rect">
            <a:avLst/>
          </a:prstGeom>
        </p:spPr>
      </p:pic>
    </p:spTree>
    <p:extLst>
      <p:ext uri="{BB962C8B-B14F-4D97-AF65-F5344CB8AC3E}">
        <p14:creationId xmlns:p14="http://schemas.microsoft.com/office/powerpoint/2010/main" val="2379612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9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4296919" y="368300"/>
            <a:ext cx="704672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4296919" y="1449389"/>
            <a:ext cx="704672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0"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flipH="1">
            <a:off x="10170" y="-1"/>
            <a:ext cx="3770435" cy="5640552"/>
          </a:xfrm>
          <a:prstGeom prst="rect">
            <a:avLst/>
          </a:prstGeom>
        </p:spPr>
      </p:pic>
    </p:spTree>
    <p:extLst>
      <p:ext uri="{BB962C8B-B14F-4D97-AF65-F5344CB8AC3E}">
        <p14:creationId xmlns:p14="http://schemas.microsoft.com/office/powerpoint/2010/main" val="3644722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8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769188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9" y="1449389"/>
            <a:ext cx="769188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8411394"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a:off x="8421564" y="-1"/>
            <a:ext cx="3770435" cy="5640552"/>
          </a:xfrm>
          <a:prstGeom prst="rect">
            <a:avLst/>
          </a:prstGeom>
        </p:spPr>
      </p:pic>
    </p:spTree>
    <p:extLst>
      <p:ext uri="{BB962C8B-B14F-4D97-AF65-F5344CB8AC3E}">
        <p14:creationId xmlns:p14="http://schemas.microsoft.com/office/powerpoint/2010/main" val="2379612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7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4296919" y="368300"/>
            <a:ext cx="704672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4296919" y="1449389"/>
            <a:ext cx="704672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0"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flipH="1">
            <a:off x="10170" y="-1"/>
            <a:ext cx="3770435" cy="5640552"/>
          </a:xfrm>
          <a:prstGeom prst="rect">
            <a:avLst/>
          </a:prstGeom>
        </p:spPr>
      </p:pic>
    </p:spTree>
    <p:extLst>
      <p:ext uri="{BB962C8B-B14F-4D97-AF65-F5344CB8AC3E}">
        <p14:creationId xmlns:p14="http://schemas.microsoft.com/office/powerpoint/2010/main" val="3644722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6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769188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9" y="1449389"/>
            <a:ext cx="769188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8411394"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a:off x="8421564" y="-1"/>
            <a:ext cx="3770435" cy="5640552"/>
          </a:xfrm>
          <a:prstGeom prst="rect">
            <a:avLst/>
          </a:prstGeom>
        </p:spPr>
      </p:pic>
    </p:spTree>
    <p:extLst>
      <p:ext uri="{BB962C8B-B14F-4D97-AF65-F5344CB8AC3E}">
        <p14:creationId xmlns:p14="http://schemas.microsoft.com/office/powerpoint/2010/main" val="2379612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5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4296919" y="368300"/>
            <a:ext cx="704672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4296919" y="1449389"/>
            <a:ext cx="704672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0"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flipH="1">
            <a:off x="10170" y="-1"/>
            <a:ext cx="3770435" cy="5640552"/>
          </a:xfrm>
          <a:prstGeom prst="rect">
            <a:avLst/>
          </a:prstGeom>
        </p:spPr>
      </p:pic>
    </p:spTree>
    <p:extLst>
      <p:ext uri="{BB962C8B-B14F-4D97-AF65-F5344CB8AC3E}">
        <p14:creationId xmlns:p14="http://schemas.microsoft.com/office/powerpoint/2010/main" val="36447225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769188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9" y="1449389"/>
            <a:ext cx="769188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8411394"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a:off x="8421564" y="-1"/>
            <a:ext cx="3770435" cy="5640552"/>
          </a:xfrm>
          <a:prstGeom prst="rect">
            <a:avLst/>
          </a:prstGeom>
        </p:spPr>
      </p:pic>
    </p:spTree>
    <p:extLst>
      <p:ext uri="{BB962C8B-B14F-4D97-AF65-F5344CB8AC3E}">
        <p14:creationId xmlns:p14="http://schemas.microsoft.com/office/powerpoint/2010/main" val="2379612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4296919" y="368300"/>
            <a:ext cx="704672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4296919" y="1449389"/>
            <a:ext cx="704672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0"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flipH="1">
            <a:off x="10170" y="-1"/>
            <a:ext cx="3770435" cy="5640552"/>
          </a:xfrm>
          <a:prstGeom prst="rect">
            <a:avLst/>
          </a:prstGeom>
        </p:spPr>
      </p:pic>
    </p:spTree>
    <p:extLst>
      <p:ext uri="{BB962C8B-B14F-4D97-AF65-F5344CB8AC3E}">
        <p14:creationId xmlns:p14="http://schemas.microsoft.com/office/powerpoint/2010/main" val="3644722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769188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9" y="1449389"/>
            <a:ext cx="769188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8411394"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a:off x="8421564" y="-1"/>
            <a:ext cx="3770435" cy="5640552"/>
          </a:xfrm>
          <a:prstGeom prst="rect">
            <a:avLst/>
          </a:prstGeom>
        </p:spPr>
      </p:pic>
    </p:spTree>
    <p:extLst>
      <p:ext uri="{BB962C8B-B14F-4D97-AF65-F5344CB8AC3E}">
        <p14:creationId xmlns:p14="http://schemas.microsoft.com/office/powerpoint/2010/main" val="23796120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4296919" y="368300"/>
            <a:ext cx="704672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4296919" y="1449389"/>
            <a:ext cx="704672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0"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flipH="1">
            <a:off x="10170" y="-1"/>
            <a:ext cx="3770435" cy="5640552"/>
          </a:xfrm>
          <a:prstGeom prst="rect">
            <a:avLst/>
          </a:prstGeom>
        </p:spPr>
      </p:pic>
    </p:spTree>
    <p:extLst>
      <p:ext uri="{BB962C8B-B14F-4D97-AF65-F5344CB8AC3E}">
        <p14:creationId xmlns:p14="http://schemas.microsoft.com/office/powerpoint/2010/main" val="36447225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6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tx2"/>
              </a:gs>
              <a:gs pos="100000">
                <a:schemeClr val="tx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583DD981-2F88-36B6-B48C-C1372B8C9A02}"/>
              </a:ext>
            </a:extLst>
          </p:cNvPr>
          <p:cNvSpPr>
            <a:spLocks noGrp="1"/>
          </p:cNvSpPr>
          <p:nvPr>
            <p:ph type="title"/>
          </p:nvPr>
        </p:nvSpPr>
        <p:spPr>
          <a:xfrm>
            <a:off x="5029200" y="368300"/>
            <a:ext cx="6646863" cy="900114"/>
          </a:xfrm>
        </p:spPr>
        <p:txBody>
          <a:bodyPr>
            <a:normAutofit/>
          </a:bodyPr>
          <a:lstStyle>
            <a:lvl1pPr>
              <a:defRPr sz="2800">
                <a:solidFill>
                  <a:schemeClr val="accent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A2086BE6-D60A-9895-5FB7-271EEB74359B}"/>
              </a:ext>
            </a:extLst>
          </p:cNvPr>
          <p:cNvSpPr>
            <a:spLocks noGrp="1"/>
          </p:cNvSpPr>
          <p:nvPr>
            <p:ph idx="1"/>
          </p:nvPr>
        </p:nvSpPr>
        <p:spPr>
          <a:xfrm>
            <a:off x="5029188" y="1449388"/>
            <a:ext cx="6646863" cy="5040311"/>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62802365"/>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2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tx2"/>
              </a:gs>
              <a:gs pos="100000">
                <a:schemeClr val="tx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5A6D41D4-8055-A24D-80E7-090637EBB6CA}"/>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1789" t="43946" r="16249" b="16538"/>
          <a:stretch/>
        </p:blipFill>
        <p:spPr>
          <a:xfrm rot="16200000">
            <a:off x="-836593" y="709593"/>
            <a:ext cx="6985000" cy="5311814"/>
          </a:xfrm>
          <a:prstGeom prst="rect">
            <a:avLst/>
          </a:prstGeom>
        </p:spPr>
      </p:pic>
      <p:sp>
        <p:nvSpPr>
          <p:cNvPr id="9" name="Title 1">
            <a:extLst>
              <a:ext uri="{FF2B5EF4-FFF2-40B4-BE49-F238E27FC236}">
                <a16:creationId xmlns:a16="http://schemas.microsoft.com/office/drawing/2014/main" id="{583DD981-2F88-36B6-B48C-C1372B8C9A02}"/>
              </a:ext>
            </a:extLst>
          </p:cNvPr>
          <p:cNvSpPr>
            <a:spLocks noGrp="1"/>
          </p:cNvSpPr>
          <p:nvPr>
            <p:ph type="title"/>
          </p:nvPr>
        </p:nvSpPr>
        <p:spPr>
          <a:xfrm>
            <a:off x="5029200" y="368300"/>
            <a:ext cx="6646863" cy="900114"/>
          </a:xfrm>
        </p:spPr>
        <p:txBody>
          <a:bodyPr>
            <a:normAutofit/>
          </a:bodyPr>
          <a:lstStyle>
            <a:lvl1pPr>
              <a:defRPr sz="2800">
                <a:solidFill>
                  <a:schemeClr val="accent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A2086BE6-D60A-9895-5FB7-271EEB74359B}"/>
              </a:ext>
            </a:extLst>
          </p:cNvPr>
          <p:cNvSpPr>
            <a:spLocks noGrp="1"/>
          </p:cNvSpPr>
          <p:nvPr>
            <p:ph idx="1"/>
          </p:nvPr>
        </p:nvSpPr>
        <p:spPr>
          <a:xfrm>
            <a:off x="5029188" y="1449388"/>
            <a:ext cx="6646863" cy="5040311"/>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4308518"/>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7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tx2"/>
              </a:gs>
              <a:gs pos="100000">
                <a:schemeClr val="tx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583DD981-2F88-36B6-B48C-C1372B8C9A02}"/>
              </a:ext>
            </a:extLst>
          </p:cNvPr>
          <p:cNvSpPr>
            <a:spLocks noGrp="1"/>
          </p:cNvSpPr>
          <p:nvPr>
            <p:ph type="title"/>
          </p:nvPr>
        </p:nvSpPr>
        <p:spPr>
          <a:xfrm>
            <a:off x="5029200" y="368300"/>
            <a:ext cx="6646863" cy="900114"/>
          </a:xfrm>
        </p:spPr>
        <p:txBody>
          <a:bodyPr>
            <a:normAutofit/>
          </a:bodyPr>
          <a:lstStyle>
            <a:lvl1pPr>
              <a:defRPr sz="2800">
                <a:solidFill>
                  <a:schemeClr val="accent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A2086BE6-D60A-9895-5FB7-271EEB74359B}"/>
              </a:ext>
            </a:extLst>
          </p:cNvPr>
          <p:cNvSpPr>
            <a:spLocks noGrp="1"/>
          </p:cNvSpPr>
          <p:nvPr>
            <p:ph idx="1"/>
          </p:nvPr>
        </p:nvSpPr>
        <p:spPr>
          <a:xfrm>
            <a:off x="5029188" y="1449388"/>
            <a:ext cx="6646863" cy="5040311"/>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Graphic 5">
            <a:extLst>
              <a:ext uri="{FF2B5EF4-FFF2-40B4-BE49-F238E27FC236}">
                <a16:creationId xmlns:a16="http://schemas.microsoft.com/office/drawing/2014/main" id="{CBC5C1FE-9433-3323-B1CF-97B605AB107E}"/>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768" b="42291"/>
          <a:stretch/>
        </p:blipFill>
        <p:spPr>
          <a:xfrm rot="5400000">
            <a:off x="-1031083" y="1031083"/>
            <a:ext cx="8158166" cy="6096000"/>
          </a:xfrm>
          <a:prstGeom prst="rect">
            <a:avLst/>
          </a:prstGeom>
        </p:spPr>
      </p:pic>
    </p:spTree>
    <p:extLst>
      <p:ext uri="{BB962C8B-B14F-4D97-AF65-F5344CB8AC3E}">
        <p14:creationId xmlns:p14="http://schemas.microsoft.com/office/powerpoint/2010/main" val="3938116889"/>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8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tx2"/>
              </a:gs>
              <a:gs pos="100000">
                <a:schemeClr val="tx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583DD981-2F88-36B6-B48C-C1372B8C9A02}"/>
              </a:ext>
            </a:extLst>
          </p:cNvPr>
          <p:cNvSpPr>
            <a:spLocks noGrp="1"/>
          </p:cNvSpPr>
          <p:nvPr>
            <p:ph type="title"/>
          </p:nvPr>
        </p:nvSpPr>
        <p:spPr>
          <a:xfrm>
            <a:off x="5029200" y="368300"/>
            <a:ext cx="6646863" cy="900114"/>
          </a:xfrm>
        </p:spPr>
        <p:txBody>
          <a:bodyPr>
            <a:normAutofit/>
          </a:bodyPr>
          <a:lstStyle>
            <a:lvl1pPr>
              <a:defRPr sz="2800">
                <a:solidFill>
                  <a:schemeClr val="accent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A2086BE6-D60A-9895-5FB7-271EEB74359B}"/>
              </a:ext>
            </a:extLst>
          </p:cNvPr>
          <p:cNvSpPr>
            <a:spLocks noGrp="1"/>
          </p:cNvSpPr>
          <p:nvPr>
            <p:ph idx="1"/>
          </p:nvPr>
        </p:nvSpPr>
        <p:spPr>
          <a:xfrm>
            <a:off x="5029188" y="1449388"/>
            <a:ext cx="6646863" cy="5040311"/>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1D3B9BF0-1660-1AA0-06B5-6DFACF441A07}"/>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9486" b="40030"/>
          <a:stretch/>
        </p:blipFill>
        <p:spPr>
          <a:xfrm rot="5400000">
            <a:off x="-640895" y="640893"/>
            <a:ext cx="8572503" cy="7290717"/>
          </a:xfrm>
          <a:prstGeom prst="rect">
            <a:avLst/>
          </a:prstGeom>
        </p:spPr>
      </p:pic>
    </p:spTree>
    <p:extLst>
      <p:ext uri="{BB962C8B-B14F-4D97-AF65-F5344CB8AC3E}">
        <p14:creationId xmlns:p14="http://schemas.microsoft.com/office/powerpoint/2010/main" val="3213406010"/>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4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tx2"/>
              </a:gs>
              <a:gs pos="100000">
                <a:schemeClr val="tx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1007EAB4-47B6-B94E-16B6-4925324A1E24}"/>
              </a:ext>
            </a:extLst>
          </p:cNvPr>
          <p:cNvGrpSpPr/>
          <p:nvPr userDrawn="1"/>
        </p:nvGrpSpPr>
        <p:grpSpPr>
          <a:xfrm>
            <a:off x="-14763" y="4808928"/>
            <a:ext cx="7482363" cy="2067930"/>
            <a:chOff x="-14763" y="3909367"/>
            <a:chExt cx="10737232" cy="2967491"/>
          </a:xfrm>
        </p:grpSpPr>
        <p:sp>
          <p:nvSpPr>
            <p:cNvPr id="2" name="Rectangle 1">
              <a:extLst>
                <a:ext uri="{FF2B5EF4-FFF2-40B4-BE49-F238E27FC236}">
                  <a16:creationId xmlns:a16="http://schemas.microsoft.com/office/drawing/2014/main" id="{3D2F8669-A071-F66A-0E1D-C0B73FB862C7}"/>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1">
              <a:extLst>
                <a:ext uri="{FF2B5EF4-FFF2-40B4-BE49-F238E27FC236}">
                  <a16:creationId xmlns:a16="http://schemas.microsoft.com/office/drawing/2014/main" id="{775D67DB-CBF3-181D-0F68-C94113FC190E}"/>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1">
              <a:extLst>
                <a:ext uri="{FF2B5EF4-FFF2-40B4-BE49-F238E27FC236}">
                  <a16:creationId xmlns:a16="http://schemas.microsoft.com/office/drawing/2014/main" id="{E99D011B-5611-947A-E8D5-4848F44EE861}"/>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45000">
                  <a:schemeClr val="accent1"/>
                </a:gs>
                <a:gs pos="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1">
              <a:extLst>
                <a:ext uri="{FF2B5EF4-FFF2-40B4-BE49-F238E27FC236}">
                  <a16:creationId xmlns:a16="http://schemas.microsoft.com/office/drawing/2014/main" id="{8BB1E48D-99B4-C3F1-96B8-3CFA4CE4F494}"/>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1">
              <a:extLst>
                <a:ext uri="{FF2B5EF4-FFF2-40B4-BE49-F238E27FC236}">
                  <a16:creationId xmlns:a16="http://schemas.microsoft.com/office/drawing/2014/main" id="{1BB5BD68-F3EC-D698-4E47-D0C1874BB8CC}"/>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1"/>
                </a:gs>
                <a:gs pos="100000">
                  <a:schemeClr val="accent1">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5" name="Title 1">
            <a:extLst>
              <a:ext uri="{FF2B5EF4-FFF2-40B4-BE49-F238E27FC236}">
                <a16:creationId xmlns:a16="http://schemas.microsoft.com/office/drawing/2014/main" id="{AFB12B21-F03F-768B-78B3-E0856D6D2E36}"/>
              </a:ext>
            </a:extLst>
          </p:cNvPr>
          <p:cNvSpPr>
            <a:spLocks noGrp="1"/>
          </p:cNvSpPr>
          <p:nvPr>
            <p:ph type="title"/>
          </p:nvPr>
        </p:nvSpPr>
        <p:spPr>
          <a:xfrm>
            <a:off x="515938" y="368300"/>
            <a:ext cx="11160125" cy="900114"/>
          </a:xfrm>
        </p:spPr>
        <p:txBody>
          <a:bodyPr>
            <a:normAutofit/>
          </a:bodyPr>
          <a:lstStyle>
            <a:lvl1pPr>
              <a:defRPr sz="2800">
                <a:solidFill>
                  <a:schemeClr val="accent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D9B1A806-7E4B-7D96-7208-91EBEB909B9A}"/>
              </a:ext>
            </a:extLst>
          </p:cNvPr>
          <p:cNvSpPr>
            <a:spLocks noGrp="1"/>
          </p:cNvSpPr>
          <p:nvPr>
            <p:ph idx="1"/>
          </p:nvPr>
        </p:nvSpPr>
        <p:spPr>
          <a:xfrm>
            <a:off x="515938" y="1449388"/>
            <a:ext cx="11160113" cy="4239447"/>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0058707"/>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3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accent1">
                  <a:lumMod val="20000"/>
                  <a:lumOff val="80000"/>
                </a:schemeClr>
              </a:gs>
              <a:gs pos="100000">
                <a:schemeClr val="accent1">
                  <a:lumMod val="40000"/>
                  <a:lumOff val="60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1007EAB4-47B6-B94E-16B6-4925324A1E24}"/>
              </a:ext>
            </a:extLst>
          </p:cNvPr>
          <p:cNvGrpSpPr/>
          <p:nvPr userDrawn="1"/>
        </p:nvGrpSpPr>
        <p:grpSpPr>
          <a:xfrm>
            <a:off x="-14763" y="4808928"/>
            <a:ext cx="7482363" cy="2067930"/>
            <a:chOff x="-14763" y="3909367"/>
            <a:chExt cx="10737232" cy="2967491"/>
          </a:xfrm>
        </p:grpSpPr>
        <p:sp>
          <p:nvSpPr>
            <p:cNvPr id="2" name="Rectangle 1">
              <a:extLst>
                <a:ext uri="{FF2B5EF4-FFF2-40B4-BE49-F238E27FC236}">
                  <a16:creationId xmlns:a16="http://schemas.microsoft.com/office/drawing/2014/main" id="{3D2F8669-A071-F66A-0E1D-C0B73FB862C7}"/>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1">
              <a:extLst>
                <a:ext uri="{FF2B5EF4-FFF2-40B4-BE49-F238E27FC236}">
                  <a16:creationId xmlns:a16="http://schemas.microsoft.com/office/drawing/2014/main" id="{775D67DB-CBF3-181D-0F68-C94113FC190E}"/>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1">
              <a:extLst>
                <a:ext uri="{FF2B5EF4-FFF2-40B4-BE49-F238E27FC236}">
                  <a16:creationId xmlns:a16="http://schemas.microsoft.com/office/drawing/2014/main" id="{E99D011B-5611-947A-E8D5-4848F44EE861}"/>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45000">
                  <a:schemeClr val="accent1"/>
                </a:gs>
                <a:gs pos="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1">
              <a:extLst>
                <a:ext uri="{FF2B5EF4-FFF2-40B4-BE49-F238E27FC236}">
                  <a16:creationId xmlns:a16="http://schemas.microsoft.com/office/drawing/2014/main" id="{8BB1E48D-99B4-C3F1-96B8-3CFA4CE4F494}"/>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1">
              <a:extLst>
                <a:ext uri="{FF2B5EF4-FFF2-40B4-BE49-F238E27FC236}">
                  <a16:creationId xmlns:a16="http://schemas.microsoft.com/office/drawing/2014/main" id="{1BB5BD68-F3EC-D698-4E47-D0C1874BB8CC}"/>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1"/>
                </a:gs>
                <a:gs pos="100000">
                  <a:schemeClr val="accent1">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0" name="Title 1">
            <a:extLst>
              <a:ext uri="{FF2B5EF4-FFF2-40B4-BE49-F238E27FC236}">
                <a16:creationId xmlns:a16="http://schemas.microsoft.com/office/drawing/2014/main" id="{26B861B8-6461-3BD8-C6E6-DA70B2B2E13F}"/>
              </a:ext>
            </a:extLst>
          </p:cNvPr>
          <p:cNvSpPr>
            <a:spLocks noGrp="1"/>
          </p:cNvSpPr>
          <p:nvPr>
            <p:ph type="title"/>
          </p:nvPr>
        </p:nvSpPr>
        <p:spPr>
          <a:xfrm>
            <a:off x="515938" y="368300"/>
            <a:ext cx="11160125" cy="900114"/>
          </a:xfrm>
        </p:spPr>
        <p:txBody>
          <a:bodyPr>
            <a:normAutofit/>
          </a:bodyPr>
          <a:lstStyle>
            <a:lvl1pPr>
              <a:defRPr sz="2800">
                <a:solidFill>
                  <a:schemeClr val="accent1"/>
                </a:solidFill>
              </a:defRPr>
            </a:lvl1pPr>
          </a:lstStyle>
          <a:p>
            <a:r>
              <a:rPr lang="en-US"/>
              <a:t>Click to edit Master title style</a:t>
            </a:r>
          </a:p>
        </p:txBody>
      </p:sp>
      <p:sp>
        <p:nvSpPr>
          <p:cNvPr id="11" name="Content Placeholder 2">
            <a:extLst>
              <a:ext uri="{FF2B5EF4-FFF2-40B4-BE49-F238E27FC236}">
                <a16:creationId xmlns:a16="http://schemas.microsoft.com/office/drawing/2014/main" id="{36EF2579-4395-43A2-13FC-857B670C3583}"/>
              </a:ext>
            </a:extLst>
          </p:cNvPr>
          <p:cNvSpPr>
            <a:spLocks noGrp="1"/>
          </p:cNvSpPr>
          <p:nvPr>
            <p:ph idx="1"/>
          </p:nvPr>
        </p:nvSpPr>
        <p:spPr>
          <a:xfrm>
            <a:off x="515938" y="1449388"/>
            <a:ext cx="11160113" cy="4239447"/>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408593"/>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9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rgbClr val="00AEEF"/>
              </a:gs>
              <a:gs pos="10000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5A6D41D4-8055-A24D-80E7-090637EBB6CA}"/>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1481" t="-1" r="30512" b="20969"/>
          <a:stretch/>
        </p:blipFill>
        <p:spPr>
          <a:xfrm>
            <a:off x="6393461" y="-1718316"/>
            <a:ext cx="5798540" cy="7900197"/>
          </a:xfrm>
          <a:prstGeom prst="rect">
            <a:avLst/>
          </a:prstGeom>
        </p:spPr>
      </p:pic>
    </p:spTree>
    <p:extLst>
      <p:ext uri="{BB962C8B-B14F-4D97-AF65-F5344CB8AC3E}">
        <p14:creationId xmlns:p14="http://schemas.microsoft.com/office/powerpoint/2010/main" val="94287492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0_Title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C3839F8-3364-3C4E-810A-2FC99C244E37}"/>
              </a:ext>
            </a:extLst>
          </p:cNvPr>
          <p:cNvSpPr/>
          <p:nvPr userDrawn="1"/>
        </p:nvSpPr>
        <p:spPr>
          <a:xfrm>
            <a:off x="0" y="0"/>
            <a:ext cx="12192000" cy="6858000"/>
          </a:xfrm>
          <a:prstGeom prst="rect">
            <a:avLst/>
          </a:prstGeom>
          <a:gradFill>
            <a:gsLst>
              <a:gs pos="9000">
                <a:srgbClr val="F8952F"/>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15" name="Graphic 14">
            <a:extLst>
              <a:ext uri="{FF2B5EF4-FFF2-40B4-BE49-F238E27FC236}">
                <a16:creationId xmlns:a16="http://schemas.microsoft.com/office/drawing/2014/main" id="{DDDEA3E2-E5AD-D14C-B1EB-E632CA3CDBB3}"/>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2" r="35284" b="18720"/>
          <a:stretch/>
        </p:blipFill>
        <p:spPr>
          <a:xfrm>
            <a:off x="5545394" y="-1638142"/>
            <a:ext cx="6646606" cy="8342359"/>
          </a:xfrm>
          <a:prstGeom prst="rect">
            <a:avLst/>
          </a:prstGeom>
        </p:spPr>
      </p:pic>
    </p:spTree>
    <p:extLst>
      <p:ext uri="{BB962C8B-B14F-4D97-AF65-F5344CB8AC3E}">
        <p14:creationId xmlns:p14="http://schemas.microsoft.com/office/powerpoint/2010/main" val="3693151770"/>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1_Title Slid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1E03BB5-73A0-9740-A5A5-D1CE3064E40F}"/>
              </a:ext>
            </a:extLst>
          </p:cNvPr>
          <p:cNvSpPr/>
          <p:nvPr userDrawn="1"/>
        </p:nvSpPr>
        <p:spPr>
          <a:xfrm>
            <a:off x="0" y="0"/>
            <a:ext cx="12192000" cy="6858000"/>
          </a:xfrm>
          <a:prstGeom prst="rect">
            <a:avLst/>
          </a:prstGeom>
          <a:gradFill>
            <a:gsLst>
              <a:gs pos="0">
                <a:srgbClr val="EE2B7B"/>
              </a:gs>
              <a:gs pos="100000">
                <a:srgbClr val="9E1F63"/>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4DCF62D6-5D07-004E-99E2-0014E921AD2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6134" t="10221" r="1" b="18731"/>
          <a:stretch/>
        </p:blipFill>
        <p:spPr>
          <a:xfrm rot="10800000">
            <a:off x="5607255" y="0"/>
            <a:ext cx="6584745" cy="7325222"/>
          </a:xfrm>
          <a:prstGeom prst="rect">
            <a:avLst/>
          </a:prstGeom>
        </p:spPr>
      </p:pic>
    </p:spTree>
    <p:extLst>
      <p:ext uri="{BB962C8B-B14F-4D97-AF65-F5344CB8AC3E}">
        <p14:creationId xmlns:p14="http://schemas.microsoft.com/office/powerpoint/2010/main" val="1214708061"/>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reserve="1">
  <p:cSld name="27_Title and Content">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1"/>
              </a:gs>
              <a:gs pos="100000">
                <a:srgbClr val="E85A3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63592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reserve="1">
  <p:cSld name="33_Title and Content">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3"/>
              </a:gs>
              <a:gs pos="100000">
                <a:srgbClr val="1B75B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945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 preserve="1">
  <p:cSld name="34_Title and Content">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2"/>
              </a:gs>
              <a:gs pos="100000">
                <a:schemeClr val="accent2">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70090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obj" preserve="1">
  <p:cSld name="20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9">
            <a:extLst>
              <a:ext uri="{FF2B5EF4-FFF2-40B4-BE49-F238E27FC236}">
                <a16:creationId xmlns:a16="http://schemas.microsoft.com/office/drawing/2014/main" id="{A31108C3-F34C-8C45-A897-FE6DA9684A4F}"/>
              </a:ext>
            </a:extLst>
          </p:cNvPr>
          <p:cNvSpPr/>
          <p:nvPr userDrawn="1"/>
        </p:nvSpPr>
        <p:spPr>
          <a:xfrm rot="16200000">
            <a:off x="7645400" y="2320583"/>
            <a:ext cx="6857999" cy="2235200"/>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gradFill>
            <a:gsLst>
              <a:gs pos="0">
                <a:srgbClr val="00AEEF"/>
              </a:gs>
              <a:gs pos="10000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Tree>
    <p:extLst>
      <p:ext uri="{BB962C8B-B14F-4D97-AF65-F5344CB8AC3E}">
        <p14:creationId xmlns:p14="http://schemas.microsoft.com/office/powerpoint/2010/main" val="42320102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8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29">
            <a:extLst>
              <a:ext uri="{FF2B5EF4-FFF2-40B4-BE49-F238E27FC236}">
                <a16:creationId xmlns:a16="http://schemas.microsoft.com/office/drawing/2014/main" id="{01C706FE-8F3E-CE27-4809-462B78AE473B}"/>
              </a:ext>
            </a:extLst>
          </p:cNvPr>
          <p:cNvSpPr/>
          <p:nvPr userDrawn="1"/>
        </p:nvSpPr>
        <p:spPr>
          <a:xfrm rot="16200000">
            <a:off x="7645400" y="2320583"/>
            <a:ext cx="6857999" cy="2235200"/>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gradFill>
            <a:gsLst>
              <a:gs pos="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9" name="Title 1">
            <a:extLst>
              <a:ext uri="{FF2B5EF4-FFF2-40B4-BE49-F238E27FC236}">
                <a16:creationId xmlns:a16="http://schemas.microsoft.com/office/drawing/2014/main" id="{6D41C234-8CDF-C44A-2B85-C29AF0F0E254}"/>
              </a:ext>
            </a:extLst>
          </p:cNvPr>
          <p:cNvSpPr>
            <a:spLocks noGrp="1"/>
          </p:cNvSpPr>
          <p:nvPr>
            <p:ph type="title"/>
          </p:nvPr>
        </p:nvSpPr>
        <p:spPr>
          <a:xfrm>
            <a:off x="525019" y="368300"/>
            <a:ext cx="11151044" cy="900114"/>
          </a:xfrm>
        </p:spPr>
        <p:txBody>
          <a:bodyPr>
            <a:normAutofit/>
          </a:bodyPr>
          <a:lstStyle>
            <a:lvl1pPr>
              <a:defRPr sz="2800"/>
            </a:lvl1pPr>
          </a:lstStyle>
          <a:p>
            <a:r>
              <a:rPr lang="en-US"/>
              <a:t>Click to edit Master title style</a:t>
            </a:r>
          </a:p>
        </p:txBody>
      </p:sp>
      <p:sp>
        <p:nvSpPr>
          <p:cNvPr id="10" name="Content Placeholder 2">
            <a:extLst>
              <a:ext uri="{FF2B5EF4-FFF2-40B4-BE49-F238E27FC236}">
                <a16:creationId xmlns:a16="http://schemas.microsoft.com/office/drawing/2014/main" id="{BF4F5225-44BA-2429-E778-C8E938E7E558}"/>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82968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28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29">
            <a:extLst>
              <a:ext uri="{FF2B5EF4-FFF2-40B4-BE49-F238E27FC236}">
                <a16:creationId xmlns:a16="http://schemas.microsoft.com/office/drawing/2014/main" id="{01C706FE-8F3E-CE27-4809-462B78AE473B}"/>
              </a:ext>
            </a:extLst>
          </p:cNvPr>
          <p:cNvSpPr/>
          <p:nvPr userDrawn="1"/>
        </p:nvSpPr>
        <p:spPr>
          <a:xfrm rot="16200000">
            <a:off x="7645400" y="2320583"/>
            <a:ext cx="6857999" cy="2235200"/>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gradFill>
            <a:gsLst>
              <a:gs pos="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5" name="Title 1">
            <a:extLst>
              <a:ext uri="{FF2B5EF4-FFF2-40B4-BE49-F238E27FC236}">
                <a16:creationId xmlns:a16="http://schemas.microsoft.com/office/drawing/2014/main" id="{785E208D-C5D8-6524-F56F-4BD1174247AC}"/>
              </a:ext>
            </a:extLst>
          </p:cNvPr>
          <p:cNvSpPr>
            <a:spLocks noGrp="1"/>
          </p:cNvSpPr>
          <p:nvPr>
            <p:ph type="title"/>
          </p:nvPr>
        </p:nvSpPr>
        <p:spPr>
          <a:xfrm>
            <a:off x="525019" y="368300"/>
            <a:ext cx="11151044" cy="900114"/>
          </a:xfrm>
        </p:spPr>
        <p:txBody>
          <a:bodyPr>
            <a:normAutofit/>
          </a:bodyPr>
          <a:lstStyle>
            <a:lvl1pPr>
              <a:defRPr sz="2800"/>
            </a:lvl1pPr>
          </a:lstStyle>
          <a:p>
            <a:r>
              <a:rPr lang="en-US"/>
              <a:t>Click to edit Master title style</a:t>
            </a:r>
          </a:p>
        </p:txBody>
      </p:sp>
      <p:sp>
        <p:nvSpPr>
          <p:cNvPr id="6" name="Content Placeholder 2">
            <a:extLst>
              <a:ext uri="{FF2B5EF4-FFF2-40B4-BE49-F238E27FC236}">
                <a16:creationId xmlns:a16="http://schemas.microsoft.com/office/drawing/2014/main" id="{3D480F6A-BCEC-25F3-0016-FD136C85234B}"/>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76493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9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29">
            <a:extLst>
              <a:ext uri="{FF2B5EF4-FFF2-40B4-BE49-F238E27FC236}">
                <a16:creationId xmlns:a16="http://schemas.microsoft.com/office/drawing/2014/main" id="{3483602A-2DCA-F446-B0E9-1DEB2FE3B53A}"/>
              </a:ext>
            </a:extLst>
          </p:cNvPr>
          <p:cNvSpPr/>
          <p:nvPr userDrawn="1"/>
        </p:nvSpPr>
        <p:spPr>
          <a:xfrm rot="16200000">
            <a:off x="7310433" y="1985612"/>
            <a:ext cx="6857999" cy="2905143"/>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6" name="Rectangle 29">
            <a:extLst>
              <a:ext uri="{FF2B5EF4-FFF2-40B4-BE49-F238E27FC236}">
                <a16:creationId xmlns:a16="http://schemas.microsoft.com/office/drawing/2014/main" id="{A31108C3-F34C-8C45-A897-FE6DA9684A4F}"/>
              </a:ext>
            </a:extLst>
          </p:cNvPr>
          <p:cNvSpPr/>
          <p:nvPr userDrawn="1"/>
        </p:nvSpPr>
        <p:spPr>
          <a:xfrm rot="16200000">
            <a:off x="7520913" y="2191499"/>
            <a:ext cx="6857999" cy="2484185"/>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7" name="Title 1">
            <a:extLst>
              <a:ext uri="{FF2B5EF4-FFF2-40B4-BE49-F238E27FC236}">
                <a16:creationId xmlns:a16="http://schemas.microsoft.com/office/drawing/2014/main" id="{140AC590-A1D0-F2A3-1F1F-FA23ADC0F42C}"/>
              </a:ext>
            </a:extLst>
          </p:cNvPr>
          <p:cNvSpPr>
            <a:spLocks noGrp="1"/>
          </p:cNvSpPr>
          <p:nvPr>
            <p:ph type="title"/>
          </p:nvPr>
        </p:nvSpPr>
        <p:spPr>
          <a:xfrm>
            <a:off x="525019" y="368300"/>
            <a:ext cx="11151044" cy="900114"/>
          </a:xfrm>
        </p:spPr>
        <p:txBody>
          <a:bodyPr>
            <a:normAutofit/>
          </a:bodyPr>
          <a:lstStyle>
            <a:lvl1pPr>
              <a:defRPr sz="2800"/>
            </a:lvl1pPr>
          </a:lstStyle>
          <a:p>
            <a:r>
              <a:rPr lang="en-US"/>
              <a:t>Click to edit Master title style</a:t>
            </a:r>
          </a:p>
        </p:txBody>
      </p:sp>
      <p:sp>
        <p:nvSpPr>
          <p:cNvPr id="9" name="Content Placeholder 2">
            <a:extLst>
              <a:ext uri="{FF2B5EF4-FFF2-40B4-BE49-F238E27FC236}">
                <a16:creationId xmlns:a16="http://schemas.microsoft.com/office/drawing/2014/main" id="{6DAFB4C4-7DC0-9548-E4FD-02E7BF7EA4DC}"/>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319619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obj" preserve="1">
  <p:cSld name="24_Title and Content">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E2B82B2-7313-CACC-3F46-AF2D3AD1FAC3}"/>
              </a:ext>
            </a:extLst>
          </p:cNvPr>
          <p:cNvSpPr/>
          <p:nvPr userDrawn="1"/>
        </p:nvSpPr>
        <p:spPr>
          <a:xfrm>
            <a:off x="10261600" y="-1"/>
            <a:ext cx="1930400" cy="1984375"/>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25019" y="368300"/>
            <a:ext cx="9863581"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3">
            <a:extLst>
              <a:ext uri="{FF2B5EF4-FFF2-40B4-BE49-F238E27FC236}">
                <a16:creationId xmlns:a16="http://schemas.microsoft.com/office/drawing/2014/main" id="{6C1160CB-3EDC-5A4B-9028-588350DCACB1}"/>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Rectangle 3">
            <a:extLst>
              <a:ext uri="{FF2B5EF4-FFF2-40B4-BE49-F238E27FC236}">
                <a16:creationId xmlns:a16="http://schemas.microsoft.com/office/drawing/2014/main" id="{F8E380DB-5D7C-D077-1CD7-69080BB74ADA}"/>
              </a:ext>
            </a:extLst>
          </p:cNvPr>
          <p:cNvSpPr/>
          <p:nvPr userDrawn="1"/>
        </p:nvSpPr>
        <p:spPr>
          <a:xfrm>
            <a:off x="10388600" y="0"/>
            <a:ext cx="1803400" cy="1803400"/>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gradFill>
            <a:gsLst>
              <a:gs pos="40000">
                <a:schemeClr val="accent1"/>
              </a:gs>
              <a:gs pos="100000">
                <a:srgbClr val="EF4136"/>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4743984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obj" preserve="1">
  <p:cSld name="15_Title and Content">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E2B82B2-7313-CACC-3F46-AF2D3AD1FAC3}"/>
              </a:ext>
            </a:extLst>
          </p:cNvPr>
          <p:cNvSpPr/>
          <p:nvPr userDrawn="1"/>
        </p:nvSpPr>
        <p:spPr>
          <a:xfrm>
            <a:off x="10261600" y="-1"/>
            <a:ext cx="1930400" cy="1984375"/>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25019" y="368300"/>
            <a:ext cx="9863581"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3">
            <a:extLst>
              <a:ext uri="{FF2B5EF4-FFF2-40B4-BE49-F238E27FC236}">
                <a16:creationId xmlns:a16="http://schemas.microsoft.com/office/drawing/2014/main" id="{6C1160CB-3EDC-5A4B-9028-588350DCACB1}"/>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Rectangle 3">
            <a:extLst>
              <a:ext uri="{FF2B5EF4-FFF2-40B4-BE49-F238E27FC236}">
                <a16:creationId xmlns:a16="http://schemas.microsoft.com/office/drawing/2014/main" id="{F8E380DB-5D7C-D077-1CD7-69080BB74ADA}"/>
              </a:ext>
            </a:extLst>
          </p:cNvPr>
          <p:cNvSpPr/>
          <p:nvPr userDrawn="1"/>
        </p:nvSpPr>
        <p:spPr>
          <a:xfrm>
            <a:off x="10388600" y="0"/>
            <a:ext cx="1803400" cy="1803400"/>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gradFill>
            <a:gsLst>
              <a:gs pos="40000">
                <a:schemeClr val="accent2"/>
              </a:gs>
              <a:gs pos="100000">
                <a:schemeClr val="accent2">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7889315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obj" preserve="1">
  <p:cSld name="25_Title and Content">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E2B82B2-7313-CACC-3F46-AF2D3AD1FAC3}"/>
              </a:ext>
            </a:extLst>
          </p:cNvPr>
          <p:cNvSpPr/>
          <p:nvPr userDrawn="1"/>
        </p:nvSpPr>
        <p:spPr>
          <a:xfrm>
            <a:off x="10261600" y="-1"/>
            <a:ext cx="1930400" cy="1984375"/>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25019" y="368300"/>
            <a:ext cx="9863581"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3">
            <a:extLst>
              <a:ext uri="{FF2B5EF4-FFF2-40B4-BE49-F238E27FC236}">
                <a16:creationId xmlns:a16="http://schemas.microsoft.com/office/drawing/2014/main" id="{6C1160CB-3EDC-5A4B-9028-588350DCACB1}"/>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Rectangle 3">
            <a:extLst>
              <a:ext uri="{FF2B5EF4-FFF2-40B4-BE49-F238E27FC236}">
                <a16:creationId xmlns:a16="http://schemas.microsoft.com/office/drawing/2014/main" id="{F8E380DB-5D7C-D077-1CD7-69080BB74ADA}"/>
              </a:ext>
            </a:extLst>
          </p:cNvPr>
          <p:cNvSpPr/>
          <p:nvPr userDrawn="1"/>
        </p:nvSpPr>
        <p:spPr>
          <a:xfrm>
            <a:off x="10388600" y="0"/>
            <a:ext cx="1803400" cy="1803400"/>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gradFill>
            <a:gsLst>
              <a:gs pos="40000">
                <a:schemeClr val="accent3"/>
              </a:gs>
              <a:gs pos="100000">
                <a:srgbClr val="1B75B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6081487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grpSp>
        <p:nvGrpSpPr>
          <p:cNvPr id="15" name="Group 14">
            <a:extLst>
              <a:ext uri="{FF2B5EF4-FFF2-40B4-BE49-F238E27FC236}">
                <a16:creationId xmlns:a16="http://schemas.microsoft.com/office/drawing/2014/main" id="{83460EAF-4649-FF95-874E-A0109DF57C9B}"/>
              </a:ext>
            </a:extLst>
          </p:cNvPr>
          <p:cNvGrpSpPr/>
          <p:nvPr userDrawn="1"/>
        </p:nvGrpSpPr>
        <p:grpSpPr>
          <a:xfrm>
            <a:off x="-14763" y="4808928"/>
            <a:ext cx="7482363" cy="2067930"/>
            <a:chOff x="-14763" y="3909367"/>
            <a:chExt cx="10737232" cy="2967491"/>
          </a:xfrm>
        </p:grpSpPr>
        <p:sp>
          <p:nvSpPr>
            <p:cNvPr id="16" name="Rectangle 1">
              <a:extLst>
                <a:ext uri="{FF2B5EF4-FFF2-40B4-BE49-F238E27FC236}">
                  <a16:creationId xmlns:a16="http://schemas.microsoft.com/office/drawing/2014/main" id="{F10C9F18-66F6-E79A-6E06-65FA6FBC8669}"/>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
              <a:extLst>
                <a:ext uri="{FF2B5EF4-FFF2-40B4-BE49-F238E27FC236}">
                  <a16:creationId xmlns:a16="http://schemas.microsoft.com/office/drawing/2014/main" id="{03C9B154-C639-CDB7-2E12-E66ED22D2081}"/>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
              <a:extLst>
                <a:ext uri="{FF2B5EF4-FFF2-40B4-BE49-F238E27FC236}">
                  <a16:creationId xmlns:a16="http://schemas.microsoft.com/office/drawing/2014/main" id="{000905DE-A103-D404-B98D-ABB24F02A543}"/>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45000">
                  <a:schemeClr val="accent1"/>
                </a:gs>
                <a:gs pos="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
              <a:extLst>
                <a:ext uri="{FF2B5EF4-FFF2-40B4-BE49-F238E27FC236}">
                  <a16:creationId xmlns:a16="http://schemas.microsoft.com/office/drawing/2014/main" id="{04B3BAE2-1CF0-CD26-7ADD-CD6A1BB9F72B}"/>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
              <a:extLst>
                <a:ext uri="{FF2B5EF4-FFF2-40B4-BE49-F238E27FC236}">
                  <a16:creationId xmlns:a16="http://schemas.microsoft.com/office/drawing/2014/main" id="{686DEDC8-C71C-E1F8-0601-D93F92F46FB7}"/>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1"/>
                </a:gs>
                <a:gs pos="100000">
                  <a:schemeClr val="accent1">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1" name="Content Placeholder 2">
            <a:extLst>
              <a:ext uri="{FF2B5EF4-FFF2-40B4-BE49-F238E27FC236}">
                <a16:creationId xmlns:a16="http://schemas.microsoft.com/office/drawing/2014/main" id="{564882EA-3D9E-4877-5961-B18BC092EF0A}"/>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45773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7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grpSp>
        <p:nvGrpSpPr>
          <p:cNvPr id="15" name="Group 14">
            <a:extLst>
              <a:ext uri="{FF2B5EF4-FFF2-40B4-BE49-F238E27FC236}">
                <a16:creationId xmlns:a16="http://schemas.microsoft.com/office/drawing/2014/main" id="{83460EAF-4649-FF95-874E-A0109DF57C9B}"/>
              </a:ext>
            </a:extLst>
          </p:cNvPr>
          <p:cNvGrpSpPr/>
          <p:nvPr userDrawn="1"/>
        </p:nvGrpSpPr>
        <p:grpSpPr>
          <a:xfrm>
            <a:off x="-14763" y="4808928"/>
            <a:ext cx="7482363" cy="2067930"/>
            <a:chOff x="-14763" y="3909367"/>
            <a:chExt cx="10737232" cy="2967491"/>
          </a:xfrm>
        </p:grpSpPr>
        <p:sp>
          <p:nvSpPr>
            <p:cNvPr id="16" name="Rectangle 1">
              <a:extLst>
                <a:ext uri="{FF2B5EF4-FFF2-40B4-BE49-F238E27FC236}">
                  <a16:creationId xmlns:a16="http://schemas.microsoft.com/office/drawing/2014/main" id="{F10C9F18-66F6-E79A-6E06-65FA6FBC8669}"/>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
              <a:extLst>
                <a:ext uri="{FF2B5EF4-FFF2-40B4-BE49-F238E27FC236}">
                  <a16:creationId xmlns:a16="http://schemas.microsoft.com/office/drawing/2014/main" id="{03C9B154-C639-CDB7-2E12-E66ED22D2081}"/>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4500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
              <a:extLst>
                <a:ext uri="{FF2B5EF4-FFF2-40B4-BE49-F238E27FC236}">
                  <a16:creationId xmlns:a16="http://schemas.microsoft.com/office/drawing/2014/main" id="{000905DE-A103-D404-B98D-ABB24F02A543}"/>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45000">
                  <a:schemeClr val="accent2"/>
                </a:gs>
                <a:gs pos="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
              <a:extLst>
                <a:ext uri="{FF2B5EF4-FFF2-40B4-BE49-F238E27FC236}">
                  <a16:creationId xmlns:a16="http://schemas.microsoft.com/office/drawing/2014/main" id="{04B3BAE2-1CF0-CD26-7ADD-CD6A1BB9F72B}"/>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4500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
              <a:extLst>
                <a:ext uri="{FF2B5EF4-FFF2-40B4-BE49-F238E27FC236}">
                  <a16:creationId xmlns:a16="http://schemas.microsoft.com/office/drawing/2014/main" id="{686DEDC8-C71C-E1F8-0601-D93F92F46FB7}"/>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2"/>
                </a:gs>
                <a:gs pos="100000">
                  <a:schemeClr val="accent2">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1" name="Content Placeholder 2">
            <a:extLst>
              <a:ext uri="{FF2B5EF4-FFF2-40B4-BE49-F238E27FC236}">
                <a16:creationId xmlns:a16="http://schemas.microsoft.com/office/drawing/2014/main" id="{564882EA-3D9E-4877-5961-B18BC092EF0A}"/>
              </a:ext>
            </a:extLst>
          </p:cNvPr>
          <p:cNvSpPr>
            <a:spLocks noGrp="1"/>
          </p:cNvSpPr>
          <p:nvPr>
            <p:ph idx="1"/>
          </p:nvPr>
        </p:nvSpPr>
        <p:spPr>
          <a:xfrm>
            <a:off x="525018" y="1449389"/>
            <a:ext cx="11151033" cy="32242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02980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2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grpSp>
        <p:nvGrpSpPr>
          <p:cNvPr id="15" name="Group 14">
            <a:extLst>
              <a:ext uri="{FF2B5EF4-FFF2-40B4-BE49-F238E27FC236}">
                <a16:creationId xmlns:a16="http://schemas.microsoft.com/office/drawing/2014/main" id="{83460EAF-4649-FF95-874E-A0109DF57C9B}"/>
              </a:ext>
            </a:extLst>
          </p:cNvPr>
          <p:cNvGrpSpPr/>
          <p:nvPr userDrawn="1"/>
        </p:nvGrpSpPr>
        <p:grpSpPr>
          <a:xfrm>
            <a:off x="-14763" y="4808928"/>
            <a:ext cx="7482363" cy="2067930"/>
            <a:chOff x="-14763" y="3909367"/>
            <a:chExt cx="10737232" cy="2967491"/>
          </a:xfrm>
        </p:grpSpPr>
        <p:sp>
          <p:nvSpPr>
            <p:cNvPr id="16" name="Rectangle 1">
              <a:extLst>
                <a:ext uri="{FF2B5EF4-FFF2-40B4-BE49-F238E27FC236}">
                  <a16:creationId xmlns:a16="http://schemas.microsoft.com/office/drawing/2014/main" id="{F10C9F18-66F6-E79A-6E06-65FA6FBC8669}"/>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3"/>
                </a:gs>
                <a:gs pos="100000">
                  <a:schemeClr val="accent3">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
              <a:extLst>
                <a:ext uri="{FF2B5EF4-FFF2-40B4-BE49-F238E27FC236}">
                  <a16:creationId xmlns:a16="http://schemas.microsoft.com/office/drawing/2014/main" id="{03C9B154-C639-CDB7-2E12-E66ED22D2081}"/>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0">
                  <a:schemeClr val="accent3"/>
                </a:gs>
                <a:gs pos="10000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
              <a:extLst>
                <a:ext uri="{FF2B5EF4-FFF2-40B4-BE49-F238E27FC236}">
                  <a16:creationId xmlns:a16="http://schemas.microsoft.com/office/drawing/2014/main" id="{000905DE-A103-D404-B98D-ABB24F02A543}"/>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100000">
                  <a:schemeClr val="accent3"/>
                </a:gs>
                <a:gs pos="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
              <a:extLst>
                <a:ext uri="{FF2B5EF4-FFF2-40B4-BE49-F238E27FC236}">
                  <a16:creationId xmlns:a16="http://schemas.microsoft.com/office/drawing/2014/main" id="{04B3BAE2-1CF0-CD26-7ADD-CD6A1BB9F72B}"/>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0">
                  <a:schemeClr val="accent3"/>
                </a:gs>
                <a:gs pos="100000">
                  <a:schemeClr val="accent3">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
              <a:extLst>
                <a:ext uri="{FF2B5EF4-FFF2-40B4-BE49-F238E27FC236}">
                  <a16:creationId xmlns:a16="http://schemas.microsoft.com/office/drawing/2014/main" id="{686DEDC8-C71C-E1F8-0601-D93F92F46FB7}"/>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3"/>
                </a:gs>
                <a:gs pos="100000">
                  <a:srgbClr val="1B75B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1" name="Content Placeholder 2">
            <a:extLst>
              <a:ext uri="{FF2B5EF4-FFF2-40B4-BE49-F238E27FC236}">
                <a16:creationId xmlns:a16="http://schemas.microsoft.com/office/drawing/2014/main" id="{564882EA-3D9E-4877-5961-B18BC092EF0A}"/>
              </a:ext>
            </a:extLst>
          </p:cNvPr>
          <p:cNvSpPr>
            <a:spLocks noGrp="1"/>
          </p:cNvSpPr>
          <p:nvPr>
            <p:ph idx="1"/>
          </p:nvPr>
        </p:nvSpPr>
        <p:spPr>
          <a:xfrm>
            <a:off x="525018" y="1449389"/>
            <a:ext cx="11151033" cy="32242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84225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19B4F-E032-7842-81B5-F7DAEF0BD261}"/>
              </a:ext>
            </a:extLst>
          </p:cNvPr>
          <p:cNvSpPr>
            <a:spLocks noGrp="1"/>
          </p:cNvSpPr>
          <p:nvPr>
            <p:ph type="title"/>
          </p:nvPr>
        </p:nvSpPr>
        <p:spPr/>
        <p:txBody>
          <a:bodyPr>
            <a:normAutofit/>
          </a:bodyPr>
          <a:lstStyle>
            <a:lvl1pPr>
              <a:defRPr sz="2800"/>
            </a:lvl1pPr>
          </a:lstStyle>
          <a:p>
            <a:r>
              <a:rPr lang="en-US"/>
              <a:t>Click to edit Master title style</a:t>
            </a:r>
          </a:p>
        </p:txBody>
      </p:sp>
      <p:sp>
        <p:nvSpPr>
          <p:cNvPr id="6" name="Slide Number Placeholder 3">
            <a:extLst>
              <a:ext uri="{FF2B5EF4-FFF2-40B4-BE49-F238E27FC236}">
                <a16:creationId xmlns:a16="http://schemas.microsoft.com/office/drawing/2014/main" id="{B7A7A84D-8766-D045-8B74-31B5E18E5185}"/>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177842201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F30FBA-829C-6D43-A610-2ACFFB45657D}"/>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291274734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2.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51D45D-9934-604D-99B4-7F9FD259C3C4}"/>
              </a:ext>
            </a:extLst>
          </p:cNvPr>
          <p:cNvSpPr>
            <a:spLocks noGrp="1"/>
          </p:cNvSpPr>
          <p:nvPr>
            <p:ph type="title"/>
          </p:nvPr>
        </p:nvSpPr>
        <p:spPr>
          <a:xfrm>
            <a:off x="525019" y="368300"/>
            <a:ext cx="11151044" cy="90011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73DDE4-94D2-5D4A-8196-76F06726BE19}"/>
              </a:ext>
            </a:extLst>
          </p:cNvPr>
          <p:cNvSpPr>
            <a:spLocks noGrp="1"/>
          </p:cNvSpPr>
          <p:nvPr>
            <p:ph type="body" idx="1"/>
          </p:nvPr>
        </p:nvSpPr>
        <p:spPr>
          <a:xfrm>
            <a:off x="525018" y="1449389"/>
            <a:ext cx="11151033" cy="45005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 name="Group 3">
            <a:extLst>
              <a:ext uri="{FF2B5EF4-FFF2-40B4-BE49-F238E27FC236}">
                <a16:creationId xmlns:a16="http://schemas.microsoft.com/office/drawing/2014/main" id="{8662BF66-4F9E-8D30-103D-C44E14CD1BAC}"/>
              </a:ext>
            </a:extLst>
          </p:cNvPr>
          <p:cNvGrpSpPr/>
          <p:nvPr userDrawn="1"/>
        </p:nvGrpSpPr>
        <p:grpSpPr>
          <a:xfrm>
            <a:off x="337362" y="6000547"/>
            <a:ext cx="1633336" cy="719658"/>
            <a:chOff x="160202" y="5758079"/>
            <a:chExt cx="2310184" cy="1017881"/>
          </a:xfrm>
        </p:grpSpPr>
        <p:pic>
          <p:nvPicPr>
            <p:cNvPr id="5" name="Picture 4">
              <a:extLst>
                <a:ext uri="{FF2B5EF4-FFF2-40B4-BE49-F238E27FC236}">
                  <a16:creationId xmlns:a16="http://schemas.microsoft.com/office/drawing/2014/main" id="{E7C626DE-394C-4914-C5B2-59BAC8AFA5D0}"/>
                </a:ext>
              </a:extLst>
            </p:cNvPr>
            <p:cNvPicPr>
              <a:picLocks noChangeAspect="1"/>
            </p:cNvPicPr>
            <p:nvPr/>
          </p:nvPicPr>
          <p:blipFill>
            <a:blip r:embed="rId41" cstate="screen">
              <a:extLst>
                <a:ext uri="{28A0092B-C50C-407E-A947-70E740481C1C}">
                  <a14:useLocalDpi xmlns:a14="http://schemas.microsoft.com/office/drawing/2010/main"/>
                </a:ext>
              </a:extLst>
            </a:blip>
            <a:stretch>
              <a:fillRect/>
            </a:stretch>
          </p:blipFill>
          <p:spPr>
            <a:xfrm>
              <a:off x="160202" y="5758079"/>
              <a:ext cx="2198685" cy="1017881"/>
            </a:xfrm>
            <a:prstGeom prst="rect">
              <a:avLst/>
            </a:prstGeom>
          </p:spPr>
        </p:pic>
        <p:cxnSp>
          <p:nvCxnSpPr>
            <p:cNvPr id="6" name="Straight Connector 5">
              <a:extLst>
                <a:ext uri="{FF2B5EF4-FFF2-40B4-BE49-F238E27FC236}">
                  <a16:creationId xmlns:a16="http://schemas.microsoft.com/office/drawing/2014/main" id="{D9B1BCF9-28F7-5132-DF0D-EBA2DF39BA52}"/>
                </a:ext>
              </a:extLst>
            </p:cNvPr>
            <p:cNvCxnSpPr>
              <a:cxnSpLocks/>
            </p:cNvCxnSpPr>
            <p:nvPr/>
          </p:nvCxnSpPr>
          <p:spPr>
            <a:xfrm>
              <a:off x="2470386" y="5980428"/>
              <a:ext cx="0" cy="573181"/>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grpSp>
      <p:pic>
        <p:nvPicPr>
          <p:cNvPr id="7" name="Picture 2" descr="Coal Mining Health &amp; Safety Services | Coal Services">
            <a:extLst>
              <a:ext uri="{FF2B5EF4-FFF2-40B4-BE49-F238E27FC236}">
                <a16:creationId xmlns:a16="http://schemas.microsoft.com/office/drawing/2014/main" id="{4E5A161A-9D63-DE93-630B-CC3C952E7163}"/>
              </a:ext>
            </a:extLst>
          </p:cNvPr>
          <p:cNvPicPr>
            <a:picLocks noChangeAspect="1" noChangeArrowheads="1"/>
          </p:cNvPicPr>
          <p:nvPr userDrawn="1"/>
        </p:nvPicPr>
        <p:blipFill>
          <a:blip r:embed="rId42" cstate="screen">
            <a:extLst>
              <a:ext uri="{28A0092B-C50C-407E-A947-70E740481C1C}">
                <a14:useLocalDpi xmlns:a14="http://schemas.microsoft.com/office/drawing/2010/main"/>
              </a:ext>
            </a:extLst>
          </a:blip>
          <a:srcRect/>
          <a:stretch>
            <a:fillRect/>
          </a:stretch>
        </p:blipFill>
        <p:spPr bwMode="auto">
          <a:xfrm>
            <a:off x="2242624" y="6130926"/>
            <a:ext cx="971104" cy="47179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BEF960E2-91A0-CB6A-A7C3-C045C270FF0D}"/>
              </a:ext>
            </a:extLst>
          </p:cNvPr>
          <p:cNvSpPr txBox="1"/>
          <p:nvPr userDrawn="1"/>
        </p:nvSpPr>
        <p:spPr>
          <a:xfrm>
            <a:off x="7927089" y="6308575"/>
            <a:ext cx="3011070" cy="230832"/>
          </a:xfrm>
          <a:prstGeom prst="rect">
            <a:avLst/>
          </a:prstGeom>
          <a:noFill/>
        </p:spPr>
        <p:txBody>
          <a:bodyPr wrap="square"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AU" sz="900">
                <a:latin typeface="Roboto" panose="02000000000000000000" pitchFamily="2" charset="0"/>
                <a:ea typeface="Roboto" panose="02000000000000000000" pitchFamily="2" charset="0"/>
              </a:rPr>
              <a:t>© The Strategy Group 2026. All rights reserved</a:t>
            </a:r>
            <a:r>
              <a:rPr lang="en-AU" sz="800">
                <a:latin typeface="Roboto" panose="02000000000000000000" pitchFamily="2" charset="0"/>
                <a:ea typeface="Roboto" panose="02000000000000000000" pitchFamily="2" charset="0"/>
              </a:rPr>
              <a:t>. </a:t>
            </a:r>
          </a:p>
        </p:txBody>
      </p:sp>
      <p:sp>
        <p:nvSpPr>
          <p:cNvPr id="12" name="Slide Number Placeholder 3">
            <a:extLst>
              <a:ext uri="{FF2B5EF4-FFF2-40B4-BE49-F238E27FC236}">
                <a16:creationId xmlns:a16="http://schemas.microsoft.com/office/drawing/2014/main" id="{7621E0AC-692E-D20F-992A-AF88F018E659}"/>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766684962"/>
      </p:ext>
    </p:extLst>
  </p:cSld>
  <p:clrMap bg1="lt1" tx1="dk1" bg2="lt2" tx2="dk2" accent1="accent1" accent2="accent2" accent3="accent3" accent4="accent4" accent5="accent5" accent6="accent6" hlink="hlink" folHlink="folHlink"/>
  <p:sldLayoutIdLst>
    <p:sldLayoutId id="2147483846" r:id="rId1"/>
    <p:sldLayoutId id="2147483918" r:id="rId2"/>
    <p:sldLayoutId id="2147483919" r:id="rId3"/>
    <p:sldLayoutId id="2147483920" r:id="rId4"/>
    <p:sldLayoutId id="2147483891" r:id="rId5"/>
    <p:sldLayoutId id="2147483926" r:id="rId6"/>
    <p:sldLayoutId id="2147483927" r:id="rId7"/>
    <p:sldLayoutId id="2147483916" r:id="rId8"/>
    <p:sldLayoutId id="2147483917" r:id="rId9"/>
    <p:sldLayoutId id="2147484027" r:id="rId10"/>
    <p:sldLayoutId id="2147484030" r:id="rId11"/>
    <p:sldLayoutId id="2147484046" r:id="rId12"/>
    <p:sldLayoutId id="2147484047" r:id="rId13"/>
    <p:sldLayoutId id="2147484039" r:id="rId14"/>
    <p:sldLayoutId id="2147484043" r:id="rId15"/>
    <p:sldLayoutId id="2147483922" r:id="rId16"/>
    <p:sldLayoutId id="2147483928" r:id="rId17"/>
    <p:sldLayoutId id="2147483929" r:id="rId18"/>
    <p:sldLayoutId id="2147483930" r:id="rId19"/>
    <p:sldLayoutId id="2147483915" r:id="rId20"/>
    <p:sldLayoutId id="2147483912" r:id="rId21"/>
    <p:sldLayoutId id="2147483931" r:id="rId22"/>
    <p:sldLayoutId id="2147483932" r:id="rId23"/>
    <p:sldLayoutId id="2147483933" r:id="rId24"/>
    <p:sldLayoutId id="2147483934" r:id="rId25"/>
    <p:sldLayoutId id="2147483935" r:id="rId26"/>
    <p:sldLayoutId id="2147483936" r:id="rId27"/>
    <p:sldLayoutId id="2147483881" r:id="rId28"/>
    <p:sldLayoutId id="2147483877" r:id="rId29"/>
    <p:sldLayoutId id="2147483910" r:id="rId30"/>
    <p:sldLayoutId id="2147483880" r:id="rId31"/>
    <p:sldLayoutId id="2147483907" r:id="rId32"/>
    <p:sldLayoutId id="2147483874" r:id="rId33"/>
    <p:sldLayoutId id="2147483908" r:id="rId34"/>
    <p:sldLayoutId id="2147483911" r:id="rId35"/>
    <p:sldLayoutId id="2147483913" r:id="rId36"/>
    <p:sldLayoutId id="2147483914" r:id="rId37"/>
    <p:sldLayoutId id="2147483850" r:id="rId38"/>
    <p:sldLayoutId id="2147483851" r:id="rId39"/>
  </p:sldLayoutIdLst>
  <p:hf hdr="0" ftr="0" dt="0"/>
  <p:txStyles>
    <p:titleStyle>
      <a:lvl1pPr algn="l" defTabSz="914400" rtl="0" eaLnBrk="1" latinLnBrk="0" hangingPunct="1">
        <a:lnSpc>
          <a:spcPct val="90000"/>
        </a:lnSpc>
        <a:spcBef>
          <a:spcPct val="0"/>
        </a:spcBef>
        <a:buNone/>
        <a:defRPr sz="2800" kern="1200">
          <a:solidFill>
            <a:schemeClr val="tx1"/>
          </a:solidFill>
          <a:latin typeface="Poppins" pitchFamily="2" charset="77"/>
          <a:ea typeface="+mj-ea"/>
          <a:cs typeface="Poppins"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Poppins Light" panose="00000400000000000000" pitchFamily="2" charset="0"/>
          <a:ea typeface="Lato" panose="020F0502020204030203" pitchFamily="34" charset="0"/>
          <a:cs typeface="Poppins Light" panose="000004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7355" userDrawn="1">
          <p15:clr>
            <a:srgbClr val="F26B43"/>
          </p15:clr>
        </p15:guide>
        <p15:guide id="5" pos="712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7.png"/><Relationship Id="rId4" Type="http://schemas.openxmlformats.org/officeDocument/2006/relationships/image" Target="../media/image16.jpeg"/></Relationships>
</file>

<file path=ppt/slides/_rels/slide3.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18/10/relationships/comments" Target="../comments/modernComment_7FFFDEDA_94C83A54.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3.jpe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1" Type="http://schemas.openxmlformats.org/officeDocument/2006/relationships/slideLayout" Target="../slideLayouts/slideLayout5.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1" Type="http://schemas.openxmlformats.org/officeDocument/2006/relationships/slideLayout" Target="../slideLayouts/slideLayout5.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EC006-2222-832D-ED3B-9D349F9A757E}"/>
            </a:ext>
          </a:extLst>
        </p:cNvPr>
        <p:cNvGrpSpPr/>
        <p:nvPr/>
      </p:nvGrpSpPr>
      <p:grpSpPr>
        <a:xfrm>
          <a:off x="0" y="0"/>
          <a:ext cx="0" cy="0"/>
          <a:chOff x="0" y="0"/>
          <a:chExt cx="0" cy="0"/>
        </a:xfrm>
      </p:grpSpPr>
      <p:pic>
        <p:nvPicPr>
          <p:cNvPr id="3" name="Picture 2" descr="About Coal Services : A Specialised Health and Safety Scheme">
            <a:extLst>
              <a:ext uri="{FF2B5EF4-FFF2-40B4-BE49-F238E27FC236}">
                <a16:creationId xmlns:a16="http://schemas.microsoft.com/office/drawing/2014/main" id="{958C83BB-9788-1B17-1380-FFBE7D8CC71C}"/>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12626"/>
            <a:ext cx="12191437" cy="6883252"/>
          </a:xfrm>
          <a:prstGeom prst="rect">
            <a:avLst/>
          </a:prstGeom>
        </p:spPr>
      </p:pic>
      <p:sp>
        <p:nvSpPr>
          <p:cNvPr id="9" name="Rectangle 8">
            <a:extLst>
              <a:ext uri="{FF2B5EF4-FFF2-40B4-BE49-F238E27FC236}">
                <a16:creationId xmlns:a16="http://schemas.microsoft.com/office/drawing/2014/main" id="{65F5A8F3-97DE-6DF4-DFE7-4AE104686192}"/>
              </a:ext>
            </a:extLst>
          </p:cNvPr>
          <p:cNvSpPr/>
          <p:nvPr/>
        </p:nvSpPr>
        <p:spPr>
          <a:xfrm>
            <a:off x="-1" y="-12627"/>
            <a:ext cx="12191437" cy="6883253"/>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Open Sans Light"/>
              <a:ea typeface="+mn-ea"/>
              <a:cs typeface="+mn-cs"/>
            </a:endParaRPr>
          </a:p>
        </p:txBody>
      </p:sp>
      <p:cxnSp>
        <p:nvCxnSpPr>
          <p:cNvPr id="8" name="Straight Connector 7">
            <a:extLst>
              <a:ext uri="{FF2B5EF4-FFF2-40B4-BE49-F238E27FC236}">
                <a16:creationId xmlns:a16="http://schemas.microsoft.com/office/drawing/2014/main" id="{182F0C0E-03BE-4E8A-9218-90A057E7882F}"/>
              </a:ext>
            </a:extLst>
          </p:cNvPr>
          <p:cNvCxnSpPr>
            <a:cxnSpLocks/>
          </p:cNvCxnSpPr>
          <p:nvPr/>
        </p:nvCxnSpPr>
        <p:spPr>
          <a:xfrm>
            <a:off x="599937" y="4292892"/>
            <a:ext cx="916629" cy="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Subtitle 4">
            <a:extLst>
              <a:ext uri="{FF2B5EF4-FFF2-40B4-BE49-F238E27FC236}">
                <a16:creationId xmlns:a16="http://schemas.microsoft.com/office/drawing/2014/main" id="{E01ADEE1-26A6-0660-D47A-861E588A14B5}"/>
              </a:ext>
            </a:extLst>
          </p:cNvPr>
          <p:cNvSpPr>
            <a:spLocks noGrp="1"/>
          </p:cNvSpPr>
          <p:nvPr>
            <p:ph type="subTitle" idx="1"/>
          </p:nvPr>
        </p:nvSpPr>
        <p:spPr>
          <a:xfrm>
            <a:off x="499110" y="4534406"/>
            <a:ext cx="9144000" cy="1655762"/>
          </a:xfrm>
        </p:spPr>
        <p:txBody>
          <a:bodyPr vert="horz" lIns="91440" tIns="45720" rIns="91440" bIns="45720" rtlCol="0" anchor="t">
            <a:normAutofit/>
          </a:bodyPr>
          <a:lstStyle/>
          <a:p>
            <a:pPr>
              <a:lnSpc>
                <a:spcPct val="100000"/>
              </a:lnSpc>
              <a:spcBef>
                <a:spcPts val="0"/>
              </a:spcBef>
              <a:spcAft>
                <a:spcPts val="800"/>
              </a:spcAft>
            </a:pPr>
            <a:r>
              <a:rPr lang="en-GB" sz="1400" noProof="0" dirty="0">
                <a:solidFill>
                  <a:schemeClr val="bg1"/>
                </a:solidFill>
                <a:latin typeface="Poppins" pitchFamily="2" charset="77"/>
                <a:ea typeface="Open Sans Light" panose="020B0606030504020204" pitchFamily="34" charset="0"/>
                <a:cs typeface="Poppins" pitchFamily="2" charset="77"/>
              </a:rPr>
              <a:t>Board Presentation</a:t>
            </a:r>
          </a:p>
          <a:p>
            <a:pPr>
              <a:lnSpc>
                <a:spcPct val="100000"/>
              </a:lnSpc>
              <a:spcBef>
                <a:spcPts val="0"/>
              </a:spcBef>
              <a:spcAft>
                <a:spcPts val="800"/>
              </a:spcAft>
            </a:pPr>
            <a:r>
              <a:rPr lang="en-GB" sz="1400" noProof="0" dirty="0">
                <a:solidFill>
                  <a:schemeClr val="bg1"/>
                </a:solidFill>
                <a:latin typeface="Poppins" pitchFamily="2" charset="77"/>
                <a:ea typeface="Open Sans Light" panose="020B0606030504020204" pitchFamily="34" charset="0"/>
                <a:cs typeface="Poppins" pitchFamily="2" charset="77"/>
              </a:rPr>
              <a:t>Prepared by The Strategy Group </a:t>
            </a:r>
          </a:p>
          <a:p>
            <a:pPr>
              <a:lnSpc>
                <a:spcPct val="100000"/>
              </a:lnSpc>
              <a:spcBef>
                <a:spcPts val="0"/>
              </a:spcBef>
              <a:spcAft>
                <a:spcPts val="800"/>
              </a:spcAft>
            </a:pPr>
            <a:r>
              <a:rPr lang="en-GB" sz="1400" dirty="0">
                <a:solidFill>
                  <a:schemeClr val="bg1"/>
                </a:solidFill>
                <a:latin typeface="Poppins" pitchFamily="2" charset="77"/>
                <a:cs typeface="Poppins" pitchFamily="2" charset="77"/>
              </a:rPr>
              <a:t>October 2026</a:t>
            </a:r>
            <a:endParaRPr lang="en-GB" sz="1400" noProof="0" dirty="0">
              <a:solidFill>
                <a:schemeClr val="bg1"/>
              </a:solidFill>
              <a:latin typeface="Poppins" pitchFamily="2" charset="77"/>
              <a:ea typeface="Open Sans Light" panose="020B0606030504020204" pitchFamily="34" charset="0"/>
              <a:cs typeface="Poppins" pitchFamily="2" charset="77"/>
            </a:endParaRPr>
          </a:p>
        </p:txBody>
      </p:sp>
      <p:sp>
        <p:nvSpPr>
          <p:cNvPr id="14" name="Title 3">
            <a:extLst>
              <a:ext uri="{FF2B5EF4-FFF2-40B4-BE49-F238E27FC236}">
                <a16:creationId xmlns:a16="http://schemas.microsoft.com/office/drawing/2014/main" id="{39599FE2-127A-BB0A-FB8B-3061EE8581BC}"/>
              </a:ext>
            </a:extLst>
          </p:cNvPr>
          <p:cNvSpPr>
            <a:spLocks noGrp="1"/>
          </p:cNvSpPr>
          <p:nvPr>
            <p:ph type="ctrTitle"/>
          </p:nvPr>
        </p:nvSpPr>
        <p:spPr>
          <a:xfrm>
            <a:off x="499109" y="1653000"/>
            <a:ext cx="9144000" cy="2499699"/>
          </a:xfrm>
        </p:spPr>
        <p:txBody>
          <a:bodyPr>
            <a:normAutofit/>
          </a:bodyPr>
          <a:lstStyle/>
          <a:p>
            <a:pPr>
              <a:lnSpc>
                <a:spcPct val="100000"/>
              </a:lnSpc>
            </a:pPr>
            <a:r>
              <a:rPr lang="en-AU" b="1" dirty="0"/>
              <a:t>Coal Services:</a:t>
            </a:r>
            <a:br>
              <a:rPr lang="en-AU" b="1" dirty="0"/>
            </a:br>
            <a:r>
              <a:rPr lang="en-AU" b="1" dirty="0"/>
              <a:t>Industry Sentiment Scorecard</a:t>
            </a:r>
            <a:endParaRPr lang="en-GB" b="1" noProof="0" dirty="0">
              <a:latin typeface="Poppins" pitchFamily="2" charset="77"/>
              <a:cs typeface="Poppins" pitchFamily="2" charset="77"/>
            </a:endParaRPr>
          </a:p>
        </p:txBody>
      </p:sp>
      <p:pic>
        <p:nvPicPr>
          <p:cNvPr id="16" name="Picture 15">
            <a:extLst>
              <a:ext uri="{FF2B5EF4-FFF2-40B4-BE49-F238E27FC236}">
                <a16:creationId xmlns:a16="http://schemas.microsoft.com/office/drawing/2014/main" id="{0B8E9BD2-09C0-3CE8-32EF-F822B1148CA8}"/>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99519" y="6000382"/>
            <a:ext cx="1572883" cy="726691"/>
          </a:xfrm>
          <a:prstGeom prst="rect">
            <a:avLst/>
          </a:prstGeom>
        </p:spPr>
      </p:pic>
      <p:pic>
        <p:nvPicPr>
          <p:cNvPr id="4" name="Graphic 3">
            <a:extLst>
              <a:ext uri="{FF2B5EF4-FFF2-40B4-BE49-F238E27FC236}">
                <a16:creationId xmlns:a16="http://schemas.microsoft.com/office/drawing/2014/main" id="{A809D29D-F8AA-B053-D0E4-57C0F079C9E6}"/>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l="8654" t="36592" r="41735" b="22942"/>
          <a:stretch>
            <a:fillRect/>
          </a:stretch>
        </p:blipFill>
        <p:spPr>
          <a:xfrm>
            <a:off x="8130766" y="20202"/>
            <a:ext cx="4060671" cy="3312083"/>
          </a:xfrm>
          <a:prstGeom prst="rect">
            <a:avLst/>
          </a:prstGeom>
        </p:spPr>
      </p:pic>
      <p:pic>
        <p:nvPicPr>
          <p:cNvPr id="19" name="Picture 6">
            <a:extLst>
              <a:ext uri="{FF2B5EF4-FFF2-40B4-BE49-F238E27FC236}">
                <a16:creationId xmlns:a16="http://schemas.microsoft.com/office/drawing/2014/main" id="{15B59517-8ADD-FB27-58CF-D7BFFF0B4F86}"/>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499109" y="272505"/>
            <a:ext cx="2156226" cy="1189642"/>
          </a:xfrm>
          <a:prstGeom prst="rect">
            <a:avLst/>
          </a:prstGeom>
        </p:spPr>
      </p:pic>
    </p:spTree>
    <p:extLst>
      <p:ext uri="{BB962C8B-B14F-4D97-AF65-F5344CB8AC3E}">
        <p14:creationId xmlns:p14="http://schemas.microsoft.com/office/powerpoint/2010/main" val="1304384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6EAC2-05B3-0C79-29FB-EEC7E4D9C49C}"/>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1563FB7A-6947-EF8F-5467-CDD1FD9B78AA}"/>
              </a:ext>
            </a:extLst>
          </p:cNvPr>
          <p:cNvCxnSpPr>
            <a:cxnSpLocks/>
            <a:stCxn id="6" idx="3"/>
          </p:cNvCxnSpPr>
          <p:nvPr/>
        </p:nvCxnSpPr>
        <p:spPr>
          <a:xfrm>
            <a:off x="2980592" y="277669"/>
            <a:ext cx="9211408"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A4B036C5-F8E8-962D-274D-2DC5F94EFE0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4C8F4DC3-BC45-4087-950D-6FF21F668E12}"/>
              </a:ext>
            </a:extLst>
          </p:cNvPr>
          <p:cNvSpPr/>
          <p:nvPr/>
        </p:nvSpPr>
        <p:spPr>
          <a:xfrm>
            <a:off x="548641" y="165782"/>
            <a:ext cx="2431951"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Industry Sentiment Scorecard</a:t>
            </a:r>
          </a:p>
        </p:txBody>
      </p:sp>
      <p:sp>
        <p:nvSpPr>
          <p:cNvPr id="14" name="Title 4">
            <a:extLst>
              <a:ext uri="{FF2B5EF4-FFF2-40B4-BE49-F238E27FC236}">
                <a16:creationId xmlns:a16="http://schemas.microsoft.com/office/drawing/2014/main" id="{8557F99A-B375-935E-A324-45837208A5E6}"/>
              </a:ext>
            </a:extLst>
          </p:cNvPr>
          <p:cNvSpPr txBox="1">
            <a:spLocks/>
          </p:cNvSpPr>
          <p:nvPr/>
        </p:nvSpPr>
        <p:spPr>
          <a:xfrm>
            <a:off x="525018" y="573082"/>
            <a:ext cx="10808267" cy="1324727"/>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US" dirty="0"/>
              <a:t>Who we are</a:t>
            </a:r>
            <a:endParaRPr lang="en-AU" dirty="0">
              <a:solidFill>
                <a:schemeClr val="accent3"/>
              </a:solidFill>
            </a:endParaRPr>
          </a:p>
        </p:txBody>
      </p:sp>
      <p:sp>
        <p:nvSpPr>
          <p:cNvPr id="2" name="TextBox 1">
            <a:extLst>
              <a:ext uri="{FF2B5EF4-FFF2-40B4-BE49-F238E27FC236}">
                <a16:creationId xmlns:a16="http://schemas.microsoft.com/office/drawing/2014/main" id="{AE82D719-83D2-AD43-6242-02C589BACBD2}"/>
              </a:ext>
            </a:extLst>
          </p:cNvPr>
          <p:cNvSpPr txBox="1"/>
          <p:nvPr/>
        </p:nvSpPr>
        <p:spPr>
          <a:xfrm>
            <a:off x="8727146" y="4208533"/>
            <a:ext cx="2743200" cy="800219"/>
          </a:xfrm>
          <a:prstGeom prst="rect">
            <a:avLst/>
          </a:prstGeom>
          <a:noFill/>
        </p:spPr>
        <p:txBody>
          <a:bodyPr wrap="square" rtlCol="0">
            <a:spAutoFit/>
          </a:bodyPr>
          <a:lstStyle/>
          <a:p>
            <a:pPr algn="ctr">
              <a:spcAft>
                <a:spcPts val="1200"/>
              </a:spcAft>
            </a:pPr>
            <a:r>
              <a:rPr lang="en-US" sz="2000" dirty="0">
                <a:latin typeface="Poppins" pitchFamily="2" charset="77"/>
                <a:cs typeface="Poppins" pitchFamily="2" charset="77"/>
              </a:rPr>
              <a:t>Alycia Wolf</a:t>
            </a:r>
            <a:endParaRPr lang="en-US" sz="1600" dirty="0">
              <a:solidFill>
                <a:schemeClr val="accent3"/>
              </a:solidFill>
              <a:latin typeface="Poppins" pitchFamily="2" charset="77"/>
              <a:cs typeface="Poppins" pitchFamily="2" charset="77"/>
            </a:endParaRPr>
          </a:p>
          <a:p>
            <a:pPr algn="ctr"/>
            <a:r>
              <a:rPr lang="en-US" sz="1600" b="1" dirty="0">
                <a:solidFill>
                  <a:schemeClr val="accent3"/>
                </a:solidFill>
                <a:latin typeface="Poppins" pitchFamily="2" charset="77"/>
                <a:cs typeface="Poppins" pitchFamily="2" charset="77"/>
              </a:rPr>
              <a:t>Senior Strategist</a:t>
            </a:r>
          </a:p>
        </p:txBody>
      </p:sp>
      <p:sp>
        <p:nvSpPr>
          <p:cNvPr id="4" name="TextBox 3">
            <a:extLst>
              <a:ext uri="{FF2B5EF4-FFF2-40B4-BE49-F238E27FC236}">
                <a16:creationId xmlns:a16="http://schemas.microsoft.com/office/drawing/2014/main" id="{ED6061D2-494F-E1CA-6736-E1D964FBB847}"/>
              </a:ext>
            </a:extLst>
          </p:cNvPr>
          <p:cNvSpPr txBox="1"/>
          <p:nvPr/>
        </p:nvSpPr>
        <p:spPr>
          <a:xfrm>
            <a:off x="5168149" y="4208533"/>
            <a:ext cx="2743200" cy="800219"/>
          </a:xfrm>
          <a:prstGeom prst="rect">
            <a:avLst/>
          </a:prstGeom>
          <a:noFill/>
        </p:spPr>
        <p:txBody>
          <a:bodyPr wrap="square" rtlCol="0">
            <a:spAutoFit/>
          </a:bodyPr>
          <a:lstStyle/>
          <a:p>
            <a:pPr algn="ctr">
              <a:spcAft>
                <a:spcPts val="1200"/>
              </a:spcAft>
            </a:pPr>
            <a:r>
              <a:rPr lang="en-US" sz="2000" dirty="0">
                <a:latin typeface="Poppins" pitchFamily="2" charset="77"/>
                <a:cs typeface="Poppins" pitchFamily="2" charset="77"/>
              </a:rPr>
              <a:t>Marcus Naoum</a:t>
            </a:r>
            <a:endParaRPr lang="en-US" sz="1600" dirty="0">
              <a:solidFill>
                <a:schemeClr val="accent3"/>
              </a:solidFill>
              <a:latin typeface="Poppins" pitchFamily="2" charset="77"/>
              <a:cs typeface="Poppins" pitchFamily="2" charset="77"/>
            </a:endParaRPr>
          </a:p>
          <a:p>
            <a:pPr algn="ctr"/>
            <a:r>
              <a:rPr lang="en-US" sz="1600" b="1" dirty="0">
                <a:solidFill>
                  <a:schemeClr val="accent3"/>
                </a:solidFill>
                <a:latin typeface="Poppins" pitchFamily="2" charset="77"/>
                <a:cs typeface="Poppins" pitchFamily="2" charset="77"/>
              </a:rPr>
              <a:t>Director</a:t>
            </a:r>
          </a:p>
        </p:txBody>
      </p:sp>
      <p:pic>
        <p:nvPicPr>
          <p:cNvPr id="9" name="Picture 8">
            <a:extLst>
              <a:ext uri="{FF2B5EF4-FFF2-40B4-BE49-F238E27FC236}">
                <a16:creationId xmlns:a16="http://schemas.microsoft.com/office/drawing/2014/main" id="{BAF07F4F-356B-F996-81E0-B222117B53A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501681" y="1870875"/>
            <a:ext cx="2076135" cy="2076135"/>
          </a:xfrm>
          <a:prstGeom prst="ellipse">
            <a:avLst/>
          </a:prstGeom>
        </p:spPr>
      </p:pic>
      <p:pic>
        <p:nvPicPr>
          <p:cNvPr id="22" name="Picture 21">
            <a:extLst>
              <a:ext uri="{FF2B5EF4-FFF2-40B4-BE49-F238E27FC236}">
                <a16:creationId xmlns:a16="http://schemas.microsoft.com/office/drawing/2014/main" id="{BFDCF5C0-FD33-4280-56A1-C5204619EF9A}"/>
              </a:ext>
            </a:extLst>
          </p:cNvPr>
          <p:cNvPicPr>
            <a:picLocks noChangeAspect="1"/>
          </p:cNvPicPr>
          <p:nvPr/>
        </p:nvPicPr>
        <p:blipFill>
          <a:blip r:embed="rId4" cstate="print">
            <a:extLst>
              <a:ext uri="{28A0092B-C50C-407E-A947-70E740481C1C}">
                <a14:useLocalDpi xmlns:a14="http://schemas.microsoft.com/office/drawing/2010/main" val="0"/>
              </a:ext>
            </a:extLst>
          </a:blip>
          <a:srcRect l="1655" t="244" r="2491" b="3904"/>
          <a:stretch>
            <a:fillRect/>
          </a:stretch>
        </p:blipFill>
        <p:spPr>
          <a:xfrm>
            <a:off x="9096538" y="1849248"/>
            <a:ext cx="2076135" cy="2076135"/>
          </a:xfrm>
          <a:prstGeom prst="ellipse">
            <a:avLst/>
          </a:prstGeom>
        </p:spPr>
      </p:pic>
      <p:cxnSp>
        <p:nvCxnSpPr>
          <p:cNvPr id="29" name="Straight Connector 28">
            <a:extLst>
              <a:ext uri="{FF2B5EF4-FFF2-40B4-BE49-F238E27FC236}">
                <a16:creationId xmlns:a16="http://schemas.microsoft.com/office/drawing/2014/main" id="{56F90070-985C-E91D-C5CD-72BB70403B75}"/>
              </a:ext>
            </a:extLst>
          </p:cNvPr>
          <p:cNvCxnSpPr>
            <a:cxnSpLocks/>
          </p:cNvCxnSpPr>
          <p:nvPr/>
        </p:nvCxnSpPr>
        <p:spPr>
          <a:xfrm>
            <a:off x="4810778" y="2436561"/>
            <a:ext cx="0" cy="1219223"/>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37" name="Picture 36">
            <a:extLst>
              <a:ext uri="{FF2B5EF4-FFF2-40B4-BE49-F238E27FC236}">
                <a16:creationId xmlns:a16="http://schemas.microsoft.com/office/drawing/2014/main" id="{36C21A5B-CBBF-28FE-FE98-EF686FFF40C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0166" y="1940497"/>
            <a:ext cx="4770685" cy="2208588"/>
          </a:xfrm>
          <a:prstGeom prst="rect">
            <a:avLst/>
          </a:prstGeom>
        </p:spPr>
      </p:pic>
      <p:grpSp>
        <p:nvGrpSpPr>
          <p:cNvPr id="38" name="Group 37">
            <a:extLst>
              <a:ext uri="{FF2B5EF4-FFF2-40B4-BE49-F238E27FC236}">
                <a16:creationId xmlns:a16="http://schemas.microsoft.com/office/drawing/2014/main" id="{79D4A76C-154F-9DA3-D1B1-237DFEEEE9EC}"/>
              </a:ext>
            </a:extLst>
          </p:cNvPr>
          <p:cNvGrpSpPr/>
          <p:nvPr/>
        </p:nvGrpSpPr>
        <p:grpSpPr>
          <a:xfrm>
            <a:off x="337362" y="6000547"/>
            <a:ext cx="1633336" cy="719658"/>
            <a:chOff x="160202" y="5758079"/>
            <a:chExt cx="2310184" cy="1017881"/>
          </a:xfrm>
        </p:grpSpPr>
        <p:pic>
          <p:nvPicPr>
            <p:cNvPr id="39" name="Picture 38">
              <a:extLst>
                <a:ext uri="{FF2B5EF4-FFF2-40B4-BE49-F238E27FC236}">
                  <a16:creationId xmlns:a16="http://schemas.microsoft.com/office/drawing/2014/main" id="{AC13C573-D0EC-1CDE-3DBB-50A71E4DC5D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60202" y="5758079"/>
              <a:ext cx="2198685" cy="1017881"/>
            </a:xfrm>
            <a:prstGeom prst="rect">
              <a:avLst/>
            </a:prstGeom>
          </p:spPr>
        </p:pic>
        <p:cxnSp>
          <p:nvCxnSpPr>
            <p:cNvPr id="40" name="Straight Connector 39">
              <a:extLst>
                <a:ext uri="{FF2B5EF4-FFF2-40B4-BE49-F238E27FC236}">
                  <a16:creationId xmlns:a16="http://schemas.microsoft.com/office/drawing/2014/main" id="{7FF3B56E-7EB7-EBF5-CA6E-09FCD5A92769}"/>
                </a:ext>
              </a:extLst>
            </p:cNvPr>
            <p:cNvCxnSpPr>
              <a:cxnSpLocks/>
            </p:cNvCxnSpPr>
            <p:nvPr/>
          </p:nvCxnSpPr>
          <p:spPr>
            <a:xfrm>
              <a:off x="2470386" y="5980428"/>
              <a:ext cx="0" cy="573181"/>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grpSp>
      <p:pic>
        <p:nvPicPr>
          <p:cNvPr id="41" name="Picture 2" descr="Coal Mining Health &amp; Safety Services | Coal Services">
            <a:extLst>
              <a:ext uri="{FF2B5EF4-FFF2-40B4-BE49-F238E27FC236}">
                <a16:creationId xmlns:a16="http://schemas.microsoft.com/office/drawing/2014/main" id="{633CF571-4B67-40F6-8E6E-5E55387A0ED1}"/>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2242624" y="6130926"/>
            <a:ext cx="971104" cy="471791"/>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1">
            <a:extLst>
              <a:ext uri="{FF2B5EF4-FFF2-40B4-BE49-F238E27FC236}">
                <a16:creationId xmlns:a16="http://schemas.microsoft.com/office/drawing/2014/main" id="{2D9897BE-715D-AD74-C5F9-E81C2EBBE688}"/>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2386466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2980592" y="277669"/>
            <a:ext cx="9211408"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431951"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Industry Sentiment Scorecard</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0808267" cy="1324727"/>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US" dirty="0"/>
              <a:t>Understanding </a:t>
            </a:r>
            <a:r>
              <a:rPr lang="en-US" dirty="0">
                <a:solidFill>
                  <a:schemeClr val="accent3"/>
                </a:solidFill>
              </a:rPr>
              <a:t>how the NSW Coal Industry sees Coal Services</a:t>
            </a:r>
            <a:r>
              <a:rPr lang="en-US" dirty="0"/>
              <a:t>, to </a:t>
            </a:r>
            <a:r>
              <a:rPr lang="en-US" dirty="0">
                <a:solidFill>
                  <a:schemeClr val="accent3"/>
                </a:solidFill>
              </a:rPr>
              <a:t>act on what matters most</a:t>
            </a:r>
            <a:endParaRPr lang="en-AU" dirty="0"/>
          </a:p>
        </p:txBody>
      </p:sp>
      <p:sp>
        <p:nvSpPr>
          <p:cNvPr id="23" name="TextBox 22">
            <a:extLst>
              <a:ext uri="{FF2B5EF4-FFF2-40B4-BE49-F238E27FC236}">
                <a16:creationId xmlns:a16="http://schemas.microsoft.com/office/drawing/2014/main" id="{A42A924A-8F48-22E7-83F9-AC6B793DDA88}"/>
              </a:ext>
            </a:extLst>
          </p:cNvPr>
          <p:cNvSpPr txBox="1"/>
          <p:nvPr/>
        </p:nvSpPr>
        <p:spPr>
          <a:xfrm>
            <a:off x="1557025" y="1914471"/>
            <a:ext cx="3122551" cy="738664"/>
          </a:xfrm>
          <a:prstGeom prst="rect">
            <a:avLst/>
          </a:prstGeom>
          <a:noFill/>
        </p:spPr>
        <p:txBody>
          <a:bodyPr wrap="square">
            <a:spAutoFit/>
          </a:bodyPr>
          <a:lstStyle/>
          <a:p>
            <a:r>
              <a:rPr lang="en-US" sz="1400" dirty="0">
                <a:solidFill>
                  <a:schemeClr val="accent6">
                    <a:lumMod val="75000"/>
                  </a:schemeClr>
                </a:solidFill>
                <a:latin typeface="Open Sans" pitchFamily="34" charset="0"/>
                <a:ea typeface="Open Sans" pitchFamily="34" charset="-122"/>
                <a:cs typeface="Open Sans" pitchFamily="34" charset="-120"/>
              </a:rPr>
              <a:t>Strengthening partnerships with industry by seeking understanding of their needs and expectations.</a:t>
            </a:r>
            <a:endParaRPr lang="en-GB" dirty="0"/>
          </a:p>
        </p:txBody>
      </p:sp>
      <p:sp>
        <p:nvSpPr>
          <p:cNvPr id="25" name="TextBox 24">
            <a:extLst>
              <a:ext uri="{FF2B5EF4-FFF2-40B4-BE49-F238E27FC236}">
                <a16:creationId xmlns:a16="http://schemas.microsoft.com/office/drawing/2014/main" id="{8D400967-7370-100E-AEA4-646A2F79AE51}"/>
              </a:ext>
            </a:extLst>
          </p:cNvPr>
          <p:cNvSpPr txBox="1"/>
          <p:nvPr/>
        </p:nvSpPr>
        <p:spPr>
          <a:xfrm>
            <a:off x="1619779" y="3071428"/>
            <a:ext cx="3257022" cy="738664"/>
          </a:xfrm>
          <a:prstGeom prst="rect">
            <a:avLst/>
          </a:prstGeom>
          <a:noFill/>
        </p:spPr>
        <p:txBody>
          <a:bodyPr wrap="square">
            <a:spAutoFit/>
          </a:bodyPr>
          <a:lstStyle/>
          <a:p>
            <a:r>
              <a:rPr lang="en-US" sz="1400" dirty="0">
                <a:solidFill>
                  <a:schemeClr val="accent6">
                    <a:lumMod val="75000"/>
                  </a:schemeClr>
                </a:solidFill>
                <a:latin typeface="Open Sans" pitchFamily="34" charset="0"/>
                <a:ea typeface="Open Sans" pitchFamily="34" charset="-122"/>
                <a:cs typeface="Open Sans" pitchFamily="34" charset="-120"/>
              </a:rPr>
              <a:t>Measuring shareholder priorities and sentiment over time through the Industry Sentiment Scorecard (ISS).</a:t>
            </a:r>
            <a:endParaRPr lang="en-GB" dirty="0"/>
          </a:p>
        </p:txBody>
      </p:sp>
      <p:sp>
        <p:nvSpPr>
          <p:cNvPr id="26" name="TextBox 25">
            <a:extLst>
              <a:ext uri="{FF2B5EF4-FFF2-40B4-BE49-F238E27FC236}">
                <a16:creationId xmlns:a16="http://schemas.microsoft.com/office/drawing/2014/main" id="{F150757C-B3C6-498E-4157-8760156D66F3}"/>
              </a:ext>
            </a:extLst>
          </p:cNvPr>
          <p:cNvSpPr txBox="1"/>
          <p:nvPr/>
        </p:nvSpPr>
        <p:spPr>
          <a:xfrm>
            <a:off x="1619778" y="4186980"/>
            <a:ext cx="3572634" cy="954107"/>
          </a:xfrm>
          <a:prstGeom prst="rect">
            <a:avLst/>
          </a:prstGeom>
          <a:noFill/>
        </p:spPr>
        <p:txBody>
          <a:bodyPr wrap="square">
            <a:spAutoFit/>
          </a:bodyPr>
          <a:lstStyle/>
          <a:p>
            <a:r>
              <a:rPr lang="en-US" sz="1400" dirty="0">
                <a:solidFill>
                  <a:schemeClr val="accent6">
                    <a:lumMod val="75000"/>
                  </a:schemeClr>
                </a:solidFill>
                <a:latin typeface="Open Sans" pitchFamily="34" charset="0"/>
                <a:ea typeface="Open Sans" pitchFamily="34" charset="-122"/>
                <a:cs typeface="Open Sans" pitchFamily="34" charset="-120"/>
              </a:rPr>
              <a:t>Baselining this first cycle through independent interviews with senior leaders from the NSW Minerals Council and the Mining &amp; Energy Union.</a:t>
            </a:r>
            <a:endParaRPr lang="en-GB" dirty="0"/>
          </a:p>
        </p:txBody>
      </p:sp>
      <p:pic>
        <p:nvPicPr>
          <p:cNvPr id="8" name="Graphic 7">
            <a:extLst>
              <a:ext uri="{FF2B5EF4-FFF2-40B4-BE49-F238E27FC236}">
                <a16:creationId xmlns:a16="http://schemas.microsoft.com/office/drawing/2014/main" id="{521E4ADE-0BD5-CAA1-41D0-FE272A7C0324}"/>
              </a:ext>
            </a:extLst>
          </p:cNvPr>
          <p:cNvPicPr>
            <a:picLocks noChangeAspect="1"/>
          </p:cNvPicPr>
          <p:nvPr/>
        </p:nvPicPr>
        <p:blipFill>
          <a:blip>
            <a:extLst>
              <a:ext uri="{96DAC541-7B7A-43D3-8B79-37D633B846F1}">
                <asvg:svgBlip xmlns:asvg="http://schemas.microsoft.com/office/drawing/2016/SVG/main" r:embed="rId3"/>
              </a:ext>
            </a:extLst>
          </a:blip>
          <a:srcRect b="16660"/>
          <a:stretch>
            <a:fillRect/>
          </a:stretch>
        </p:blipFill>
        <p:spPr>
          <a:xfrm>
            <a:off x="429137" y="1710001"/>
            <a:ext cx="1046605" cy="1074345"/>
          </a:xfrm>
          <a:prstGeom prst="rect">
            <a:avLst/>
          </a:prstGeom>
        </p:spPr>
      </p:pic>
      <p:pic>
        <p:nvPicPr>
          <p:cNvPr id="16" name="Graphic 15">
            <a:extLst>
              <a:ext uri="{FF2B5EF4-FFF2-40B4-BE49-F238E27FC236}">
                <a16:creationId xmlns:a16="http://schemas.microsoft.com/office/drawing/2014/main" id="{CD25D815-C45F-16F7-C9FE-E3FD66516623}"/>
              </a:ext>
            </a:extLst>
          </p:cNvPr>
          <p:cNvPicPr>
            <a:picLocks noChangeAspect="1"/>
          </p:cNvPicPr>
          <p:nvPr/>
        </p:nvPicPr>
        <p:blipFill>
          <a:blip>
            <a:extLst>
              <a:ext uri="{96DAC541-7B7A-43D3-8B79-37D633B846F1}">
                <asvg:svgBlip xmlns:asvg="http://schemas.microsoft.com/office/drawing/2016/SVG/main" r:embed="rId4"/>
              </a:ext>
            </a:extLst>
          </a:blip>
          <a:srcRect b="21008"/>
          <a:stretch>
            <a:fillRect/>
          </a:stretch>
        </p:blipFill>
        <p:spPr>
          <a:xfrm>
            <a:off x="365986" y="2768612"/>
            <a:ext cx="1127888" cy="1097382"/>
          </a:xfrm>
          <a:prstGeom prst="rect">
            <a:avLst/>
          </a:prstGeom>
        </p:spPr>
      </p:pic>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pic>
        <p:nvPicPr>
          <p:cNvPr id="7" name="Graphic 6">
            <a:extLst>
              <a:ext uri="{FF2B5EF4-FFF2-40B4-BE49-F238E27FC236}">
                <a16:creationId xmlns:a16="http://schemas.microsoft.com/office/drawing/2014/main" id="{58C449B6-8791-3102-AE45-DD3408B03855}"/>
              </a:ext>
            </a:extLst>
          </p:cNvPr>
          <p:cNvPicPr>
            <a:picLocks noChangeAspect="1"/>
          </p:cNvPicPr>
          <p:nvPr/>
        </p:nvPicPr>
        <p:blipFill>
          <a:blip>
            <a:extLst>
              <a:ext uri="{96DAC541-7B7A-43D3-8B79-37D633B846F1}">
                <asvg:svgBlip xmlns:asvg="http://schemas.microsoft.com/office/drawing/2016/SVG/main" r:embed="rId5"/>
              </a:ext>
            </a:extLst>
          </a:blip>
          <a:srcRect b="11796"/>
          <a:stretch>
            <a:fillRect/>
          </a:stretch>
        </p:blipFill>
        <p:spPr>
          <a:xfrm>
            <a:off x="525018" y="4126861"/>
            <a:ext cx="878221" cy="954107"/>
          </a:xfrm>
          <a:prstGeom prst="rect">
            <a:avLst/>
          </a:prstGeom>
        </p:spPr>
      </p:pic>
      <p:pic>
        <p:nvPicPr>
          <p:cNvPr id="22" name="Picture 21">
            <a:extLst>
              <a:ext uri="{FF2B5EF4-FFF2-40B4-BE49-F238E27FC236}">
                <a16:creationId xmlns:a16="http://schemas.microsoft.com/office/drawing/2014/main" id="{B7DB4A04-9832-3AFC-C00D-0D383D19B80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836454" y="1626564"/>
            <a:ext cx="4356418" cy="2454932"/>
          </a:xfrm>
          <a:prstGeom prst="rect">
            <a:avLst/>
          </a:prstGeom>
          <a:effectLst>
            <a:outerShdw blurRad="163102" dist="38100" dir="2700000" sx="100342" sy="100342" algn="tl" rotWithShape="0">
              <a:prstClr val="black">
                <a:alpha val="16506"/>
              </a:prstClr>
            </a:outerShdw>
          </a:effectLst>
        </p:spPr>
      </p:pic>
      <p:pic>
        <p:nvPicPr>
          <p:cNvPr id="24" name="Picture 23">
            <a:extLst>
              <a:ext uri="{FF2B5EF4-FFF2-40B4-BE49-F238E27FC236}">
                <a16:creationId xmlns:a16="http://schemas.microsoft.com/office/drawing/2014/main" id="{54937440-037F-3104-75D9-E23B2137383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199090" y="3128510"/>
            <a:ext cx="4351783" cy="2438261"/>
          </a:xfrm>
          <a:prstGeom prst="rect">
            <a:avLst/>
          </a:prstGeom>
          <a:effectLst>
            <a:outerShdw blurRad="163102" dist="38100" dir="2700000" sx="100342" sy="100342" algn="tl" rotWithShape="0">
              <a:prstClr val="black">
                <a:alpha val="16506"/>
              </a:prstClr>
            </a:outerShdw>
          </a:effectLst>
        </p:spPr>
      </p:pic>
      <p:sp>
        <p:nvSpPr>
          <p:cNvPr id="27" name="TextBox 26">
            <a:extLst>
              <a:ext uri="{FF2B5EF4-FFF2-40B4-BE49-F238E27FC236}">
                <a16:creationId xmlns:a16="http://schemas.microsoft.com/office/drawing/2014/main" id="{5C6CC29F-E362-A912-84F5-6D5D83AEB608}"/>
              </a:ext>
            </a:extLst>
          </p:cNvPr>
          <p:cNvSpPr txBox="1"/>
          <p:nvPr/>
        </p:nvSpPr>
        <p:spPr>
          <a:xfrm>
            <a:off x="8405861" y="5767265"/>
            <a:ext cx="3261121" cy="261610"/>
          </a:xfrm>
          <a:prstGeom prst="rect">
            <a:avLst/>
          </a:prstGeom>
          <a:noFill/>
        </p:spPr>
        <p:txBody>
          <a:bodyPr wrap="square">
            <a:spAutoFit/>
          </a:bodyPr>
          <a:lstStyle/>
          <a:p>
            <a:pPr algn="r"/>
            <a:r>
              <a:rPr lang="en-US" sz="1050" i="1" dirty="0">
                <a:solidFill>
                  <a:schemeClr val="accent6">
                    <a:lumMod val="75000"/>
                  </a:schemeClr>
                </a:solidFill>
                <a:latin typeface="Open Sans" pitchFamily="34" charset="0"/>
                <a:ea typeface="Open Sans" pitchFamily="34" charset="-122"/>
                <a:cs typeface="Open Sans" pitchFamily="34" charset="-120"/>
              </a:rPr>
              <a:t>[The ISS – Cycle 1 report]</a:t>
            </a:r>
            <a:endParaRPr lang="en-GB" sz="1200" i="1" dirty="0"/>
          </a:p>
        </p:txBody>
      </p:sp>
    </p:spTree>
    <p:extLst>
      <p:ext uri="{BB962C8B-B14F-4D97-AF65-F5344CB8AC3E}">
        <p14:creationId xmlns:p14="http://schemas.microsoft.com/office/powerpoint/2010/main" val="1922296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9EFA0-2E00-A977-4D3E-2BF7C43AD606}"/>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E39B5D1A-FBBF-A908-59CF-ED44159BC2D7}"/>
              </a:ext>
            </a:extLst>
          </p:cNvPr>
          <p:cNvCxnSpPr>
            <a:cxnSpLocks/>
            <a:stCxn id="6" idx="3"/>
          </p:cNvCxnSpPr>
          <p:nvPr/>
        </p:nvCxnSpPr>
        <p:spPr>
          <a:xfrm>
            <a:off x="2980592" y="277669"/>
            <a:ext cx="9211408"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85C6645-E5D8-A070-AFF4-8A23AEEA5E63}"/>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7A7F8472-4D96-9A8C-637A-E7E4616F742B}"/>
              </a:ext>
            </a:extLst>
          </p:cNvPr>
          <p:cNvSpPr/>
          <p:nvPr/>
        </p:nvSpPr>
        <p:spPr>
          <a:xfrm>
            <a:off x="548641" y="165782"/>
            <a:ext cx="2431951"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Industry Sentiment Scorecard</a:t>
            </a:r>
          </a:p>
        </p:txBody>
      </p:sp>
      <p:sp>
        <p:nvSpPr>
          <p:cNvPr id="14" name="Title 4">
            <a:extLst>
              <a:ext uri="{FF2B5EF4-FFF2-40B4-BE49-F238E27FC236}">
                <a16:creationId xmlns:a16="http://schemas.microsoft.com/office/drawing/2014/main" id="{D8B47F73-EA93-856F-FFB4-FE6B27E22ED2}"/>
              </a:ext>
            </a:extLst>
          </p:cNvPr>
          <p:cNvSpPr txBox="1">
            <a:spLocks/>
          </p:cNvSpPr>
          <p:nvPr/>
        </p:nvSpPr>
        <p:spPr>
          <a:xfrm>
            <a:off x="525018" y="573082"/>
            <a:ext cx="10808267" cy="930399"/>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US" dirty="0"/>
              <a:t>Coal Services starts its baseline year at </a:t>
            </a:r>
            <a:r>
              <a:rPr lang="en-US" dirty="0">
                <a:solidFill>
                  <a:schemeClr val="accent3"/>
                </a:solidFill>
              </a:rPr>
              <a:t>65</a:t>
            </a:r>
            <a:r>
              <a:rPr lang="en-US" dirty="0"/>
              <a:t> in the </a:t>
            </a:r>
            <a:r>
              <a:rPr lang="en-US" dirty="0">
                <a:solidFill>
                  <a:schemeClr val="accent3"/>
                </a:solidFill>
              </a:rPr>
              <a:t>Guarded band</a:t>
            </a:r>
          </a:p>
        </p:txBody>
      </p:sp>
      <p:sp>
        <p:nvSpPr>
          <p:cNvPr id="9" name="TextBox 8">
            <a:extLst>
              <a:ext uri="{FF2B5EF4-FFF2-40B4-BE49-F238E27FC236}">
                <a16:creationId xmlns:a16="http://schemas.microsoft.com/office/drawing/2014/main" id="{4AA30DF5-D197-3209-0E01-AE7661D20DEF}"/>
              </a:ext>
            </a:extLst>
          </p:cNvPr>
          <p:cNvSpPr txBox="1"/>
          <p:nvPr/>
        </p:nvSpPr>
        <p:spPr>
          <a:xfrm>
            <a:off x="8728978" y="6497009"/>
            <a:ext cx="3011070" cy="230832"/>
          </a:xfrm>
          <a:prstGeom prst="rect">
            <a:avLst/>
          </a:prstGeom>
          <a:noFill/>
        </p:spPr>
        <p:txBody>
          <a:bodyPr wrap="square"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AU" sz="900" dirty="0">
                <a:solidFill>
                  <a:schemeClr val="bg1"/>
                </a:solidFill>
                <a:latin typeface="Roboto" panose="02000000000000000000" pitchFamily="2" charset="0"/>
                <a:ea typeface="Roboto" panose="02000000000000000000" pitchFamily="2" charset="0"/>
              </a:rPr>
              <a:t>© The Strategy Group 2026. All rights reserved</a:t>
            </a:r>
            <a:r>
              <a:rPr lang="en-AU" sz="800" dirty="0">
                <a:solidFill>
                  <a:schemeClr val="bg1"/>
                </a:solidFill>
                <a:latin typeface="Roboto" panose="02000000000000000000" pitchFamily="2" charset="0"/>
                <a:ea typeface="Roboto" panose="02000000000000000000" pitchFamily="2" charset="0"/>
              </a:rPr>
              <a:t>. </a:t>
            </a:r>
          </a:p>
        </p:txBody>
      </p:sp>
      <p:sp>
        <p:nvSpPr>
          <p:cNvPr id="18" name="Rectangle 17">
            <a:extLst>
              <a:ext uri="{FF2B5EF4-FFF2-40B4-BE49-F238E27FC236}">
                <a16:creationId xmlns:a16="http://schemas.microsoft.com/office/drawing/2014/main" id="{C643B05A-F9D9-FD1A-7E00-51D29FF00697}"/>
              </a:ext>
            </a:extLst>
          </p:cNvPr>
          <p:cNvSpPr/>
          <p:nvPr/>
        </p:nvSpPr>
        <p:spPr>
          <a:xfrm>
            <a:off x="598084" y="1254634"/>
            <a:ext cx="11039377" cy="5118032"/>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000" b="0" i="0" u="none" strike="noStrike" kern="1200" cap="none" spc="0" normalizeH="0" baseline="0" noProof="0">
              <a:ln>
                <a:noFill/>
              </a:ln>
              <a:solidFill>
                <a:srgbClr val="FFFFFF"/>
              </a:solidFill>
              <a:effectLst/>
              <a:uLnTx/>
              <a:uFillTx/>
              <a:latin typeface="Open Sans"/>
              <a:ea typeface="+mn-ea"/>
              <a:cs typeface="+mn-cs"/>
            </a:endParaRPr>
          </a:p>
        </p:txBody>
      </p:sp>
      <p:sp>
        <p:nvSpPr>
          <p:cNvPr id="19" name="Rectangle 18">
            <a:extLst>
              <a:ext uri="{FF2B5EF4-FFF2-40B4-BE49-F238E27FC236}">
                <a16:creationId xmlns:a16="http://schemas.microsoft.com/office/drawing/2014/main" id="{59E3B5F2-7BB2-2482-BBD2-6452D0D0B78D}"/>
              </a:ext>
            </a:extLst>
          </p:cNvPr>
          <p:cNvSpPr/>
          <p:nvPr/>
        </p:nvSpPr>
        <p:spPr>
          <a:xfrm>
            <a:off x="598083" y="5045334"/>
            <a:ext cx="2142163" cy="23812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Open Sans"/>
              <a:ea typeface="+mn-ea"/>
              <a:cs typeface="+mn-cs"/>
            </a:endParaRPr>
          </a:p>
        </p:txBody>
      </p:sp>
      <p:sp>
        <p:nvSpPr>
          <p:cNvPr id="20" name="Rectangle 19">
            <a:extLst>
              <a:ext uri="{FF2B5EF4-FFF2-40B4-BE49-F238E27FC236}">
                <a16:creationId xmlns:a16="http://schemas.microsoft.com/office/drawing/2014/main" id="{1C53459F-70CE-D342-E691-97C342F3F8A8}"/>
              </a:ext>
            </a:extLst>
          </p:cNvPr>
          <p:cNvSpPr/>
          <p:nvPr/>
        </p:nvSpPr>
        <p:spPr>
          <a:xfrm>
            <a:off x="2822387" y="5045334"/>
            <a:ext cx="2142163" cy="238125"/>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Open Sans"/>
              <a:ea typeface="+mn-ea"/>
              <a:cs typeface="+mn-cs"/>
            </a:endParaRPr>
          </a:p>
        </p:txBody>
      </p:sp>
      <p:sp>
        <p:nvSpPr>
          <p:cNvPr id="23" name="Rectangle 22">
            <a:extLst>
              <a:ext uri="{FF2B5EF4-FFF2-40B4-BE49-F238E27FC236}">
                <a16:creationId xmlns:a16="http://schemas.microsoft.com/office/drawing/2014/main" id="{DE571135-7DB4-0F2B-810B-6F9764204C03}"/>
              </a:ext>
            </a:extLst>
          </p:cNvPr>
          <p:cNvSpPr/>
          <p:nvPr/>
        </p:nvSpPr>
        <p:spPr>
          <a:xfrm>
            <a:off x="5044719" y="5045334"/>
            <a:ext cx="2142163" cy="23812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Open Sans"/>
              <a:ea typeface="+mn-ea"/>
              <a:cs typeface="+mn-cs"/>
            </a:endParaRPr>
          </a:p>
        </p:txBody>
      </p:sp>
      <p:sp>
        <p:nvSpPr>
          <p:cNvPr id="24" name="Rectangle 23">
            <a:extLst>
              <a:ext uri="{FF2B5EF4-FFF2-40B4-BE49-F238E27FC236}">
                <a16:creationId xmlns:a16="http://schemas.microsoft.com/office/drawing/2014/main" id="{6F4643D6-39D8-904E-6219-F6FBF479DCF8}"/>
              </a:ext>
            </a:extLst>
          </p:cNvPr>
          <p:cNvSpPr/>
          <p:nvPr/>
        </p:nvSpPr>
        <p:spPr>
          <a:xfrm>
            <a:off x="7270995" y="5045334"/>
            <a:ext cx="2142163" cy="23812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Open Sans"/>
              <a:ea typeface="+mn-ea"/>
              <a:cs typeface="+mn-cs"/>
            </a:endParaRPr>
          </a:p>
        </p:txBody>
      </p:sp>
      <p:sp>
        <p:nvSpPr>
          <p:cNvPr id="25" name="Rectangle 24">
            <a:extLst>
              <a:ext uri="{FF2B5EF4-FFF2-40B4-BE49-F238E27FC236}">
                <a16:creationId xmlns:a16="http://schemas.microsoft.com/office/drawing/2014/main" id="{57C72162-B4E8-4B19-778E-797E53E33070}"/>
              </a:ext>
            </a:extLst>
          </p:cNvPr>
          <p:cNvSpPr/>
          <p:nvPr/>
        </p:nvSpPr>
        <p:spPr>
          <a:xfrm>
            <a:off x="9495298" y="5045334"/>
            <a:ext cx="2142163" cy="23812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Open Sans"/>
              <a:ea typeface="+mn-ea"/>
              <a:cs typeface="+mn-cs"/>
            </a:endParaRPr>
          </a:p>
        </p:txBody>
      </p:sp>
      <p:sp>
        <p:nvSpPr>
          <p:cNvPr id="26" name="TextBox 25">
            <a:extLst>
              <a:ext uri="{FF2B5EF4-FFF2-40B4-BE49-F238E27FC236}">
                <a16:creationId xmlns:a16="http://schemas.microsoft.com/office/drawing/2014/main" id="{57AC17AE-5C40-D1ED-6465-C7D8C33C3C63}"/>
              </a:ext>
            </a:extLst>
          </p:cNvPr>
          <p:cNvSpPr txBox="1"/>
          <p:nvPr/>
        </p:nvSpPr>
        <p:spPr>
          <a:xfrm>
            <a:off x="598083" y="5534059"/>
            <a:ext cx="2142163"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chemeClr val="accent6">
                    <a:lumMod val="75000"/>
                  </a:schemeClr>
                </a:solidFill>
                <a:effectLst/>
                <a:uLnTx/>
                <a:uFillTx/>
                <a:latin typeface="Poppins"/>
                <a:ea typeface="+mn-ea"/>
                <a:cs typeface="+mn-cs"/>
              </a:rPr>
              <a:t>0-44</a:t>
            </a:r>
          </a:p>
        </p:txBody>
      </p:sp>
      <p:sp>
        <p:nvSpPr>
          <p:cNvPr id="43" name="TextBox 42">
            <a:extLst>
              <a:ext uri="{FF2B5EF4-FFF2-40B4-BE49-F238E27FC236}">
                <a16:creationId xmlns:a16="http://schemas.microsoft.com/office/drawing/2014/main" id="{E0D6DC87-F89D-1517-D5EF-9F5FB1E57C96}"/>
              </a:ext>
            </a:extLst>
          </p:cNvPr>
          <p:cNvSpPr txBox="1"/>
          <p:nvPr/>
        </p:nvSpPr>
        <p:spPr>
          <a:xfrm>
            <a:off x="2822387" y="5534060"/>
            <a:ext cx="2142162"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chemeClr val="accent6">
                    <a:lumMod val="75000"/>
                  </a:schemeClr>
                </a:solidFill>
                <a:effectLst/>
                <a:uLnTx/>
                <a:uFillTx/>
                <a:latin typeface="Poppins"/>
                <a:ea typeface="+mn-ea"/>
                <a:cs typeface="+mn-cs"/>
              </a:rPr>
              <a:t>45-69</a:t>
            </a:r>
          </a:p>
        </p:txBody>
      </p:sp>
      <p:sp>
        <p:nvSpPr>
          <p:cNvPr id="44" name="TextBox 43">
            <a:extLst>
              <a:ext uri="{FF2B5EF4-FFF2-40B4-BE49-F238E27FC236}">
                <a16:creationId xmlns:a16="http://schemas.microsoft.com/office/drawing/2014/main" id="{7A8306DC-DCA0-0D5B-BF2A-BD28C16BAF56}"/>
              </a:ext>
            </a:extLst>
          </p:cNvPr>
          <p:cNvSpPr txBox="1"/>
          <p:nvPr/>
        </p:nvSpPr>
        <p:spPr>
          <a:xfrm>
            <a:off x="5046690" y="5534059"/>
            <a:ext cx="2142163"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chemeClr val="accent6">
                    <a:lumMod val="75000"/>
                  </a:schemeClr>
                </a:solidFill>
                <a:effectLst/>
                <a:uLnTx/>
                <a:uFillTx/>
                <a:latin typeface="Poppins"/>
                <a:ea typeface="+mn-ea"/>
                <a:cs typeface="+mn-cs"/>
              </a:rPr>
              <a:t>70-79</a:t>
            </a:r>
          </a:p>
        </p:txBody>
      </p:sp>
      <p:sp>
        <p:nvSpPr>
          <p:cNvPr id="45" name="TextBox 44">
            <a:extLst>
              <a:ext uri="{FF2B5EF4-FFF2-40B4-BE49-F238E27FC236}">
                <a16:creationId xmlns:a16="http://schemas.microsoft.com/office/drawing/2014/main" id="{76B5276C-F88E-0702-A25C-3CF92DF43126}"/>
              </a:ext>
            </a:extLst>
          </p:cNvPr>
          <p:cNvSpPr txBox="1"/>
          <p:nvPr/>
        </p:nvSpPr>
        <p:spPr>
          <a:xfrm>
            <a:off x="7270994" y="5534059"/>
            <a:ext cx="2142162"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chemeClr val="accent6">
                    <a:lumMod val="75000"/>
                  </a:schemeClr>
                </a:solidFill>
                <a:effectLst/>
                <a:uLnTx/>
                <a:uFillTx/>
                <a:latin typeface="Poppins"/>
                <a:ea typeface="+mn-ea"/>
                <a:cs typeface="+mn-cs"/>
              </a:rPr>
              <a:t>80-89</a:t>
            </a:r>
          </a:p>
        </p:txBody>
      </p:sp>
      <p:sp>
        <p:nvSpPr>
          <p:cNvPr id="46" name="TextBox 45">
            <a:extLst>
              <a:ext uri="{FF2B5EF4-FFF2-40B4-BE49-F238E27FC236}">
                <a16:creationId xmlns:a16="http://schemas.microsoft.com/office/drawing/2014/main" id="{346BCF38-D50F-75AE-AD54-DAC39992336F}"/>
              </a:ext>
            </a:extLst>
          </p:cNvPr>
          <p:cNvSpPr txBox="1"/>
          <p:nvPr/>
        </p:nvSpPr>
        <p:spPr>
          <a:xfrm>
            <a:off x="9495298" y="5534058"/>
            <a:ext cx="2142163"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chemeClr val="accent6">
                    <a:lumMod val="75000"/>
                  </a:schemeClr>
                </a:solidFill>
                <a:effectLst/>
                <a:uLnTx/>
                <a:uFillTx/>
                <a:latin typeface="Poppins"/>
                <a:ea typeface="+mn-ea"/>
                <a:cs typeface="+mn-cs"/>
              </a:rPr>
              <a:t>90-100</a:t>
            </a:r>
          </a:p>
        </p:txBody>
      </p:sp>
      <p:sp>
        <p:nvSpPr>
          <p:cNvPr id="47" name="TextBox 46">
            <a:extLst>
              <a:ext uri="{FF2B5EF4-FFF2-40B4-BE49-F238E27FC236}">
                <a16:creationId xmlns:a16="http://schemas.microsoft.com/office/drawing/2014/main" id="{9D6B6091-FB5E-CE2F-3FFA-0D8ECEAC269C}"/>
              </a:ext>
            </a:extLst>
          </p:cNvPr>
          <p:cNvSpPr txBox="1"/>
          <p:nvPr/>
        </p:nvSpPr>
        <p:spPr>
          <a:xfrm>
            <a:off x="598083" y="5324153"/>
            <a:ext cx="2142163"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445469">
                    <a:lumMod val="60000"/>
                    <a:lumOff val="40000"/>
                  </a:srgbClr>
                </a:solidFill>
                <a:effectLst/>
                <a:uLnTx/>
                <a:uFillTx/>
                <a:latin typeface="Poppins"/>
                <a:ea typeface="+mn-ea"/>
                <a:cs typeface="+mn-cs"/>
              </a:rPr>
              <a:t>Eroded</a:t>
            </a:r>
          </a:p>
        </p:txBody>
      </p:sp>
      <p:sp>
        <p:nvSpPr>
          <p:cNvPr id="48" name="TextBox 47">
            <a:extLst>
              <a:ext uri="{FF2B5EF4-FFF2-40B4-BE49-F238E27FC236}">
                <a16:creationId xmlns:a16="http://schemas.microsoft.com/office/drawing/2014/main" id="{B865DA55-B0BD-94EC-60F3-31FAB367ACA0}"/>
              </a:ext>
            </a:extLst>
          </p:cNvPr>
          <p:cNvSpPr txBox="1"/>
          <p:nvPr/>
        </p:nvSpPr>
        <p:spPr>
          <a:xfrm>
            <a:off x="2822387" y="5324154"/>
            <a:ext cx="2142162"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0E98D7">
                    <a:lumMod val="75000"/>
                  </a:srgbClr>
                </a:solidFill>
                <a:effectLst/>
                <a:uLnTx/>
                <a:uFillTx/>
                <a:latin typeface="Poppins"/>
                <a:ea typeface="+mn-ea"/>
                <a:cs typeface="+mn-cs"/>
              </a:rPr>
              <a:t>Guarded</a:t>
            </a:r>
          </a:p>
        </p:txBody>
      </p:sp>
      <p:sp>
        <p:nvSpPr>
          <p:cNvPr id="49" name="TextBox 48">
            <a:extLst>
              <a:ext uri="{FF2B5EF4-FFF2-40B4-BE49-F238E27FC236}">
                <a16:creationId xmlns:a16="http://schemas.microsoft.com/office/drawing/2014/main" id="{0764E6C2-16F1-85D5-DC78-52051C82A52C}"/>
              </a:ext>
            </a:extLst>
          </p:cNvPr>
          <p:cNvSpPr txBox="1"/>
          <p:nvPr/>
        </p:nvSpPr>
        <p:spPr>
          <a:xfrm>
            <a:off x="5046690" y="5324153"/>
            <a:ext cx="2142163"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445469">
                    <a:lumMod val="60000"/>
                    <a:lumOff val="40000"/>
                  </a:srgbClr>
                </a:solidFill>
                <a:effectLst/>
                <a:uLnTx/>
                <a:uFillTx/>
                <a:latin typeface="Poppins"/>
                <a:ea typeface="+mn-ea"/>
                <a:cs typeface="+mn-cs"/>
              </a:rPr>
              <a:t>Conditional</a:t>
            </a:r>
          </a:p>
        </p:txBody>
      </p:sp>
      <p:sp>
        <p:nvSpPr>
          <p:cNvPr id="50" name="TextBox 49">
            <a:extLst>
              <a:ext uri="{FF2B5EF4-FFF2-40B4-BE49-F238E27FC236}">
                <a16:creationId xmlns:a16="http://schemas.microsoft.com/office/drawing/2014/main" id="{879632D4-15CA-20B7-DDD9-E2BB27515E6E}"/>
              </a:ext>
            </a:extLst>
          </p:cNvPr>
          <p:cNvSpPr txBox="1"/>
          <p:nvPr/>
        </p:nvSpPr>
        <p:spPr>
          <a:xfrm>
            <a:off x="7270994" y="5324153"/>
            <a:ext cx="2142162"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445469">
                    <a:lumMod val="60000"/>
                    <a:lumOff val="40000"/>
                  </a:srgbClr>
                </a:solidFill>
                <a:effectLst/>
                <a:uLnTx/>
                <a:uFillTx/>
                <a:latin typeface="Poppins"/>
                <a:ea typeface="+mn-ea"/>
                <a:cs typeface="+mn-cs"/>
              </a:rPr>
              <a:t>Trusted</a:t>
            </a:r>
          </a:p>
        </p:txBody>
      </p:sp>
      <p:sp>
        <p:nvSpPr>
          <p:cNvPr id="51" name="TextBox 50">
            <a:extLst>
              <a:ext uri="{FF2B5EF4-FFF2-40B4-BE49-F238E27FC236}">
                <a16:creationId xmlns:a16="http://schemas.microsoft.com/office/drawing/2014/main" id="{F0115C5B-C14A-55DE-F95C-471BA8089E1E}"/>
              </a:ext>
            </a:extLst>
          </p:cNvPr>
          <p:cNvSpPr txBox="1"/>
          <p:nvPr/>
        </p:nvSpPr>
        <p:spPr>
          <a:xfrm>
            <a:off x="9495298" y="5324152"/>
            <a:ext cx="2142163"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445469">
                    <a:lumMod val="60000"/>
                    <a:lumOff val="40000"/>
                  </a:srgbClr>
                </a:solidFill>
                <a:effectLst/>
                <a:uLnTx/>
                <a:uFillTx/>
                <a:latin typeface="Poppins"/>
                <a:ea typeface="+mn-ea"/>
                <a:cs typeface="+mn-cs"/>
              </a:rPr>
              <a:t>Advocated</a:t>
            </a:r>
          </a:p>
        </p:txBody>
      </p:sp>
      <p:sp>
        <p:nvSpPr>
          <p:cNvPr id="52" name="TextBox 51">
            <a:extLst>
              <a:ext uri="{FF2B5EF4-FFF2-40B4-BE49-F238E27FC236}">
                <a16:creationId xmlns:a16="http://schemas.microsoft.com/office/drawing/2014/main" id="{6889F050-88AC-0DD5-3E9A-7DEE40567E2C}"/>
              </a:ext>
            </a:extLst>
          </p:cNvPr>
          <p:cNvSpPr txBox="1"/>
          <p:nvPr/>
        </p:nvSpPr>
        <p:spPr>
          <a:xfrm>
            <a:off x="4123136" y="1812666"/>
            <a:ext cx="3463160" cy="1862048"/>
          </a:xfrm>
          <a:prstGeom prst="rect">
            <a:avLst/>
          </a:prstGeom>
          <a:noFill/>
        </p:spPr>
        <p:txBody>
          <a:bodyPr wrap="square">
            <a:spAutoFit/>
          </a:bodyPr>
          <a:lstStyle/>
          <a:p>
            <a:pPr marR="0" lvl="0" indent="0" fontAlgn="auto">
              <a:lnSpc>
                <a:spcPct val="100000"/>
              </a:lnSpc>
              <a:spcBef>
                <a:spcPts val="0"/>
              </a:spcBef>
              <a:spcAft>
                <a:spcPts val="0"/>
              </a:spcAft>
              <a:buClrTx/>
              <a:buSzTx/>
              <a:buFontTx/>
              <a:buNone/>
              <a:tabLst/>
              <a:defRPr/>
            </a:pPr>
            <a:r>
              <a:rPr lang="en-US" sz="11500" b="1" dirty="0">
                <a:gradFill>
                  <a:gsLst>
                    <a:gs pos="0">
                      <a:schemeClr val="accent3"/>
                    </a:gs>
                    <a:gs pos="100000">
                      <a:schemeClr val="accent3">
                        <a:lumMod val="50000"/>
                      </a:schemeClr>
                    </a:gs>
                  </a:gsLst>
                  <a:lin ang="1800000" scaled="0"/>
                </a:gradFill>
                <a:latin typeface="Poppins" pitchFamily="2" charset="77"/>
                <a:cs typeface="Poppins" pitchFamily="2" charset="77"/>
              </a:rPr>
              <a:t>65</a:t>
            </a:r>
            <a:endParaRPr lang="en-GB" sz="11500" b="1" dirty="0">
              <a:gradFill>
                <a:gsLst>
                  <a:gs pos="0">
                    <a:schemeClr val="accent3"/>
                  </a:gs>
                  <a:gs pos="100000">
                    <a:schemeClr val="accent3">
                      <a:lumMod val="50000"/>
                    </a:schemeClr>
                  </a:gs>
                </a:gsLst>
                <a:lin ang="1800000" scaled="0"/>
              </a:gradFill>
              <a:latin typeface="Poppins" pitchFamily="2" charset="77"/>
              <a:cs typeface="Poppins" pitchFamily="2" charset="77"/>
            </a:endParaRPr>
          </a:p>
        </p:txBody>
      </p:sp>
      <p:cxnSp>
        <p:nvCxnSpPr>
          <p:cNvPr id="53" name="Straight Connector 52">
            <a:extLst>
              <a:ext uri="{FF2B5EF4-FFF2-40B4-BE49-F238E27FC236}">
                <a16:creationId xmlns:a16="http://schemas.microsoft.com/office/drawing/2014/main" id="{C9163AA4-FA0D-8547-8367-48B6F0108DF0}"/>
              </a:ext>
            </a:extLst>
          </p:cNvPr>
          <p:cNvCxnSpPr>
            <a:cxnSpLocks/>
          </p:cNvCxnSpPr>
          <p:nvPr/>
        </p:nvCxnSpPr>
        <p:spPr>
          <a:xfrm>
            <a:off x="4464095" y="4338017"/>
            <a:ext cx="0" cy="676701"/>
          </a:xfrm>
          <a:prstGeom prst="line">
            <a:avLst/>
          </a:prstGeom>
          <a:ln>
            <a:solidFill>
              <a:srgbClr val="174C7F"/>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8CC4C4A0-357F-595F-2CE5-A438F1AAF05D}"/>
              </a:ext>
            </a:extLst>
          </p:cNvPr>
          <p:cNvSpPr txBox="1"/>
          <p:nvPr/>
        </p:nvSpPr>
        <p:spPr>
          <a:xfrm>
            <a:off x="4313094" y="3303756"/>
            <a:ext cx="4276992"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800" b="0" i="0" u="none" strike="noStrike" kern="1200" cap="none" spc="0" normalizeH="0" baseline="0" noProof="0" dirty="0">
                <a:ln>
                  <a:noFill/>
                </a:ln>
                <a:solidFill>
                  <a:schemeClr val="accent6">
                    <a:lumMod val="75000"/>
                  </a:schemeClr>
                </a:solidFill>
                <a:effectLst/>
                <a:uLnTx/>
                <a:uFillTx/>
                <a:latin typeface="Poppins"/>
                <a:ea typeface="+mn-ea"/>
                <a:cs typeface="+mn-cs"/>
              </a:rPr>
              <a:t>Coal Services</a:t>
            </a:r>
            <a:r>
              <a:rPr lang="en-AU" sz="2800" dirty="0">
                <a:solidFill>
                  <a:schemeClr val="accent6">
                    <a:lumMod val="75000"/>
                  </a:schemeClr>
                </a:solidFill>
                <a:latin typeface="Poppin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800" b="0" i="0" u="none" strike="noStrike" kern="1200" cap="none" spc="0" normalizeH="0" baseline="0" noProof="0" dirty="0">
                <a:ln>
                  <a:noFill/>
                </a:ln>
                <a:solidFill>
                  <a:schemeClr val="accent6">
                    <a:lumMod val="75000"/>
                  </a:schemeClr>
                </a:solidFill>
                <a:effectLst/>
                <a:uLnTx/>
                <a:uFillTx/>
                <a:latin typeface="Poppins"/>
                <a:ea typeface="+mn-ea"/>
                <a:cs typeface="+mn-cs"/>
              </a:rPr>
              <a:t>FY’26 ISS</a:t>
            </a:r>
          </a:p>
        </p:txBody>
      </p:sp>
      <p:sp>
        <p:nvSpPr>
          <p:cNvPr id="55" name="Text 4">
            <a:extLst>
              <a:ext uri="{FF2B5EF4-FFF2-40B4-BE49-F238E27FC236}">
                <a16:creationId xmlns:a16="http://schemas.microsoft.com/office/drawing/2014/main" id="{AAB61A35-00F7-21A1-FDBC-677A92A4AF35}"/>
              </a:ext>
            </a:extLst>
          </p:cNvPr>
          <p:cNvSpPr/>
          <p:nvPr/>
        </p:nvSpPr>
        <p:spPr>
          <a:xfrm>
            <a:off x="677270" y="5841835"/>
            <a:ext cx="1983788" cy="352100"/>
          </a:xfrm>
          <a:prstGeom prst="rect">
            <a:avLst/>
          </a:prstGeom>
          <a:noFill/>
          <a:ln/>
        </p:spPr>
        <p:txBody>
          <a:bodyPr wrap="square" lIns="0" tIns="0" rIns="0" bIns="0" rtlCol="0" anchor="t"/>
          <a:lstStyle/>
          <a:p>
            <a:pPr marL="0" marR="0" lvl="0" indent="0" algn="ctr" defTabSz="914400" rtl="0" eaLnBrk="1" fontAlgn="auto" latinLnBrk="0" hangingPunct="1">
              <a:lnSpc>
                <a:spcPct val="114000"/>
              </a:lnSpc>
              <a:spcBef>
                <a:spcPts val="0"/>
              </a:spcBef>
              <a:spcAft>
                <a:spcPts val="300"/>
              </a:spcAft>
              <a:buClrTx/>
              <a:buSzTx/>
              <a:buFontTx/>
              <a:buNone/>
              <a:tabLst/>
              <a:defRPr/>
            </a:pPr>
            <a:r>
              <a:rPr kumimoji="0" lang="en-US" sz="1200" i="1" u="none" strike="noStrike" kern="1200" cap="none" spc="0" normalizeH="0" baseline="0" noProof="0">
                <a:ln>
                  <a:noFill/>
                </a:ln>
                <a:solidFill>
                  <a:schemeClr val="accent6">
                    <a:lumMod val="75000"/>
                  </a:schemeClr>
                </a:solidFill>
                <a:effectLst/>
                <a:uLnTx/>
                <a:uFillTx/>
                <a:latin typeface="Open Sans" pitchFamily="34" charset="0"/>
                <a:ea typeface="Open Sans" pitchFamily="34" charset="-122"/>
                <a:cs typeface="Open Sans" pitchFamily="34" charset="-120"/>
              </a:rPr>
              <a:t>Trust has broken down </a:t>
            </a:r>
            <a:endParaRPr kumimoji="0" lang="en-US" sz="1200" i="1" u="none" strike="noStrike" kern="1200" cap="none" spc="0" normalizeH="0" baseline="0" noProof="0">
              <a:ln>
                <a:noFill/>
              </a:ln>
              <a:solidFill>
                <a:schemeClr val="accent6">
                  <a:lumMod val="75000"/>
                </a:schemeClr>
              </a:solidFill>
              <a:effectLst/>
              <a:uLnTx/>
              <a:uFillTx/>
              <a:latin typeface="Calibri" panose="020F0502020204030204"/>
              <a:ea typeface="+mn-ea"/>
              <a:cs typeface="+mn-cs"/>
            </a:endParaRPr>
          </a:p>
        </p:txBody>
      </p:sp>
      <p:sp>
        <p:nvSpPr>
          <p:cNvPr id="56" name="Text 4">
            <a:extLst>
              <a:ext uri="{FF2B5EF4-FFF2-40B4-BE49-F238E27FC236}">
                <a16:creationId xmlns:a16="http://schemas.microsoft.com/office/drawing/2014/main" id="{7A70C3E6-8832-5599-E666-EC9FAE1216EE}"/>
              </a:ext>
            </a:extLst>
          </p:cNvPr>
          <p:cNvSpPr/>
          <p:nvPr/>
        </p:nvSpPr>
        <p:spPr>
          <a:xfrm>
            <a:off x="2867834" y="5841835"/>
            <a:ext cx="2051268" cy="352100"/>
          </a:xfrm>
          <a:prstGeom prst="rect">
            <a:avLst/>
          </a:prstGeom>
          <a:noFill/>
          <a:ln/>
        </p:spPr>
        <p:txBody>
          <a:bodyPr wrap="square" lIns="0" tIns="0" rIns="0" bIns="0" rtlCol="0" anchor="t"/>
          <a:lstStyle/>
          <a:p>
            <a:pPr marL="0" marR="0" lvl="0" indent="0" algn="ctr" defTabSz="914400" rtl="0" eaLnBrk="1" fontAlgn="auto" latinLnBrk="0" hangingPunct="1">
              <a:lnSpc>
                <a:spcPct val="114000"/>
              </a:lnSpc>
              <a:spcBef>
                <a:spcPts val="0"/>
              </a:spcBef>
              <a:spcAft>
                <a:spcPts val="300"/>
              </a:spcAft>
              <a:buClrTx/>
              <a:buSzTx/>
              <a:buFontTx/>
              <a:buNone/>
              <a:tabLst/>
              <a:defRPr/>
            </a:pPr>
            <a:r>
              <a:rPr kumimoji="0" lang="en-US" sz="1200" i="1" u="none" strike="noStrike" kern="1200" cap="none" spc="0" normalizeH="0" baseline="0" noProof="0">
                <a:ln>
                  <a:noFill/>
                </a:ln>
                <a:solidFill>
                  <a:schemeClr val="accent6">
                    <a:lumMod val="75000"/>
                  </a:schemeClr>
                </a:solidFill>
                <a:effectLst/>
                <a:uLnTx/>
                <a:uFillTx/>
                <a:latin typeface="Open Sans" pitchFamily="34" charset="0"/>
                <a:ea typeface="Open Sans" pitchFamily="34" charset="-122"/>
                <a:cs typeface="Open Sans" pitchFamily="34" charset="-120"/>
              </a:rPr>
              <a:t>More cautious than confident </a:t>
            </a:r>
            <a:endParaRPr kumimoji="0" lang="en-US" sz="1200" i="1" u="none" strike="noStrike" kern="1200" cap="none" spc="0" normalizeH="0" baseline="0" noProof="0">
              <a:ln>
                <a:noFill/>
              </a:ln>
              <a:solidFill>
                <a:schemeClr val="accent6">
                  <a:lumMod val="75000"/>
                </a:schemeClr>
              </a:solidFill>
              <a:effectLst/>
              <a:uLnTx/>
              <a:uFillTx/>
              <a:latin typeface="Calibri" panose="020F0502020204030204"/>
              <a:ea typeface="+mn-ea"/>
              <a:cs typeface="+mn-cs"/>
            </a:endParaRPr>
          </a:p>
        </p:txBody>
      </p:sp>
      <p:sp>
        <p:nvSpPr>
          <p:cNvPr id="57" name="Text 4">
            <a:extLst>
              <a:ext uri="{FF2B5EF4-FFF2-40B4-BE49-F238E27FC236}">
                <a16:creationId xmlns:a16="http://schemas.microsoft.com/office/drawing/2014/main" id="{7A998AAC-BF28-DA60-6828-8EAFB588F97A}"/>
              </a:ext>
            </a:extLst>
          </p:cNvPr>
          <p:cNvSpPr/>
          <p:nvPr/>
        </p:nvSpPr>
        <p:spPr>
          <a:xfrm>
            <a:off x="5090166" y="5841835"/>
            <a:ext cx="2051268" cy="352100"/>
          </a:xfrm>
          <a:prstGeom prst="rect">
            <a:avLst/>
          </a:prstGeom>
          <a:noFill/>
          <a:ln/>
        </p:spPr>
        <p:txBody>
          <a:bodyPr wrap="square" lIns="0" tIns="0" rIns="0" bIns="0" rtlCol="0" anchor="t"/>
          <a:lstStyle/>
          <a:p>
            <a:pPr marL="0" marR="0" lvl="0" indent="0" algn="ctr" defTabSz="914400" rtl="0" eaLnBrk="1" fontAlgn="auto" latinLnBrk="0" hangingPunct="1">
              <a:lnSpc>
                <a:spcPct val="114000"/>
              </a:lnSpc>
              <a:spcBef>
                <a:spcPts val="0"/>
              </a:spcBef>
              <a:spcAft>
                <a:spcPts val="300"/>
              </a:spcAft>
              <a:buClrTx/>
              <a:buSzTx/>
              <a:buFontTx/>
              <a:buNone/>
              <a:tabLst/>
              <a:defRPr/>
            </a:pPr>
            <a:r>
              <a:rPr kumimoji="0" lang="en-US" sz="1200" i="1" u="none" strike="noStrike" kern="1200" cap="none" spc="0" normalizeH="0" baseline="0" noProof="0">
                <a:ln>
                  <a:noFill/>
                </a:ln>
                <a:solidFill>
                  <a:schemeClr val="accent6">
                    <a:lumMod val="75000"/>
                  </a:schemeClr>
                </a:solidFill>
                <a:effectLst/>
                <a:uLnTx/>
                <a:uFillTx/>
                <a:latin typeface="Open Sans" pitchFamily="34" charset="0"/>
                <a:ea typeface="Open Sans" pitchFamily="34" charset="-122"/>
                <a:cs typeface="Open Sans" pitchFamily="34" charset="-120"/>
              </a:rPr>
              <a:t>Broadly positive, on terms </a:t>
            </a:r>
            <a:endParaRPr kumimoji="0" lang="en-US" sz="1200" i="1" u="none" strike="noStrike" kern="1200" cap="none" spc="0" normalizeH="0" baseline="0" noProof="0">
              <a:ln>
                <a:noFill/>
              </a:ln>
              <a:solidFill>
                <a:schemeClr val="accent6">
                  <a:lumMod val="75000"/>
                </a:schemeClr>
              </a:solidFill>
              <a:effectLst/>
              <a:uLnTx/>
              <a:uFillTx/>
              <a:latin typeface="Calibri" panose="020F0502020204030204"/>
              <a:ea typeface="+mn-ea"/>
              <a:cs typeface="+mn-cs"/>
            </a:endParaRPr>
          </a:p>
        </p:txBody>
      </p:sp>
      <p:sp>
        <p:nvSpPr>
          <p:cNvPr id="58" name="Text 4">
            <a:extLst>
              <a:ext uri="{FF2B5EF4-FFF2-40B4-BE49-F238E27FC236}">
                <a16:creationId xmlns:a16="http://schemas.microsoft.com/office/drawing/2014/main" id="{13F62C8C-F413-3013-BB7E-9BA19FCBFD9B}"/>
              </a:ext>
            </a:extLst>
          </p:cNvPr>
          <p:cNvSpPr/>
          <p:nvPr/>
        </p:nvSpPr>
        <p:spPr>
          <a:xfrm>
            <a:off x="7316442" y="5841835"/>
            <a:ext cx="2051268" cy="352100"/>
          </a:xfrm>
          <a:prstGeom prst="rect">
            <a:avLst/>
          </a:prstGeom>
          <a:noFill/>
          <a:ln/>
        </p:spPr>
        <p:txBody>
          <a:bodyPr wrap="square" lIns="0" tIns="0" rIns="0" bIns="0" rtlCol="0" anchor="t"/>
          <a:lstStyle/>
          <a:p>
            <a:pPr marL="0" marR="0" lvl="0" indent="0" algn="ctr" defTabSz="914400" rtl="0" eaLnBrk="1" fontAlgn="auto" latinLnBrk="0" hangingPunct="1">
              <a:lnSpc>
                <a:spcPct val="114000"/>
              </a:lnSpc>
              <a:spcBef>
                <a:spcPts val="0"/>
              </a:spcBef>
              <a:spcAft>
                <a:spcPts val="300"/>
              </a:spcAft>
              <a:buClrTx/>
              <a:buSzTx/>
              <a:buFontTx/>
              <a:buNone/>
              <a:tabLst/>
              <a:defRPr/>
            </a:pPr>
            <a:r>
              <a:rPr kumimoji="0" lang="en-US" sz="1200" i="1" u="none" strike="noStrike" kern="1200" cap="none" spc="0" normalizeH="0" baseline="0" noProof="0">
                <a:ln>
                  <a:noFill/>
                </a:ln>
                <a:solidFill>
                  <a:schemeClr val="accent6">
                    <a:lumMod val="75000"/>
                  </a:schemeClr>
                </a:solidFill>
                <a:effectLst/>
                <a:uLnTx/>
                <a:uFillTx/>
                <a:latin typeface="Open Sans" pitchFamily="34" charset="0"/>
                <a:ea typeface="Open Sans" pitchFamily="34" charset="-122"/>
                <a:cs typeface="Open Sans" pitchFamily="34" charset="-120"/>
              </a:rPr>
              <a:t>Confidence is settled </a:t>
            </a:r>
            <a:endParaRPr kumimoji="0" lang="en-US" sz="1200" i="1" u="none" strike="noStrike" kern="1200" cap="none" spc="0" normalizeH="0" baseline="0" noProof="0">
              <a:ln>
                <a:noFill/>
              </a:ln>
              <a:solidFill>
                <a:schemeClr val="accent6">
                  <a:lumMod val="75000"/>
                </a:schemeClr>
              </a:solidFill>
              <a:effectLst/>
              <a:uLnTx/>
              <a:uFillTx/>
              <a:latin typeface="Calibri" panose="020F0502020204030204"/>
              <a:ea typeface="+mn-ea"/>
              <a:cs typeface="+mn-cs"/>
            </a:endParaRPr>
          </a:p>
        </p:txBody>
      </p:sp>
      <p:sp>
        <p:nvSpPr>
          <p:cNvPr id="59" name="Text 4">
            <a:extLst>
              <a:ext uri="{FF2B5EF4-FFF2-40B4-BE49-F238E27FC236}">
                <a16:creationId xmlns:a16="http://schemas.microsoft.com/office/drawing/2014/main" id="{F1C9D532-E3DC-4611-97CA-9552DA898542}"/>
              </a:ext>
            </a:extLst>
          </p:cNvPr>
          <p:cNvSpPr/>
          <p:nvPr/>
        </p:nvSpPr>
        <p:spPr>
          <a:xfrm>
            <a:off x="9540745" y="5841835"/>
            <a:ext cx="2051268" cy="352100"/>
          </a:xfrm>
          <a:prstGeom prst="rect">
            <a:avLst/>
          </a:prstGeom>
          <a:noFill/>
          <a:ln/>
        </p:spPr>
        <p:txBody>
          <a:bodyPr wrap="square" lIns="0" tIns="0" rIns="0" bIns="0" rtlCol="0" anchor="t"/>
          <a:lstStyle/>
          <a:p>
            <a:pPr marL="0" marR="0" lvl="0" indent="0" algn="ctr" defTabSz="914400" rtl="0" eaLnBrk="1" fontAlgn="auto" latinLnBrk="0" hangingPunct="1">
              <a:lnSpc>
                <a:spcPct val="114000"/>
              </a:lnSpc>
              <a:spcBef>
                <a:spcPts val="0"/>
              </a:spcBef>
              <a:spcAft>
                <a:spcPts val="300"/>
              </a:spcAft>
              <a:buClrTx/>
              <a:buSzTx/>
              <a:buFontTx/>
              <a:buNone/>
              <a:tabLst/>
              <a:defRPr/>
            </a:pPr>
            <a:r>
              <a:rPr kumimoji="0" lang="en-US" sz="1200" i="1" u="none" strike="noStrike" kern="1200" cap="none" spc="0" normalizeH="0" baseline="0" noProof="0">
                <a:ln>
                  <a:noFill/>
                </a:ln>
                <a:solidFill>
                  <a:schemeClr val="accent6">
                    <a:lumMod val="75000"/>
                  </a:schemeClr>
                </a:solidFill>
                <a:effectLst/>
                <a:uLnTx/>
                <a:uFillTx/>
                <a:latin typeface="Open Sans" pitchFamily="34" charset="0"/>
                <a:ea typeface="Open Sans" pitchFamily="34" charset="-122"/>
                <a:cs typeface="Open Sans" pitchFamily="34" charset="-120"/>
              </a:rPr>
              <a:t>Actively championed </a:t>
            </a:r>
            <a:endParaRPr kumimoji="0" lang="en-US" sz="1200" i="1" u="none" strike="noStrike" kern="1200" cap="none" spc="0" normalizeH="0" baseline="0" noProof="0">
              <a:ln>
                <a:noFill/>
              </a:ln>
              <a:solidFill>
                <a:schemeClr val="accent6">
                  <a:lumMod val="75000"/>
                </a:schemeClr>
              </a:solidFill>
              <a:effectLst/>
              <a:uLnTx/>
              <a:uFillTx/>
              <a:latin typeface="Calibri" panose="020F0502020204030204"/>
              <a:ea typeface="+mn-ea"/>
              <a:cs typeface="+mn-cs"/>
            </a:endParaRPr>
          </a:p>
        </p:txBody>
      </p:sp>
      <p:sp>
        <p:nvSpPr>
          <p:cNvPr id="2" name="Slide Number Placeholder 1">
            <a:extLst>
              <a:ext uri="{FF2B5EF4-FFF2-40B4-BE49-F238E27FC236}">
                <a16:creationId xmlns:a16="http://schemas.microsoft.com/office/drawing/2014/main" id="{F151DD7D-163F-D879-85C5-9FBF5F3EB9E0}"/>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2960988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629C2-3366-E070-2975-62E123D8EA59}"/>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20C49BE-C4DA-88DD-85C1-F921E2D4AFB1}"/>
              </a:ext>
            </a:extLst>
          </p:cNvPr>
          <p:cNvCxnSpPr>
            <a:cxnSpLocks/>
            <a:stCxn id="6" idx="3"/>
          </p:cNvCxnSpPr>
          <p:nvPr/>
        </p:nvCxnSpPr>
        <p:spPr>
          <a:xfrm>
            <a:off x="2980592" y="277669"/>
            <a:ext cx="9211408"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0697B10C-84D0-4167-BDF8-26274CB0F3E2}"/>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29774DB5-9E24-F22F-A25D-9496BEBEA94F}"/>
              </a:ext>
            </a:extLst>
          </p:cNvPr>
          <p:cNvSpPr/>
          <p:nvPr/>
        </p:nvSpPr>
        <p:spPr>
          <a:xfrm>
            <a:off x="548641" y="165782"/>
            <a:ext cx="2431951"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Industry Sentiment Scorecard</a:t>
            </a:r>
          </a:p>
        </p:txBody>
      </p:sp>
      <p:sp>
        <p:nvSpPr>
          <p:cNvPr id="14" name="Title 4">
            <a:extLst>
              <a:ext uri="{FF2B5EF4-FFF2-40B4-BE49-F238E27FC236}">
                <a16:creationId xmlns:a16="http://schemas.microsoft.com/office/drawing/2014/main" id="{6F345B38-089B-4219-5268-1FC15C17F8DF}"/>
              </a:ext>
            </a:extLst>
          </p:cNvPr>
          <p:cNvSpPr txBox="1">
            <a:spLocks/>
          </p:cNvSpPr>
          <p:nvPr/>
        </p:nvSpPr>
        <p:spPr>
          <a:xfrm>
            <a:off x="525018" y="573083"/>
            <a:ext cx="11370974" cy="701802"/>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pPr lvl="0">
              <a:defRPr/>
            </a:pPr>
            <a:r>
              <a:rPr lang="en-US" dirty="0">
                <a:solidFill>
                  <a:schemeClr val="accent3"/>
                </a:solidFill>
              </a:rPr>
              <a:t>CMI scores lowest</a:t>
            </a:r>
            <a:r>
              <a:rPr lang="en-US" dirty="0"/>
              <a:t>, yet is where most stakeholders engage</a:t>
            </a:r>
            <a:endParaRPr lang="en-AU" dirty="0"/>
          </a:p>
        </p:txBody>
      </p:sp>
      <p:sp>
        <p:nvSpPr>
          <p:cNvPr id="110" name="Rectangle 109">
            <a:extLst>
              <a:ext uri="{FF2B5EF4-FFF2-40B4-BE49-F238E27FC236}">
                <a16:creationId xmlns:a16="http://schemas.microsoft.com/office/drawing/2014/main" id="{A21AE5DB-B2B6-FFE8-6596-D05E2105FC31}"/>
              </a:ext>
            </a:extLst>
          </p:cNvPr>
          <p:cNvSpPr/>
          <p:nvPr/>
        </p:nvSpPr>
        <p:spPr>
          <a:xfrm>
            <a:off x="0" y="1967955"/>
            <a:ext cx="12192000" cy="4316962"/>
          </a:xfrm>
          <a:prstGeom prst="rect">
            <a:avLst/>
          </a:prstGeom>
          <a:solidFill>
            <a:schemeClr val="accent5">
              <a:lumMod val="20000"/>
              <a:lumOff val="80000"/>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Open Sans"/>
              <a:ea typeface="+mn-ea"/>
              <a:cs typeface="+mn-cs"/>
            </a:endParaRPr>
          </a:p>
        </p:txBody>
      </p:sp>
      <p:sp>
        <p:nvSpPr>
          <p:cNvPr id="111" name="TextBox 110">
            <a:extLst>
              <a:ext uri="{FF2B5EF4-FFF2-40B4-BE49-F238E27FC236}">
                <a16:creationId xmlns:a16="http://schemas.microsoft.com/office/drawing/2014/main" id="{9465A077-B7A1-0AF4-735E-9B464118AB88}"/>
              </a:ext>
            </a:extLst>
          </p:cNvPr>
          <p:cNvSpPr txBox="1"/>
          <p:nvPr/>
        </p:nvSpPr>
        <p:spPr>
          <a:xfrm>
            <a:off x="4010004" y="2377176"/>
            <a:ext cx="354404" cy="276999"/>
          </a:xfrm>
          <a:prstGeom prst="rect">
            <a:avLst/>
          </a:prstGeom>
          <a:noFill/>
        </p:spPr>
        <p:txBody>
          <a:bodyPr wrap="square" rtlCol="0">
            <a:spAutoFit/>
          </a:bodyPr>
          <a:lstStyle/>
          <a:p>
            <a:pPr algn="ctr"/>
            <a:r>
              <a:rPr lang="en-AU" sz="1200">
                <a:latin typeface="+mj-lt"/>
              </a:rPr>
              <a:t>0</a:t>
            </a:r>
          </a:p>
        </p:txBody>
      </p:sp>
      <p:sp>
        <p:nvSpPr>
          <p:cNvPr id="112" name="TextBox 111">
            <a:extLst>
              <a:ext uri="{FF2B5EF4-FFF2-40B4-BE49-F238E27FC236}">
                <a16:creationId xmlns:a16="http://schemas.microsoft.com/office/drawing/2014/main" id="{EB664A20-0535-F383-0612-584F73B5EE96}"/>
              </a:ext>
            </a:extLst>
          </p:cNvPr>
          <p:cNvSpPr txBox="1"/>
          <p:nvPr/>
        </p:nvSpPr>
        <p:spPr>
          <a:xfrm>
            <a:off x="4737750" y="2377176"/>
            <a:ext cx="354404" cy="276999"/>
          </a:xfrm>
          <a:prstGeom prst="rect">
            <a:avLst/>
          </a:prstGeom>
          <a:noFill/>
        </p:spPr>
        <p:txBody>
          <a:bodyPr wrap="square" rtlCol="0">
            <a:spAutoFit/>
          </a:bodyPr>
          <a:lstStyle/>
          <a:p>
            <a:pPr algn="ctr"/>
            <a:r>
              <a:rPr lang="en-AU" sz="1200">
                <a:latin typeface="+mj-lt"/>
              </a:rPr>
              <a:t>10</a:t>
            </a:r>
          </a:p>
        </p:txBody>
      </p:sp>
      <p:sp>
        <p:nvSpPr>
          <p:cNvPr id="113" name="TextBox 112">
            <a:extLst>
              <a:ext uri="{FF2B5EF4-FFF2-40B4-BE49-F238E27FC236}">
                <a16:creationId xmlns:a16="http://schemas.microsoft.com/office/drawing/2014/main" id="{E9548B0E-58DB-105B-323B-99B8DCEC9C5C}"/>
              </a:ext>
            </a:extLst>
          </p:cNvPr>
          <p:cNvSpPr txBox="1"/>
          <p:nvPr/>
        </p:nvSpPr>
        <p:spPr>
          <a:xfrm>
            <a:off x="5465495" y="2377176"/>
            <a:ext cx="432487" cy="276999"/>
          </a:xfrm>
          <a:prstGeom prst="rect">
            <a:avLst/>
          </a:prstGeom>
          <a:noFill/>
        </p:spPr>
        <p:txBody>
          <a:bodyPr wrap="square" rtlCol="0">
            <a:spAutoFit/>
          </a:bodyPr>
          <a:lstStyle/>
          <a:p>
            <a:pPr algn="ctr"/>
            <a:r>
              <a:rPr lang="en-AU" sz="1200">
                <a:latin typeface="+mj-lt"/>
              </a:rPr>
              <a:t>20</a:t>
            </a:r>
          </a:p>
        </p:txBody>
      </p:sp>
      <p:sp>
        <p:nvSpPr>
          <p:cNvPr id="114" name="TextBox 113">
            <a:extLst>
              <a:ext uri="{FF2B5EF4-FFF2-40B4-BE49-F238E27FC236}">
                <a16:creationId xmlns:a16="http://schemas.microsoft.com/office/drawing/2014/main" id="{7E86EA70-B854-C706-95BE-00BE4396056C}"/>
              </a:ext>
            </a:extLst>
          </p:cNvPr>
          <p:cNvSpPr txBox="1"/>
          <p:nvPr/>
        </p:nvSpPr>
        <p:spPr>
          <a:xfrm>
            <a:off x="6193242" y="2377176"/>
            <a:ext cx="432486" cy="276999"/>
          </a:xfrm>
          <a:prstGeom prst="rect">
            <a:avLst/>
          </a:prstGeom>
          <a:noFill/>
        </p:spPr>
        <p:txBody>
          <a:bodyPr wrap="square" rtlCol="0">
            <a:spAutoFit/>
          </a:bodyPr>
          <a:lstStyle/>
          <a:p>
            <a:pPr algn="ctr"/>
            <a:r>
              <a:rPr lang="en-AU" sz="1200">
                <a:latin typeface="+mj-lt"/>
              </a:rPr>
              <a:t>30</a:t>
            </a:r>
          </a:p>
        </p:txBody>
      </p:sp>
      <p:sp>
        <p:nvSpPr>
          <p:cNvPr id="115" name="TextBox 114">
            <a:extLst>
              <a:ext uri="{FF2B5EF4-FFF2-40B4-BE49-F238E27FC236}">
                <a16:creationId xmlns:a16="http://schemas.microsoft.com/office/drawing/2014/main" id="{2EACDF76-9379-19BB-6225-A450E2DF052D}"/>
              </a:ext>
            </a:extLst>
          </p:cNvPr>
          <p:cNvSpPr txBox="1"/>
          <p:nvPr/>
        </p:nvSpPr>
        <p:spPr>
          <a:xfrm>
            <a:off x="6920988" y="2377176"/>
            <a:ext cx="432486" cy="276999"/>
          </a:xfrm>
          <a:prstGeom prst="rect">
            <a:avLst/>
          </a:prstGeom>
          <a:noFill/>
        </p:spPr>
        <p:txBody>
          <a:bodyPr wrap="square" rtlCol="0">
            <a:spAutoFit/>
          </a:bodyPr>
          <a:lstStyle/>
          <a:p>
            <a:pPr algn="ctr"/>
            <a:r>
              <a:rPr lang="en-AU" sz="1200">
                <a:latin typeface="+mj-lt"/>
              </a:rPr>
              <a:t>40</a:t>
            </a:r>
          </a:p>
        </p:txBody>
      </p:sp>
      <p:sp>
        <p:nvSpPr>
          <p:cNvPr id="116" name="TextBox 115">
            <a:extLst>
              <a:ext uri="{FF2B5EF4-FFF2-40B4-BE49-F238E27FC236}">
                <a16:creationId xmlns:a16="http://schemas.microsoft.com/office/drawing/2014/main" id="{C178565A-0A10-8BFA-4C7F-0C98F71AC535}"/>
              </a:ext>
            </a:extLst>
          </p:cNvPr>
          <p:cNvSpPr txBox="1"/>
          <p:nvPr/>
        </p:nvSpPr>
        <p:spPr>
          <a:xfrm>
            <a:off x="7648733" y="2377176"/>
            <a:ext cx="432486" cy="276999"/>
          </a:xfrm>
          <a:prstGeom prst="rect">
            <a:avLst/>
          </a:prstGeom>
          <a:noFill/>
        </p:spPr>
        <p:txBody>
          <a:bodyPr wrap="square" rtlCol="0">
            <a:spAutoFit/>
          </a:bodyPr>
          <a:lstStyle/>
          <a:p>
            <a:pPr algn="ctr"/>
            <a:r>
              <a:rPr lang="en-AU" sz="1200">
                <a:latin typeface="+mj-lt"/>
              </a:rPr>
              <a:t>50</a:t>
            </a:r>
          </a:p>
        </p:txBody>
      </p:sp>
      <p:sp>
        <p:nvSpPr>
          <p:cNvPr id="117" name="TextBox 116">
            <a:extLst>
              <a:ext uri="{FF2B5EF4-FFF2-40B4-BE49-F238E27FC236}">
                <a16:creationId xmlns:a16="http://schemas.microsoft.com/office/drawing/2014/main" id="{8CF72841-2977-9CAE-244E-04A945C10CC1}"/>
              </a:ext>
            </a:extLst>
          </p:cNvPr>
          <p:cNvSpPr txBox="1"/>
          <p:nvPr/>
        </p:nvSpPr>
        <p:spPr>
          <a:xfrm>
            <a:off x="8376479" y="2377176"/>
            <a:ext cx="432486" cy="276999"/>
          </a:xfrm>
          <a:prstGeom prst="rect">
            <a:avLst/>
          </a:prstGeom>
          <a:noFill/>
        </p:spPr>
        <p:txBody>
          <a:bodyPr wrap="square" rtlCol="0">
            <a:spAutoFit/>
          </a:bodyPr>
          <a:lstStyle/>
          <a:p>
            <a:pPr algn="ctr"/>
            <a:r>
              <a:rPr lang="en-AU" sz="1200">
                <a:latin typeface="+mj-lt"/>
              </a:rPr>
              <a:t>60</a:t>
            </a:r>
          </a:p>
        </p:txBody>
      </p:sp>
      <p:sp>
        <p:nvSpPr>
          <p:cNvPr id="118" name="TextBox 117">
            <a:extLst>
              <a:ext uri="{FF2B5EF4-FFF2-40B4-BE49-F238E27FC236}">
                <a16:creationId xmlns:a16="http://schemas.microsoft.com/office/drawing/2014/main" id="{2B697F6D-EB71-45AD-E6D9-B7C4BB14753F}"/>
              </a:ext>
            </a:extLst>
          </p:cNvPr>
          <p:cNvSpPr txBox="1"/>
          <p:nvPr/>
        </p:nvSpPr>
        <p:spPr>
          <a:xfrm>
            <a:off x="10559716" y="2377176"/>
            <a:ext cx="432483" cy="276999"/>
          </a:xfrm>
          <a:prstGeom prst="rect">
            <a:avLst/>
          </a:prstGeom>
          <a:noFill/>
        </p:spPr>
        <p:txBody>
          <a:bodyPr wrap="square" rtlCol="0">
            <a:spAutoFit/>
          </a:bodyPr>
          <a:lstStyle/>
          <a:p>
            <a:pPr algn="ctr"/>
            <a:r>
              <a:rPr lang="en-AU" sz="1200">
                <a:latin typeface="+mj-lt"/>
              </a:rPr>
              <a:t>90</a:t>
            </a:r>
          </a:p>
        </p:txBody>
      </p:sp>
      <p:sp>
        <p:nvSpPr>
          <p:cNvPr id="119" name="TextBox 118">
            <a:extLst>
              <a:ext uri="{FF2B5EF4-FFF2-40B4-BE49-F238E27FC236}">
                <a16:creationId xmlns:a16="http://schemas.microsoft.com/office/drawing/2014/main" id="{93BFFA26-ABAA-E842-ADE6-9BC2F7A9A0F5}"/>
              </a:ext>
            </a:extLst>
          </p:cNvPr>
          <p:cNvSpPr txBox="1"/>
          <p:nvPr/>
        </p:nvSpPr>
        <p:spPr>
          <a:xfrm>
            <a:off x="11287463" y="2377176"/>
            <a:ext cx="525374" cy="276999"/>
          </a:xfrm>
          <a:prstGeom prst="rect">
            <a:avLst/>
          </a:prstGeom>
          <a:noFill/>
        </p:spPr>
        <p:txBody>
          <a:bodyPr wrap="square" rtlCol="0">
            <a:spAutoFit/>
          </a:bodyPr>
          <a:lstStyle/>
          <a:p>
            <a:pPr algn="ctr"/>
            <a:r>
              <a:rPr lang="en-AU" sz="1200">
                <a:latin typeface="+mj-lt"/>
              </a:rPr>
              <a:t>100</a:t>
            </a:r>
          </a:p>
        </p:txBody>
      </p:sp>
      <p:sp>
        <p:nvSpPr>
          <p:cNvPr id="120" name="TextBox 119">
            <a:extLst>
              <a:ext uri="{FF2B5EF4-FFF2-40B4-BE49-F238E27FC236}">
                <a16:creationId xmlns:a16="http://schemas.microsoft.com/office/drawing/2014/main" id="{B1496182-2D20-F3D9-BA1B-5FEA698361A8}"/>
              </a:ext>
            </a:extLst>
          </p:cNvPr>
          <p:cNvSpPr txBox="1"/>
          <p:nvPr/>
        </p:nvSpPr>
        <p:spPr>
          <a:xfrm>
            <a:off x="9831970" y="2377176"/>
            <a:ext cx="432485" cy="276999"/>
          </a:xfrm>
          <a:prstGeom prst="rect">
            <a:avLst/>
          </a:prstGeom>
          <a:noFill/>
        </p:spPr>
        <p:txBody>
          <a:bodyPr wrap="square" rtlCol="0">
            <a:spAutoFit/>
          </a:bodyPr>
          <a:lstStyle/>
          <a:p>
            <a:pPr algn="ctr"/>
            <a:r>
              <a:rPr lang="en-AU" sz="1200">
                <a:latin typeface="+mj-lt"/>
              </a:rPr>
              <a:t>80</a:t>
            </a:r>
          </a:p>
        </p:txBody>
      </p:sp>
      <p:sp>
        <p:nvSpPr>
          <p:cNvPr id="121" name="Oval 120">
            <a:extLst>
              <a:ext uri="{FF2B5EF4-FFF2-40B4-BE49-F238E27FC236}">
                <a16:creationId xmlns:a16="http://schemas.microsoft.com/office/drawing/2014/main" id="{6A482446-3A18-F021-7C84-4565BD79E665}"/>
              </a:ext>
            </a:extLst>
          </p:cNvPr>
          <p:cNvSpPr/>
          <p:nvPr/>
        </p:nvSpPr>
        <p:spPr>
          <a:xfrm>
            <a:off x="10142363" y="5576552"/>
            <a:ext cx="259200" cy="260194"/>
          </a:xfrm>
          <a:prstGeom prst="ellipse">
            <a:avLst/>
          </a:prstGeom>
          <a:solidFill>
            <a:srgbClr val="3799AC">
              <a:alpha val="2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accent1">
                  <a:lumMod val="20000"/>
                  <a:lumOff val="80000"/>
                </a:schemeClr>
              </a:solidFill>
            </a:endParaRPr>
          </a:p>
        </p:txBody>
      </p:sp>
      <p:sp>
        <p:nvSpPr>
          <p:cNvPr id="122" name="Rectangle: Rounded Corners 8">
            <a:extLst>
              <a:ext uri="{FF2B5EF4-FFF2-40B4-BE49-F238E27FC236}">
                <a16:creationId xmlns:a16="http://schemas.microsoft.com/office/drawing/2014/main" id="{3554DD3B-9637-C68A-A135-1594B210C4F6}"/>
              </a:ext>
            </a:extLst>
          </p:cNvPr>
          <p:cNvSpPr/>
          <p:nvPr/>
        </p:nvSpPr>
        <p:spPr>
          <a:xfrm>
            <a:off x="534637" y="5607718"/>
            <a:ext cx="3767610" cy="2467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pPr>
              <a:lnSpc>
                <a:spcPts val="1280"/>
              </a:lnSpc>
              <a:defRPr/>
            </a:pPr>
            <a:r>
              <a:rPr kumimoji="0" lang="en-AU" sz="1600" b="1" i="0" u="none" strike="noStrike" kern="1200" cap="none" spc="0" normalizeH="0" baseline="0" noProof="0">
                <a:ln>
                  <a:noFill/>
                </a:ln>
                <a:solidFill>
                  <a:srgbClr val="3799AC"/>
                </a:solidFill>
                <a:effectLst/>
                <a:uLnTx/>
                <a:uFillTx/>
                <a:latin typeface="Poppins"/>
                <a:ea typeface="+mn-ea"/>
                <a:cs typeface="+mn-cs"/>
              </a:rPr>
              <a:t>Mine Site Occupational Hygiene </a:t>
            </a:r>
            <a:br>
              <a:rPr kumimoji="0" lang="en-AU" sz="1600" b="1" i="0" u="none" strike="noStrike" kern="1200" cap="none" spc="0" normalizeH="0" baseline="0" noProof="0">
                <a:ln>
                  <a:noFill/>
                </a:ln>
                <a:solidFill>
                  <a:srgbClr val="3799AC"/>
                </a:solidFill>
                <a:effectLst/>
                <a:uLnTx/>
                <a:uFillTx/>
                <a:latin typeface="Poppins"/>
                <a:ea typeface="+mn-ea"/>
                <a:cs typeface="+mn-cs"/>
              </a:rPr>
            </a:br>
            <a:r>
              <a:rPr lang="en-AU" sz="1200">
                <a:solidFill>
                  <a:srgbClr val="3699AC"/>
                </a:solidFill>
                <a:latin typeface="Poppins"/>
              </a:rPr>
              <a:t>3 responses </a:t>
            </a:r>
          </a:p>
        </p:txBody>
      </p:sp>
      <p:cxnSp>
        <p:nvCxnSpPr>
          <p:cNvPr id="123" name="Straight Connector 122">
            <a:extLst>
              <a:ext uri="{FF2B5EF4-FFF2-40B4-BE49-F238E27FC236}">
                <a16:creationId xmlns:a16="http://schemas.microsoft.com/office/drawing/2014/main" id="{BACA14B8-F9B1-730D-9319-5686BFC361A5}"/>
              </a:ext>
            </a:extLst>
          </p:cNvPr>
          <p:cNvCxnSpPr>
            <a:cxnSpLocks/>
          </p:cNvCxnSpPr>
          <p:nvPr/>
        </p:nvCxnSpPr>
        <p:spPr>
          <a:xfrm flipV="1">
            <a:off x="4195590" y="5701007"/>
            <a:ext cx="7284655" cy="4591"/>
          </a:xfrm>
          <a:prstGeom prst="line">
            <a:avLst/>
          </a:prstGeom>
          <a:solidFill>
            <a:schemeClr val="accent6">
              <a:lumMod val="40000"/>
              <a:lumOff val="60000"/>
            </a:schemeClr>
          </a:solidFill>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F529C1F8-6F19-57C7-ACE2-7DB54B016A09}"/>
              </a:ext>
            </a:extLst>
          </p:cNvPr>
          <p:cNvCxnSpPr>
            <a:cxnSpLocks/>
          </p:cNvCxnSpPr>
          <p:nvPr/>
        </p:nvCxnSpPr>
        <p:spPr>
          <a:xfrm>
            <a:off x="4184516" y="5703299"/>
            <a:ext cx="6038796" cy="0"/>
          </a:xfrm>
          <a:prstGeom prst="line">
            <a:avLst/>
          </a:prstGeom>
          <a:solidFill>
            <a:schemeClr val="accent6">
              <a:lumMod val="40000"/>
              <a:lumOff val="60000"/>
            </a:schemeClr>
          </a:solidFill>
          <a:ln w="31750" cap="rnd">
            <a:gradFill>
              <a:gsLst>
                <a:gs pos="0">
                  <a:srgbClr val="3799AC"/>
                </a:gs>
                <a:gs pos="100000">
                  <a:srgbClr val="1D525C"/>
                </a:gs>
              </a:gsLst>
              <a:lin ang="0" scaled="0"/>
            </a:gradFill>
          </a:ln>
        </p:spPr>
        <p:style>
          <a:lnRef idx="1">
            <a:schemeClr val="accent1"/>
          </a:lnRef>
          <a:fillRef idx="0">
            <a:schemeClr val="accent1"/>
          </a:fillRef>
          <a:effectRef idx="0">
            <a:schemeClr val="accent1"/>
          </a:effectRef>
          <a:fontRef idx="minor">
            <a:schemeClr val="tx1"/>
          </a:fontRef>
        </p:style>
      </p:cxnSp>
      <p:sp>
        <p:nvSpPr>
          <p:cNvPr id="125" name="TextBox 124">
            <a:extLst>
              <a:ext uri="{FF2B5EF4-FFF2-40B4-BE49-F238E27FC236}">
                <a16:creationId xmlns:a16="http://schemas.microsoft.com/office/drawing/2014/main" id="{4EF73152-D980-6A47-1560-4ADB3A74E2F1}"/>
              </a:ext>
            </a:extLst>
          </p:cNvPr>
          <p:cNvSpPr txBox="1"/>
          <p:nvPr/>
        </p:nvSpPr>
        <p:spPr>
          <a:xfrm>
            <a:off x="10415957" y="5556097"/>
            <a:ext cx="360000" cy="307777"/>
          </a:xfrm>
          <a:prstGeom prst="rect">
            <a:avLst/>
          </a:prstGeom>
          <a:solidFill>
            <a:srgbClr val="F6FCFF"/>
          </a:solidFill>
        </p:spPr>
        <p:txBody>
          <a:bodyPr wrap="square" lIns="0" tIns="0" rIns="0" bIns="0" rtlCol="0">
            <a:spAutoFit/>
          </a:bodyPr>
          <a:lstStyle/>
          <a:p>
            <a:pPr algn="ctr"/>
            <a:r>
              <a:rPr lang="en-AU" sz="2000" b="1">
                <a:solidFill>
                  <a:srgbClr val="3799AC"/>
                </a:solidFill>
                <a:latin typeface="Poppins Medium" panose="00000600000000000000" pitchFamily="2" charset="0"/>
                <a:cs typeface="Poppins Medium" panose="00000600000000000000" pitchFamily="2" charset="0"/>
              </a:rPr>
              <a:t>86</a:t>
            </a:r>
          </a:p>
        </p:txBody>
      </p:sp>
      <p:sp>
        <p:nvSpPr>
          <p:cNvPr id="126" name="Oval 125">
            <a:extLst>
              <a:ext uri="{FF2B5EF4-FFF2-40B4-BE49-F238E27FC236}">
                <a16:creationId xmlns:a16="http://schemas.microsoft.com/office/drawing/2014/main" id="{5096A570-5497-6ABD-457C-0C6D00B40117}"/>
              </a:ext>
            </a:extLst>
          </p:cNvPr>
          <p:cNvSpPr/>
          <p:nvPr/>
        </p:nvSpPr>
        <p:spPr>
          <a:xfrm>
            <a:off x="10223312" y="5656109"/>
            <a:ext cx="108000" cy="107755"/>
          </a:xfrm>
          <a:prstGeom prst="ellipse">
            <a:avLst/>
          </a:prstGeom>
          <a:solidFill>
            <a:srgbClr val="3799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b="1" i="0" u="none" strike="noStrike" kern="1200" cap="none" spc="0" normalizeH="0" baseline="0" noProof="0">
              <a:ln>
                <a:noFill/>
              </a:ln>
              <a:solidFill>
                <a:srgbClr val="FFFFFF"/>
              </a:solidFill>
              <a:effectLst/>
              <a:uLnTx/>
              <a:uFillTx/>
              <a:latin typeface="Poppins Medium" panose="00000600000000000000" pitchFamily="2" charset="0"/>
              <a:cs typeface="Poppins Medium" panose="00000600000000000000" pitchFamily="2" charset="0"/>
            </a:endParaRPr>
          </a:p>
        </p:txBody>
      </p:sp>
      <p:sp>
        <p:nvSpPr>
          <p:cNvPr id="127" name="TextBox 126">
            <a:extLst>
              <a:ext uri="{FF2B5EF4-FFF2-40B4-BE49-F238E27FC236}">
                <a16:creationId xmlns:a16="http://schemas.microsoft.com/office/drawing/2014/main" id="{61425208-A0F6-A76D-4A2C-834C7582407E}"/>
              </a:ext>
            </a:extLst>
          </p:cNvPr>
          <p:cNvSpPr txBox="1"/>
          <p:nvPr/>
        </p:nvSpPr>
        <p:spPr>
          <a:xfrm>
            <a:off x="8989925" y="2119069"/>
            <a:ext cx="880631" cy="230832"/>
          </a:xfrm>
          <a:prstGeom prst="rect">
            <a:avLst/>
          </a:prstGeom>
          <a:noFill/>
          <a:effectLst/>
        </p:spPr>
        <p:txBody>
          <a:bodyPr wrap="square">
            <a:spAutoFit/>
          </a:bodyPr>
          <a:lstStyle/>
          <a:p>
            <a:r>
              <a:rPr lang="en-AU" sz="900">
                <a:solidFill>
                  <a:srgbClr val="68707B"/>
                </a:solidFill>
                <a:latin typeface="Poppins" pitchFamily="2" charset="77"/>
                <a:cs typeface="Poppins" pitchFamily="2" charset="77"/>
              </a:rPr>
              <a:t>Conditional</a:t>
            </a:r>
            <a:endParaRPr sz="900">
              <a:solidFill>
                <a:srgbClr val="68707B"/>
              </a:solidFill>
              <a:latin typeface="Poppins" pitchFamily="2" charset="77"/>
              <a:cs typeface="Poppins" pitchFamily="2" charset="77"/>
            </a:endParaRPr>
          </a:p>
        </p:txBody>
      </p:sp>
      <p:cxnSp>
        <p:nvCxnSpPr>
          <p:cNvPr id="128" name="Straight Connector 127">
            <a:extLst>
              <a:ext uri="{FF2B5EF4-FFF2-40B4-BE49-F238E27FC236}">
                <a16:creationId xmlns:a16="http://schemas.microsoft.com/office/drawing/2014/main" id="{5C9FA846-95CE-7461-EC4E-8BB61251C05C}"/>
              </a:ext>
            </a:extLst>
          </p:cNvPr>
          <p:cNvCxnSpPr>
            <a:cxnSpLocks/>
          </p:cNvCxnSpPr>
          <p:nvPr/>
        </p:nvCxnSpPr>
        <p:spPr>
          <a:xfrm flipV="1">
            <a:off x="9023371" y="2177338"/>
            <a:ext cx="0" cy="550024"/>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129" name="TextBox 128">
            <a:extLst>
              <a:ext uri="{FF2B5EF4-FFF2-40B4-BE49-F238E27FC236}">
                <a16:creationId xmlns:a16="http://schemas.microsoft.com/office/drawing/2014/main" id="{64240AA6-667D-F4E7-CFF4-8B061EF5725E}"/>
              </a:ext>
            </a:extLst>
          </p:cNvPr>
          <p:cNvSpPr txBox="1"/>
          <p:nvPr/>
        </p:nvSpPr>
        <p:spPr>
          <a:xfrm>
            <a:off x="9787847" y="2119069"/>
            <a:ext cx="678475" cy="230832"/>
          </a:xfrm>
          <a:prstGeom prst="rect">
            <a:avLst/>
          </a:prstGeom>
          <a:noFill/>
          <a:effectLst/>
        </p:spPr>
        <p:txBody>
          <a:bodyPr wrap="square">
            <a:spAutoFit/>
          </a:bodyPr>
          <a:lstStyle/>
          <a:p>
            <a:r>
              <a:rPr lang="en-AU" sz="900">
                <a:solidFill>
                  <a:srgbClr val="68707B"/>
                </a:solidFill>
                <a:latin typeface="Poppins" pitchFamily="2" charset="77"/>
                <a:cs typeface="Poppins" pitchFamily="2" charset="77"/>
              </a:rPr>
              <a:t>Trusted</a:t>
            </a:r>
            <a:endParaRPr sz="900">
              <a:solidFill>
                <a:srgbClr val="68707B"/>
              </a:solidFill>
              <a:latin typeface="Poppins" pitchFamily="2" charset="77"/>
              <a:cs typeface="Poppins" pitchFamily="2" charset="77"/>
            </a:endParaRPr>
          </a:p>
        </p:txBody>
      </p:sp>
      <p:cxnSp>
        <p:nvCxnSpPr>
          <p:cNvPr id="130" name="Straight Connector 129">
            <a:extLst>
              <a:ext uri="{FF2B5EF4-FFF2-40B4-BE49-F238E27FC236}">
                <a16:creationId xmlns:a16="http://schemas.microsoft.com/office/drawing/2014/main" id="{E50CBCA0-CD7E-F730-BC21-F1E51A9FD856}"/>
              </a:ext>
            </a:extLst>
          </p:cNvPr>
          <p:cNvCxnSpPr>
            <a:cxnSpLocks/>
          </p:cNvCxnSpPr>
          <p:nvPr/>
        </p:nvCxnSpPr>
        <p:spPr>
          <a:xfrm flipV="1">
            <a:off x="9827515" y="2165637"/>
            <a:ext cx="0" cy="550024"/>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A91708A8-D864-4C44-A293-8F44BFDC87B1}"/>
              </a:ext>
            </a:extLst>
          </p:cNvPr>
          <p:cNvSpPr txBox="1"/>
          <p:nvPr/>
        </p:nvSpPr>
        <p:spPr>
          <a:xfrm>
            <a:off x="7461200" y="2119069"/>
            <a:ext cx="757074" cy="230832"/>
          </a:xfrm>
          <a:prstGeom prst="rect">
            <a:avLst/>
          </a:prstGeom>
          <a:noFill/>
          <a:effectLst/>
        </p:spPr>
        <p:txBody>
          <a:bodyPr wrap="square">
            <a:spAutoFit/>
          </a:bodyPr>
          <a:lstStyle/>
          <a:p>
            <a:r>
              <a:rPr lang="en-AU" sz="900">
                <a:solidFill>
                  <a:srgbClr val="68707B"/>
                </a:solidFill>
                <a:latin typeface="Poppins" pitchFamily="2" charset="77"/>
                <a:cs typeface="Poppins" pitchFamily="2" charset="77"/>
              </a:rPr>
              <a:t>Guarded</a:t>
            </a:r>
            <a:endParaRPr sz="900">
              <a:solidFill>
                <a:srgbClr val="68707B"/>
              </a:solidFill>
              <a:latin typeface="Poppins" pitchFamily="2" charset="77"/>
              <a:cs typeface="Poppins" pitchFamily="2" charset="77"/>
            </a:endParaRPr>
          </a:p>
        </p:txBody>
      </p:sp>
      <p:cxnSp>
        <p:nvCxnSpPr>
          <p:cNvPr id="132" name="Straight Connector 131">
            <a:extLst>
              <a:ext uri="{FF2B5EF4-FFF2-40B4-BE49-F238E27FC236}">
                <a16:creationId xmlns:a16="http://schemas.microsoft.com/office/drawing/2014/main" id="{EC16DD83-F8B9-A86E-5B15-05BB84EE808C}"/>
              </a:ext>
            </a:extLst>
          </p:cNvPr>
          <p:cNvCxnSpPr>
            <a:cxnSpLocks/>
          </p:cNvCxnSpPr>
          <p:nvPr/>
        </p:nvCxnSpPr>
        <p:spPr>
          <a:xfrm flipV="1">
            <a:off x="7483420" y="2176688"/>
            <a:ext cx="0" cy="550024"/>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386CCFB8-CF4A-B179-043D-A46837DF4ADC}"/>
              </a:ext>
            </a:extLst>
          </p:cNvPr>
          <p:cNvSpPr txBox="1"/>
          <p:nvPr/>
        </p:nvSpPr>
        <p:spPr>
          <a:xfrm>
            <a:off x="4010002" y="2119069"/>
            <a:ext cx="757074" cy="230832"/>
          </a:xfrm>
          <a:prstGeom prst="rect">
            <a:avLst/>
          </a:prstGeom>
          <a:noFill/>
          <a:effectLst/>
        </p:spPr>
        <p:txBody>
          <a:bodyPr wrap="square">
            <a:spAutoFit/>
          </a:bodyPr>
          <a:lstStyle/>
          <a:p>
            <a:r>
              <a:rPr lang="en-AU" sz="900">
                <a:solidFill>
                  <a:srgbClr val="68707B"/>
                </a:solidFill>
                <a:latin typeface="Poppins" pitchFamily="2" charset="77"/>
                <a:cs typeface="Poppins" pitchFamily="2" charset="77"/>
              </a:rPr>
              <a:t>Eroded</a:t>
            </a:r>
            <a:endParaRPr sz="900">
              <a:solidFill>
                <a:srgbClr val="68707B"/>
              </a:solidFill>
              <a:latin typeface="Poppins" pitchFamily="2" charset="77"/>
              <a:cs typeface="Poppins" pitchFamily="2" charset="77"/>
            </a:endParaRPr>
          </a:p>
        </p:txBody>
      </p:sp>
      <p:cxnSp>
        <p:nvCxnSpPr>
          <p:cNvPr id="134" name="Straight Connector 133">
            <a:extLst>
              <a:ext uri="{FF2B5EF4-FFF2-40B4-BE49-F238E27FC236}">
                <a16:creationId xmlns:a16="http://schemas.microsoft.com/office/drawing/2014/main" id="{0C280054-C02D-F0DB-5E78-895C5CEAFD0D}"/>
              </a:ext>
            </a:extLst>
          </p:cNvPr>
          <p:cNvCxnSpPr>
            <a:cxnSpLocks/>
          </p:cNvCxnSpPr>
          <p:nvPr/>
        </p:nvCxnSpPr>
        <p:spPr>
          <a:xfrm flipV="1">
            <a:off x="4006130" y="2176688"/>
            <a:ext cx="0" cy="550024"/>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135" name="TextBox 134">
            <a:extLst>
              <a:ext uri="{FF2B5EF4-FFF2-40B4-BE49-F238E27FC236}">
                <a16:creationId xmlns:a16="http://schemas.microsoft.com/office/drawing/2014/main" id="{0991DB0F-B09A-A95E-43DA-4DC895F38A4E}"/>
              </a:ext>
            </a:extLst>
          </p:cNvPr>
          <p:cNvSpPr txBox="1"/>
          <p:nvPr/>
        </p:nvSpPr>
        <p:spPr>
          <a:xfrm>
            <a:off x="10515065" y="2119069"/>
            <a:ext cx="1010204" cy="230832"/>
          </a:xfrm>
          <a:prstGeom prst="rect">
            <a:avLst/>
          </a:prstGeom>
          <a:noFill/>
          <a:effectLst/>
        </p:spPr>
        <p:txBody>
          <a:bodyPr wrap="square">
            <a:spAutoFit/>
          </a:bodyPr>
          <a:lstStyle/>
          <a:p>
            <a:r>
              <a:rPr lang="en-AU" sz="900">
                <a:solidFill>
                  <a:srgbClr val="68707B"/>
                </a:solidFill>
                <a:latin typeface="Poppins" pitchFamily="2" charset="77"/>
                <a:cs typeface="Poppins" pitchFamily="2" charset="77"/>
              </a:rPr>
              <a:t>Advocated</a:t>
            </a:r>
            <a:endParaRPr sz="900">
              <a:solidFill>
                <a:srgbClr val="68707B"/>
              </a:solidFill>
              <a:latin typeface="Poppins" pitchFamily="2" charset="77"/>
              <a:cs typeface="Poppins" pitchFamily="2" charset="77"/>
            </a:endParaRPr>
          </a:p>
        </p:txBody>
      </p:sp>
      <p:cxnSp>
        <p:nvCxnSpPr>
          <p:cNvPr id="136" name="Straight Connector 135">
            <a:extLst>
              <a:ext uri="{FF2B5EF4-FFF2-40B4-BE49-F238E27FC236}">
                <a16:creationId xmlns:a16="http://schemas.microsoft.com/office/drawing/2014/main" id="{ECE8B22C-731D-3081-F8E1-790A63548684}"/>
              </a:ext>
            </a:extLst>
          </p:cNvPr>
          <p:cNvCxnSpPr>
            <a:cxnSpLocks/>
          </p:cNvCxnSpPr>
          <p:nvPr/>
        </p:nvCxnSpPr>
        <p:spPr>
          <a:xfrm flipV="1">
            <a:off x="10536072" y="2176688"/>
            <a:ext cx="0" cy="550024"/>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137" name="Rectangle: Rounded Corners 3">
            <a:extLst>
              <a:ext uri="{FF2B5EF4-FFF2-40B4-BE49-F238E27FC236}">
                <a16:creationId xmlns:a16="http://schemas.microsoft.com/office/drawing/2014/main" id="{B52F26A6-D3F7-3F2B-3D4E-9C6C74524D30}"/>
              </a:ext>
            </a:extLst>
          </p:cNvPr>
          <p:cNvSpPr/>
          <p:nvPr/>
        </p:nvSpPr>
        <p:spPr>
          <a:xfrm>
            <a:off x="534637" y="3767650"/>
            <a:ext cx="3641306" cy="264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pPr marL="0" marR="0" lvl="0" indent="0" algn="l" defTabSz="914400" rtl="0" eaLnBrk="1" fontAlgn="auto" latinLnBrk="0" hangingPunct="1">
              <a:lnSpc>
                <a:spcPts val="1280"/>
              </a:lnSpc>
              <a:spcBef>
                <a:spcPts val="0"/>
              </a:spcBef>
              <a:spcAft>
                <a:spcPts val="0"/>
              </a:spcAft>
              <a:buClrTx/>
              <a:buSzTx/>
              <a:buFontTx/>
              <a:buNone/>
              <a:tabLst/>
              <a:defRPr/>
            </a:pPr>
            <a:r>
              <a:rPr kumimoji="0" lang="en-AU" sz="1600" b="1" i="0" u="none" strike="noStrike" kern="1200" cap="none" spc="0" normalizeH="0" baseline="0" noProof="0">
                <a:ln>
                  <a:noFill/>
                </a:ln>
                <a:solidFill>
                  <a:srgbClr val="3CA0FF"/>
                </a:solidFill>
                <a:effectLst/>
                <a:uLnTx/>
                <a:uFillTx/>
                <a:latin typeface="Poppins"/>
                <a:ea typeface="+mn-ea"/>
                <a:cs typeface="+mn-cs"/>
              </a:rPr>
              <a:t>Coal Mines Insurance</a:t>
            </a:r>
          </a:p>
          <a:p>
            <a:pPr marL="0" marR="0" lvl="0" indent="0" algn="l" defTabSz="914400" rtl="0" eaLnBrk="1" fontAlgn="auto" latinLnBrk="0" hangingPunct="1">
              <a:lnSpc>
                <a:spcPts val="1280"/>
              </a:lnSpc>
              <a:spcBef>
                <a:spcPts val="0"/>
              </a:spcBef>
              <a:spcAft>
                <a:spcPts val="0"/>
              </a:spcAft>
              <a:buClrTx/>
              <a:buSzTx/>
              <a:buFontTx/>
              <a:buNone/>
              <a:tabLst/>
              <a:defRPr/>
            </a:pPr>
            <a:r>
              <a:rPr lang="en-AU" sz="1200">
                <a:solidFill>
                  <a:srgbClr val="3CA0FF"/>
                </a:solidFill>
                <a:latin typeface="Poppins"/>
              </a:rPr>
              <a:t>25 responses</a:t>
            </a:r>
          </a:p>
        </p:txBody>
      </p:sp>
      <p:cxnSp>
        <p:nvCxnSpPr>
          <p:cNvPr id="138" name="Straight Connector 137">
            <a:extLst>
              <a:ext uri="{FF2B5EF4-FFF2-40B4-BE49-F238E27FC236}">
                <a16:creationId xmlns:a16="http://schemas.microsoft.com/office/drawing/2014/main" id="{68EF4048-94CF-7DCB-8224-C52B150D1FF2}"/>
              </a:ext>
            </a:extLst>
          </p:cNvPr>
          <p:cNvCxnSpPr>
            <a:cxnSpLocks/>
          </p:cNvCxnSpPr>
          <p:nvPr/>
        </p:nvCxnSpPr>
        <p:spPr>
          <a:xfrm flipV="1">
            <a:off x="4195589" y="3897648"/>
            <a:ext cx="7284655" cy="4591"/>
          </a:xfrm>
          <a:prstGeom prst="line">
            <a:avLst/>
          </a:prstGeom>
          <a:solidFill>
            <a:schemeClr val="accent6">
              <a:lumMod val="40000"/>
              <a:lumOff val="60000"/>
            </a:schemeClr>
          </a:solidFill>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35CDF780-FEEE-4B5E-321A-845A927BD3A1}"/>
              </a:ext>
            </a:extLst>
          </p:cNvPr>
          <p:cNvCxnSpPr>
            <a:cxnSpLocks/>
          </p:cNvCxnSpPr>
          <p:nvPr/>
        </p:nvCxnSpPr>
        <p:spPr>
          <a:xfrm>
            <a:off x="4184516" y="3899943"/>
            <a:ext cx="3700921" cy="0"/>
          </a:xfrm>
          <a:prstGeom prst="line">
            <a:avLst/>
          </a:prstGeom>
          <a:solidFill>
            <a:schemeClr val="accent6">
              <a:lumMod val="40000"/>
              <a:lumOff val="60000"/>
            </a:schemeClr>
          </a:solidFill>
          <a:ln w="31750" cap="rnd">
            <a:gradFill>
              <a:gsLst>
                <a:gs pos="0">
                  <a:srgbClr val="3CA0FF"/>
                </a:gs>
                <a:gs pos="100000">
                  <a:srgbClr val="20568A"/>
                </a:gs>
              </a:gsLst>
              <a:lin ang="0" scaled="0"/>
            </a:gradFill>
          </a:ln>
        </p:spPr>
        <p:style>
          <a:lnRef idx="1">
            <a:schemeClr val="accent1"/>
          </a:lnRef>
          <a:fillRef idx="0">
            <a:schemeClr val="accent1"/>
          </a:fillRef>
          <a:effectRef idx="0">
            <a:schemeClr val="accent1"/>
          </a:effectRef>
          <a:fontRef idx="minor">
            <a:schemeClr val="tx1"/>
          </a:fontRef>
        </p:style>
      </p:cxnSp>
      <p:sp>
        <p:nvSpPr>
          <p:cNvPr id="140" name="TextBox 139">
            <a:extLst>
              <a:ext uri="{FF2B5EF4-FFF2-40B4-BE49-F238E27FC236}">
                <a16:creationId xmlns:a16="http://schemas.microsoft.com/office/drawing/2014/main" id="{1D001C7C-04B8-851A-05C6-088FDBB25D36}"/>
              </a:ext>
            </a:extLst>
          </p:cNvPr>
          <p:cNvSpPr txBox="1"/>
          <p:nvPr/>
        </p:nvSpPr>
        <p:spPr>
          <a:xfrm>
            <a:off x="8048598" y="3750209"/>
            <a:ext cx="360000" cy="307777"/>
          </a:xfrm>
          <a:prstGeom prst="rect">
            <a:avLst/>
          </a:prstGeom>
          <a:solidFill>
            <a:srgbClr val="F6FCFF"/>
          </a:solidFill>
        </p:spPr>
        <p:txBody>
          <a:bodyPr wrap="square" lIns="0" tIns="0" rIns="0" bIns="0" rtlCol="0">
            <a:spAutoFit/>
          </a:bodyPr>
          <a:lstStyle/>
          <a:p>
            <a:pPr algn="ctr"/>
            <a:r>
              <a:rPr lang="en-AU" sz="2000" b="1">
                <a:solidFill>
                  <a:srgbClr val="3CA0FF"/>
                </a:solidFill>
                <a:latin typeface="Poppins Medium" panose="00000600000000000000" pitchFamily="2" charset="0"/>
                <a:cs typeface="Poppins Medium" panose="00000600000000000000" pitchFamily="2" charset="0"/>
              </a:rPr>
              <a:t>54</a:t>
            </a:r>
          </a:p>
        </p:txBody>
      </p:sp>
      <p:grpSp>
        <p:nvGrpSpPr>
          <p:cNvPr id="141" name="Group 140">
            <a:extLst>
              <a:ext uri="{FF2B5EF4-FFF2-40B4-BE49-F238E27FC236}">
                <a16:creationId xmlns:a16="http://schemas.microsoft.com/office/drawing/2014/main" id="{1B620AE0-FB6F-98E7-27B1-62CFF0F087D3}"/>
              </a:ext>
            </a:extLst>
          </p:cNvPr>
          <p:cNvGrpSpPr/>
          <p:nvPr/>
        </p:nvGrpSpPr>
        <p:grpSpPr>
          <a:xfrm>
            <a:off x="7739710" y="3769846"/>
            <a:ext cx="259200" cy="260194"/>
            <a:chOff x="3556123" y="3702990"/>
            <a:chExt cx="252613" cy="224901"/>
          </a:xfrm>
        </p:grpSpPr>
        <p:sp>
          <p:nvSpPr>
            <p:cNvPr id="142" name="Oval 141">
              <a:extLst>
                <a:ext uri="{FF2B5EF4-FFF2-40B4-BE49-F238E27FC236}">
                  <a16:creationId xmlns:a16="http://schemas.microsoft.com/office/drawing/2014/main" id="{F1C9380C-01F2-BF9E-07AF-84F3AC08FD73}"/>
                </a:ext>
              </a:extLst>
            </p:cNvPr>
            <p:cNvSpPr/>
            <p:nvPr/>
          </p:nvSpPr>
          <p:spPr>
            <a:xfrm>
              <a:off x="3556123" y="3702990"/>
              <a:ext cx="252613" cy="224901"/>
            </a:xfrm>
            <a:prstGeom prst="ellipse">
              <a:avLst/>
            </a:prstGeom>
            <a:solidFill>
              <a:srgbClr val="008BEA">
                <a:alpha val="1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p>
          </p:txBody>
        </p:sp>
        <p:sp>
          <p:nvSpPr>
            <p:cNvPr id="143" name="Oval 142">
              <a:extLst>
                <a:ext uri="{FF2B5EF4-FFF2-40B4-BE49-F238E27FC236}">
                  <a16:creationId xmlns:a16="http://schemas.microsoft.com/office/drawing/2014/main" id="{D2F1CAC5-532D-DC8E-D161-D94454B49AC6}"/>
                </a:ext>
              </a:extLst>
            </p:cNvPr>
            <p:cNvSpPr/>
            <p:nvPr/>
          </p:nvSpPr>
          <p:spPr>
            <a:xfrm>
              <a:off x="3635541" y="3764608"/>
              <a:ext cx="105256" cy="93139"/>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p>
          </p:txBody>
        </p:sp>
      </p:grpSp>
      <p:sp>
        <p:nvSpPr>
          <p:cNvPr id="144" name="Oval 143">
            <a:extLst>
              <a:ext uri="{FF2B5EF4-FFF2-40B4-BE49-F238E27FC236}">
                <a16:creationId xmlns:a16="http://schemas.microsoft.com/office/drawing/2014/main" id="{42AABB10-5E8C-04CC-142C-D2BFF0453270}"/>
              </a:ext>
            </a:extLst>
          </p:cNvPr>
          <p:cNvSpPr/>
          <p:nvPr/>
        </p:nvSpPr>
        <p:spPr>
          <a:xfrm>
            <a:off x="8672324" y="4368908"/>
            <a:ext cx="259200" cy="260194"/>
          </a:xfrm>
          <a:prstGeom prst="ellipse">
            <a:avLst/>
          </a:prstGeom>
          <a:solidFill>
            <a:schemeClr val="accent1">
              <a:lumMod val="20000"/>
              <a:lumOff val="80000"/>
              <a:alpha val="5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accent1">
                  <a:lumMod val="20000"/>
                  <a:lumOff val="80000"/>
                </a:schemeClr>
              </a:solidFill>
            </a:endParaRPr>
          </a:p>
        </p:txBody>
      </p:sp>
      <p:sp>
        <p:nvSpPr>
          <p:cNvPr id="145" name="Rectangle: Rounded Corners 6">
            <a:extLst>
              <a:ext uri="{FF2B5EF4-FFF2-40B4-BE49-F238E27FC236}">
                <a16:creationId xmlns:a16="http://schemas.microsoft.com/office/drawing/2014/main" id="{A7F9AB95-9CE0-C262-7791-8786B356B787}"/>
              </a:ext>
            </a:extLst>
          </p:cNvPr>
          <p:cNvSpPr/>
          <p:nvPr/>
        </p:nvSpPr>
        <p:spPr>
          <a:xfrm>
            <a:off x="534637" y="4369007"/>
            <a:ext cx="2997053" cy="2599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pPr marL="0" marR="0" lvl="0" indent="0" algn="l" defTabSz="914400" rtl="0" eaLnBrk="1" fontAlgn="auto" latinLnBrk="0" hangingPunct="1">
              <a:lnSpc>
                <a:spcPts val="1280"/>
              </a:lnSpc>
              <a:spcBef>
                <a:spcPts val="0"/>
              </a:spcBef>
              <a:spcAft>
                <a:spcPts val="0"/>
              </a:spcAft>
              <a:buClrTx/>
              <a:buSzTx/>
              <a:buFontTx/>
              <a:buNone/>
              <a:tabLst/>
              <a:defRPr/>
            </a:pPr>
            <a:r>
              <a:rPr kumimoji="0" lang="en-AU" sz="1600" b="1" i="0" u="none" strike="noStrike" kern="1200" cap="none" spc="0" normalizeH="0" baseline="0" noProof="0">
                <a:ln>
                  <a:noFill/>
                </a:ln>
                <a:solidFill>
                  <a:srgbClr val="D6001B"/>
                </a:solidFill>
                <a:effectLst/>
                <a:uLnTx/>
                <a:uFillTx/>
                <a:latin typeface="Poppins"/>
                <a:ea typeface="+mn-ea"/>
                <a:cs typeface="+mn-cs"/>
              </a:rPr>
              <a:t>Coal Services Health</a:t>
            </a:r>
          </a:p>
          <a:p>
            <a:pPr marL="0" marR="0" lvl="0" indent="0" algn="l" defTabSz="914400" rtl="0" eaLnBrk="1" fontAlgn="auto" latinLnBrk="0" hangingPunct="1">
              <a:lnSpc>
                <a:spcPts val="1280"/>
              </a:lnSpc>
              <a:spcBef>
                <a:spcPts val="0"/>
              </a:spcBef>
              <a:spcAft>
                <a:spcPts val="0"/>
              </a:spcAft>
              <a:buClrTx/>
              <a:buSzTx/>
              <a:buFontTx/>
              <a:buNone/>
              <a:tabLst/>
              <a:defRPr/>
            </a:pPr>
            <a:r>
              <a:rPr lang="en-AU" sz="1200">
                <a:solidFill>
                  <a:srgbClr val="D20F26"/>
                </a:solidFill>
                <a:latin typeface="Poppins"/>
              </a:rPr>
              <a:t>22 responses</a:t>
            </a:r>
          </a:p>
        </p:txBody>
      </p:sp>
      <p:cxnSp>
        <p:nvCxnSpPr>
          <p:cNvPr id="146" name="Straight Connector 145">
            <a:extLst>
              <a:ext uri="{FF2B5EF4-FFF2-40B4-BE49-F238E27FC236}">
                <a16:creationId xmlns:a16="http://schemas.microsoft.com/office/drawing/2014/main" id="{78DA3F9F-63EC-A8E6-6EAA-D393364B6DFE}"/>
              </a:ext>
            </a:extLst>
          </p:cNvPr>
          <p:cNvCxnSpPr>
            <a:cxnSpLocks/>
          </p:cNvCxnSpPr>
          <p:nvPr/>
        </p:nvCxnSpPr>
        <p:spPr>
          <a:xfrm flipV="1">
            <a:off x="4195590" y="4496710"/>
            <a:ext cx="7284655" cy="4591"/>
          </a:xfrm>
          <a:prstGeom prst="line">
            <a:avLst/>
          </a:prstGeom>
          <a:solidFill>
            <a:schemeClr val="accent6">
              <a:lumMod val="40000"/>
              <a:lumOff val="60000"/>
            </a:schemeClr>
          </a:solidFill>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F175AAE6-2EAB-502C-39C2-DFE375C31920}"/>
              </a:ext>
            </a:extLst>
          </p:cNvPr>
          <p:cNvCxnSpPr>
            <a:cxnSpLocks/>
          </p:cNvCxnSpPr>
          <p:nvPr/>
        </p:nvCxnSpPr>
        <p:spPr>
          <a:xfrm>
            <a:off x="4195589" y="4499005"/>
            <a:ext cx="4568755" cy="0"/>
          </a:xfrm>
          <a:prstGeom prst="line">
            <a:avLst/>
          </a:prstGeom>
          <a:solidFill>
            <a:schemeClr val="accent6">
              <a:lumMod val="40000"/>
              <a:lumOff val="60000"/>
            </a:schemeClr>
          </a:solidFill>
          <a:ln w="31750" cap="rnd">
            <a:gradFill>
              <a:gsLst>
                <a:gs pos="0">
                  <a:srgbClr val="D6001B"/>
                </a:gs>
                <a:gs pos="100000">
                  <a:srgbClr val="6D000D"/>
                </a:gs>
              </a:gsLst>
              <a:lin ang="0" scaled="0"/>
            </a:gradFill>
          </a:ln>
        </p:spPr>
        <p:style>
          <a:lnRef idx="1">
            <a:schemeClr val="accent1"/>
          </a:lnRef>
          <a:fillRef idx="0">
            <a:schemeClr val="accent1"/>
          </a:fillRef>
          <a:effectRef idx="0">
            <a:schemeClr val="accent1"/>
          </a:effectRef>
          <a:fontRef idx="minor">
            <a:schemeClr val="tx1"/>
          </a:fontRef>
        </p:style>
      </p:cxnSp>
      <p:sp>
        <p:nvSpPr>
          <p:cNvPr id="148" name="Oval 147">
            <a:extLst>
              <a:ext uri="{FF2B5EF4-FFF2-40B4-BE49-F238E27FC236}">
                <a16:creationId xmlns:a16="http://schemas.microsoft.com/office/drawing/2014/main" id="{FF4BCC25-FA5E-E791-3DA1-DF8FF38263FB}"/>
              </a:ext>
            </a:extLst>
          </p:cNvPr>
          <p:cNvSpPr/>
          <p:nvPr/>
        </p:nvSpPr>
        <p:spPr>
          <a:xfrm>
            <a:off x="8753271" y="4445128"/>
            <a:ext cx="108000" cy="107755"/>
          </a:xfrm>
          <a:prstGeom prst="ellipse">
            <a:avLst/>
          </a:prstGeom>
          <a:solidFill>
            <a:srgbClr val="A0001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b="1" i="0" u="none" strike="noStrike" kern="1200" cap="none" spc="0" normalizeH="0" baseline="0" noProof="0">
              <a:ln>
                <a:noFill/>
              </a:ln>
              <a:solidFill>
                <a:srgbClr val="D6001B"/>
              </a:solidFill>
              <a:effectLst/>
              <a:uLnTx/>
              <a:uFillTx/>
              <a:latin typeface="Poppins Medium" panose="00000600000000000000" pitchFamily="2" charset="0"/>
              <a:cs typeface="Poppins Medium" panose="00000600000000000000" pitchFamily="2" charset="0"/>
            </a:endParaRPr>
          </a:p>
        </p:txBody>
      </p:sp>
      <p:sp>
        <p:nvSpPr>
          <p:cNvPr id="149" name="TextBox 148">
            <a:extLst>
              <a:ext uri="{FF2B5EF4-FFF2-40B4-BE49-F238E27FC236}">
                <a16:creationId xmlns:a16="http://schemas.microsoft.com/office/drawing/2014/main" id="{D640BE7D-733A-D271-8274-4072F7DC8ACA}"/>
              </a:ext>
            </a:extLst>
          </p:cNvPr>
          <p:cNvSpPr txBox="1"/>
          <p:nvPr/>
        </p:nvSpPr>
        <p:spPr>
          <a:xfrm>
            <a:off x="8949830" y="4342129"/>
            <a:ext cx="360000" cy="307777"/>
          </a:xfrm>
          <a:prstGeom prst="rect">
            <a:avLst/>
          </a:prstGeom>
          <a:solidFill>
            <a:srgbClr val="F6FCFF"/>
          </a:solidFill>
        </p:spPr>
        <p:txBody>
          <a:bodyPr wrap="square" lIns="0" tIns="0" rIns="0" bIns="0" rtlCol="0">
            <a:spAutoFit/>
          </a:bodyPr>
          <a:lstStyle/>
          <a:p>
            <a:pPr algn="ctr"/>
            <a:r>
              <a:rPr lang="en-AU" sz="2000" b="1">
                <a:solidFill>
                  <a:srgbClr val="D6001B"/>
                </a:solidFill>
                <a:latin typeface="Poppins Medium" panose="00000600000000000000" pitchFamily="2" charset="0"/>
                <a:cs typeface="Poppins Medium" panose="00000600000000000000" pitchFamily="2" charset="0"/>
              </a:rPr>
              <a:t>66</a:t>
            </a:r>
          </a:p>
        </p:txBody>
      </p:sp>
      <p:sp>
        <p:nvSpPr>
          <p:cNvPr id="150" name="Oval 149">
            <a:extLst>
              <a:ext uri="{FF2B5EF4-FFF2-40B4-BE49-F238E27FC236}">
                <a16:creationId xmlns:a16="http://schemas.microsoft.com/office/drawing/2014/main" id="{CA85D946-63DD-18FE-ECF5-863DDCE8FECB}"/>
              </a:ext>
            </a:extLst>
          </p:cNvPr>
          <p:cNvSpPr/>
          <p:nvPr/>
        </p:nvSpPr>
        <p:spPr>
          <a:xfrm>
            <a:off x="10007168" y="4965773"/>
            <a:ext cx="259200" cy="260194"/>
          </a:xfrm>
          <a:prstGeom prst="ellipse">
            <a:avLst/>
          </a:prstGeom>
          <a:solidFill>
            <a:srgbClr val="A6AB45">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accent1">
                  <a:lumMod val="20000"/>
                  <a:lumOff val="80000"/>
                </a:schemeClr>
              </a:solidFill>
            </a:endParaRPr>
          </a:p>
        </p:txBody>
      </p:sp>
      <p:sp>
        <p:nvSpPr>
          <p:cNvPr id="151" name="Rectangle: Rounded Corners 7">
            <a:extLst>
              <a:ext uri="{FF2B5EF4-FFF2-40B4-BE49-F238E27FC236}">
                <a16:creationId xmlns:a16="http://schemas.microsoft.com/office/drawing/2014/main" id="{0D02D774-B69D-37D8-C6C1-47263F3B88D7}"/>
              </a:ext>
            </a:extLst>
          </p:cNvPr>
          <p:cNvSpPr/>
          <p:nvPr/>
        </p:nvSpPr>
        <p:spPr>
          <a:xfrm>
            <a:off x="534637" y="4993112"/>
            <a:ext cx="3344616" cy="2467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pPr marL="0" marR="0" lvl="0" indent="0" algn="l" defTabSz="914400" rtl="0" eaLnBrk="1" fontAlgn="auto" latinLnBrk="0" hangingPunct="1">
              <a:lnSpc>
                <a:spcPts val="1280"/>
              </a:lnSpc>
              <a:spcBef>
                <a:spcPts val="0"/>
              </a:spcBef>
              <a:spcAft>
                <a:spcPts val="0"/>
              </a:spcAft>
              <a:buClrTx/>
              <a:buSzTx/>
              <a:buFontTx/>
              <a:buNone/>
              <a:tabLst/>
              <a:defRPr/>
            </a:pPr>
            <a:r>
              <a:rPr kumimoji="0" lang="en-AU" sz="1600" b="1" i="0" u="none" strike="noStrike" kern="1200" cap="none" spc="0" normalizeH="0" baseline="0" noProof="0">
                <a:ln>
                  <a:noFill/>
                </a:ln>
                <a:solidFill>
                  <a:srgbClr val="A6AB45"/>
                </a:solidFill>
                <a:effectLst/>
                <a:uLnTx/>
                <a:uFillTx/>
                <a:latin typeface="Poppins"/>
                <a:ea typeface="+mn-ea"/>
                <a:cs typeface="+mn-cs"/>
              </a:rPr>
              <a:t>Mines Rescue Service</a:t>
            </a:r>
          </a:p>
          <a:p>
            <a:pPr marL="0" marR="0" lvl="0" indent="0" algn="l" defTabSz="914400" rtl="0" eaLnBrk="1" fontAlgn="auto" latinLnBrk="0" hangingPunct="1">
              <a:lnSpc>
                <a:spcPts val="1280"/>
              </a:lnSpc>
              <a:spcBef>
                <a:spcPts val="0"/>
              </a:spcBef>
              <a:spcAft>
                <a:spcPts val="0"/>
              </a:spcAft>
              <a:buClrTx/>
              <a:buSzTx/>
              <a:buFontTx/>
              <a:buNone/>
              <a:tabLst/>
              <a:defRPr/>
            </a:pPr>
            <a:r>
              <a:rPr lang="en-AU" sz="1200">
                <a:solidFill>
                  <a:srgbClr val="9DA60D"/>
                </a:solidFill>
                <a:latin typeface="Poppins"/>
              </a:rPr>
              <a:t>7 responses</a:t>
            </a:r>
          </a:p>
        </p:txBody>
      </p:sp>
      <p:cxnSp>
        <p:nvCxnSpPr>
          <p:cNvPr id="152" name="Straight Connector 151">
            <a:extLst>
              <a:ext uri="{FF2B5EF4-FFF2-40B4-BE49-F238E27FC236}">
                <a16:creationId xmlns:a16="http://schemas.microsoft.com/office/drawing/2014/main" id="{6D2297ED-7362-B6E1-287F-B549E05078AE}"/>
              </a:ext>
            </a:extLst>
          </p:cNvPr>
          <p:cNvCxnSpPr>
            <a:cxnSpLocks/>
          </p:cNvCxnSpPr>
          <p:nvPr/>
        </p:nvCxnSpPr>
        <p:spPr>
          <a:xfrm flipV="1">
            <a:off x="4195589" y="5095870"/>
            <a:ext cx="7284655" cy="4591"/>
          </a:xfrm>
          <a:prstGeom prst="line">
            <a:avLst/>
          </a:prstGeom>
          <a:solidFill>
            <a:schemeClr val="accent6">
              <a:lumMod val="40000"/>
              <a:lumOff val="60000"/>
            </a:schemeClr>
          </a:solidFill>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934A49A2-EAB8-B939-BF41-4E0544EB1B20}"/>
              </a:ext>
            </a:extLst>
          </p:cNvPr>
          <p:cNvCxnSpPr>
            <a:cxnSpLocks/>
          </p:cNvCxnSpPr>
          <p:nvPr/>
        </p:nvCxnSpPr>
        <p:spPr>
          <a:xfrm>
            <a:off x="4184516" y="5093139"/>
            <a:ext cx="5896926" cy="0"/>
          </a:xfrm>
          <a:prstGeom prst="line">
            <a:avLst/>
          </a:prstGeom>
          <a:solidFill>
            <a:schemeClr val="accent6">
              <a:lumMod val="40000"/>
              <a:lumOff val="60000"/>
            </a:schemeClr>
          </a:solidFill>
          <a:ln w="31750" cap="rnd">
            <a:gradFill>
              <a:gsLst>
                <a:gs pos="0">
                  <a:srgbClr val="A6AB45"/>
                </a:gs>
                <a:gs pos="100000">
                  <a:srgbClr val="71732E"/>
                </a:gs>
              </a:gsLst>
              <a:lin ang="0" scaled="0"/>
            </a:gradFill>
          </a:ln>
        </p:spPr>
        <p:style>
          <a:lnRef idx="1">
            <a:schemeClr val="accent1"/>
          </a:lnRef>
          <a:fillRef idx="0">
            <a:schemeClr val="accent1"/>
          </a:fillRef>
          <a:effectRef idx="0">
            <a:schemeClr val="accent1"/>
          </a:effectRef>
          <a:fontRef idx="minor">
            <a:schemeClr val="tx1"/>
          </a:fontRef>
        </p:style>
      </p:cxnSp>
      <p:sp>
        <p:nvSpPr>
          <p:cNvPr id="154" name="Oval 153">
            <a:extLst>
              <a:ext uri="{FF2B5EF4-FFF2-40B4-BE49-F238E27FC236}">
                <a16:creationId xmlns:a16="http://schemas.microsoft.com/office/drawing/2014/main" id="{C79198CA-031D-9F66-9EAC-8845F7A2535B}"/>
              </a:ext>
            </a:extLst>
          </p:cNvPr>
          <p:cNvSpPr/>
          <p:nvPr/>
        </p:nvSpPr>
        <p:spPr>
          <a:xfrm>
            <a:off x="10081442" y="5045949"/>
            <a:ext cx="108000" cy="107755"/>
          </a:xfrm>
          <a:prstGeom prst="ellipse">
            <a:avLst/>
          </a:prstGeom>
          <a:solidFill>
            <a:srgbClr val="A6AB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b="1" i="0" u="none" strike="noStrike" kern="1200" cap="none" spc="0" normalizeH="0" baseline="0" noProof="0">
              <a:ln>
                <a:noFill/>
              </a:ln>
              <a:solidFill>
                <a:srgbClr val="FFFFFF"/>
              </a:solidFill>
              <a:effectLst/>
              <a:uLnTx/>
              <a:uFillTx/>
              <a:latin typeface="Poppins Medium" panose="00000600000000000000" pitchFamily="2" charset="0"/>
              <a:cs typeface="Poppins Medium" panose="00000600000000000000" pitchFamily="2" charset="0"/>
            </a:endParaRPr>
          </a:p>
        </p:txBody>
      </p:sp>
      <p:sp>
        <p:nvSpPr>
          <p:cNvPr id="155" name="TextBox 154">
            <a:extLst>
              <a:ext uri="{FF2B5EF4-FFF2-40B4-BE49-F238E27FC236}">
                <a16:creationId xmlns:a16="http://schemas.microsoft.com/office/drawing/2014/main" id="{A23B791A-7A36-E44B-7CA5-CE16C662D035}"/>
              </a:ext>
            </a:extLst>
          </p:cNvPr>
          <p:cNvSpPr txBox="1"/>
          <p:nvPr/>
        </p:nvSpPr>
        <p:spPr>
          <a:xfrm>
            <a:off x="10271963" y="4947265"/>
            <a:ext cx="360000" cy="307777"/>
          </a:xfrm>
          <a:prstGeom prst="rect">
            <a:avLst/>
          </a:prstGeom>
          <a:solidFill>
            <a:srgbClr val="F6FCFF"/>
          </a:solidFill>
        </p:spPr>
        <p:txBody>
          <a:bodyPr wrap="square" lIns="0" tIns="0" rIns="0" bIns="0" rtlCol="0">
            <a:spAutoFit/>
          </a:bodyPr>
          <a:lstStyle/>
          <a:p>
            <a:pPr algn="ctr"/>
            <a:r>
              <a:rPr lang="en-AU" sz="2000" b="1">
                <a:solidFill>
                  <a:srgbClr val="939A00"/>
                </a:solidFill>
                <a:latin typeface="Poppins Medium" panose="00000600000000000000" pitchFamily="2" charset="0"/>
                <a:cs typeface="Poppins Medium" panose="00000600000000000000" pitchFamily="2" charset="0"/>
              </a:rPr>
              <a:t>83</a:t>
            </a:r>
          </a:p>
        </p:txBody>
      </p:sp>
      <p:sp>
        <p:nvSpPr>
          <p:cNvPr id="156" name="Rectangle: Rounded Corners 3">
            <a:extLst>
              <a:ext uri="{FF2B5EF4-FFF2-40B4-BE49-F238E27FC236}">
                <a16:creationId xmlns:a16="http://schemas.microsoft.com/office/drawing/2014/main" id="{B13CF975-28E3-BA7B-E0D1-7EA4CFAABFC6}"/>
              </a:ext>
            </a:extLst>
          </p:cNvPr>
          <p:cNvSpPr/>
          <p:nvPr/>
        </p:nvSpPr>
        <p:spPr>
          <a:xfrm>
            <a:off x="534637" y="3166392"/>
            <a:ext cx="3641306" cy="264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pPr marL="0" marR="0" lvl="0" indent="0" algn="l" defTabSz="914400" rtl="0" eaLnBrk="1" fontAlgn="auto" latinLnBrk="0" hangingPunct="1">
              <a:lnSpc>
                <a:spcPts val="1280"/>
              </a:lnSpc>
              <a:spcBef>
                <a:spcPts val="0"/>
              </a:spcBef>
              <a:spcAft>
                <a:spcPts val="0"/>
              </a:spcAft>
              <a:buClrTx/>
              <a:buSzTx/>
              <a:buFontTx/>
              <a:buNone/>
              <a:tabLst/>
              <a:defRPr/>
            </a:pPr>
            <a:r>
              <a:rPr kumimoji="0" lang="en-AU" sz="1600" b="1" i="0" u="none" strike="noStrike" kern="1200" cap="none" spc="0" normalizeH="0" baseline="0" noProof="0" dirty="0">
                <a:ln>
                  <a:noFill/>
                </a:ln>
                <a:solidFill>
                  <a:schemeClr val="accent3"/>
                </a:solidFill>
                <a:effectLst/>
                <a:uLnTx/>
                <a:uFillTx/>
                <a:latin typeface="Poppins"/>
                <a:ea typeface="+mn-ea"/>
                <a:cs typeface="+mn-cs"/>
              </a:rPr>
              <a:t>Business Unit Score</a:t>
            </a:r>
            <a:br>
              <a:rPr kumimoji="0" lang="en-AU" sz="1600" b="1" i="0" u="none" strike="noStrike" kern="1200" cap="none" spc="0" normalizeH="0" baseline="0" noProof="0" dirty="0">
                <a:ln>
                  <a:noFill/>
                </a:ln>
                <a:solidFill>
                  <a:schemeClr val="accent3"/>
                </a:solidFill>
                <a:effectLst/>
                <a:uLnTx/>
                <a:uFillTx/>
                <a:latin typeface="Poppins"/>
                <a:ea typeface="+mn-ea"/>
                <a:cs typeface="+mn-cs"/>
              </a:rPr>
            </a:br>
            <a:r>
              <a:rPr kumimoji="0" lang="en-AU" sz="1200" i="0" u="none" strike="noStrike" kern="1200" cap="none" spc="0" normalizeH="0" baseline="0" noProof="0" dirty="0">
                <a:ln>
                  <a:noFill/>
                </a:ln>
                <a:solidFill>
                  <a:schemeClr val="accent3"/>
                </a:solidFill>
                <a:effectLst/>
                <a:uLnTx/>
                <a:uFillTx/>
                <a:latin typeface="Poppins"/>
                <a:ea typeface="+mn-ea"/>
                <a:cs typeface="+mn-cs"/>
              </a:rPr>
              <a:t>57 responses</a:t>
            </a:r>
            <a:endParaRPr kumimoji="0" lang="en-AU" sz="1600" i="0" u="none" strike="noStrike" kern="1200" cap="none" spc="0" normalizeH="0" baseline="0" noProof="0" dirty="0">
              <a:ln>
                <a:noFill/>
              </a:ln>
              <a:solidFill>
                <a:schemeClr val="accent3"/>
              </a:solidFill>
              <a:effectLst/>
              <a:uLnTx/>
              <a:uFillTx/>
              <a:latin typeface="Poppins"/>
              <a:ea typeface="+mn-ea"/>
              <a:cs typeface="+mn-cs"/>
            </a:endParaRPr>
          </a:p>
        </p:txBody>
      </p:sp>
      <p:cxnSp>
        <p:nvCxnSpPr>
          <p:cNvPr id="157" name="Straight Connector 156">
            <a:extLst>
              <a:ext uri="{FF2B5EF4-FFF2-40B4-BE49-F238E27FC236}">
                <a16:creationId xmlns:a16="http://schemas.microsoft.com/office/drawing/2014/main" id="{1460B682-866F-D285-7143-7CD70753B74B}"/>
              </a:ext>
            </a:extLst>
          </p:cNvPr>
          <p:cNvCxnSpPr>
            <a:cxnSpLocks/>
          </p:cNvCxnSpPr>
          <p:nvPr/>
        </p:nvCxnSpPr>
        <p:spPr>
          <a:xfrm flipV="1">
            <a:off x="4195589" y="3296390"/>
            <a:ext cx="7284655" cy="4591"/>
          </a:xfrm>
          <a:prstGeom prst="line">
            <a:avLst/>
          </a:prstGeom>
          <a:solidFill>
            <a:schemeClr val="accent6">
              <a:lumMod val="40000"/>
              <a:lumOff val="60000"/>
            </a:schemeClr>
          </a:solidFill>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B6107AC6-3134-2747-F010-BF35D811FFE2}"/>
              </a:ext>
            </a:extLst>
          </p:cNvPr>
          <p:cNvCxnSpPr>
            <a:cxnSpLocks/>
          </p:cNvCxnSpPr>
          <p:nvPr/>
        </p:nvCxnSpPr>
        <p:spPr>
          <a:xfrm flipV="1">
            <a:off x="4184516" y="3293754"/>
            <a:ext cx="4400833" cy="0"/>
          </a:xfrm>
          <a:prstGeom prst="line">
            <a:avLst/>
          </a:prstGeom>
          <a:solidFill>
            <a:schemeClr val="accent6">
              <a:lumMod val="40000"/>
              <a:lumOff val="60000"/>
            </a:schemeClr>
          </a:solidFill>
          <a:ln w="31750" cap="rnd">
            <a:gradFill>
              <a:gsLst>
                <a:gs pos="0">
                  <a:schemeClr val="accent3"/>
                </a:gs>
                <a:gs pos="100000">
                  <a:schemeClr val="accent3">
                    <a:lumMod val="7500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159" name="TextBox 158">
            <a:extLst>
              <a:ext uri="{FF2B5EF4-FFF2-40B4-BE49-F238E27FC236}">
                <a16:creationId xmlns:a16="http://schemas.microsoft.com/office/drawing/2014/main" id="{8CB5BF67-A786-B993-7143-C88033FAFCA8}"/>
              </a:ext>
            </a:extLst>
          </p:cNvPr>
          <p:cNvSpPr txBox="1"/>
          <p:nvPr/>
        </p:nvSpPr>
        <p:spPr>
          <a:xfrm>
            <a:off x="8783946" y="3159066"/>
            <a:ext cx="360000" cy="307777"/>
          </a:xfrm>
          <a:prstGeom prst="rect">
            <a:avLst/>
          </a:prstGeom>
          <a:solidFill>
            <a:srgbClr val="F6FCFF"/>
          </a:solidFill>
        </p:spPr>
        <p:txBody>
          <a:bodyPr wrap="square" lIns="0" tIns="0" rIns="0" bIns="0" rtlCol="0">
            <a:spAutoFit/>
          </a:bodyPr>
          <a:lstStyle/>
          <a:p>
            <a:pPr algn="ctr"/>
            <a:r>
              <a:rPr lang="en-AU" sz="2000" b="1">
                <a:solidFill>
                  <a:schemeClr val="accent3"/>
                </a:solidFill>
                <a:latin typeface="Poppins Medium" panose="00000600000000000000" pitchFamily="2" charset="0"/>
                <a:cs typeface="Poppins Medium" panose="00000600000000000000" pitchFamily="2" charset="0"/>
              </a:rPr>
              <a:t>64</a:t>
            </a:r>
          </a:p>
        </p:txBody>
      </p:sp>
      <p:grpSp>
        <p:nvGrpSpPr>
          <p:cNvPr id="160" name="Group 159">
            <a:extLst>
              <a:ext uri="{FF2B5EF4-FFF2-40B4-BE49-F238E27FC236}">
                <a16:creationId xmlns:a16="http://schemas.microsoft.com/office/drawing/2014/main" id="{A46713FB-FC60-671F-17AA-D82DB001B80B}"/>
              </a:ext>
            </a:extLst>
          </p:cNvPr>
          <p:cNvGrpSpPr/>
          <p:nvPr/>
        </p:nvGrpSpPr>
        <p:grpSpPr>
          <a:xfrm>
            <a:off x="8503867" y="3168588"/>
            <a:ext cx="259200" cy="260194"/>
            <a:chOff x="4300864" y="3702990"/>
            <a:chExt cx="252613" cy="224901"/>
          </a:xfrm>
        </p:grpSpPr>
        <p:sp>
          <p:nvSpPr>
            <p:cNvPr id="161" name="Oval 160">
              <a:extLst>
                <a:ext uri="{FF2B5EF4-FFF2-40B4-BE49-F238E27FC236}">
                  <a16:creationId xmlns:a16="http://schemas.microsoft.com/office/drawing/2014/main" id="{981FB582-B030-AAD6-1498-8110D6654A7A}"/>
                </a:ext>
              </a:extLst>
            </p:cNvPr>
            <p:cNvSpPr/>
            <p:nvPr/>
          </p:nvSpPr>
          <p:spPr>
            <a:xfrm>
              <a:off x="4300864" y="3702990"/>
              <a:ext cx="252613" cy="224901"/>
            </a:xfrm>
            <a:prstGeom prst="ellipse">
              <a:avLst/>
            </a:prstGeom>
            <a:solidFill>
              <a:schemeClr val="accent3">
                <a:alpha val="1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p>
          </p:txBody>
        </p:sp>
        <p:sp>
          <p:nvSpPr>
            <p:cNvPr id="162" name="Oval 161">
              <a:extLst>
                <a:ext uri="{FF2B5EF4-FFF2-40B4-BE49-F238E27FC236}">
                  <a16:creationId xmlns:a16="http://schemas.microsoft.com/office/drawing/2014/main" id="{0960A88B-50DF-586D-0C1B-D6764D279C66}"/>
                </a:ext>
              </a:extLst>
            </p:cNvPr>
            <p:cNvSpPr/>
            <p:nvPr/>
          </p:nvSpPr>
          <p:spPr>
            <a:xfrm>
              <a:off x="4380275" y="3764608"/>
              <a:ext cx="105256" cy="93139"/>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p>
          </p:txBody>
        </p:sp>
      </p:grpSp>
      <p:sp>
        <p:nvSpPr>
          <p:cNvPr id="163" name="Rectangle: Rounded Corners 3">
            <a:extLst>
              <a:ext uri="{FF2B5EF4-FFF2-40B4-BE49-F238E27FC236}">
                <a16:creationId xmlns:a16="http://schemas.microsoft.com/office/drawing/2014/main" id="{175F22A2-88DF-4DFB-C792-B80D010D265A}"/>
              </a:ext>
            </a:extLst>
          </p:cNvPr>
          <p:cNvSpPr/>
          <p:nvPr/>
        </p:nvSpPr>
        <p:spPr>
          <a:xfrm>
            <a:off x="518679" y="2160599"/>
            <a:ext cx="3641306" cy="50478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pPr>
              <a:defRPr/>
            </a:pPr>
            <a:r>
              <a:rPr lang="en-AU" b="1" dirty="0">
                <a:solidFill>
                  <a:srgbClr val="445469"/>
                </a:solidFill>
                <a:latin typeface="Poppins"/>
              </a:rPr>
              <a:t>Individual Business Unit </a:t>
            </a:r>
            <a:br>
              <a:rPr lang="en-AU" b="1" dirty="0">
                <a:solidFill>
                  <a:srgbClr val="445469"/>
                </a:solidFill>
                <a:latin typeface="Poppins"/>
              </a:rPr>
            </a:br>
            <a:r>
              <a:rPr lang="en-AU" b="1" dirty="0">
                <a:solidFill>
                  <a:srgbClr val="445469"/>
                </a:solidFill>
                <a:latin typeface="Poppins"/>
              </a:rPr>
              <a:t>Scores</a:t>
            </a:r>
          </a:p>
        </p:txBody>
      </p:sp>
      <p:sp>
        <p:nvSpPr>
          <p:cNvPr id="164" name="TextBox 163">
            <a:extLst>
              <a:ext uri="{FF2B5EF4-FFF2-40B4-BE49-F238E27FC236}">
                <a16:creationId xmlns:a16="http://schemas.microsoft.com/office/drawing/2014/main" id="{0DA0EBBD-124A-0C41-A2DE-27F625ED49B0}"/>
              </a:ext>
            </a:extLst>
          </p:cNvPr>
          <p:cNvSpPr txBox="1"/>
          <p:nvPr/>
        </p:nvSpPr>
        <p:spPr>
          <a:xfrm>
            <a:off x="8987846" y="2377176"/>
            <a:ext cx="432485" cy="276999"/>
          </a:xfrm>
          <a:prstGeom prst="rect">
            <a:avLst/>
          </a:prstGeom>
          <a:noFill/>
        </p:spPr>
        <p:txBody>
          <a:bodyPr wrap="square" rtlCol="0">
            <a:spAutoFit/>
          </a:bodyPr>
          <a:lstStyle/>
          <a:p>
            <a:pPr algn="ctr"/>
            <a:r>
              <a:rPr lang="en-AU" sz="1200">
                <a:latin typeface="+mj-lt"/>
              </a:rPr>
              <a:t>70</a:t>
            </a:r>
          </a:p>
        </p:txBody>
      </p:sp>
      <p:sp>
        <p:nvSpPr>
          <p:cNvPr id="4" name="Rounded Rectangle 3">
            <a:extLst>
              <a:ext uri="{FF2B5EF4-FFF2-40B4-BE49-F238E27FC236}">
                <a16:creationId xmlns:a16="http://schemas.microsoft.com/office/drawing/2014/main" id="{8E43CADE-59A2-3DB0-0ACD-27B9CCD9B1EA}"/>
              </a:ext>
            </a:extLst>
          </p:cNvPr>
          <p:cNvSpPr/>
          <p:nvPr/>
        </p:nvSpPr>
        <p:spPr>
          <a:xfrm>
            <a:off x="542855" y="1331107"/>
            <a:ext cx="7607612" cy="393291"/>
          </a:xfrm>
          <a:prstGeom prst="roundRect">
            <a:avLst/>
          </a:prstGeom>
          <a:solidFill>
            <a:schemeClr val="bg1"/>
          </a:solidFill>
          <a:ln>
            <a:noFill/>
          </a:ln>
          <a:effectLst>
            <a:outerShdw blurRad="63500" dist="38100" dir="8100000" algn="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52000" rtlCol="0" anchor="ctr"/>
          <a:lstStyle/>
          <a:p>
            <a:endParaRPr lang="en-GB" sz="1050">
              <a:solidFill>
                <a:srgbClr val="00AEEF"/>
              </a:solidFill>
              <a:latin typeface="Open Sans"/>
            </a:endParaRPr>
          </a:p>
        </p:txBody>
      </p:sp>
      <p:sp>
        <p:nvSpPr>
          <p:cNvPr id="7" name="TextBox 6">
            <a:extLst>
              <a:ext uri="{FF2B5EF4-FFF2-40B4-BE49-F238E27FC236}">
                <a16:creationId xmlns:a16="http://schemas.microsoft.com/office/drawing/2014/main" id="{6E78B55B-0974-AEC0-5CE4-A0F2F9B7F191}"/>
              </a:ext>
            </a:extLst>
          </p:cNvPr>
          <p:cNvSpPr txBox="1"/>
          <p:nvPr/>
        </p:nvSpPr>
        <p:spPr>
          <a:xfrm>
            <a:off x="542856" y="1384593"/>
            <a:ext cx="7607612" cy="338554"/>
          </a:xfrm>
          <a:prstGeom prst="rect">
            <a:avLst/>
          </a:prstGeom>
          <a:noFill/>
        </p:spPr>
        <p:txBody>
          <a:bodyPr wrap="square" rtlCol="0">
            <a:spAutoFit/>
          </a:bodyPr>
          <a:lstStyle/>
          <a:p>
            <a:pPr algn="ctr"/>
            <a:r>
              <a:rPr lang="en-AU" sz="1600" b="1" dirty="0">
                <a:solidFill>
                  <a:schemeClr val="accent3"/>
                </a:solidFill>
                <a:latin typeface="Poppins SemiBold" panose="00000700000000000000" pitchFamily="2" charset="77"/>
                <a:cs typeface="Poppins SemiBold" panose="00000700000000000000" pitchFamily="2" charset="77"/>
              </a:rPr>
              <a:t>How industry scored each business unit they had high interaction with</a:t>
            </a:r>
            <a:r>
              <a:rPr lang="en-AU" sz="1600" dirty="0">
                <a:solidFill>
                  <a:schemeClr val="accent3"/>
                </a:solidFill>
                <a:latin typeface="Poppins" pitchFamily="2" charset="77"/>
                <a:cs typeface="Poppins" pitchFamily="2" charset="77"/>
              </a:rPr>
              <a:t>*</a:t>
            </a:r>
          </a:p>
        </p:txBody>
      </p:sp>
      <p:sp>
        <p:nvSpPr>
          <p:cNvPr id="8" name="Rectangle: Rounded Corners 3">
            <a:extLst>
              <a:ext uri="{FF2B5EF4-FFF2-40B4-BE49-F238E27FC236}">
                <a16:creationId xmlns:a16="http://schemas.microsoft.com/office/drawing/2014/main" id="{4045201B-596A-BDA2-5626-8C02132FF531}"/>
              </a:ext>
            </a:extLst>
          </p:cNvPr>
          <p:cNvSpPr/>
          <p:nvPr/>
        </p:nvSpPr>
        <p:spPr>
          <a:xfrm>
            <a:off x="542855" y="6439171"/>
            <a:ext cx="5100671" cy="264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pPr marL="0" marR="0" lvl="0" indent="0" algn="l" defTabSz="914400" rtl="0" eaLnBrk="1" fontAlgn="auto" latinLnBrk="0" hangingPunct="1">
              <a:lnSpc>
                <a:spcPts val="1280"/>
              </a:lnSpc>
              <a:spcBef>
                <a:spcPts val="0"/>
              </a:spcBef>
              <a:spcAft>
                <a:spcPts val="0"/>
              </a:spcAft>
              <a:buClrTx/>
              <a:buSzTx/>
              <a:buFontTx/>
              <a:buNone/>
              <a:tabLst/>
              <a:defRPr/>
            </a:pPr>
            <a:r>
              <a:rPr kumimoji="0" lang="en-AU" sz="1200" i="0" u="none" strike="noStrike" kern="1200" cap="none" spc="0" normalizeH="0" baseline="0" noProof="0" dirty="0">
                <a:ln>
                  <a:noFill/>
                </a:ln>
                <a:solidFill>
                  <a:schemeClr val="accent3"/>
                </a:solidFill>
                <a:effectLst/>
                <a:uLnTx/>
                <a:uFillTx/>
                <a:latin typeface="Poppins"/>
                <a:ea typeface="+mn-ea"/>
                <a:cs typeface="+mn-cs"/>
              </a:rPr>
              <a:t>* Respondents rated up to 2 business units each</a:t>
            </a:r>
            <a:endParaRPr kumimoji="0" lang="en-AU" sz="1600" i="0" u="none" strike="noStrike" kern="1200" cap="none" spc="0" normalizeH="0" baseline="0" noProof="0" dirty="0">
              <a:ln>
                <a:noFill/>
              </a:ln>
              <a:solidFill>
                <a:schemeClr val="accent3"/>
              </a:solidFill>
              <a:effectLst/>
              <a:uLnTx/>
              <a:uFillTx/>
              <a:latin typeface="Poppins"/>
              <a:ea typeface="+mn-ea"/>
              <a:cs typeface="+mn-cs"/>
            </a:endParaRPr>
          </a:p>
        </p:txBody>
      </p:sp>
      <p:sp>
        <p:nvSpPr>
          <p:cNvPr id="2" name="Slide Number Placeholder 1">
            <a:extLst>
              <a:ext uri="{FF2B5EF4-FFF2-40B4-BE49-F238E27FC236}">
                <a16:creationId xmlns:a16="http://schemas.microsoft.com/office/drawing/2014/main" id="{E5960DAB-973E-BBE1-C5C2-B047D4FAFCB5}"/>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472213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F241B-97E4-7992-02D1-7B4F0F5FE832}"/>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66F7A98-82B4-1664-51FA-94903C5520EF}"/>
              </a:ext>
            </a:extLst>
          </p:cNvPr>
          <p:cNvCxnSpPr>
            <a:cxnSpLocks/>
            <a:endCxn id="8"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8836AF8-CE2E-439D-B7B7-FE7CAC23907E}"/>
              </a:ext>
            </a:extLst>
          </p:cNvPr>
          <p:cNvCxnSpPr>
            <a:cxnSpLocks/>
            <a:stCxn id="8" idx="3"/>
          </p:cNvCxnSpPr>
          <p:nvPr/>
        </p:nvCxnSpPr>
        <p:spPr>
          <a:xfrm>
            <a:off x="2068286" y="277669"/>
            <a:ext cx="10123714"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Text 0">
            <a:extLst>
              <a:ext uri="{FF2B5EF4-FFF2-40B4-BE49-F238E27FC236}">
                <a16:creationId xmlns:a16="http://schemas.microsoft.com/office/drawing/2014/main" id="{1C1EEECC-4729-C97E-BA48-FC216AC751C3}"/>
              </a:ext>
            </a:extLst>
          </p:cNvPr>
          <p:cNvSpPr/>
          <p:nvPr/>
        </p:nvSpPr>
        <p:spPr>
          <a:xfrm>
            <a:off x="548641" y="165782"/>
            <a:ext cx="1519645"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a:ln>
                  <a:noFill/>
                </a:ln>
                <a:solidFill>
                  <a:schemeClr val="accent6"/>
                </a:solidFill>
                <a:effectLst/>
                <a:uLnTx/>
                <a:uFillTx/>
                <a:latin typeface="Poppins" pitchFamily="34" charset="0"/>
                <a:ea typeface="Poppins" pitchFamily="34" charset="-122"/>
                <a:cs typeface="Poppins" pitchFamily="34" charset="-120"/>
              </a:rPr>
              <a:t>Five Key Insights</a:t>
            </a:r>
          </a:p>
        </p:txBody>
      </p:sp>
      <p:pic>
        <p:nvPicPr>
          <p:cNvPr id="13" name="Picture 12" descr="Insurance - Coal Mines Insurance (CMI): Coal Services">
            <a:extLst>
              <a:ext uri="{FF2B5EF4-FFF2-40B4-BE49-F238E27FC236}">
                <a16:creationId xmlns:a16="http://schemas.microsoft.com/office/drawing/2014/main" id="{6CDE87F7-D12C-8675-E657-F64DAF8934DD}"/>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8590490" y="0"/>
            <a:ext cx="3608070" cy="6858000"/>
          </a:xfrm>
          <a:prstGeom prst="rect">
            <a:avLst/>
          </a:prstGeom>
        </p:spPr>
      </p:pic>
      <p:sp>
        <p:nvSpPr>
          <p:cNvPr id="18" name="Title 4">
            <a:extLst>
              <a:ext uri="{FF2B5EF4-FFF2-40B4-BE49-F238E27FC236}">
                <a16:creationId xmlns:a16="http://schemas.microsoft.com/office/drawing/2014/main" id="{C55F55DE-BB91-6544-D5B6-07941B0F63CA}"/>
              </a:ext>
            </a:extLst>
          </p:cNvPr>
          <p:cNvSpPr txBox="1">
            <a:spLocks/>
          </p:cNvSpPr>
          <p:nvPr/>
        </p:nvSpPr>
        <p:spPr>
          <a:xfrm>
            <a:off x="525016" y="482093"/>
            <a:ext cx="7521703" cy="796193"/>
          </a:xfrm>
          <a:prstGeom prst="rect">
            <a:avLst/>
          </a:prstGeom>
        </p:spPr>
        <p:txBody>
          <a:bodyPr vert="horz" lIns="91440" tIns="45720" rIns="91440" bIns="45720" rtlCol="0" anchor="ctr">
            <a:normAutofit lnSpcReduction="10000"/>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US"/>
              <a:t>Five key insights behind Coal Services’ Industry Sentiment Score</a:t>
            </a:r>
          </a:p>
        </p:txBody>
      </p:sp>
      <p:sp>
        <p:nvSpPr>
          <p:cNvPr id="2" name="Title 4">
            <a:extLst>
              <a:ext uri="{FF2B5EF4-FFF2-40B4-BE49-F238E27FC236}">
                <a16:creationId xmlns:a16="http://schemas.microsoft.com/office/drawing/2014/main" id="{18E0CBC8-0941-8517-F7F5-B3CF3CFA8DD5}"/>
              </a:ext>
            </a:extLst>
          </p:cNvPr>
          <p:cNvSpPr>
            <a:spLocks noGrp="1"/>
          </p:cNvSpPr>
          <p:nvPr>
            <p:ph type="title"/>
          </p:nvPr>
        </p:nvSpPr>
        <p:spPr>
          <a:xfrm>
            <a:off x="1405892" y="2631558"/>
            <a:ext cx="6640828" cy="612000"/>
          </a:xfrm>
        </p:spPr>
        <p:txBody>
          <a:bodyPr anchor="t">
            <a:noAutofit/>
          </a:bodyPr>
          <a:lstStyle/>
          <a:p>
            <a:pPr>
              <a:lnSpc>
                <a:spcPct val="100000"/>
              </a:lnSpc>
              <a:spcBef>
                <a:spcPts val="300"/>
              </a:spcBef>
            </a:pPr>
            <a:r>
              <a:rPr lang="en-US" sz="1800" b="1">
                <a:solidFill>
                  <a:schemeClr val="accent6">
                    <a:lumMod val="75000"/>
                  </a:schemeClr>
                </a:solidFill>
                <a:latin typeface="Poppins SemiBold" panose="00000700000000000000" pitchFamily="2" charset="77"/>
                <a:cs typeface="Poppins SemiBold" panose="00000700000000000000" pitchFamily="2" charset="77"/>
              </a:rPr>
              <a:t>Same systems produce different tensions and needs for MC and MEU</a:t>
            </a:r>
          </a:p>
        </p:txBody>
      </p:sp>
      <p:sp>
        <p:nvSpPr>
          <p:cNvPr id="5" name="Title 4">
            <a:extLst>
              <a:ext uri="{FF2B5EF4-FFF2-40B4-BE49-F238E27FC236}">
                <a16:creationId xmlns:a16="http://schemas.microsoft.com/office/drawing/2014/main" id="{F5D146F8-C411-5A90-F032-03AB398625E6}"/>
              </a:ext>
            </a:extLst>
          </p:cNvPr>
          <p:cNvSpPr txBox="1">
            <a:spLocks/>
          </p:cNvSpPr>
          <p:nvPr/>
        </p:nvSpPr>
        <p:spPr>
          <a:xfrm>
            <a:off x="1405892" y="1701997"/>
            <a:ext cx="6750328" cy="61159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800" kern="1200">
                <a:solidFill>
                  <a:schemeClr val="tx1"/>
                </a:solidFill>
                <a:latin typeface="Poppins" pitchFamily="2" charset="77"/>
                <a:ea typeface="+mj-ea"/>
                <a:cs typeface="Poppins" pitchFamily="2" charset="77"/>
              </a:defRPr>
            </a:lvl1pPr>
          </a:lstStyle>
          <a:p>
            <a:pPr>
              <a:lnSpc>
                <a:spcPct val="100000"/>
              </a:lnSpc>
              <a:spcBef>
                <a:spcPts val="300"/>
              </a:spcBef>
            </a:pPr>
            <a:r>
              <a:rPr lang="en-US" sz="1800" b="1">
                <a:solidFill>
                  <a:schemeClr val="accent6">
                    <a:lumMod val="75000"/>
                  </a:schemeClr>
                </a:solidFill>
                <a:latin typeface="Poppins SemiBold" panose="00000700000000000000" pitchFamily="2" charset="77"/>
                <a:cs typeface="Poppins SemiBold" panose="00000700000000000000" pitchFamily="2" charset="77"/>
              </a:rPr>
              <a:t>Both the ownership and the business model set conflicting priorities within Coal Services</a:t>
            </a:r>
            <a:endParaRPr lang="en-US" sz="1800">
              <a:solidFill>
                <a:schemeClr val="accent6">
                  <a:lumMod val="75000"/>
                </a:schemeClr>
              </a:solidFill>
              <a:latin typeface="Poppins SemiBold" panose="00000700000000000000" pitchFamily="2" charset="0"/>
              <a:cs typeface="Poppins SemiBold" panose="00000700000000000000" pitchFamily="2" charset="0"/>
            </a:endParaRPr>
          </a:p>
        </p:txBody>
      </p:sp>
      <p:sp>
        <p:nvSpPr>
          <p:cNvPr id="20" name="Title 4">
            <a:extLst>
              <a:ext uri="{FF2B5EF4-FFF2-40B4-BE49-F238E27FC236}">
                <a16:creationId xmlns:a16="http://schemas.microsoft.com/office/drawing/2014/main" id="{AED3C953-5EF0-1FC1-E4FF-839C16A628DF}"/>
              </a:ext>
            </a:extLst>
          </p:cNvPr>
          <p:cNvSpPr txBox="1">
            <a:spLocks/>
          </p:cNvSpPr>
          <p:nvPr/>
        </p:nvSpPr>
        <p:spPr>
          <a:xfrm>
            <a:off x="1405892" y="3628459"/>
            <a:ext cx="6380363" cy="61200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800" kern="1200">
                <a:solidFill>
                  <a:schemeClr val="tx1"/>
                </a:solidFill>
                <a:latin typeface="Poppins" pitchFamily="2" charset="77"/>
                <a:ea typeface="+mj-ea"/>
                <a:cs typeface="Poppins" pitchFamily="2" charset="77"/>
              </a:defRPr>
            </a:lvl1pPr>
          </a:lstStyle>
          <a:p>
            <a:pPr>
              <a:lnSpc>
                <a:spcPct val="100000"/>
              </a:lnSpc>
              <a:spcBef>
                <a:spcPts val="300"/>
              </a:spcBef>
            </a:pPr>
            <a:r>
              <a:rPr lang="en-US" sz="1800" b="1">
                <a:solidFill>
                  <a:schemeClr val="accent6">
                    <a:lumMod val="75000"/>
                  </a:schemeClr>
                </a:solidFill>
                <a:latin typeface="Poppins SemiBold" panose="00000700000000000000" pitchFamily="2" charset="77"/>
                <a:cs typeface="Poppins SemiBold" panose="00000700000000000000" pitchFamily="2" charset="77"/>
              </a:rPr>
              <a:t>Low trust is driving how the industry behaves, a call to action for Coal Services to bolster relationships</a:t>
            </a:r>
          </a:p>
        </p:txBody>
      </p:sp>
      <p:sp>
        <p:nvSpPr>
          <p:cNvPr id="23" name="Title 4">
            <a:extLst>
              <a:ext uri="{FF2B5EF4-FFF2-40B4-BE49-F238E27FC236}">
                <a16:creationId xmlns:a16="http://schemas.microsoft.com/office/drawing/2014/main" id="{51906F41-A4CB-D6EE-C346-D68776F04E2D}"/>
              </a:ext>
            </a:extLst>
          </p:cNvPr>
          <p:cNvSpPr txBox="1">
            <a:spLocks/>
          </p:cNvSpPr>
          <p:nvPr/>
        </p:nvSpPr>
        <p:spPr>
          <a:xfrm>
            <a:off x="1405893" y="4638806"/>
            <a:ext cx="6858431" cy="824421"/>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kern="1200">
                <a:solidFill>
                  <a:schemeClr val="tx1"/>
                </a:solidFill>
                <a:latin typeface="Poppins" pitchFamily="2" charset="77"/>
                <a:ea typeface="+mj-ea"/>
                <a:cs typeface="Poppins" pitchFamily="2" charset="77"/>
              </a:defRPr>
            </a:lvl1pPr>
          </a:lstStyle>
          <a:p>
            <a:pPr>
              <a:lnSpc>
                <a:spcPct val="110000"/>
              </a:lnSpc>
              <a:spcBef>
                <a:spcPts val="300"/>
              </a:spcBef>
            </a:pPr>
            <a:r>
              <a:rPr lang="en-US" sz="1800" b="1">
                <a:solidFill>
                  <a:schemeClr val="accent6">
                    <a:lumMod val="75000"/>
                  </a:schemeClr>
                </a:solidFill>
                <a:latin typeface="Poppins SemiBold" panose="00000700000000000000" pitchFamily="2" charset="77"/>
                <a:cs typeface="Poppins SemiBold" panose="00000700000000000000" pitchFamily="2" charset="77"/>
              </a:rPr>
              <a:t>Shifting CMI from resist-first to engage-first is the single biggest opportunity to improve the score</a:t>
            </a:r>
          </a:p>
        </p:txBody>
      </p:sp>
      <p:sp>
        <p:nvSpPr>
          <p:cNvPr id="26" name="Title 4">
            <a:extLst>
              <a:ext uri="{FF2B5EF4-FFF2-40B4-BE49-F238E27FC236}">
                <a16:creationId xmlns:a16="http://schemas.microsoft.com/office/drawing/2014/main" id="{FDBDDA36-4976-4A4D-A0A8-E3A5D2F521CF}"/>
              </a:ext>
            </a:extLst>
          </p:cNvPr>
          <p:cNvSpPr txBox="1">
            <a:spLocks/>
          </p:cNvSpPr>
          <p:nvPr/>
        </p:nvSpPr>
        <p:spPr>
          <a:xfrm>
            <a:off x="1405892" y="5676527"/>
            <a:ext cx="6581236" cy="369608"/>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800" kern="1200">
                <a:solidFill>
                  <a:schemeClr val="tx1"/>
                </a:solidFill>
                <a:latin typeface="Poppins" pitchFamily="2" charset="77"/>
                <a:ea typeface="+mj-ea"/>
                <a:cs typeface="Poppins" pitchFamily="2" charset="77"/>
              </a:defRPr>
            </a:lvl1pPr>
          </a:lstStyle>
          <a:p>
            <a:pPr>
              <a:lnSpc>
                <a:spcPct val="110000"/>
              </a:lnSpc>
              <a:spcBef>
                <a:spcPts val="300"/>
              </a:spcBef>
            </a:pPr>
            <a:r>
              <a:rPr lang="en-US" sz="1800" b="1">
                <a:solidFill>
                  <a:schemeClr val="accent6">
                    <a:lumMod val="75000"/>
                  </a:schemeClr>
                </a:solidFill>
                <a:latin typeface="Poppins SemiBold" panose="00000700000000000000" pitchFamily="2" charset="77"/>
                <a:cs typeface="Poppins SemiBold" panose="00000700000000000000" pitchFamily="2" charset="77"/>
              </a:rPr>
              <a:t>Good delivery happens by exception, not by design</a:t>
            </a:r>
          </a:p>
        </p:txBody>
      </p:sp>
      <p:sp>
        <p:nvSpPr>
          <p:cNvPr id="7" name="Slide Number Placeholder 1">
            <a:extLst>
              <a:ext uri="{FF2B5EF4-FFF2-40B4-BE49-F238E27FC236}">
                <a16:creationId xmlns:a16="http://schemas.microsoft.com/office/drawing/2014/main" id="{C9595D83-5A6B-56D5-8214-7519A459412B}"/>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rgbClr val="FFFFFF"/>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AU" sz="900" b="0" i="0" u="none" strike="noStrike" kern="1200" cap="none" spc="0" normalizeH="0" baseline="0" noProof="0">
              <a:ln>
                <a:noFill/>
              </a:ln>
              <a:solidFill>
                <a:srgbClr val="FFFFFF"/>
              </a:solidFill>
              <a:effectLst/>
              <a:uLnTx/>
              <a:uFillTx/>
              <a:latin typeface="Aptos" panose="020B0004020202020204" pitchFamily="34" charset="0"/>
              <a:ea typeface="+mn-ea"/>
              <a:cs typeface="+mn-cs"/>
            </a:endParaRPr>
          </a:p>
        </p:txBody>
      </p:sp>
      <p:sp>
        <p:nvSpPr>
          <p:cNvPr id="22" name="Parallelogram 9">
            <a:extLst>
              <a:ext uri="{FF2B5EF4-FFF2-40B4-BE49-F238E27FC236}">
                <a16:creationId xmlns:a16="http://schemas.microsoft.com/office/drawing/2014/main" id="{F2878340-61AA-9F40-EA13-64AA6F962910}"/>
              </a:ext>
            </a:extLst>
          </p:cNvPr>
          <p:cNvSpPr/>
          <p:nvPr/>
        </p:nvSpPr>
        <p:spPr>
          <a:xfrm rot="3890873">
            <a:off x="-29362" y="1476304"/>
            <a:ext cx="956086" cy="1097669"/>
          </a:xfrm>
          <a:custGeom>
            <a:avLst/>
            <a:gdLst>
              <a:gd name="csX0" fmla="*/ 0 w 1092250"/>
              <a:gd name="csY0" fmla="*/ 1167224 h 1167224"/>
              <a:gd name="csX1" fmla="*/ 557048 w 1092250"/>
              <a:gd name="csY1" fmla="*/ 0 h 1167224"/>
              <a:gd name="csX2" fmla="*/ 1092250 w 1092250"/>
              <a:gd name="csY2" fmla="*/ 0 h 1167224"/>
              <a:gd name="csX3" fmla="*/ 535203 w 1092250"/>
              <a:gd name="csY3" fmla="*/ 1167224 h 1167224"/>
              <a:gd name="csX4" fmla="*/ 0 w 1092250"/>
              <a:gd name="csY4" fmla="*/ 1167224 h 1167224"/>
              <a:gd name="csX0" fmla="*/ 0 w 952602"/>
              <a:gd name="csY0" fmla="*/ 905971 h 1167224"/>
              <a:gd name="csX1" fmla="*/ 417400 w 952602"/>
              <a:gd name="csY1" fmla="*/ 0 h 1167224"/>
              <a:gd name="csX2" fmla="*/ 952602 w 952602"/>
              <a:gd name="csY2" fmla="*/ 0 h 1167224"/>
              <a:gd name="csX3" fmla="*/ 395555 w 952602"/>
              <a:gd name="csY3" fmla="*/ 1167224 h 1167224"/>
              <a:gd name="csX4" fmla="*/ 0 w 952602"/>
              <a:gd name="csY4" fmla="*/ 905971 h 1167224"/>
              <a:gd name="csX0" fmla="*/ 0 w 952602"/>
              <a:gd name="csY0" fmla="*/ 905971 h 1083970"/>
              <a:gd name="csX1" fmla="*/ 417400 w 952602"/>
              <a:gd name="csY1" fmla="*/ 0 h 1083970"/>
              <a:gd name="csX2" fmla="*/ 952602 w 952602"/>
              <a:gd name="csY2" fmla="*/ 0 h 1083970"/>
              <a:gd name="csX3" fmla="*/ 426157 w 952602"/>
              <a:gd name="csY3" fmla="*/ 1083970 h 1083970"/>
              <a:gd name="csX4" fmla="*/ 0 w 952602"/>
              <a:gd name="csY4" fmla="*/ 905971 h 1083970"/>
              <a:gd name="csX0" fmla="*/ 0 w 952602"/>
              <a:gd name="csY0" fmla="*/ 905971 h 1097669"/>
              <a:gd name="csX1" fmla="*/ 417400 w 952602"/>
              <a:gd name="csY1" fmla="*/ 0 h 1097669"/>
              <a:gd name="csX2" fmla="*/ 952602 w 952602"/>
              <a:gd name="csY2" fmla="*/ 0 h 1097669"/>
              <a:gd name="csX3" fmla="*/ 428214 w 952602"/>
              <a:gd name="csY3" fmla="*/ 1097669 h 1097669"/>
              <a:gd name="csX4" fmla="*/ 0 w 952602"/>
              <a:gd name="csY4" fmla="*/ 905971 h 1097669"/>
              <a:gd name="csX0" fmla="*/ 0 w 956086"/>
              <a:gd name="csY0" fmla="*/ 896318 h 1097669"/>
              <a:gd name="csX1" fmla="*/ 420884 w 956086"/>
              <a:gd name="csY1" fmla="*/ 0 h 1097669"/>
              <a:gd name="csX2" fmla="*/ 956086 w 956086"/>
              <a:gd name="csY2" fmla="*/ 0 h 1097669"/>
              <a:gd name="csX3" fmla="*/ 431698 w 956086"/>
              <a:gd name="csY3" fmla="*/ 1097669 h 1097669"/>
              <a:gd name="csX4" fmla="*/ 0 w 956086"/>
              <a:gd name="csY4" fmla="*/ 896318 h 1097669"/>
            </a:gdLst>
            <a:ahLst/>
            <a:cxnLst>
              <a:cxn ang="0">
                <a:pos x="csX0" y="csY0"/>
              </a:cxn>
              <a:cxn ang="0">
                <a:pos x="csX1" y="csY1"/>
              </a:cxn>
              <a:cxn ang="0">
                <a:pos x="csX2" y="csY2"/>
              </a:cxn>
              <a:cxn ang="0">
                <a:pos x="csX3" y="csY3"/>
              </a:cxn>
              <a:cxn ang="0">
                <a:pos x="csX4" y="csY4"/>
              </a:cxn>
            </a:cxnLst>
            <a:rect l="l" t="t" r="r" b="b"/>
            <a:pathLst>
              <a:path w="956086" h="1097669">
                <a:moveTo>
                  <a:pt x="0" y="896318"/>
                </a:moveTo>
                <a:lnTo>
                  <a:pt x="420884" y="0"/>
                </a:lnTo>
                <a:lnTo>
                  <a:pt x="956086" y="0"/>
                </a:lnTo>
                <a:lnTo>
                  <a:pt x="431698" y="1097669"/>
                </a:lnTo>
                <a:lnTo>
                  <a:pt x="0" y="896318"/>
                </a:lnTo>
                <a:close/>
              </a:path>
            </a:pathLst>
          </a:custGeom>
          <a:gradFill>
            <a:gsLst>
              <a:gs pos="0">
                <a:schemeClr val="accent5">
                  <a:alpha val="59000"/>
                  <a:lumMod val="17000"/>
                  <a:lumOff val="83000"/>
                </a:schemeClr>
              </a:gs>
              <a:gs pos="100000">
                <a:schemeClr val="accent3">
                  <a:lumMod val="20000"/>
                  <a:lumOff val="80000"/>
                  <a:alpha val="81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rgbClr val="FFFFFF"/>
              </a:solidFill>
              <a:latin typeface="Open Sans"/>
            </a:endParaRPr>
          </a:p>
        </p:txBody>
      </p:sp>
      <p:sp>
        <p:nvSpPr>
          <p:cNvPr id="33" name="Title 4">
            <a:extLst>
              <a:ext uri="{FF2B5EF4-FFF2-40B4-BE49-F238E27FC236}">
                <a16:creationId xmlns:a16="http://schemas.microsoft.com/office/drawing/2014/main" id="{1CCA0EB3-8920-AFBE-447A-9E768E5D286D}"/>
              </a:ext>
            </a:extLst>
          </p:cNvPr>
          <p:cNvSpPr txBox="1">
            <a:spLocks/>
          </p:cNvSpPr>
          <p:nvPr/>
        </p:nvSpPr>
        <p:spPr>
          <a:xfrm>
            <a:off x="344906" y="1609696"/>
            <a:ext cx="679499" cy="7961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Poppins" pitchFamily="2" charset="77"/>
                <a:ea typeface="+mj-ea"/>
                <a:cs typeface="Poppins" pitchFamily="2" charset="77"/>
              </a:defRPr>
            </a:lvl1pPr>
          </a:lstStyle>
          <a:p>
            <a:r>
              <a:rPr lang="en-US" b="1">
                <a:solidFill>
                  <a:schemeClr val="accent3">
                    <a:lumMod val="75000"/>
                  </a:schemeClr>
                </a:solidFill>
                <a:latin typeface="Poppins SemiBold" panose="00000700000000000000" pitchFamily="2" charset="77"/>
                <a:cs typeface="Poppins SemiBold" panose="00000700000000000000" pitchFamily="2" charset="77"/>
              </a:rPr>
              <a:t>1</a:t>
            </a:r>
          </a:p>
        </p:txBody>
      </p:sp>
      <p:sp>
        <p:nvSpPr>
          <p:cNvPr id="35" name="Parallelogram 9">
            <a:extLst>
              <a:ext uri="{FF2B5EF4-FFF2-40B4-BE49-F238E27FC236}">
                <a16:creationId xmlns:a16="http://schemas.microsoft.com/office/drawing/2014/main" id="{E86FBC0F-35A0-F0C1-7C5F-C19AAEEE791F}"/>
              </a:ext>
            </a:extLst>
          </p:cNvPr>
          <p:cNvSpPr/>
          <p:nvPr/>
        </p:nvSpPr>
        <p:spPr>
          <a:xfrm rot="3890873">
            <a:off x="-9437" y="2416846"/>
            <a:ext cx="956086" cy="1097669"/>
          </a:xfrm>
          <a:custGeom>
            <a:avLst/>
            <a:gdLst>
              <a:gd name="csX0" fmla="*/ 0 w 1092250"/>
              <a:gd name="csY0" fmla="*/ 1167224 h 1167224"/>
              <a:gd name="csX1" fmla="*/ 557048 w 1092250"/>
              <a:gd name="csY1" fmla="*/ 0 h 1167224"/>
              <a:gd name="csX2" fmla="*/ 1092250 w 1092250"/>
              <a:gd name="csY2" fmla="*/ 0 h 1167224"/>
              <a:gd name="csX3" fmla="*/ 535203 w 1092250"/>
              <a:gd name="csY3" fmla="*/ 1167224 h 1167224"/>
              <a:gd name="csX4" fmla="*/ 0 w 1092250"/>
              <a:gd name="csY4" fmla="*/ 1167224 h 1167224"/>
              <a:gd name="csX0" fmla="*/ 0 w 952602"/>
              <a:gd name="csY0" fmla="*/ 905971 h 1167224"/>
              <a:gd name="csX1" fmla="*/ 417400 w 952602"/>
              <a:gd name="csY1" fmla="*/ 0 h 1167224"/>
              <a:gd name="csX2" fmla="*/ 952602 w 952602"/>
              <a:gd name="csY2" fmla="*/ 0 h 1167224"/>
              <a:gd name="csX3" fmla="*/ 395555 w 952602"/>
              <a:gd name="csY3" fmla="*/ 1167224 h 1167224"/>
              <a:gd name="csX4" fmla="*/ 0 w 952602"/>
              <a:gd name="csY4" fmla="*/ 905971 h 1167224"/>
              <a:gd name="csX0" fmla="*/ 0 w 952602"/>
              <a:gd name="csY0" fmla="*/ 905971 h 1083970"/>
              <a:gd name="csX1" fmla="*/ 417400 w 952602"/>
              <a:gd name="csY1" fmla="*/ 0 h 1083970"/>
              <a:gd name="csX2" fmla="*/ 952602 w 952602"/>
              <a:gd name="csY2" fmla="*/ 0 h 1083970"/>
              <a:gd name="csX3" fmla="*/ 426157 w 952602"/>
              <a:gd name="csY3" fmla="*/ 1083970 h 1083970"/>
              <a:gd name="csX4" fmla="*/ 0 w 952602"/>
              <a:gd name="csY4" fmla="*/ 905971 h 1083970"/>
              <a:gd name="csX0" fmla="*/ 0 w 952602"/>
              <a:gd name="csY0" fmla="*/ 905971 h 1097669"/>
              <a:gd name="csX1" fmla="*/ 417400 w 952602"/>
              <a:gd name="csY1" fmla="*/ 0 h 1097669"/>
              <a:gd name="csX2" fmla="*/ 952602 w 952602"/>
              <a:gd name="csY2" fmla="*/ 0 h 1097669"/>
              <a:gd name="csX3" fmla="*/ 428214 w 952602"/>
              <a:gd name="csY3" fmla="*/ 1097669 h 1097669"/>
              <a:gd name="csX4" fmla="*/ 0 w 952602"/>
              <a:gd name="csY4" fmla="*/ 905971 h 1097669"/>
              <a:gd name="csX0" fmla="*/ 0 w 956086"/>
              <a:gd name="csY0" fmla="*/ 896318 h 1097669"/>
              <a:gd name="csX1" fmla="*/ 420884 w 956086"/>
              <a:gd name="csY1" fmla="*/ 0 h 1097669"/>
              <a:gd name="csX2" fmla="*/ 956086 w 956086"/>
              <a:gd name="csY2" fmla="*/ 0 h 1097669"/>
              <a:gd name="csX3" fmla="*/ 431698 w 956086"/>
              <a:gd name="csY3" fmla="*/ 1097669 h 1097669"/>
              <a:gd name="csX4" fmla="*/ 0 w 956086"/>
              <a:gd name="csY4" fmla="*/ 896318 h 1097669"/>
            </a:gdLst>
            <a:ahLst/>
            <a:cxnLst>
              <a:cxn ang="0">
                <a:pos x="csX0" y="csY0"/>
              </a:cxn>
              <a:cxn ang="0">
                <a:pos x="csX1" y="csY1"/>
              </a:cxn>
              <a:cxn ang="0">
                <a:pos x="csX2" y="csY2"/>
              </a:cxn>
              <a:cxn ang="0">
                <a:pos x="csX3" y="csY3"/>
              </a:cxn>
              <a:cxn ang="0">
                <a:pos x="csX4" y="csY4"/>
              </a:cxn>
            </a:cxnLst>
            <a:rect l="l" t="t" r="r" b="b"/>
            <a:pathLst>
              <a:path w="956086" h="1097669">
                <a:moveTo>
                  <a:pt x="0" y="896318"/>
                </a:moveTo>
                <a:lnTo>
                  <a:pt x="420884" y="0"/>
                </a:lnTo>
                <a:lnTo>
                  <a:pt x="956086" y="0"/>
                </a:lnTo>
                <a:lnTo>
                  <a:pt x="431698" y="1097669"/>
                </a:lnTo>
                <a:lnTo>
                  <a:pt x="0" y="896318"/>
                </a:lnTo>
                <a:close/>
              </a:path>
            </a:pathLst>
          </a:custGeom>
          <a:gradFill>
            <a:gsLst>
              <a:gs pos="0">
                <a:schemeClr val="accent5">
                  <a:alpha val="59000"/>
                  <a:lumMod val="17000"/>
                  <a:lumOff val="83000"/>
                </a:schemeClr>
              </a:gs>
              <a:gs pos="100000">
                <a:schemeClr val="accent3">
                  <a:lumMod val="20000"/>
                  <a:lumOff val="80000"/>
                  <a:alpha val="81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rgbClr val="FFFFFF"/>
              </a:solidFill>
              <a:latin typeface="Open Sans"/>
            </a:endParaRPr>
          </a:p>
        </p:txBody>
      </p:sp>
      <p:sp>
        <p:nvSpPr>
          <p:cNvPr id="37" name="Title 4">
            <a:extLst>
              <a:ext uri="{FF2B5EF4-FFF2-40B4-BE49-F238E27FC236}">
                <a16:creationId xmlns:a16="http://schemas.microsoft.com/office/drawing/2014/main" id="{96B92D1E-14A8-77B0-929A-D5631D51510E}"/>
              </a:ext>
            </a:extLst>
          </p:cNvPr>
          <p:cNvSpPr txBox="1">
            <a:spLocks/>
          </p:cNvSpPr>
          <p:nvPr/>
        </p:nvSpPr>
        <p:spPr>
          <a:xfrm>
            <a:off x="364831" y="2550238"/>
            <a:ext cx="679499" cy="7961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Poppins" pitchFamily="2" charset="77"/>
                <a:ea typeface="+mj-ea"/>
                <a:cs typeface="Poppins" pitchFamily="2" charset="77"/>
              </a:defRPr>
            </a:lvl1pPr>
          </a:lstStyle>
          <a:p>
            <a:r>
              <a:rPr lang="en-US" b="1">
                <a:solidFill>
                  <a:schemeClr val="accent3">
                    <a:lumMod val="75000"/>
                  </a:schemeClr>
                </a:solidFill>
                <a:latin typeface="Poppins SemiBold" panose="00000700000000000000" pitchFamily="2" charset="77"/>
                <a:cs typeface="Poppins SemiBold" panose="00000700000000000000" pitchFamily="2" charset="77"/>
              </a:rPr>
              <a:t>2</a:t>
            </a:r>
          </a:p>
        </p:txBody>
      </p:sp>
      <p:sp>
        <p:nvSpPr>
          <p:cNvPr id="42" name="Parallelogram 9">
            <a:extLst>
              <a:ext uri="{FF2B5EF4-FFF2-40B4-BE49-F238E27FC236}">
                <a16:creationId xmlns:a16="http://schemas.microsoft.com/office/drawing/2014/main" id="{A894DFC9-A0E1-D2B2-5116-C931960EB766}"/>
              </a:ext>
            </a:extLst>
          </p:cNvPr>
          <p:cNvSpPr/>
          <p:nvPr/>
        </p:nvSpPr>
        <p:spPr>
          <a:xfrm rot="3890873">
            <a:off x="-22802" y="3437563"/>
            <a:ext cx="956086" cy="1097669"/>
          </a:xfrm>
          <a:custGeom>
            <a:avLst/>
            <a:gdLst>
              <a:gd name="csX0" fmla="*/ 0 w 1092250"/>
              <a:gd name="csY0" fmla="*/ 1167224 h 1167224"/>
              <a:gd name="csX1" fmla="*/ 557048 w 1092250"/>
              <a:gd name="csY1" fmla="*/ 0 h 1167224"/>
              <a:gd name="csX2" fmla="*/ 1092250 w 1092250"/>
              <a:gd name="csY2" fmla="*/ 0 h 1167224"/>
              <a:gd name="csX3" fmla="*/ 535203 w 1092250"/>
              <a:gd name="csY3" fmla="*/ 1167224 h 1167224"/>
              <a:gd name="csX4" fmla="*/ 0 w 1092250"/>
              <a:gd name="csY4" fmla="*/ 1167224 h 1167224"/>
              <a:gd name="csX0" fmla="*/ 0 w 952602"/>
              <a:gd name="csY0" fmla="*/ 905971 h 1167224"/>
              <a:gd name="csX1" fmla="*/ 417400 w 952602"/>
              <a:gd name="csY1" fmla="*/ 0 h 1167224"/>
              <a:gd name="csX2" fmla="*/ 952602 w 952602"/>
              <a:gd name="csY2" fmla="*/ 0 h 1167224"/>
              <a:gd name="csX3" fmla="*/ 395555 w 952602"/>
              <a:gd name="csY3" fmla="*/ 1167224 h 1167224"/>
              <a:gd name="csX4" fmla="*/ 0 w 952602"/>
              <a:gd name="csY4" fmla="*/ 905971 h 1167224"/>
              <a:gd name="csX0" fmla="*/ 0 w 952602"/>
              <a:gd name="csY0" fmla="*/ 905971 h 1083970"/>
              <a:gd name="csX1" fmla="*/ 417400 w 952602"/>
              <a:gd name="csY1" fmla="*/ 0 h 1083970"/>
              <a:gd name="csX2" fmla="*/ 952602 w 952602"/>
              <a:gd name="csY2" fmla="*/ 0 h 1083970"/>
              <a:gd name="csX3" fmla="*/ 426157 w 952602"/>
              <a:gd name="csY3" fmla="*/ 1083970 h 1083970"/>
              <a:gd name="csX4" fmla="*/ 0 w 952602"/>
              <a:gd name="csY4" fmla="*/ 905971 h 1083970"/>
              <a:gd name="csX0" fmla="*/ 0 w 952602"/>
              <a:gd name="csY0" fmla="*/ 905971 h 1097669"/>
              <a:gd name="csX1" fmla="*/ 417400 w 952602"/>
              <a:gd name="csY1" fmla="*/ 0 h 1097669"/>
              <a:gd name="csX2" fmla="*/ 952602 w 952602"/>
              <a:gd name="csY2" fmla="*/ 0 h 1097669"/>
              <a:gd name="csX3" fmla="*/ 428214 w 952602"/>
              <a:gd name="csY3" fmla="*/ 1097669 h 1097669"/>
              <a:gd name="csX4" fmla="*/ 0 w 952602"/>
              <a:gd name="csY4" fmla="*/ 905971 h 1097669"/>
              <a:gd name="csX0" fmla="*/ 0 w 956086"/>
              <a:gd name="csY0" fmla="*/ 896318 h 1097669"/>
              <a:gd name="csX1" fmla="*/ 420884 w 956086"/>
              <a:gd name="csY1" fmla="*/ 0 h 1097669"/>
              <a:gd name="csX2" fmla="*/ 956086 w 956086"/>
              <a:gd name="csY2" fmla="*/ 0 h 1097669"/>
              <a:gd name="csX3" fmla="*/ 431698 w 956086"/>
              <a:gd name="csY3" fmla="*/ 1097669 h 1097669"/>
              <a:gd name="csX4" fmla="*/ 0 w 956086"/>
              <a:gd name="csY4" fmla="*/ 896318 h 1097669"/>
            </a:gdLst>
            <a:ahLst/>
            <a:cxnLst>
              <a:cxn ang="0">
                <a:pos x="csX0" y="csY0"/>
              </a:cxn>
              <a:cxn ang="0">
                <a:pos x="csX1" y="csY1"/>
              </a:cxn>
              <a:cxn ang="0">
                <a:pos x="csX2" y="csY2"/>
              </a:cxn>
              <a:cxn ang="0">
                <a:pos x="csX3" y="csY3"/>
              </a:cxn>
              <a:cxn ang="0">
                <a:pos x="csX4" y="csY4"/>
              </a:cxn>
            </a:cxnLst>
            <a:rect l="l" t="t" r="r" b="b"/>
            <a:pathLst>
              <a:path w="956086" h="1097669">
                <a:moveTo>
                  <a:pt x="0" y="896318"/>
                </a:moveTo>
                <a:lnTo>
                  <a:pt x="420884" y="0"/>
                </a:lnTo>
                <a:lnTo>
                  <a:pt x="956086" y="0"/>
                </a:lnTo>
                <a:lnTo>
                  <a:pt x="431698" y="1097669"/>
                </a:lnTo>
                <a:lnTo>
                  <a:pt x="0" y="896318"/>
                </a:lnTo>
                <a:close/>
              </a:path>
            </a:pathLst>
          </a:custGeom>
          <a:gradFill>
            <a:gsLst>
              <a:gs pos="0">
                <a:schemeClr val="accent5">
                  <a:alpha val="59000"/>
                  <a:lumMod val="17000"/>
                  <a:lumOff val="83000"/>
                </a:schemeClr>
              </a:gs>
              <a:gs pos="100000">
                <a:schemeClr val="accent3">
                  <a:lumMod val="20000"/>
                  <a:lumOff val="80000"/>
                  <a:alpha val="81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rgbClr val="FFFFFF"/>
              </a:solidFill>
              <a:latin typeface="Open Sans"/>
            </a:endParaRPr>
          </a:p>
        </p:txBody>
      </p:sp>
      <p:sp>
        <p:nvSpPr>
          <p:cNvPr id="49" name="Title 4">
            <a:extLst>
              <a:ext uri="{FF2B5EF4-FFF2-40B4-BE49-F238E27FC236}">
                <a16:creationId xmlns:a16="http://schemas.microsoft.com/office/drawing/2014/main" id="{A89E3615-3D30-BA47-3E9A-505CD103F1C1}"/>
              </a:ext>
            </a:extLst>
          </p:cNvPr>
          <p:cNvSpPr txBox="1">
            <a:spLocks/>
          </p:cNvSpPr>
          <p:nvPr/>
        </p:nvSpPr>
        <p:spPr>
          <a:xfrm>
            <a:off x="351466" y="3570955"/>
            <a:ext cx="679499" cy="7961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Poppins" pitchFamily="2" charset="77"/>
                <a:ea typeface="+mj-ea"/>
                <a:cs typeface="Poppins" pitchFamily="2" charset="77"/>
              </a:defRPr>
            </a:lvl1pPr>
          </a:lstStyle>
          <a:p>
            <a:r>
              <a:rPr lang="en-US" b="1">
                <a:solidFill>
                  <a:schemeClr val="accent3">
                    <a:lumMod val="75000"/>
                  </a:schemeClr>
                </a:solidFill>
                <a:latin typeface="Poppins SemiBold" panose="00000700000000000000" pitchFamily="2" charset="77"/>
                <a:cs typeface="Poppins SemiBold" panose="00000700000000000000" pitchFamily="2" charset="77"/>
              </a:rPr>
              <a:t>3</a:t>
            </a:r>
          </a:p>
        </p:txBody>
      </p:sp>
      <p:sp>
        <p:nvSpPr>
          <p:cNvPr id="52" name="Parallelogram 9">
            <a:extLst>
              <a:ext uri="{FF2B5EF4-FFF2-40B4-BE49-F238E27FC236}">
                <a16:creationId xmlns:a16="http://schemas.microsoft.com/office/drawing/2014/main" id="{4053CB57-88B7-3636-88D7-D459779DF796}"/>
              </a:ext>
            </a:extLst>
          </p:cNvPr>
          <p:cNvSpPr/>
          <p:nvPr/>
        </p:nvSpPr>
        <p:spPr>
          <a:xfrm rot="3890873">
            <a:off x="-9472" y="4413319"/>
            <a:ext cx="956086" cy="1097669"/>
          </a:xfrm>
          <a:custGeom>
            <a:avLst/>
            <a:gdLst>
              <a:gd name="csX0" fmla="*/ 0 w 1092250"/>
              <a:gd name="csY0" fmla="*/ 1167224 h 1167224"/>
              <a:gd name="csX1" fmla="*/ 557048 w 1092250"/>
              <a:gd name="csY1" fmla="*/ 0 h 1167224"/>
              <a:gd name="csX2" fmla="*/ 1092250 w 1092250"/>
              <a:gd name="csY2" fmla="*/ 0 h 1167224"/>
              <a:gd name="csX3" fmla="*/ 535203 w 1092250"/>
              <a:gd name="csY3" fmla="*/ 1167224 h 1167224"/>
              <a:gd name="csX4" fmla="*/ 0 w 1092250"/>
              <a:gd name="csY4" fmla="*/ 1167224 h 1167224"/>
              <a:gd name="csX0" fmla="*/ 0 w 952602"/>
              <a:gd name="csY0" fmla="*/ 905971 h 1167224"/>
              <a:gd name="csX1" fmla="*/ 417400 w 952602"/>
              <a:gd name="csY1" fmla="*/ 0 h 1167224"/>
              <a:gd name="csX2" fmla="*/ 952602 w 952602"/>
              <a:gd name="csY2" fmla="*/ 0 h 1167224"/>
              <a:gd name="csX3" fmla="*/ 395555 w 952602"/>
              <a:gd name="csY3" fmla="*/ 1167224 h 1167224"/>
              <a:gd name="csX4" fmla="*/ 0 w 952602"/>
              <a:gd name="csY4" fmla="*/ 905971 h 1167224"/>
              <a:gd name="csX0" fmla="*/ 0 w 952602"/>
              <a:gd name="csY0" fmla="*/ 905971 h 1083970"/>
              <a:gd name="csX1" fmla="*/ 417400 w 952602"/>
              <a:gd name="csY1" fmla="*/ 0 h 1083970"/>
              <a:gd name="csX2" fmla="*/ 952602 w 952602"/>
              <a:gd name="csY2" fmla="*/ 0 h 1083970"/>
              <a:gd name="csX3" fmla="*/ 426157 w 952602"/>
              <a:gd name="csY3" fmla="*/ 1083970 h 1083970"/>
              <a:gd name="csX4" fmla="*/ 0 w 952602"/>
              <a:gd name="csY4" fmla="*/ 905971 h 1083970"/>
              <a:gd name="csX0" fmla="*/ 0 w 952602"/>
              <a:gd name="csY0" fmla="*/ 905971 h 1097669"/>
              <a:gd name="csX1" fmla="*/ 417400 w 952602"/>
              <a:gd name="csY1" fmla="*/ 0 h 1097669"/>
              <a:gd name="csX2" fmla="*/ 952602 w 952602"/>
              <a:gd name="csY2" fmla="*/ 0 h 1097669"/>
              <a:gd name="csX3" fmla="*/ 428214 w 952602"/>
              <a:gd name="csY3" fmla="*/ 1097669 h 1097669"/>
              <a:gd name="csX4" fmla="*/ 0 w 952602"/>
              <a:gd name="csY4" fmla="*/ 905971 h 1097669"/>
              <a:gd name="csX0" fmla="*/ 0 w 956086"/>
              <a:gd name="csY0" fmla="*/ 896318 h 1097669"/>
              <a:gd name="csX1" fmla="*/ 420884 w 956086"/>
              <a:gd name="csY1" fmla="*/ 0 h 1097669"/>
              <a:gd name="csX2" fmla="*/ 956086 w 956086"/>
              <a:gd name="csY2" fmla="*/ 0 h 1097669"/>
              <a:gd name="csX3" fmla="*/ 431698 w 956086"/>
              <a:gd name="csY3" fmla="*/ 1097669 h 1097669"/>
              <a:gd name="csX4" fmla="*/ 0 w 956086"/>
              <a:gd name="csY4" fmla="*/ 896318 h 1097669"/>
            </a:gdLst>
            <a:ahLst/>
            <a:cxnLst>
              <a:cxn ang="0">
                <a:pos x="csX0" y="csY0"/>
              </a:cxn>
              <a:cxn ang="0">
                <a:pos x="csX1" y="csY1"/>
              </a:cxn>
              <a:cxn ang="0">
                <a:pos x="csX2" y="csY2"/>
              </a:cxn>
              <a:cxn ang="0">
                <a:pos x="csX3" y="csY3"/>
              </a:cxn>
              <a:cxn ang="0">
                <a:pos x="csX4" y="csY4"/>
              </a:cxn>
            </a:cxnLst>
            <a:rect l="l" t="t" r="r" b="b"/>
            <a:pathLst>
              <a:path w="956086" h="1097669">
                <a:moveTo>
                  <a:pt x="0" y="896318"/>
                </a:moveTo>
                <a:lnTo>
                  <a:pt x="420884" y="0"/>
                </a:lnTo>
                <a:lnTo>
                  <a:pt x="956086" y="0"/>
                </a:lnTo>
                <a:lnTo>
                  <a:pt x="431698" y="1097669"/>
                </a:lnTo>
                <a:lnTo>
                  <a:pt x="0" y="896318"/>
                </a:lnTo>
                <a:close/>
              </a:path>
            </a:pathLst>
          </a:custGeom>
          <a:gradFill>
            <a:gsLst>
              <a:gs pos="0">
                <a:schemeClr val="accent5">
                  <a:alpha val="59000"/>
                  <a:lumMod val="17000"/>
                  <a:lumOff val="83000"/>
                </a:schemeClr>
              </a:gs>
              <a:gs pos="100000">
                <a:schemeClr val="accent3">
                  <a:lumMod val="20000"/>
                  <a:lumOff val="80000"/>
                  <a:alpha val="81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rgbClr val="FFFFFF"/>
              </a:solidFill>
              <a:latin typeface="Open Sans"/>
            </a:endParaRPr>
          </a:p>
        </p:txBody>
      </p:sp>
      <p:sp>
        <p:nvSpPr>
          <p:cNvPr id="53" name="Title 4">
            <a:extLst>
              <a:ext uri="{FF2B5EF4-FFF2-40B4-BE49-F238E27FC236}">
                <a16:creationId xmlns:a16="http://schemas.microsoft.com/office/drawing/2014/main" id="{850988AB-1535-608A-12F0-BA0F3DFD0CCD}"/>
              </a:ext>
            </a:extLst>
          </p:cNvPr>
          <p:cNvSpPr txBox="1">
            <a:spLocks/>
          </p:cNvSpPr>
          <p:nvPr/>
        </p:nvSpPr>
        <p:spPr>
          <a:xfrm>
            <a:off x="364796" y="4546711"/>
            <a:ext cx="679499" cy="7961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Poppins" pitchFamily="2" charset="77"/>
                <a:ea typeface="+mj-ea"/>
                <a:cs typeface="Poppins" pitchFamily="2" charset="77"/>
              </a:defRPr>
            </a:lvl1pPr>
          </a:lstStyle>
          <a:p>
            <a:r>
              <a:rPr lang="en-US" b="1">
                <a:solidFill>
                  <a:schemeClr val="accent3">
                    <a:lumMod val="75000"/>
                  </a:schemeClr>
                </a:solidFill>
                <a:latin typeface="Poppins SemiBold" panose="00000700000000000000" pitchFamily="2" charset="77"/>
                <a:cs typeface="Poppins SemiBold" panose="00000700000000000000" pitchFamily="2" charset="77"/>
              </a:rPr>
              <a:t>4</a:t>
            </a:r>
          </a:p>
        </p:txBody>
      </p:sp>
      <p:sp>
        <p:nvSpPr>
          <p:cNvPr id="57" name="Parallelogram 9">
            <a:extLst>
              <a:ext uri="{FF2B5EF4-FFF2-40B4-BE49-F238E27FC236}">
                <a16:creationId xmlns:a16="http://schemas.microsoft.com/office/drawing/2014/main" id="{070D6E3A-A0F4-D08F-CC63-71CAB1924701}"/>
              </a:ext>
            </a:extLst>
          </p:cNvPr>
          <p:cNvSpPr/>
          <p:nvPr/>
        </p:nvSpPr>
        <p:spPr>
          <a:xfrm rot="3890873">
            <a:off x="-29363" y="5329843"/>
            <a:ext cx="956086" cy="1097669"/>
          </a:xfrm>
          <a:custGeom>
            <a:avLst/>
            <a:gdLst>
              <a:gd name="csX0" fmla="*/ 0 w 1092250"/>
              <a:gd name="csY0" fmla="*/ 1167224 h 1167224"/>
              <a:gd name="csX1" fmla="*/ 557048 w 1092250"/>
              <a:gd name="csY1" fmla="*/ 0 h 1167224"/>
              <a:gd name="csX2" fmla="*/ 1092250 w 1092250"/>
              <a:gd name="csY2" fmla="*/ 0 h 1167224"/>
              <a:gd name="csX3" fmla="*/ 535203 w 1092250"/>
              <a:gd name="csY3" fmla="*/ 1167224 h 1167224"/>
              <a:gd name="csX4" fmla="*/ 0 w 1092250"/>
              <a:gd name="csY4" fmla="*/ 1167224 h 1167224"/>
              <a:gd name="csX0" fmla="*/ 0 w 952602"/>
              <a:gd name="csY0" fmla="*/ 905971 h 1167224"/>
              <a:gd name="csX1" fmla="*/ 417400 w 952602"/>
              <a:gd name="csY1" fmla="*/ 0 h 1167224"/>
              <a:gd name="csX2" fmla="*/ 952602 w 952602"/>
              <a:gd name="csY2" fmla="*/ 0 h 1167224"/>
              <a:gd name="csX3" fmla="*/ 395555 w 952602"/>
              <a:gd name="csY3" fmla="*/ 1167224 h 1167224"/>
              <a:gd name="csX4" fmla="*/ 0 w 952602"/>
              <a:gd name="csY4" fmla="*/ 905971 h 1167224"/>
              <a:gd name="csX0" fmla="*/ 0 w 952602"/>
              <a:gd name="csY0" fmla="*/ 905971 h 1083970"/>
              <a:gd name="csX1" fmla="*/ 417400 w 952602"/>
              <a:gd name="csY1" fmla="*/ 0 h 1083970"/>
              <a:gd name="csX2" fmla="*/ 952602 w 952602"/>
              <a:gd name="csY2" fmla="*/ 0 h 1083970"/>
              <a:gd name="csX3" fmla="*/ 426157 w 952602"/>
              <a:gd name="csY3" fmla="*/ 1083970 h 1083970"/>
              <a:gd name="csX4" fmla="*/ 0 w 952602"/>
              <a:gd name="csY4" fmla="*/ 905971 h 1083970"/>
              <a:gd name="csX0" fmla="*/ 0 w 952602"/>
              <a:gd name="csY0" fmla="*/ 905971 h 1097669"/>
              <a:gd name="csX1" fmla="*/ 417400 w 952602"/>
              <a:gd name="csY1" fmla="*/ 0 h 1097669"/>
              <a:gd name="csX2" fmla="*/ 952602 w 952602"/>
              <a:gd name="csY2" fmla="*/ 0 h 1097669"/>
              <a:gd name="csX3" fmla="*/ 428214 w 952602"/>
              <a:gd name="csY3" fmla="*/ 1097669 h 1097669"/>
              <a:gd name="csX4" fmla="*/ 0 w 952602"/>
              <a:gd name="csY4" fmla="*/ 905971 h 1097669"/>
              <a:gd name="csX0" fmla="*/ 0 w 956086"/>
              <a:gd name="csY0" fmla="*/ 896318 h 1097669"/>
              <a:gd name="csX1" fmla="*/ 420884 w 956086"/>
              <a:gd name="csY1" fmla="*/ 0 h 1097669"/>
              <a:gd name="csX2" fmla="*/ 956086 w 956086"/>
              <a:gd name="csY2" fmla="*/ 0 h 1097669"/>
              <a:gd name="csX3" fmla="*/ 431698 w 956086"/>
              <a:gd name="csY3" fmla="*/ 1097669 h 1097669"/>
              <a:gd name="csX4" fmla="*/ 0 w 956086"/>
              <a:gd name="csY4" fmla="*/ 896318 h 1097669"/>
            </a:gdLst>
            <a:ahLst/>
            <a:cxnLst>
              <a:cxn ang="0">
                <a:pos x="csX0" y="csY0"/>
              </a:cxn>
              <a:cxn ang="0">
                <a:pos x="csX1" y="csY1"/>
              </a:cxn>
              <a:cxn ang="0">
                <a:pos x="csX2" y="csY2"/>
              </a:cxn>
              <a:cxn ang="0">
                <a:pos x="csX3" y="csY3"/>
              </a:cxn>
              <a:cxn ang="0">
                <a:pos x="csX4" y="csY4"/>
              </a:cxn>
            </a:cxnLst>
            <a:rect l="l" t="t" r="r" b="b"/>
            <a:pathLst>
              <a:path w="956086" h="1097669">
                <a:moveTo>
                  <a:pt x="0" y="896318"/>
                </a:moveTo>
                <a:lnTo>
                  <a:pt x="420884" y="0"/>
                </a:lnTo>
                <a:lnTo>
                  <a:pt x="956086" y="0"/>
                </a:lnTo>
                <a:lnTo>
                  <a:pt x="431698" y="1097669"/>
                </a:lnTo>
                <a:lnTo>
                  <a:pt x="0" y="896318"/>
                </a:lnTo>
                <a:close/>
              </a:path>
            </a:pathLst>
          </a:custGeom>
          <a:gradFill>
            <a:gsLst>
              <a:gs pos="0">
                <a:schemeClr val="accent5">
                  <a:alpha val="59000"/>
                  <a:lumMod val="17000"/>
                  <a:lumOff val="83000"/>
                </a:schemeClr>
              </a:gs>
              <a:gs pos="100000">
                <a:schemeClr val="accent3">
                  <a:lumMod val="20000"/>
                  <a:lumOff val="80000"/>
                  <a:alpha val="81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rgbClr val="FFFFFF"/>
              </a:solidFill>
              <a:latin typeface="Open Sans"/>
            </a:endParaRPr>
          </a:p>
        </p:txBody>
      </p:sp>
      <p:sp>
        <p:nvSpPr>
          <p:cNvPr id="58" name="Title 4">
            <a:extLst>
              <a:ext uri="{FF2B5EF4-FFF2-40B4-BE49-F238E27FC236}">
                <a16:creationId xmlns:a16="http://schemas.microsoft.com/office/drawing/2014/main" id="{4CBE788C-5472-1FD4-D2E9-573D6B049597}"/>
              </a:ext>
            </a:extLst>
          </p:cNvPr>
          <p:cNvSpPr txBox="1">
            <a:spLocks/>
          </p:cNvSpPr>
          <p:nvPr/>
        </p:nvSpPr>
        <p:spPr>
          <a:xfrm>
            <a:off x="344905" y="5463235"/>
            <a:ext cx="679499" cy="7961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kern="1200">
                <a:solidFill>
                  <a:schemeClr val="tx1"/>
                </a:solidFill>
                <a:latin typeface="Poppins" pitchFamily="2" charset="77"/>
                <a:ea typeface="+mj-ea"/>
                <a:cs typeface="Poppins" pitchFamily="2" charset="77"/>
              </a:defRPr>
            </a:lvl1pPr>
          </a:lstStyle>
          <a:p>
            <a:r>
              <a:rPr lang="en-US" b="1">
                <a:solidFill>
                  <a:schemeClr val="accent3">
                    <a:lumMod val="75000"/>
                  </a:schemeClr>
                </a:solidFill>
                <a:latin typeface="Poppins SemiBold" panose="00000700000000000000" pitchFamily="2" charset="77"/>
                <a:cs typeface="Poppins SemiBold" panose="00000700000000000000" pitchFamily="2" charset="77"/>
              </a:rPr>
              <a:t>5</a:t>
            </a:r>
          </a:p>
        </p:txBody>
      </p:sp>
      <p:sp>
        <p:nvSpPr>
          <p:cNvPr id="10" name="Rounded Rectangle 9">
            <a:extLst>
              <a:ext uri="{FF2B5EF4-FFF2-40B4-BE49-F238E27FC236}">
                <a16:creationId xmlns:a16="http://schemas.microsoft.com/office/drawing/2014/main" id="{C54A8F94-7EB4-0DD2-A228-A982D08B20E4}"/>
              </a:ext>
            </a:extLst>
          </p:cNvPr>
          <p:cNvSpPr/>
          <p:nvPr/>
        </p:nvSpPr>
        <p:spPr>
          <a:xfrm>
            <a:off x="8590454" y="0"/>
            <a:ext cx="3588179" cy="6858000"/>
          </a:xfrm>
          <a:prstGeom prst="roundRect">
            <a:avLst>
              <a:gd name="adj" fmla="val 0"/>
            </a:avLst>
          </a:prstGeom>
          <a:solidFill>
            <a:schemeClr val="tx1">
              <a:alpha val="1027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96150100"/>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EC006-2222-832D-ED3B-9D349F9A757E}"/>
            </a:ext>
          </a:extLst>
        </p:cNvPr>
        <p:cNvGrpSpPr/>
        <p:nvPr/>
      </p:nvGrpSpPr>
      <p:grpSpPr>
        <a:xfrm>
          <a:off x="0" y="0"/>
          <a:ext cx="0" cy="0"/>
          <a:chOff x="0" y="0"/>
          <a:chExt cx="0" cy="0"/>
        </a:xfrm>
      </p:grpSpPr>
      <p:pic>
        <p:nvPicPr>
          <p:cNvPr id="3" name="Picture 2" descr="About Coal Services : A Specialised Health and Safety Scheme">
            <a:extLst>
              <a:ext uri="{FF2B5EF4-FFF2-40B4-BE49-F238E27FC236}">
                <a16:creationId xmlns:a16="http://schemas.microsoft.com/office/drawing/2014/main" id="{958C83BB-9788-1B17-1380-FFBE7D8CC71C}"/>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12626"/>
            <a:ext cx="12191437" cy="6883252"/>
          </a:xfrm>
          <a:prstGeom prst="rect">
            <a:avLst/>
          </a:prstGeom>
        </p:spPr>
      </p:pic>
      <p:sp>
        <p:nvSpPr>
          <p:cNvPr id="9" name="Rectangle 8">
            <a:extLst>
              <a:ext uri="{FF2B5EF4-FFF2-40B4-BE49-F238E27FC236}">
                <a16:creationId xmlns:a16="http://schemas.microsoft.com/office/drawing/2014/main" id="{65F5A8F3-97DE-6DF4-DFE7-4AE104686192}"/>
              </a:ext>
            </a:extLst>
          </p:cNvPr>
          <p:cNvSpPr/>
          <p:nvPr/>
        </p:nvSpPr>
        <p:spPr>
          <a:xfrm>
            <a:off x="-1" y="-12627"/>
            <a:ext cx="12191437" cy="6883253"/>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Open Sans Light"/>
              <a:ea typeface="+mn-ea"/>
              <a:cs typeface="+mn-cs"/>
            </a:endParaRPr>
          </a:p>
        </p:txBody>
      </p:sp>
      <p:cxnSp>
        <p:nvCxnSpPr>
          <p:cNvPr id="8" name="Straight Connector 7">
            <a:extLst>
              <a:ext uri="{FF2B5EF4-FFF2-40B4-BE49-F238E27FC236}">
                <a16:creationId xmlns:a16="http://schemas.microsoft.com/office/drawing/2014/main" id="{182F0C0E-03BE-4E8A-9218-90A057E7882F}"/>
              </a:ext>
            </a:extLst>
          </p:cNvPr>
          <p:cNvCxnSpPr>
            <a:cxnSpLocks/>
          </p:cNvCxnSpPr>
          <p:nvPr/>
        </p:nvCxnSpPr>
        <p:spPr>
          <a:xfrm>
            <a:off x="599937" y="4292892"/>
            <a:ext cx="916629" cy="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Subtitle 4">
            <a:extLst>
              <a:ext uri="{FF2B5EF4-FFF2-40B4-BE49-F238E27FC236}">
                <a16:creationId xmlns:a16="http://schemas.microsoft.com/office/drawing/2014/main" id="{E01ADEE1-26A6-0660-D47A-861E588A14B5}"/>
              </a:ext>
            </a:extLst>
          </p:cNvPr>
          <p:cNvSpPr>
            <a:spLocks noGrp="1"/>
          </p:cNvSpPr>
          <p:nvPr>
            <p:ph type="subTitle" idx="1"/>
          </p:nvPr>
        </p:nvSpPr>
        <p:spPr>
          <a:xfrm>
            <a:off x="499110" y="4534406"/>
            <a:ext cx="9144000" cy="1655762"/>
          </a:xfrm>
        </p:spPr>
        <p:txBody>
          <a:bodyPr vert="horz" lIns="91440" tIns="45720" rIns="91440" bIns="45720" rtlCol="0" anchor="t">
            <a:normAutofit/>
          </a:bodyPr>
          <a:lstStyle/>
          <a:p>
            <a:pPr>
              <a:lnSpc>
                <a:spcPct val="100000"/>
              </a:lnSpc>
              <a:spcBef>
                <a:spcPts val="0"/>
              </a:spcBef>
              <a:spcAft>
                <a:spcPts val="800"/>
              </a:spcAft>
            </a:pPr>
            <a:r>
              <a:rPr lang="en-GB" sz="1400" dirty="0">
                <a:solidFill>
                  <a:schemeClr val="bg1"/>
                </a:solidFill>
                <a:latin typeface="Poppins" pitchFamily="2" charset="77"/>
                <a:cs typeface="Poppins" pitchFamily="2" charset="77"/>
              </a:rPr>
              <a:t>What to expect on 22 October</a:t>
            </a:r>
          </a:p>
          <a:p>
            <a:pPr>
              <a:lnSpc>
                <a:spcPct val="100000"/>
              </a:lnSpc>
              <a:spcBef>
                <a:spcPts val="0"/>
              </a:spcBef>
              <a:spcAft>
                <a:spcPts val="800"/>
              </a:spcAft>
            </a:pPr>
            <a:r>
              <a:rPr lang="en-GB" sz="1400" dirty="0">
                <a:solidFill>
                  <a:schemeClr val="bg1"/>
                </a:solidFill>
                <a:latin typeface="Poppins" pitchFamily="2" charset="77"/>
                <a:cs typeface="Poppins" pitchFamily="2" charset="77"/>
              </a:rPr>
              <a:t>GMT offsite, Hunter Valley</a:t>
            </a:r>
          </a:p>
        </p:txBody>
      </p:sp>
      <p:sp>
        <p:nvSpPr>
          <p:cNvPr id="14" name="Title 3">
            <a:extLst>
              <a:ext uri="{FF2B5EF4-FFF2-40B4-BE49-F238E27FC236}">
                <a16:creationId xmlns:a16="http://schemas.microsoft.com/office/drawing/2014/main" id="{39599FE2-127A-BB0A-FB8B-3061EE8581BC}"/>
              </a:ext>
            </a:extLst>
          </p:cNvPr>
          <p:cNvSpPr>
            <a:spLocks noGrp="1"/>
          </p:cNvSpPr>
          <p:nvPr>
            <p:ph type="ctrTitle"/>
          </p:nvPr>
        </p:nvSpPr>
        <p:spPr>
          <a:xfrm>
            <a:off x="499109" y="1653000"/>
            <a:ext cx="9144000" cy="2499699"/>
          </a:xfrm>
        </p:spPr>
        <p:txBody>
          <a:bodyPr>
            <a:normAutofit/>
          </a:bodyPr>
          <a:lstStyle/>
          <a:p>
            <a:pPr>
              <a:lnSpc>
                <a:spcPct val="100000"/>
              </a:lnSpc>
            </a:pPr>
            <a:r>
              <a:rPr lang="en-AU" b="1" dirty="0"/>
              <a:t>Section 2:</a:t>
            </a:r>
            <a:br>
              <a:rPr lang="en-AU" b="1" dirty="0"/>
            </a:br>
            <a:r>
              <a:rPr lang="en-AU" b="1" dirty="0"/>
              <a:t>The ISS Workshop</a:t>
            </a:r>
            <a:endParaRPr lang="en-GB" b="1" noProof="0" dirty="0">
              <a:latin typeface="Poppins" pitchFamily="2" charset="77"/>
              <a:cs typeface="Poppins" pitchFamily="2" charset="77"/>
            </a:endParaRPr>
          </a:p>
        </p:txBody>
      </p:sp>
      <p:pic>
        <p:nvPicPr>
          <p:cNvPr id="16" name="Picture 15">
            <a:extLst>
              <a:ext uri="{FF2B5EF4-FFF2-40B4-BE49-F238E27FC236}">
                <a16:creationId xmlns:a16="http://schemas.microsoft.com/office/drawing/2014/main" id="{0B8E9BD2-09C0-3CE8-32EF-F822B1148CA8}"/>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99519" y="6000382"/>
            <a:ext cx="1572883" cy="726691"/>
          </a:xfrm>
          <a:prstGeom prst="rect">
            <a:avLst/>
          </a:prstGeom>
        </p:spPr>
      </p:pic>
      <p:pic>
        <p:nvPicPr>
          <p:cNvPr id="4" name="Graphic 3">
            <a:extLst>
              <a:ext uri="{FF2B5EF4-FFF2-40B4-BE49-F238E27FC236}">
                <a16:creationId xmlns:a16="http://schemas.microsoft.com/office/drawing/2014/main" id="{A809D29D-F8AA-B053-D0E4-57C0F079C9E6}"/>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l="8654" t="36592" r="41735" b="22942"/>
          <a:stretch>
            <a:fillRect/>
          </a:stretch>
        </p:blipFill>
        <p:spPr>
          <a:xfrm>
            <a:off x="8130766" y="20202"/>
            <a:ext cx="4060671" cy="3312083"/>
          </a:xfrm>
          <a:prstGeom prst="rect">
            <a:avLst/>
          </a:prstGeom>
        </p:spPr>
      </p:pic>
      <p:pic>
        <p:nvPicPr>
          <p:cNvPr id="19" name="Picture 6">
            <a:extLst>
              <a:ext uri="{FF2B5EF4-FFF2-40B4-BE49-F238E27FC236}">
                <a16:creationId xmlns:a16="http://schemas.microsoft.com/office/drawing/2014/main" id="{15B59517-8ADD-FB27-58CF-D7BFFF0B4F86}"/>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499109" y="272505"/>
            <a:ext cx="2156226" cy="1189642"/>
          </a:xfrm>
          <a:prstGeom prst="rect">
            <a:avLst/>
          </a:prstGeom>
        </p:spPr>
      </p:pic>
    </p:spTree>
    <p:extLst>
      <p:ext uri="{BB962C8B-B14F-4D97-AF65-F5344CB8AC3E}">
        <p14:creationId xmlns:p14="http://schemas.microsoft.com/office/powerpoint/2010/main" val="1304384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1652641" y="277669"/>
            <a:ext cx="10539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1104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ISS Workshop</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0808267" cy="72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The workshop starts with </a:t>
            </a:r>
            <a:r>
              <a:rPr lang="en-AU" dirty="0">
                <a:solidFill>
                  <a:schemeClr val="accent3"/>
                </a:solidFill>
              </a:rPr>
              <a:t>what’s already underway</a:t>
            </a:r>
            <a:r>
              <a:rPr lang="en-AU" dirty="0"/>
              <a:t>, then finds </a:t>
            </a:r>
            <a:r>
              <a:rPr lang="en-AU" dirty="0">
                <a:solidFill>
                  <a:schemeClr val="accent3"/>
                </a:solidFill>
              </a:rPr>
              <a:t>the gaps</a:t>
            </a:r>
            <a:endParaRPr lang="en-AU" dirty="0"/>
          </a:p>
        </p:txBody>
      </p:sp>
      <p:sp>
        <p:nvSpPr>
          <p:cNvPr id="101" name="Panel 101"/>
          <p:cNvSpPr/>
          <p:nvPr/>
        </p:nvSpPr>
        <p:spPr>
          <a:xfrm>
            <a:off x="566928" y="1417320"/>
            <a:ext cx="6400800" cy="457200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02" name="Label 102"/>
          <p:cNvSpPr txBox="1"/>
          <p:nvPr/>
        </p:nvSpPr>
        <p:spPr>
          <a:xfrm>
            <a:off x="886968" y="1645920"/>
            <a:ext cx="5394960" cy="32004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100" b="1" dirty="0">
                <a:solidFill>
                  <a:schemeClr val="accent3"/>
                </a:solidFill>
                <a:latin typeface="Poppins SemiBold" pitchFamily="2" charset="0"/>
                <a:cs typeface="Poppins SemiBold" pitchFamily="2" charset="0"/>
              </a:rPr>
              <a:t>PURPOSE</a:t>
            </a:r>
          </a:p>
        </p:txBody>
      </p:sp>
      <p:sp>
        <p:nvSpPr>
          <p:cNvPr id="103" name="Purpose 103"/>
          <p:cNvSpPr txBox="1"/>
          <p:nvPr/>
        </p:nvSpPr>
        <p:spPr>
          <a:xfrm>
            <a:off x="886968" y="1965960"/>
            <a:ext cx="5394960" cy="1051560"/>
          </a:xfrm>
          <a:prstGeom prst="rect">
            <a:avLst/>
          </a:prstGeom>
          <a:noFill/>
          <a:ln>
            <a:noFill/>
          </a:ln>
        </p:spPr>
        <p:txBody>
          <a:bodyPr wrap="square" lIns="0" tIns="0" rIns="0" bIns="0" rtlCol="0" anchor="t">
            <a:noAutofit/>
          </a:bodyPr>
          <a:lstStyle/>
          <a:p>
            <a:pPr algn="l">
              <a:lnSpc>
                <a:spcPct val="110000"/>
              </a:lnSpc>
              <a:spcBef>
                <a:spcPts val="0"/>
              </a:spcBef>
              <a:spcAft>
                <a:spcPts val="0"/>
              </a:spcAft>
              <a:buNone/>
            </a:pPr>
            <a:r>
              <a:rPr lang="en-AU" sz="1500" dirty="0">
                <a:solidFill>
                  <a:schemeClr val="accent6">
                    <a:lumMod val="75000"/>
                  </a:schemeClr>
                </a:solidFill>
                <a:latin typeface="Poppins SemiBold" pitchFamily="2" charset="0"/>
                <a:cs typeface="Poppins SemiBold" pitchFamily="2" charset="0"/>
              </a:rPr>
              <a:t>Most of the work to address the ISS findings is likely already underway. It just hasn’t been organised or communicated to industry.</a:t>
            </a:r>
          </a:p>
        </p:txBody>
      </p:sp>
      <p:sp>
        <p:nvSpPr>
          <p:cNvPr id="104" name="Lead 104"/>
          <p:cNvSpPr txBox="1"/>
          <p:nvPr/>
        </p:nvSpPr>
        <p:spPr>
          <a:xfrm>
            <a:off x="886968" y="3063240"/>
            <a:ext cx="5394960" cy="32004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200" dirty="0">
                <a:solidFill>
                  <a:schemeClr val="accent6"/>
                </a:solidFill>
                <a:latin typeface="Open Sans" pitchFamily="34" charset="0"/>
                <a:ea typeface="Open Sans" pitchFamily="34" charset="-122"/>
                <a:cs typeface="Open Sans" pitchFamily="34" charset="-120"/>
              </a:rPr>
              <a:t>On the day, we will work through three questions</a:t>
            </a:r>
          </a:p>
        </p:txBody>
      </p:sp>
      <p:sp>
        <p:nvSpPr>
          <p:cNvPr id="105" name="Number 105"/>
          <p:cNvSpPr/>
          <p:nvPr/>
        </p:nvSpPr>
        <p:spPr>
          <a:xfrm>
            <a:off x="886968" y="3520440"/>
            <a:ext cx="548640" cy="54864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1</a:t>
            </a:r>
          </a:p>
        </p:txBody>
      </p:sp>
      <p:sp>
        <p:nvSpPr>
          <p:cNvPr id="106" name="Row 106"/>
          <p:cNvSpPr txBox="1"/>
          <p:nvPr/>
        </p:nvSpPr>
        <p:spPr>
          <a:xfrm>
            <a:off x="1618488" y="3520440"/>
            <a:ext cx="4572000" cy="54864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dirty="0">
                <a:solidFill>
                  <a:schemeClr val="accent6">
                    <a:lumMod val="75000"/>
                  </a:schemeClr>
                </a:solidFill>
                <a:latin typeface="Poppins SemiBold" pitchFamily="2" charset="0"/>
                <a:cs typeface="Poppins SemiBold" pitchFamily="2" charset="0"/>
              </a:rPr>
              <a:t>What are we already doing about each issue?</a:t>
            </a:r>
          </a:p>
        </p:txBody>
      </p:sp>
      <p:sp>
        <p:nvSpPr>
          <p:cNvPr id="107" name="Number 107"/>
          <p:cNvSpPr/>
          <p:nvPr/>
        </p:nvSpPr>
        <p:spPr>
          <a:xfrm>
            <a:off x="886968" y="4297680"/>
            <a:ext cx="548640" cy="54864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2</a:t>
            </a:r>
          </a:p>
        </p:txBody>
      </p:sp>
      <p:sp>
        <p:nvSpPr>
          <p:cNvPr id="108" name="Row 108"/>
          <p:cNvSpPr txBox="1"/>
          <p:nvPr/>
        </p:nvSpPr>
        <p:spPr>
          <a:xfrm>
            <a:off x="1618488" y="4297680"/>
            <a:ext cx="4572000" cy="54864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dirty="0">
                <a:solidFill>
                  <a:schemeClr val="accent6">
                    <a:lumMod val="75000"/>
                  </a:schemeClr>
                </a:solidFill>
                <a:latin typeface="Poppins SemiBold" pitchFamily="2" charset="0"/>
                <a:cs typeface="Poppins SemiBold" pitchFamily="2" charset="0"/>
              </a:rPr>
              <a:t>Where are the gaps?</a:t>
            </a:r>
          </a:p>
        </p:txBody>
      </p:sp>
      <p:sp>
        <p:nvSpPr>
          <p:cNvPr id="109" name="Number 109"/>
          <p:cNvSpPr/>
          <p:nvPr/>
        </p:nvSpPr>
        <p:spPr>
          <a:xfrm>
            <a:off x="886968" y="5074920"/>
            <a:ext cx="548640" cy="54864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3</a:t>
            </a:r>
          </a:p>
        </p:txBody>
      </p:sp>
      <p:sp>
        <p:nvSpPr>
          <p:cNvPr id="110" name="Row 110"/>
          <p:cNvSpPr txBox="1"/>
          <p:nvPr/>
        </p:nvSpPr>
        <p:spPr>
          <a:xfrm>
            <a:off x="1618488" y="5074920"/>
            <a:ext cx="4572000" cy="54864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dirty="0">
                <a:solidFill>
                  <a:schemeClr val="accent6">
                    <a:lumMod val="75000"/>
                  </a:schemeClr>
                </a:solidFill>
                <a:latin typeface="Poppins SemiBold" pitchFamily="2" charset="0"/>
                <a:cs typeface="Poppins SemiBold" pitchFamily="2" charset="0"/>
              </a:rPr>
              <a:t>How do we organise and communicate this back to industry?</a:t>
            </a:r>
          </a:p>
        </p:txBody>
      </p:sp>
      <p:sp>
        <p:nvSpPr>
          <p:cNvPr id="111" name="Outcome card 111"/>
          <p:cNvSpPr/>
          <p:nvPr/>
        </p:nvSpPr>
        <p:spPr>
          <a:xfrm>
            <a:off x="7242048" y="1417320"/>
            <a:ext cx="4389120" cy="4572000"/>
          </a:xfrm>
          <a:prstGeom prst="rect">
            <a:avLst/>
          </a:prstGeom>
          <a:solidFill>
            <a:schemeClr val="accent6"/>
          </a:solidFill>
          <a:ln>
            <a:noFill/>
          </a:ln>
        </p:spPr>
        <p:txBody>
          <a:bodyPr wrap="square" lIns="0" tIns="0" rIns="0" bIns="0" rtlCol="0" anchor="t">
            <a:noAutofit/>
          </a:bodyPr>
          <a:lstStyle/>
          <a:p>
            <a:endParaRPr lang="en-AU" sz="1000"/>
          </a:p>
        </p:txBody>
      </p:sp>
      <p:sp>
        <p:nvSpPr>
          <p:cNvPr id="112" name="Label 112"/>
          <p:cNvSpPr txBox="1"/>
          <p:nvPr/>
        </p:nvSpPr>
        <p:spPr>
          <a:xfrm>
            <a:off x="7562088" y="1645920"/>
            <a:ext cx="3657600" cy="32004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100" b="1" dirty="0">
                <a:solidFill>
                  <a:schemeClr val="accent5"/>
                </a:solidFill>
                <a:latin typeface="Poppins SemiBold" pitchFamily="2" charset="0"/>
                <a:cs typeface="Poppins SemiBold" pitchFamily="2" charset="0"/>
              </a:rPr>
              <a:t>KEY OUTCOME</a:t>
            </a:r>
          </a:p>
        </p:txBody>
      </p:sp>
      <p:sp>
        <p:nvSpPr>
          <p:cNvPr id="113" name="Outcome 113"/>
          <p:cNvSpPr txBox="1"/>
          <p:nvPr/>
        </p:nvSpPr>
        <p:spPr>
          <a:xfrm>
            <a:off x="7562088" y="1965960"/>
            <a:ext cx="3657600" cy="777240"/>
          </a:xfrm>
          <a:prstGeom prst="rect">
            <a:avLst/>
          </a:prstGeom>
          <a:noFill/>
          <a:ln>
            <a:noFill/>
          </a:ln>
        </p:spPr>
        <p:txBody>
          <a:bodyPr wrap="square" lIns="0" tIns="0" rIns="0" bIns="0" rtlCol="0" anchor="t">
            <a:noAutofit/>
          </a:bodyPr>
          <a:lstStyle/>
          <a:p>
            <a:pPr algn="l">
              <a:lnSpc>
                <a:spcPct val="105000"/>
              </a:lnSpc>
              <a:spcBef>
                <a:spcPts val="0"/>
              </a:spcBef>
              <a:spcAft>
                <a:spcPts val="0"/>
              </a:spcAft>
              <a:buNone/>
            </a:pPr>
            <a:r>
              <a:rPr lang="en-AU" sz="1800" b="1" dirty="0">
                <a:solidFill>
                  <a:schemeClr val="bg1"/>
                </a:solidFill>
                <a:latin typeface="Poppins SemiBold" pitchFamily="2" charset="0"/>
                <a:cs typeface="Poppins SemiBold" pitchFamily="2" charset="0"/>
              </a:rPr>
              <a:t>A clear story to take back to industry</a:t>
            </a:r>
          </a:p>
        </p:txBody>
      </p:sp>
      <p:sp>
        <p:nvSpPr>
          <p:cNvPr id="114" name="Story 114"/>
          <p:cNvSpPr/>
          <p:nvPr/>
        </p:nvSpPr>
        <p:spPr>
          <a:xfrm>
            <a:off x="7562088" y="2971800"/>
            <a:ext cx="3611880" cy="438912"/>
          </a:xfrm>
          <a:prstGeom prst="roundRect">
            <a:avLst>
              <a:gd name="adj" fmla="val 50000"/>
            </a:avLst>
          </a:prstGeom>
          <a:solidFill>
            <a:schemeClr val="bg1"/>
          </a:solidFill>
          <a:ln>
            <a:noFill/>
          </a:ln>
        </p:spPr>
        <p:txBody>
          <a:bodyPr wrap="square" lIns="201168" tIns="0" rIns="91440" bIns="0" rtlCol="0" anchor="ctr">
            <a:noAutofit/>
          </a:bodyPr>
          <a:lstStyle/>
          <a:p>
            <a:pPr algn="l">
              <a:lnSpc>
                <a:spcPct val="100000"/>
              </a:lnSpc>
              <a:spcBef>
                <a:spcPts val="0"/>
              </a:spcBef>
              <a:spcAft>
                <a:spcPts val="0"/>
              </a:spcAft>
              <a:buNone/>
            </a:pPr>
            <a:r>
              <a:rPr lang="en-AU" sz="1400" dirty="0">
                <a:solidFill>
                  <a:schemeClr val="accent6">
                    <a:lumMod val="75000"/>
                  </a:schemeClr>
                </a:solidFill>
                <a:latin typeface="Poppins SemiBold" pitchFamily="2" charset="0"/>
                <a:cs typeface="Poppins SemiBold" pitchFamily="2" charset="0"/>
              </a:rPr>
              <a:t>Here’s what you said</a:t>
            </a:r>
          </a:p>
        </p:txBody>
      </p:sp>
      <p:sp>
        <p:nvSpPr>
          <p:cNvPr id="115" name="Story 115"/>
          <p:cNvSpPr/>
          <p:nvPr/>
        </p:nvSpPr>
        <p:spPr>
          <a:xfrm>
            <a:off x="7562088" y="3538728"/>
            <a:ext cx="3611880" cy="438912"/>
          </a:xfrm>
          <a:prstGeom prst="roundRect">
            <a:avLst>
              <a:gd name="adj" fmla="val 50000"/>
            </a:avLst>
          </a:prstGeom>
          <a:solidFill>
            <a:schemeClr val="bg1"/>
          </a:solidFill>
          <a:ln>
            <a:noFill/>
          </a:ln>
        </p:spPr>
        <p:txBody>
          <a:bodyPr wrap="square" lIns="201168" tIns="0" rIns="91440" bIns="0" rtlCol="0" anchor="ctr">
            <a:noAutofit/>
          </a:bodyPr>
          <a:lstStyle/>
          <a:p>
            <a:pPr algn="l">
              <a:lnSpc>
                <a:spcPct val="100000"/>
              </a:lnSpc>
              <a:spcBef>
                <a:spcPts val="0"/>
              </a:spcBef>
              <a:spcAft>
                <a:spcPts val="0"/>
              </a:spcAft>
              <a:buNone/>
            </a:pPr>
            <a:r>
              <a:rPr lang="en-AU" sz="1400" dirty="0">
                <a:solidFill>
                  <a:schemeClr val="accent6">
                    <a:lumMod val="75000"/>
                  </a:schemeClr>
                </a:solidFill>
                <a:latin typeface="Poppins SemiBold" pitchFamily="2" charset="0"/>
                <a:cs typeface="Poppins SemiBold" pitchFamily="2" charset="0"/>
              </a:rPr>
              <a:t>Here’s what we’re already doing</a:t>
            </a:r>
          </a:p>
        </p:txBody>
      </p:sp>
      <p:sp>
        <p:nvSpPr>
          <p:cNvPr id="116" name="Story 116"/>
          <p:cNvSpPr/>
          <p:nvPr/>
        </p:nvSpPr>
        <p:spPr>
          <a:xfrm>
            <a:off x="7562088" y="4105656"/>
            <a:ext cx="3611880" cy="438912"/>
          </a:xfrm>
          <a:prstGeom prst="roundRect">
            <a:avLst>
              <a:gd name="adj" fmla="val 50000"/>
            </a:avLst>
          </a:prstGeom>
          <a:solidFill>
            <a:schemeClr val="bg1"/>
          </a:solidFill>
          <a:ln>
            <a:noFill/>
          </a:ln>
        </p:spPr>
        <p:txBody>
          <a:bodyPr wrap="square" lIns="201168" tIns="0" rIns="91440" bIns="0" rtlCol="0" anchor="ctr">
            <a:noAutofit/>
          </a:bodyPr>
          <a:lstStyle/>
          <a:p>
            <a:pPr algn="l">
              <a:lnSpc>
                <a:spcPct val="100000"/>
              </a:lnSpc>
              <a:spcBef>
                <a:spcPts val="0"/>
              </a:spcBef>
              <a:spcAft>
                <a:spcPts val="0"/>
              </a:spcAft>
              <a:buNone/>
            </a:pPr>
            <a:r>
              <a:rPr lang="en-AU" sz="1400" dirty="0">
                <a:solidFill>
                  <a:schemeClr val="accent6">
                    <a:lumMod val="75000"/>
                  </a:schemeClr>
                </a:solidFill>
                <a:latin typeface="Poppins SemiBold" pitchFamily="2" charset="0"/>
                <a:cs typeface="Poppins SemiBold" pitchFamily="2" charset="0"/>
              </a:rPr>
              <a:t>Here’s what’s missing</a:t>
            </a:r>
          </a:p>
        </p:txBody>
      </p:sp>
      <p:sp>
        <p:nvSpPr>
          <p:cNvPr id="117" name="Note 117"/>
          <p:cNvSpPr txBox="1"/>
          <p:nvPr/>
        </p:nvSpPr>
        <p:spPr>
          <a:xfrm>
            <a:off x="7562088" y="4754880"/>
            <a:ext cx="3657600" cy="1005840"/>
          </a:xfrm>
          <a:prstGeom prst="rect">
            <a:avLst/>
          </a:prstGeom>
          <a:noFill/>
          <a:ln>
            <a:noFill/>
          </a:ln>
        </p:spPr>
        <p:txBody>
          <a:bodyPr wrap="square" lIns="0" tIns="0" rIns="0" bIns="0" rtlCol="0" anchor="t">
            <a:noAutofit/>
          </a:bodyPr>
          <a:lstStyle/>
          <a:p>
            <a:pPr algn="l">
              <a:lnSpc>
                <a:spcPct val="110000"/>
              </a:lnSpc>
              <a:spcBef>
                <a:spcPts val="0"/>
              </a:spcBef>
              <a:spcAft>
                <a:spcPts val="0"/>
              </a:spcAft>
              <a:buNone/>
            </a:pPr>
            <a:r>
              <a:rPr lang="en-AU" sz="1200" dirty="0">
                <a:solidFill>
                  <a:schemeClr val="bg1"/>
                </a:solidFill>
                <a:latin typeface="Open Sans" pitchFamily="34" charset="0"/>
                <a:ea typeface="Open Sans" pitchFamily="34" charset="-122"/>
                <a:cs typeface="Open Sans" pitchFamily="34" charset="-120"/>
              </a:rPr>
              <a:t>New initiatives only come in where there’s a real gap. This is an input session, so TSG will synthesise the outputs and share them back afterwards.</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1652641" y="277669"/>
            <a:ext cx="10539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1104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ISS Workshop</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0808267" cy="72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Three things to do </a:t>
            </a:r>
            <a:r>
              <a:rPr lang="en-AU" dirty="0">
                <a:solidFill>
                  <a:schemeClr val="accent3"/>
                </a:solidFill>
              </a:rPr>
              <a:t>before 22 October</a:t>
            </a:r>
            <a:endParaRPr lang="en-AU" dirty="0"/>
          </a:p>
        </p:txBody>
      </p:sp>
      <p:sp>
        <p:nvSpPr>
          <p:cNvPr id="118" name="Card 118"/>
          <p:cNvSpPr/>
          <p:nvPr/>
        </p:nvSpPr>
        <p:spPr>
          <a:xfrm>
            <a:off x="566928" y="1463040"/>
            <a:ext cx="3505200" cy="361188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19" name="Number 119"/>
          <p:cNvSpPr/>
          <p:nvPr/>
        </p:nvSpPr>
        <p:spPr>
          <a:xfrm>
            <a:off x="841248" y="1783080"/>
            <a:ext cx="868680" cy="868680"/>
          </a:xfrm>
          <a:prstGeom prst="ellipse">
            <a:avLst/>
          </a:prstGeom>
          <a:solidFill>
            <a:schemeClr val="accent3"/>
          </a:solidFill>
          <a:ln>
            <a:noFill/>
          </a:ln>
        </p:spPr>
        <p:txBody>
          <a:bodyPr wrap="square" lIns="0" tIns="0" rIns="0" bIns="0" rtlCol="0" anchor="ctr">
            <a:noAutofit/>
          </a:bodyPr>
          <a:lstStyle/>
          <a:p>
            <a:pPr algn="ctr">
              <a:lnSpc>
                <a:spcPct val="100000"/>
              </a:lnSpc>
              <a:spcBef>
                <a:spcPts val="0"/>
              </a:spcBef>
              <a:spcAft>
                <a:spcPts val="0"/>
              </a:spcAft>
              <a:buNone/>
            </a:pPr>
            <a:r>
              <a:rPr lang="en-AU" sz="2800" b="1" dirty="0">
                <a:solidFill>
                  <a:schemeClr val="bg1"/>
                </a:solidFill>
                <a:latin typeface="Poppins SemiBold" pitchFamily="2" charset="0"/>
                <a:cs typeface="Poppins SemiBold" pitchFamily="2" charset="0"/>
              </a:rPr>
              <a:t>1</a:t>
            </a:r>
          </a:p>
        </p:txBody>
      </p:sp>
      <p:sp>
        <p:nvSpPr>
          <p:cNvPr id="120" name="Card head 120"/>
          <p:cNvSpPr txBox="1"/>
          <p:nvPr/>
        </p:nvSpPr>
        <p:spPr>
          <a:xfrm>
            <a:off x="841248" y="2880360"/>
            <a:ext cx="2956560" cy="45720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600" b="1" dirty="0">
                <a:solidFill>
                  <a:schemeClr val="accent6">
                    <a:lumMod val="75000"/>
                  </a:schemeClr>
                </a:solidFill>
                <a:latin typeface="Poppins SemiBold" pitchFamily="2" charset="0"/>
                <a:cs typeface="Poppins SemiBold" pitchFamily="2" charset="0"/>
              </a:rPr>
              <a:t>Read the ISS report</a:t>
            </a:r>
          </a:p>
        </p:txBody>
      </p:sp>
      <p:sp>
        <p:nvSpPr>
          <p:cNvPr id="121" name="Card body 121"/>
          <p:cNvSpPr txBox="1"/>
          <p:nvPr/>
        </p:nvSpPr>
        <p:spPr>
          <a:xfrm>
            <a:off x="841248" y="3383280"/>
            <a:ext cx="2956560" cy="1600200"/>
          </a:xfrm>
          <a:prstGeom prst="rect">
            <a:avLst/>
          </a:prstGeom>
          <a:noFill/>
          <a:ln>
            <a:noFill/>
          </a:ln>
        </p:spPr>
        <p:txBody>
          <a:bodyPr wrap="square" lIns="0" tIns="0" rIns="0" bIns="0" rtlCol="0" anchor="t">
            <a:noAutofit/>
          </a:bodyPr>
          <a:lstStyle/>
          <a:p>
            <a:pPr algn="l">
              <a:lnSpc>
                <a:spcPct val="115000"/>
              </a:lnSpc>
              <a:spcBef>
                <a:spcPts val="0"/>
              </a:spcBef>
              <a:spcAft>
                <a:spcPts val="0"/>
              </a:spcAft>
              <a:buNone/>
            </a:pPr>
            <a:r>
              <a:rPr lang="en-AU" sz="1300" dirty="0">
                <a:solidFill>
                  <a:schemeClr val="accent6">
                    <a:lumMod val="75000"/>
                  </a:schemeClr>
                </a:solidFill>
                <a:latin typeface="Open Sans" pitchFamily="34" charset="0"/>
                <a:ea typeface="Open Sans" pitchFamily="34" charset="-122"/>
                <a:cs typeface="Open Sans" pitchFamily="34" charset="-120"/>
              </a:rPr>
              <a:t>Read the Cycle 1 report and note what industry said about Coal Services and your business unit.</a:t>
            </a:r>
          </a:p>
        </p:txBody>
      </p:sp>
      <p:sp>
        <p:nvSpPr>
          <p:cNvPr id="122" name="Card 122"/>
          <p:cNvSpPr/>
          <p:nvPr/>
        </p:nvSpPr>
        <p:spPr>
          <a:xfrm>
            <a:off x="4346448" y="1463040"/>
            <a:ext cx="3505200" cy="361188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23" name="Number 123"/>
          <p:cNvSpPr/>
          <p:nvPr/>
        </p:nvSpPr>
        <p:spPr>
          <a:xfrm>
            <a:off x="4620768" y="1783080"/>
            <a:ext cx="868680" cy="868680"/>
          </a:xfrm>
          <a:prstGeom prst="ellipse">
            <a:avLst/>
          </a:prstGeom>
          <a:solidFill>
            <a:schemeClr val="accent3"/>
          </a:solidFill>
          <a:ln>
            <a:noFill/>
          </a:ln>
        </p:spPr>
        <p:txBody>
          <a:bodyPr wrap="square" lIns="0" tIns="0" rIns="0" bIns="0" rtlCol="0" anchor="ctr">
            <a:noAutofit/>
          </a:bodyPr>
          <a:lstStyle/>
          <a:p>
            <a:pPr algn="ctr">
              <a:lnSpc>
                <a:spcPct val="100000"/>
              </a:lnSpc>
              <a:spcBef>
                <a:spcPts val="0"/>
              </a:spcBef>
              <a:spcAft>
                <a:spcPts val="0"/>
              </a:spcAft>
              <a:buNone/>
            </a:pPr>
            <a:r>
              <a:rPr lang="en-AU" sz="2800" b="1" dirty="0">
                <a:solidFill>
                  <a:schemeClr val="bg1"/>
                </a:solidFill>
                <a:latin typeface="Poppins SemiBold" pitchFamily="2" charset="0"/>
                <a:cs typeface="Poppins SemiBold" pitchFamily="2" charset="0"/>
              </a:rPr>
              <a:t>2</a:t>
            </a:r>
          </a:p>
        </p:txBody>
      </p:sp>
      <p:sp>
        <p:nvSpPr>
          <p:cNvPr id="124" name="Card head 124"/>
          <p:cNvSpPr txBox="1"/>
          <p:nvPr/>
        </p:nvSpPr>
        <p:spPr>
          <a:xfrm>
            <a:off x="4620768" y="2880360"/>
            <a:ext cx="2956560" cy="45720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600" b="1" dirty="0">
                <a:solidFill>
                  <a:schemeClr val="accent6">
                    <a:lumMod val="75000"/>
                  </a:schemeClr>
                </a:solidFill>
                <a:latin typeface="Poppins SemiBold" pitchFamily="2" charset="0"/>
                <a:cs typeface="Poppins SemiBold" pitchFamily="2" charset="0"/>
              </a:rPr>
              <a:t>Understand the four themes</a:t>
            </a:r>
          </a:p>
        </p:txBody>
      </p:sp>
      <p:sp>
        <p:nvSpPr>
          <p:cNvPr id="125" name="Card body 125"/>
          <p:cNvSpPr txBox="1"/>
          <p:nvPr/>
        </p:nvSpPr>
        <p:spPr>
          <a:xfrm>
            <a:off x="4620768" y="3383280"/>
            <a:ext cx="2956560" cy="1600200"/>
          </a:xfrm>
          <a:prstGeom prst="rect">
            <a:avLst/>
          </a:prstGeom>
          <a:noFill/>
          <a:ln>
            <a:noFill/>
          </a:ln>
        </p:spPr>
        <p:txBody>
          <a:bodyPr wrap="square" lIns="0" tIns="0" rIns="0" bIns="0" rtlCol="0" anchor="t">
            <a:noAutofit/>
          </a:bodyPr>
          <a:lstStyle/>
          <a:p>
            <a:pPr algn="l">
              <a:lnSpc>
                <a:spcPct val="115000"/>
              </a:lnSpc>
              <a:spcBef>
                <a:spcPts val="0"/>
              </a:spcBef>
              <a:spcAft>
                <a:spcPts val="0"/>
              </a:spcAft>
              <a:buNone/>
            </a:pPr>
            <a:r>
              <a:rPr lang="en-AU" sz="1300" dirty="0">
                <a:solidFill>
                  <a:schemeClr val="accent6">
                    <a:lumMod val="75000"/>
                  </a:schemeClr>
                </a:solidFill>
                <a:latin typeface="Open Sans" pitchFamily="34" charset="0"/>
                <a:ea typeface="Open Sans" pitchFamily="34" charset="-122"/>
                <a:cs typeface="Open Sans" pitchFamily="34" charset="-120"/>
              </a:rPr>
              <a:t>Read each theme, its How Might We statement and the sub-insights underneath. These are what we will work through on the day.</a:t>
            </a:r>
          </a:p>
        </p:txBody>
      </p:sp>
      <p:sp>
        <p:nvSpPr>
          <p:cNvPr id="126" name="Card 126"/>
          <p:cNvSpPr/>
          <p:nvPr/>
        </p:nvSpPr>
        <p:spPr>
          <a:xfrm>
            <a:off x="8125968" y="1463040"/>
            <a:ext cx="3505200" cy="361188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27" name="Number 127"/>
          <p:cNvSpPr/>
          <p:nvPr/>
        </p:nvSpPr>
        <p:spPr>
          <a:xfrm>
            <a:off x="8400288" y="1783080"/>
            <a:ext cx="868680" cy="868680"/>
          </a:xfrm>
          <a:prstGeom prst="ellipse">
            <a:avLst/>
          </a:prstGeom>
          <a:solidFill>
            <a:schemeClr val="accent3"/>
          </a:solidFill>
          <a:ln>
            <a:noFill/>
          </a:ln>
        </p:spPr>
        <p:txBody>
          <a:bodyPr wrap="square" lIns="0" tIns="0" rIns="0" bIns="0" rtlCol="0" anchor="ctr">
            <a:noAutofit/>
          </a:bodyPr>
          <a:lstStyle/>
          <a:p>
            <a:pPr algn="ctr">
              <a:lnSpc>
                <a:spcPct val="100000"/>
              </a:lnSpc>
              <a:spcBef>
                <a:spcPts val="0"/>
              </a:spcBef>
              <a:spcAft>
                <a:spcPts val="0"/>
              </a:spcAft>
              <a:buNone/>
            </a:pPr>
            <a:r>
              <a:rPr lang="en-AU" sz="2800" b="1" dirty="0">
                <a:solidFill>
                  <a:schemeClr val="bg1"/>
                </a:solidFill>
                <a:latin typeface="Poppins SemiBold" pitchFamily="2" charset="0"/>
                <a:cs typeface="Poppins SemiBold" pitchFamily="2" charset="0"/>
              </a:rPr>
              <a:t>3</a:t>
            </a:r>
          </a:p>
        </p:txBody>
      </p:sp>
      <p:sp>
        <p:nvSpPr>
          <p:cNvPr id="128" name="Card head 128"/>
          <p:cNvSpPr txBox="1"/>
          <p:nvPr/>
        </p:nvSpPr>
        <p:spPr>
          <a:xfrm>
            <a:off x="8400288" y="2880360"/>
            <a:ext cx="2956560" cy="45720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600" b="1" dirty="0">
                <a:solidFill>
                  <a:schemeClr val="accent6">
                    <a:lumMod val="75000"/>
                  </a:schemeClr>
                </a:solidFill>
                <a:latin typeface="Poppins SemiBold" pitchFamily="2" charset="0"/>
                <a:cs typeface="Poppins SemiBold" pitchFamily="2" charset="0"/>
              </a:rPr>
              <a:t>Tell us what’s underway</a:t>
            </a:r>
          </a:p>
        </p:txBody>
      </p:sp>
      <p:sp>
        <p:nvSpPr>
          <p:cNvPr id="129" name="Card body 129"/>
          <p:cNvSpPr txBox="1"/>
          <p:nvPr/>
        </p:nvSpPr>
        <p:spPr>
          <a:xfrm>
            <a:off x="8400288" y="3383280"/>
            <a:ext cx="2956560" cy="1600200"/>
          </a:xfrm>
          <a:prstGeom prst="rect">
            <a:avLst/>
          </a:prstGeom>
          <a:noFill/>
          <a:ln>
            <a:noFill/>
          </a:ln>
        </p:spPr>
        <p:txBody>
          <a:bodyPr wrap="square" lIns="0" tIns="0" rIns="0" bIns="0" rtlCol="0" anchor="t">
            <a:noAutofit/>
          </a:bodyPr>
          <a:lstStyle/>
          <a:p>
            <a:pPr algn="l">
              <a:lnSpc>
                <a:spcPct val="115000"/>
              </a:lnSpc>
              <a:spcBef>
                <a:spcPts val="0"/>
              </a:spcBef>
              <a:spcAft>
                <a:spcPts val="0"/>
              </a:spcAft>
              <a:buNone/>
            </a:pPr>
            <a:r>
              <a:rPr lang="en-AU" sz="1300" dirty="0">
                <a:solidFill>
                  <a:schemeClr val="accent6">
                    <a:lumMod val="75000"/>
                  </a:schemeClr>
                </a:solidFill>
                <a:latin typeface="Open Sans" pitchFamily="34" charset="0"/>
                <a:ea typeface="Open Sans" pitchFamily="34" charset="-122"/>
                <a:cs typeface="Open Sans" pitchFamily="34" charset="-120"/>
              </a:rPr>
              <a:t>Complete the initiatives template we will email you. List the CX initiatives already underway in your area, including work in areas like Risk, Legal and IT that links to ISS issues.</a:t>
            </a:r>
          </a:p>
        </p:txBody>
      </p:sp>
      <p:sp>
        <p:nvSpPr>
          <p:cNvPr id="130" name="Ask 130"/>
          <p:cNvSpPr/>
          <p:nvPr/>
        </p:nvSpPr>
        <p:spPr>
          <a:xfrm>
            <a:off x="566928" y="5349240"/>
            <a:ext cx="11064240" cy="548640"/>
          </a:xfrm>
          <a:prstGeom prst="roundRect">
            <a:avLst>
              <a:gd name="adj" fmla="val 50000"/>
            </a:avLst>
          </a:prstGeom>
          <a:solidFill>
            <a:schemeClr val="bg1"/>
          </a:solidFill>
          <a:ln>
            <a:noFill/>
          </a:ln>
          <a:effectLst>
            <a:outerShdw blurRad="76200" dist="12700" dir="5400000" algn="t" rotWithShape="0">
              <a:srgbClr val="445469">
                <a:alpha val="14000"/>
              </a:srgbClr>
            </a:outerShdw>
          </a:effectLst>
        </p:spPr>
        <p:txBody>
          <a:bodyPr wrap="square" lIns="274320" tIns="0" rIns="274320" bIns="0" rtlCol="0" anchor="ctr">
            <a:noAutofit/>
          </a:bodyPr>
          <a:lstStyle/>
          <a:p>
            <a:pPr algn="l">
              <a:lnSpc>
                <a:spcPct val="100000"/>
              </a:lnSpc>
              <a:spcBef>
                <a:spcPts val="0"/>
              </a:spcBef>
              <a:spcAft>
                <a:spcPts val="0"/>
              </a:spcAft>
              <a:buNone/>
            </a:pPr>
            <a:r>
              <a:rPr lang="en-AU" sz="1400" dirty="0">
                <a:solidFill>
                  <a:schemeClr val="accent3">
                    <a:lumMod val="75000"/>
                  </a:schemeClr>
                </a:solidFill>
                <a:latin typeface="Poppins SemiBold" pitchFamily="2" charset="0"/>
                <a:cs typeface="Poppins SemiBold" pitchFamily="2" charset="0"/>
              </a:rPr>
              <a:t>Please send your initiative updates to TSG before 22 October so the map is ready for the day.</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1652641" y="277669"/>
            <a:ext cx="10539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1104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ISS Workshop</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0808267" cy="72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Four themes </a:t>
            </a:r>
            <a:r>
              <a:rPr lang="en-AU" dirty="0">
                <a:solidFill>
                  <a:schemeClr val="accent3"/>
                </a:solidFill>
              </a:rPr>
              <a:t>we will work through on the day</a:t>
            </a:r>
            <a:endParaRPr lang="en-AU" dirty="0"/>
          </a:p>
        </p:txBody>
      </p:sp>
      <p:sp>
        <p:nvSpPr>
          <p:cNvPr id="131" name="Theme card 131"/>
          <p:cNvSpPr/>
          <p:nvPr/>
        </p:nvSpPr>
        <p:spPr>
          <a:xfrm>
            <a:off x="566928" y="1417320"/>
            <a:ext cx="5394960" cy="187452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32" name="Number 132"/>
          <p:cNvSpPr/>
          <p:nvPr/>
        </p:nvSpPr>
        <p:spPr>
          <a:xfrm>
            <a:off x="841248" y="1691640"/>
            <a:ext cx="548640" cy="54864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1</a:t>
            </a:r>
          </a:p>
        </p:txBody>
      </p:sp>
      <p:sp>
        <p:nvSpPr>
          <p:cNvPr id="133" name="Theme 133"/>
          <p:cNvSpPr txBox="1"/>
          <p:nvPr/>
        </p:nvSpPr>
        <p:spPr>
          <a:xfrm>
            <a:off x="1572768" y="1691640"/>
            <a:ext cx="4160520" cy="54864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500" b="1" dirty="0">
                <a:solidFill>
                  <a:schemeClr val="accent6">
                    <a:lumMod val="75000"/>
                  </a:schemeClr>
                </a:solidFill>
                <a:latin typeface="Poppins SemiBold" pitchFamily="2" charset="0"/>
                <a:cs typeface="Poppins SemiBold" pitchFamily="2" charset="0"/>
              </a:rPr>
              <a:t>Show the reasoning behind every decision</a:t>
            </a:r>
          </a:p>
        </p:txBody>
      </p:sp>
      <p:sp>
        <p:nvSpPr>
          <p:cNvPr id="134" name="HMW 134"/>
          <p:cNvSpPr txBox="1"/>
          <p:nvPr/>
        </p:nvSpPr>
        <p:spPr>
          <a:xfrm>
            <a:off x="1572768" y="2331720"/>
            <a:ext cx="4160520" cy="822960"/>
          </a:xfrm>
          <a:prstGeom prst="rect">
            <a:avLst/>
          </a:prstGeom>
          <a:noFill/>
          <a:ln>
            <a:noFill/>
          </a:ln>
        </p:spPr>
        <p:txBody>
          <a:bodyPr wrap="square" lIns="0" tIns="0" rIns="0" bIns="0" rtlCol="0" anchor="t">
            <a:noAutofit/>
          </a:bodyPr>
          <a:lstStyle/>
          <a:p>
            <a:pPr algn="l">
              <a:lnSpc>
                <a:spcPct val="110000"/>
              </a:lnSpc>
              <a:spcBef>
                <a:spcPts val="0"/>
              </a:spcBef>
              <a:spcAft>
                <a:spcPts val="0"/>
              </a:spcAft>
              <a:buNone/>
            </a:pPr>
            <a:r>
              <a:rPr lang="en-AU" sz="1300" i="1" dirty="0">
                <a:solidFill>
                  <a:schemeClr val="accent3">
                    <a:lumMod val="75000"/>
                  </a:schemeClr>
                </a:solidFill>
                <a:latin typeface="Open Sans" pitchFamily="34" charset="0"/>
                <a:ea typeface="Open Sans" pitchFamily="34" charset="-122"/>
                <a:cs typeface="Open Sans" pitchFamily="34" charset="-120"/>
              </a:rPr>
              <a:t>How might we make the reasoning behind our decisions visible to the people they affect?</a:t>
            </a:r>
          </a:p>
        </p:txBody>
      </p:sp>
      <p:sp>
        <p:nvSpPr>
          <p:cNvPr id="135" name="Theme card 135"/>
          <p:cNvSpPr/>
          <p:nvPr/>
        </p:nvSpPr>
        <p:spPr>
          <a:xfrm>
            <a:off x="6236208" y="1417320"/>
            <a:ext cx="5394960" cy="187452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36" name="Number 136"/>
          <p:cNvSpPr/>
          <p:nvPr/>
        </p:nvSpPr>
        <p:spPr>
          <a:xfrm>
            <a:off x="6510528" y="1691640"/>
            <a:ext cx="548640" cy="54864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2</a:t>
            </a:r>
          </a:p>
        </p:txBody>
      </p:sp>
      <p:sp>
        <p:nvSpPr>
          <p:cNvPr id="137" name="Theme 137"/>
          <p:cNvSpPr txBox="1"/>
          <p:nvPr/>
        </p:nvSpPr>
        <p:spPr>
          <a:xfrm>
            <a:off x="7242048" y="1691640"/>
            <a:ext cx="4160520" cy="54864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500" b="1" dirty="0">
                <a:solidFill>
                  <a:schemeClr val="accent6">
                    <a:lumMod val="75000"/>
                  </a:schemeClr>
                </a:solidFill>
                <a:latin typeface="Poppins SemiBold" pitchFamily="2" charset="0"/>
                <a:cs typeface="Poppins SemiBold" pitchFamily="2" charset="0"/>
              </a:rPr>
              <a:t>Timeliness</a:t>
            </a:r>
          </a:p>
        </p:txBody>
      </p:sp>
      <p:sp>
        <p:nvSpPr>
          <p:cNvPr id="138" name="HMW 138"/>
          <p:cNvSpPr txBox="1"/>
          <p:nvPr/>
        </p:nvSpPr>
        <p:spPr>
          <a:xfrm>
            <a:off x="7242048" y="2331720"/>
            <a:ext cx="4160520" cy="822960"/>
          </a:xfrm>
          <a:prstGeom prst="rect">
            <a:avLst/>
          </a:prstGeom>
          <a:noFill/>
          <a:ln>
            <a:noFill/>
          </a:ln>
        </p:spPr>
        <p:txBody>
          <a:bodyPr wrap="square" lIns="0" tIns="0" rIns="0" bIns="0" rtlCol="0" anchor="t">
            <a:noAutofit/>
          </a:bodyPr>
          <a:lstStyle/>
          <a:p>
            <a:pPr algn="l">
              <a:lnSpc>
                <a:spcPct val="110000"/>
              </a:lnSpc>
              <a:spcBef>
                <a:spcPts val="0"/>
              </a:spcBef>
              <a:spcAft>
                <a:spcPts val="0"/>
              </a:spcAft>
              <a:buNone/>
            </a:pPr>
            <a:r>
              <a:rPr lang="en-AU" sz="1300" i="1" dirty="0">
                <a:solidFill>
                  <a:schemeClr val="accent3">
                    <a:lumMod val="75000"/>
                  </a:schemeClr>
                </a:solidFill>
                <a:latin typeface="Open Sans" pitchFamily="34" charset="0"/>
                <a:ea typeface="Open Sans" pitchFamily="34" charset="-122"/>
                <a:cs typeface="Open Sans" pitchFamily="34" charset="-120"/>
              </a:rPr>
              <a:t>How might we make sure every worker and site gets a timely response, without needing a senior contact to step in?</a:t>
            </a:r>
          </a:p>
        </p:txBody>
      </p:sp>
      <p:sp>
        <p:nvSpPr>
          <p:cNvPr id="139" name="Theme card 139"/>
          <p:cNvSpPr/>
          <p:nvPr/>
        </p:nvSpPr>
        <p:spPr>
          <a:xfrm>
            <a:off x="566928" y="3520440"/>
            <a:ext cx="5394960" cy="187452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40" name="Number 140"/>
          <p:cNvSpPr/>
          <p:nvPr/>
        </p:nvSpPr>
        <p:spPr>
          <a:xfrm>
            <a:off x="841248" y="3794760"/>
            <a:ext cx="548640" cy="54864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3</a:t>
            </a:r>
          </a:p>
        </p:txBody>
      </p:sp>
      <p:sp>
        <p:nvSpPr>
          <p:cNvPr id="141" name="Theme 141"/>
          <p:cNvSpPr txBox="1"/>
          <p:nvPr/>
        </p:nvSpPr>
        <p:spPr>
          <a:xfrm>
            <a:off x="1572768" y="3794760"/>
            <a:ext cx="4160520" cy="54864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500" b="1" dirty="0">
                <a:solidFill>
                  <a:schemeClr val="accent6">
                    <a:lumMod val="75000"/>
                  </a:schemeClr>
                </a:solidFill>
                <a:latin typeface="Poppins SemiBold" pitchFamily="2" charset="0"/>
                <a:cs typeface="Poppins SemiBold" pitchFamily="2" charset="0"/>
              </a:rPr>
              <a:t>Consistency</a:t>
            </a:r>
          </a:p>
        </p:txBody>
      </p:sp>
      <p:sp>
        <p:nvSpPr>
          <p:cNvPr id="142" name="HMW 142"/>
          <p:cNvSpPr txBox="1"/>
          <p:nvPr/>
        </p:nvSpPr>
        <p:spPr>
          <a:xfrm>
            <a:off x="1572768" y="4434840"/>
            <a:ext cx="4160520" cy="822960"/>
          </a:xfrm>
          <a:prstGeom prst="rect">
            <a:avLst/>
          </a:prstGeom>
          <a:noFill/>
          <a:ln>
            <a:noFill/>
          </a:ln>
        </p:spPr>
        <p:txBody>
          <a:bodyPr wrap="square" lIns="0" tIns="0" rIns="0" bIns="0" rtlCol="0" anchor="t">
            <a:noAutofit/>
          </a:bodyPr>
          <a:lstStyle/>
          <a:p>
            <a:pPr algn="l">
              <a:lnSpc>
                <a:spcPct val="110000"/>
              </a:lnSpc>
              <a:spcBef>
                <a:spcPts val="0"/>
              </a:spcBef>
              <a:spcAft>
                <a:spcPts val="0"/>
              </a:spcAft>
              <a:buNone/>
            </a:pPr>
            <a:r>
              <a:rPr lang="en-AU" sz="1300" i="1" dirty="0">
                <a:solidFill>
                  <a:schemeClr val="accent3">
                    <a:lumMod val="75000"/>
                  </a:schemeClr>
                </a:solidFill>
                <a:latin typeface="Open Sans" pitchFamily="34" charset="0"/>
                <a:ea typeface="Open Sans" pitchFamily="34" charset="-122"/>
                <a:cs typeface="Open Sans" pitchFamily="34" charset="-120"/>
              </a:rPr>
              <a:t>How might we make service quality consistent regardless of who handles it?</a:t>
            </a:r>
          </a:p>
        </p:txBody>
      </p:sp>
      <p:sp>
        <p:nvSpPr>
          <p:cNvPr id="143" name="Theme card 143"/>
          <p:cNvSpPr/>
          <p:nvPr/>
        </p:nvSpPr>
        <p:spPr>
          <a:xfrm>
            <a:off x="6236208" y="3520440"/>
            <a:ext cx="5394960" cy="187452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44" name="Number 144"/>
          <p:cNvSpPr/>
          <p:nvPr/>
        </p:nvSpPr>
        <p:spPr>
          <a:xfrm>
            <a:off x="6510528" y="3794760"/>
            <a:ext cx="548640" cy="54864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4</a:t>
            </a:r>
          </a:p>
        </p:txBody>
      </p:sp>
      <p:sp>
        <p:nvSpPr>
          <p:cNvPr id="145" name="Theme 145"/>
          <p:cNvSpPr txBox="1"/>
          <p:nvPr/>
        </p:nvSpPr>
        <p:spPr>
          <a:xfrm>
            <a:off x="7242048" y="3794760"/>
            <a:ext cx="4160520" cy="54864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500" b="1" dirty="0">
                <a:solidFill>
                  <a:schemeClr val="accent6">
                    <a:lumMod val="75000"/>
                  </a:schemeClr>
                </a:solidFill>
                <a:latin typeface="Poppins SemiBold" pitchFamily="2" charset="0"/>
                <a:cs typeface="Poppins SemiBold" pitchFamily="2" charset="0"/>
              </a:rPr>
              <a:t>Engage industry before decisions are made, not after</a:t>
            </a:r>
          </a:p>
        </p:txBody>
      </p:sp>
      <p:sp>
        <p:nvSpPr>
          <p:cNvPr id="146" name="HMW 146"/>
          <p:cNvSpPr txBox="1"/>
          <p:nvPr/>
        </p:nvSpPr>
        <p:spPr>
          <a:xfrm>
            <a:off x="7242048" y="4434840"/>
            <a:ext cx="4160520" cy="822960"/>
          </a:xfrm>
          <a:prstGeom prst="rect">
            <a:avLst/>
          </a:prstGeom>
          <a:noFill/>
          <a:ln>
            <a:noFill/>
          </a:ln>
        </p:spPr>
        <p:txBody>
          <a:bodyPr wrap="square" lIns="0" tIns="0" rIns="0" bIns="0" rtlCol="0" anchor="t">
            <a:noAutofit/>
          </a:bodyPr>
          <a:lstStyle/>
          <a:p>
            <a:pPr algn="l">
              <a:lnSpc>
                <a:spcPct val="110000"/>
              </a:lnSpc>
              <a:spcBef>
                <a:spcPts val="0"/>
              </a:spcBef>
              <a:spcAft>
                <a:spcPts val="0"/>
              </a:spcAft>
              <a:buNone/>
            </a:pPr>
            <a:r>
              <a:rPr lang="en-AU" sz="1300" i="1" dirty="0">
                <a:solidFill>
                  <a:schemeClr val="accent3">
                    <a:lumMod val="75000"/>
                  </a:schemeClr>
                </a:solidFill>
                <a:latin typeface="Open Sans" pitchFamily="34" charset="0"/>
                <a:ea typeface="Open Sans" pitchFamily="34" charset="-122"/>
                <a:cs typeface="Open Sans" pitchFamily="34" charset="-120"/>
              </a:rPr>
              <a:t>How might we make engaging first the default across Coal Services?</a:t>
            </a:r>
          </a:p>
        </p:txBody>
      </p:sp>
      <p:sp>
        <p:nvSpPr>
          <p:cNvPr id="147" name="Footnote 147"/>
          <p:cNvSpPr txBox="1"/>
          <p:nvPr/>
        </p:nvSpPr>
        <p:spPr>
          <a:xfrm>
            <a:off x="566928" y="5760720"/>
            <a:ext cx="11064240" cy="2743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100" i="1" dirty="0">
                <a:solidFill>
                  <a:schemeClr val="accent6"/>
                </a:solidFill>
                <a:latin typeface="Open Sans" pitchFamily="34" charset="0"/>
                <a:ea typeface="Open Sans" pitchFamily="34" charset="-122"/>
                <a:cs typeface="Open Sans" pitchFamily="34" charset="-120"/>
              </a:rPr>
              <a:t>The insight on ownership and the business model is an executive and Board question, so it sits outside the workshop.</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EC006-2222-832D-ED3B-9D349F9A757E}"/>
            </a:ext>
          </a:extLst>
        </p:cNvPr>
        <p:cNvGrpSpPr/>
        <p:nvPr/>
      </p:nvGrpSpPr>
      <p:grpSpPr>
        <a:xfrm>
          <a:off x="0" y="0"/>
          <a:ext cx="0" cy="0"/>
          <a:chOff x="0" y="0"/>
          <a:chExt cx="0" cy="0"/>
        </a:xfrm>
      </p:grpSpPr>
      <p:pic>
        <p:nvPicPr>
          <p:cNvPr id="3" name="Picture 2" descr="About Coal Services : A Specialised Health and Safety Scheme">
            <a:extLst>
              <a:ext uri="{FF2B5EF4-FFF2-40B4-BE49-F238E27FC236}">
                <a16:creationId xmlns:a16="http://schemas.microsoft.com/office/drawing/2014/main" id="{958C83BB-9788-1B17-1380-FFBE7D8CC71C}"/>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12626"/>
            <a:ext cx="12191437" cy="6883252"/>
          </a:xfrm>
          <a:prstGeom prst="rect">
            <a:avLst/>
          </a:prstGeom>
        </p:spPr>
      </p:pic>
      <p:sp>
        <p:nvSpPr>
          <p:cNvPr id="9" name="Rectangle 8">
            <a:extLst>
              <a:ext uri="{FF2B5EF4-FFF2-40B4-BE49-F238E27FC236}">
                <a16:creationId xmlns:a16="http://schemas.microsoft.com/office/drawing/2014/main" id="{65F5A8F3-97DE-6DF4-DFE7-4AE104686192}"/>
              </a:ext>
            </a:extLst>
          </p:cNvPr>
          <p:cNvSpPr/>
          <p:nvPr/>
        </p:nvSpPr>
        <p:spPr>
          <a:xfrm>
            <a:off x="-1" y="-12627"/>
            <a:ext cx="12191437" cy="6883253"/>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Open Sans Light"/>
              <a:ea typeface="+mn-ea"/>
              <a:cs typeface="+mn-cs"/>
            </a:endParaRPr>
          </a:p>
        </p:txBody>
      </p:sp>
      <p:cxnSp>
        <p:nvCxnSpPr>
          <p:cNvPr id="8" name="Straight Connector 7">
            <a:extLst>
              <a:ext uri="{FF2B5EF4-FFF2-40B4-BE49-F238E27FC236}">
                <a16:creationId xmlns:a16="http://schemas.microsoft.com/office/drawing/2014/main" id="{182F0C0E-03BE-4E8A-9218-90A057E7882F}"/>
              </a:ext>
            </a:extLst>
          </p:cNvPr>
          <p:cNvCxnSpPr>
            <a:cxnSpLocks/>
          </p:cNvCxnSpPr>
          <p:nvPr/>
        </p:nvCxnSpPr>
        <p:spPr>
          <a:xfrm>
            <a:off x="599937" y="4292892"/>
            <a:ext cx="916629" cy="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Subtitle 4">
            <a:extLst>
              <a:ext uri="{FF2B5EF4-FFF2-40B4-BE49-F238E27FC236}">
                <a16:creationId xmlns:a16="http://schemas.microsoft.com/office/drawing/2014/main" id="{E01ADEE1-26A6-0660-D47A-861E588A14B5}"/>
              </a:ext>
            </a:extLst>
          </p:cNvPr>
          <p:cNvSpPr>
            <a:spLocks noGrp="1"/>
          </p:cNvSpPr>
          <p:nvPr>
            <p:ph type="subTitle" idx="1"/>
          </p:nvPr>
        </p:nvSpPr>
        <p:spPr>
          <a:xfrm>
            <a:off x="499110" y="4534406"/>
            <a:ext cx="9144000" cy="1655762"/>
          </a:xfrm>
        </p:spPr>
        <p:txBody>
          <a:bodyPr vert="horz" lIns="91440" tIns="45720" rIns="91440" bIns="45720" rtlCol="0" anchor="t">
            <a:normAutofit/>
          </a:bodyPr>
          <a:lstStyle/>
          <a:p>
            <a:pPr>
              <a:lnSpc>
                <a:spcPct val="100000"/>
              </a:lnSpc>
              <a:spcBef>
                <a:spcPts val="0"/>
              </a:spcBef>
              <a:spcAft>
                <a:spcPts val="800"/>
              </a:spcAft>
            </a:pPr>
            <a:r>
              <a:rPr lang="en-GB" sz="1400" dirty="0">
                <a:solidFill>
                  <a:schemeClr val="bg1"/>
                </a:solidFill>
                <a:latin typeface="Poppins" pitchFamily="2" charset="77"/>
                <a:cs typeface="Poppins" pitchFamily="2" charset="77"/>
              </a:rPr>
              <a:t>Questions from the GMT</a:t>
            </a:r>
          </a:p>
          <a:p>
            <a:pPr>
              <a:lnSpc>
                <a:spcPct val="100000"/>
              </a:lnSpc>
              <a:spcBef>
                <a:spcPts val="0"/>
              </a:spcBef>
              <a:spcAft>
                <a:spcPts val="800"/>
              </a:spcAft>
            </a:pPr>
            <a:r>
              <a:rPr lang="en-GB" sz="1400" dirty="0">
                <a:solidFill>
                  <a:schemeClr val="bg1"/>
                </a:solidFill>
                <a:latin typeface="Poppins" pitchFamily="2" charset="77"/>
                <a:cs typeface="Poppins" pitchFamily="2" charset="77"/>
              </a:rPr>
              <a:t>Other questions and clarifications</a:t>
            </a:r>
          </a:p>
        </p:txBody>
      </p:sp>
      <p:sp>
        <p:nvSpPr>
          <p:cNvPr id="14" name="Title 3">
            <a:extLst>
              <a:ext uri="{FF2B5EF4-FFF2-40B4-BE49-F238E27FC236}">
                <a16:creationId xmlns:a16="http://schemas.microsoft.com/office/drawing/2014/main" id="{39599FE2-127A-BB0A-FB8B-3061EE8581BC}"/>
              </a:ext>
            </a:extLst>
          </p:cNvPr>
          <p:cNvSpPr>
            <a:spLocks noGrp="1"/>
          </p:cNvSpPr>
          <p:nvPr>
            <p:ph type="ctrTitle"/>
          </p:nvPr>
        </p:nvSpPr>
        <p:spPr>
          <a:xfrm>
            <a:off x="499109" y="1653000"/>
            <a:ext cx="9144000" cy="2499699"/>
          </a:xfrm>
        </p:spPr>
        <p:txBody>
          <a:bodyPr>
            <a:normAutofit/>
          </a:bodyPr>
          <a:lstStyle/>
          <a:p>
            <a:pPr>
              <a:lnSpc>
                <a:spcPct val="100000"/>
              </a:lnSpc>
            </a:pPr>
            <a:r>
              <a:rPr lang="en-AU" b="1" dirty="0"/>
              <a:t>Section 3:</a:t>
            </a:r>
            <a:br>
              <a:rPr lang="en-AU" b="1" dirty="0"/>
            </a:br>
            <a:r>
              <a:rPr lang="en-AU" b="1" dirty="0"/>
              <a:t>Q&amp;A</a:t>
            </a:r>
            <a:endParaRPr lang="en-GB" b="1" noProof="0" dirty="0">
              <a:latin typeface="Poppins" pitchFamily="2" charset="77"/>
              <a:cs typeface="Poppins" pitchFamily="2" charset="77"/>
            </a:endParaRPr>
          </a:p>
        </p:txBody>
      </p:sp>
      <p:pic>
        <p:nvPicPr>
          <p:cNvPr id="16" name="Picture 15">
            <a:extLst>
              <a:ext uri="{FF2B5EF4-FFF2-40B4-BE49-F238E27FC236}">
                <a16:creationId xmlns:a16="http://schemas.microsoft.com/office/drawing/2014/main" id="{0B8E9BD2-09C0-3CE8-32EF-F822B1148CA8}"/>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99519" y="6000382"/>
            <a:ext cx="1572883" cy="726691"/>
          </a:xfrm>
          <a:prstGeom prst="rect">
            <a:avLst/>
          </a:prstGeom>
        </p:spPr>
      </p:pic>
      <p:pic>
        <p:nvPicPr>
          <p:cNvPr id="4" name="Graphic 3">
            <a:extLst>
              <a:ext uri="{FF2B5EF4-FFF2-40B4-BE49-F238E27FC236}">
                <a16:creationId xmlns:a16="http://schemas.microsoft.com/office/drawing/2014/main" id="{A809D29D-F8AA-B053-D0E4-57C0F079C9E6}"/>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l="8654" t="36592" r="41735" b="22942"/>
          <a:stretch>
            <a:fillRect/>
          </a:stretch>
        </p:blipFill>
        <p:spPr>
          <a:xfrm>
            <a:off x="8130766" y="20202"/>
            <a:ext cx="4060671" cy="3312083"/>
          </a:xfrm>
          <a:prstGeom prst="rect">
            <a:avLst/>
          </a:prstGeom>
        </p:spPr>
      </p:pic>
      <p:pic>
        <p:nvPicPr>
          <p:cNvPr id="19" name="Picture 6">
            <a:extLst>
              <a:ext uri="{FF2B5EF4-FFF2-40B4-BE49-F238E27FC236}">
                <a16:creationId xmlns:a16="http://schemas.microsoft.com/office/drawing/2014/main" id="{15B59517-8ADD-FB27-58CF-D7BFFF0B4F86}"/>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499109" y="272505"/>
            <a:ext cx="2156226" cy="1189642"/>
          </a:xfrm>
          <a:prstGeom prst="rect">
            <a:avLst/>
          </a:prstGeom>
        </p:spPr>
      </p:pic>
    </p:spTree>
    <p:extLst>
      <p:ext uri="{BB962C8B-B14F-4D97-AF65-F5344CB8AC3E}">
        <p14:creationId xmlns:p14="http://schemas.microsoft.com/office/powerpoint/2010/main" val="1304384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1068641" y="277669"/>
            <a:ext cx="11123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520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Q&amp;A</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0808267" cy="72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Questions from </a:t>
            </a:r>
            <a:r>
              <a:rPr lang="en-AU" dirty="0">
                <a:solidFill>
                  <a:schemeClr val="accent3"/>
                </a:solidFill>
              </a:rPr>
              <a:t>GMT members</a:t>
            </a:r>
            <a:endParaRPr lang="en-AU" dirty="0"/>
          </a:p>
        </p:txBody>
      </p:sp>
      <p:sp>
        <p:nvSpPr>
          <p:cNvPr id="148" name="Panel 148"/>
          <p:cNvSpPr/>
          <p:nvPr/>
        </p:nvSpPr>
        <p:spPr>
          <a:xfrm>
            <a:off x="566928" y="1371600"/>
            <a:ext cx="11064240" cy="461772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49" name="Number 149"/>
          <p:cNvSpPr/>
          <p:nvPr/>
        </p:nvSpPr>
        <p:spPr>
          <a:xfrm>
            <a:off x="795528" y="1572768"/>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1</a:t>
            </a:r>
          </a:p>
        </p:txBody>
      </p:sp>
      <p:sp>
        <p:nvSpPr>
          <p:cNvPr id="150" name="Question 150"/>
          <p:cNvSpPr txBox="1"/>
          <p:nvPr/>
        </p:nvSpPr>
        <p:spPr>
          <a:xfrm>
            <a:off x="1435608" y="1481328"/>
            <a:ext cx="8686800" cy="64008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Why were MSOH and MRS called out separately, but not other units such as MSTS and MSL?</a:t>
            </a:r>
          </a:p>
        </p:txBody>
      </p:sp>
      <p:sp>
        <p:nvSpPr>
          <p:cNvPr id="151" name="Page tag 151"/>
          <p:cNvSpPr/>
          <p:nvPr/>
        </p:nvSpPr>
        <p:spPr>
          <a:xfrm>
            <a:off x="10305288" y="1636776"/>
            <a:ext cx="1097280" cy="329184"/>
          </a:xfrm>
          <a:prstGeom prst="roundRect">
            <a:avLst>
              <a:gd name="adj" fmla="val 50000"/>
            </a:avLst>
          </a:prstGeom>
          <a:solidFill>
            <a:schemeClr val="bg1"/>
          </a:solidFill>
          <a:ln>
            <a:noFill/>
          </a:ln>
        </p:spPr>
        <p:txBody>
          <a:bodyPr wrap="square" lIns="0" tIns="0" rIns="0" bIns="0" rtlCol="0" anchor="ctr">
            <a:noAutofit/>
          </a:bodyPr>
          <a:lstStyle/>
          <a:p>
            <a:pPr algn="ctr">
              <a:lnSpc>
                <a:spcPct val="100000"/>
              </a:lnSpc>
              <a:spcBef>
                <a:spcPts val="0"/>
              </a:spcBef>
              <a:spcAft>
                <a:spcPts val="0"/>
              </a:spcAft>
              <a:buNone/>
            </a:pPr>
            <a:r>
              <a:rPr lang="en-AU" sz="1000" dirty="0">
                <a:solidFill>
                  <a:schemeClr val="accent3">
                    <a:lumMod val="75000"/>
                  </a:schemeClr>
                </a:solidFill>
                <a:latin typeface="Poppins SemiBold" pitchFamily="2" charset="0"/>
                <a:cs typeface="Poppins SemiBold" pitchFamily="2" charset="0"/>
              </a:rPr>
              <a:t>Report p.10</a:t>
            </a:r>
          </a:p>
        </p:txBody>
      </p:sp>
      <p:sp>
        <p:nvSpPr>
          <p:cNvPr id="152" name="Number 152"/>
          <p:cNvSpPr/>
          <p:nvPr/>
        </p:nvSpPr>
        <p:spPr>
          <a:xfrm>
            <a:off x="795528" y="2212848"/>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2</a:t>
            </a:r>
          </a:p>
        </p:txBody>
      </p:sp>
      <p:sp>
        <p:nvSpPr>
          <p:cNvPr id="153" name="Question 153"/>
          <p:cNvSpPr txBox="1"/>
          <p:nvPr/>
        </p:nvSpPr>
        <p:spPr>
          <a:xfrm>
            <a:off x="1435608" y="2121408"/>
            <a:ext cx="8686800" cy="64008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Why was the response rate low for some business units, and what does it mean for confidence in the results?</a:t>
            </a:r>
          </a:p>
        </p:txBody>
      </p:sp>
      <p:sp>
        <p:nvSpPr>
          <p:cNvPr id="154" name="Page tag 154"/>
          <p:cNvSpPr/>
          <p:nvPr/>
        </p:nvSpPr>
        <p:spPr>
          <a:xfrm>
            <a:off x="10305288" y="2276856"/>
            <a:ext cx="1097280" cy="329184"/>
          </a:xfrm>
          <a:prstGeom prst="roundRect">
            <a:avLst>
              <a:gd name="adj" fmla="val 50000"/>
            </a:avLst>
          </a:prstGeom>
          <a:solidFill>
            <a:schemeClr val="bg1"/>
          </a:solidFill>
          <a:ln>
            <a:noFill/>
          </a:ln>
        </p:spPr>
        <p:txBody>
          <a:bodyPr wrap="square" lIns="0" tIns="0" rIns="0" bIns="0" rtlCol="0" anchor="ctr">
            <a:noAutofit/>
          </a:bodyPr>
          <a:lstStyle/>
          <a:p>
            <a:pPr algn="ctr">
              <a:lnSpc>
                <a:spcPct val="100000"/>
              </a:lnSpc>
              <a:spcBef>
                <a:spcPts val="0"/>
              </a:spcBef>
              <a:spcAft>
                <a:spcPts val="0"/>
              </a:spcAft>
              <a:buNone/>
            </a:pPr>
            <a:r>
              <a:rPr lang="en-AU" sz="1000" dirty="0">
                <a:solidFill>
                  <a:schemeClr val="accent3">
                    <a:lumMod val="75000"/>
                  </a:schemeClr>
                </a:solidFill>
                <a:latin typeface="Poppins SemiBold" pitchFamily="2" charset="0"/>
                <a:cs typeface="Poppins SemiBold" pitchFamily="2" charset="0"/>
              </a:rPr>
              <a:t>Report p.10</a:t>
            </a:r>
          </a:p>
        </p:txBody>
      </p:sp>
      <p:sp>
        <p:nvSpPr>
          <p:cNvPr id="155" name="Number 155"/>
          <p:cNvSpPr/>
          <p:nvPr/>
        </p:nvSpPr>
        <p:spPr>
          <a:xfrm>
            <a:off x="795528" y="2852928"/>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3</a:t>
            </a:r>
          </a:p>
        </p:txBody>
      </p:sp>
      <p:sp>
        <p:nvSpPr>
          <p:cNvPr id="156" name="Question 156"/>
          <p:cNvSpPr txBox="1"/>
          <p:nvPr/>
        </p:nvSpPr>
        <p:spPr>
          <a:xfrm>
            <a:off x="1435608" y="2761488"/>
            <a:ext cx="8686800" cy="64008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Is “making it hard to get back to work” about CS Health or CMI? What is the nuance?</a:t>
            </a:r>
          </a:p>
        </p:txBody>
      </p:sp>
      <p:sp>
        <p:nvSpPr>
          <p:cNvPr id="157" name="Page tag 157"/>
          <p:cNvSpPr/>
          <p:nvPr/>
        </p:nvSpPr>
        <p:spPr>
          <a:xfrm>
            <a:off x="10305288" y="2916936"/>
            <a:ext cx="1097280" cy="329184"/>
          </a:xfrm>
          <a:prstGeom prst="roundRect">
            <a:avLst>
              <a:gd name="adj" fmla="val 50000"/>
            </a:avLst>
          </a:prstGeom>
          <a:solidFill>
            <a:schemeClr val="bg1"/>
          </a:solidFill>
          <a:ln>
            <a:noFill/>
          </a:ln>
        </p:spPr>
        <p:txBody>
          <a:bodyPr wrap="square" lIns="0" tIns="0" rIns="0" bIns="0" rtlCol="0" anchor="ctr">
            <a:noAutofit/>
          </a:bodyPr>
          <a:lstStyle/>
          <a:p>
            <a:pPr algn="ctr">
              <a:lnSpc>
                <a:spcPct val="100000"/>
              </a:lnSpc>
              <a:spcBef>
                <a:spcPts val="0"/>
              </a:spcBef>
              <a:spcAft>
                <a:spcPts val="0"/>
              </a:spcAft>
              <a:buNone/>
            </a:pPr>
            <a:r>
              <a:rPr lang="en-AU" sz="1000" dirty="0">
                <a:solidFill>
                  <a:schemeClr val="accent3">
                    <a:lumMod val="75000"/>
                  </a:schemeClr>
                </a:solidFill>
                <a:latin typeface="Poppins SemiBold" pitchFamily="2" charset="0"/>
                <a:cs typeface="Poppins SemiBold" pitchFamily="2" charset="0"/>
              </a:rPr>
              <a:t>Report p.16</a:t>
            </a:r>
          </a:p>
        </p:txBody>
      </p:sp>
      <p:sp>
        <p:nvSpPr>
          <p:cNvPr id="158" name="Number 158"/>
          <p:cNvSpPr/>
          <p:nvPr/>
        </p:nvSpPr>
        <p:spPr>
          <a:xfrm>
            <a:off x="795528" y="3493008"/>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4</a:t>
            </a:r>
          </a:p>
        </p:txBody>
      </p:sp>
      <p:sp>
        <p:nvSpPr>
          <p:cNvPr id="159" name="Question 159"/>
          <p:cNvSpPr txBox="1"/>
          <p:nvPr/>
        </p:nvSpPr>
        <p:spPr>
          <a:xfrm>
            <a:off x="1435608" y="3401568"/>
            <a:ext cx="8686800" cy="64008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Why did an MEU respondent say Coal Services should value the MEU more than the Minerals Council?</a:t>
            </a:r>
          </a:p>
        </p:txBody>
      </p:sp>
      <p:sp>
        <p:nvSpPr>
          <p:cNvPr id="160" name="Page tag 160"/>
          <p:cNvSpPr/>
          <p:nvPr/>
        </p:nvSpPr>
        <p:spPr>
          <a:xfrm>
            <a:off x="10305288" y="3557016"/>
            <a:ext cx="1097280" cy="329184"/>
          </a:xfrm>
          <a:prstGeom prst="roundRect">
            <a:avLst>
              <a:gd name="adj" fmla="val 50000"/>
            </a:avLst>
          </a:prstGeom>
          <a:solidFill>
            <a:schemeClr val="bg1"/>
          </a:solidFill>
          <a:ln>
            <a:noFill/>
          </a:ln>
        </p:spPr>
        <p:txBody>
          <a:bodyPr wrap="square" lIns="0" tIns="0" rIns="0" bIns="0" rtlCol="0" anchor="ctr">
            <a:noAutofit/>
          </a:bodyPr>
          <a:lstStyle/>
          <a:p>
            <a:pPr algn="ctr">
              <a:lnSpc>
                <a:spcPct val="100000"/>
              </a:lnSpc>
              <a:spcBef>
                <a:spcPts val="0"/>
              </a:spcBef>
              <a:spcAft>
                <a:spcPts val="0"/>
              </a:spcAft>
              <a:buNone/>
            </a:pPr>
            <a:r>
              <a:rPr lang="en-AU" sz="1000" dirty="0">
                <a:solidFill>
                  <a:schemeClr val="accent3">
                    <a:lumMod val="75000"/>
                  </a:schemeClr>
                </a:solidFill>
                <a:latin typeface="Poppins SemiBold" pitchFamily="2" charset="0"/>
                <a:cs typeface="Poppins SemiBold" pitchFamily="2" charset="0"/>
              </a:rPr>
              <a:t>Report p.21</a:t>
            </a:r>
          </a:p>
        </p:txBody>
      </p:sp>
      <p:sp>
        <p:nvSpPr>
          <p:cNvPr id="161" name="Number 161"/>
          <p:cNvSpPr/>
          <p:nvPr/>
        </p:nvSpPr>
        <p:spPr>
          <a:xfrm>
            <a:off x="795528" y="4133088"/>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5</a:t>
            </a:r>
          </a:p>
        </p:txBody>
      </p:sp>
      <p:sp>
        <p:nvSpPr>
          <p:cNvPr id="162" name="Question 162"/>
          <p:cNvSpPr txBox="1"/>
          <p:nvPr/>
        </p:nvSpPr>
        <p:spPr>
          <a:xfrm>
            <a:off x="1435608" y="4041648"/>
            <a:ext cx="8686800" cy="64008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What is the context behind “they still treat everything like an underground”? What does it mean for service delivery beyond Mines Rescue?</a:t>
            </a:r>
          </a:p>
        </p:txBody>
      </p:sp>
      <p:sp>
        <p:nvSpPr>
          <p:cNvPr id="163" name="Page tag 163"/>
          <p:cNvSpPr/>
          <p:nvPr/>
        </p:nvSpPr>
        <p:spPr>
          <a:xfrm>
            <a:off x="10305288" y="4197096"/>
            <a:ext cx="1097280" cy="329184"/>
          </a:xfrm>
          <a:prstGeom prst="roundRect">
            <a:avLst>
              <a:gd name="adj" fmla="val 50000"/>
            </a:avLst>
          </a:prstGeom>
          <a:solidFill>
            <a:schemeClr val="bg1"/>
          </a:solidFill>
          <a:ln>
            <a:noFill/>
          </a:ln>
        </p:spPr>
        <p:txBody>
          <a:bodyPr wrap="square" lIns="0" tIns="0" rIns="0" bIns="0" rtlCol="0" anchor="ctr">
            <a:noAutofit/>
          </a:bodyPr>
          <a:lstStyle/>
          <a:p>
            <a:pPr algn="ctr">
              <a:lnSpc>
                <a:spcPct val="100000"/>
              </a:lnSpc>
              <a:spcBef>
                <a:spcPts val="0"/>
              </a:spcBef>
              <a:spcAft>
                <a:spcPts val="0"/>
              </a:spcAft>
              <a:buNone/>
            </a:pPr>
            <a:r>
              <a:rPr lang="en-AU" sz="1000" dirty="0">
                <a:solidFill>
                  <a:schemeClr val="accent3">
                    <a:lumMod val="75000"/>
                  </a:schemeClr>
                </a:solidFill>
                <a:latin typeface="Poppins SemiBold" pitchFamily="2" charset="0"/>
                <a:cs typeface="Poppins SemiBold" pitchFamily="2" charset="0"/>
              </a:rPr>
              <a:t>Report p.22</a:t>
            </a:r>
          </a:p>
        </p:txBody>
      </p:sp>
      <p:sp>
        <p:nvSpPr>
          <p:cNvPr id="164" name="Number 164"/>
          <p:cNvSpPr/>
          <p:nvPr/>
        </p:nvSpPr>
        <p:spPr>
          <a:xfrm>
            <a:off x="795528" y="4773168"/>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6</a:t>
            </a:r>
          </a:p>
        </p:txBody>
      </p:sp>
      <p:sp>
        <p:nvSpPr>
          <p:cNvPr id="165" name="Question 165"/>
          <p:cNvSpPr txBox="1"/>
          <p:nvPr/>
        </p:nvSpPr>
        <p:spPr>
          <a:xfrm>
            <a:off x="1435608" y="4681728"/>
            <a:ext cx="8686800" cy="64008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Is “MSOH outputs land with representatives rather than the workforce” a problem? What is the value to the individual worker?</a:t>
            </a:r>
          </a:p>
        </p:txBody>
      </p:sp>
      <p:sp>
        <p:nvSpPr>
          <p:cNvPr id="166" name="Page tag 166"/>
          <p:cNvSpPr/>
          <p:nvPr/>
        </p:nvSpPr>
        <p:spPr>
          <a:xfrm>
            <a:off x="10305288" y="4837176"/>
            <a:ext cx="1097280" cy="329184"/>
          </a:xfrm>
          <a:prstGeom prst="roundRect">
            <a:avLst>
              <a:gd name="adj" fmla="val 50000"/>
            </a:avLst>
          </a:prstGeom>
          <a:solidFill>
            <a:schemeClr val="bg1"/>
          </a:solidFill>
          <a:ln>
            <a:noFill/>
          </a:ln>
        </p:spPr>
        <p:txBody>
          <a:bodyPr wrap="square" lIns="0" tIns="0" rIns="0" bIns="0" rtlCol="0" anchor="ctr">
            <a:noAutofit/>
          </a:bodyPr>
          <a:lstStyle/>
          <a:p>
            <a:pPr algn="ctr">
              <a:lnSpc>
                <a:spcPct val="100000"/>
              </a:lnSpc>
              <a:spcBef>
                <a:spcPts val="0"/>
              </a:spcBef>
              <a:spcAft>
                <a:spcPts val="0"/>
              </a:spcAft>
              <a:buNone/>
            </a:pPr>
            <a:r>
              <a:rPr lang="en-AU" sz="1000" dirty="0">
                <a:solidFill>
                  <a:schemeClr val="accent3">
                    <a:lumMod val="75000"/>
                  </a:schemeClr>
                </a:solidFill>
                <a:latin typeface="Poppins SemiBold" pitchFamily="2" charset="0"/>
                <a:cs typeface="Poppins SemiBold" pitchFamily="2" charset="0"/>
              </a:rPr>
              <a:t>Report p.36</a:t>
            </a:r>
          </a:p>
        </p:txBody>
      </p:sp>
      <p:sp>
        <p:nvSpPr>
          <p:cNvPr id="167" name="Number 167"/>
          <p:cNvSpPr/>
          <p:nvPr/>
        </p:nvSpPr>
        <p:spPr>
          <a:xfrm>
            <a:off x="795528" y="5413248"/>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7</a:t>
            </a:r>
          </a:p>
        </p:txBody>
      </p:sp>
      <p:sp>
        <p:nvSpPr>
          <p:cNvPr id="168" name="Question 168"/>
          <p:cNvSpPr txBox="1"/>
          <p:nvPr/>
        </p:nvSpPr>
        <p:spPr>
          <a:xfrm>
            <a:off x="1435608" y="5321808"/>
            <a:ext cx="8686800" cy="64008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What is the “that” in “they’ve admitted to us that they’ve incorporated that because they’re getting paid by the company to do it”?</a:t>
            </a:r>
          </a:p>
        </p:txBody>
      </p:sp>
      <p:sp>
        <p:nvSpPr>
          <p:cNvPr id="169" name="Page tag 169"/>
          <p:cNvSpPr/>
          <p:nvPr/>
        </p:nvSpPr>
        <p:spPr>
          <a:xfrm>
            <a:off x="10305288" y="5477256"/>
            <a:ext cx="1097280" cy="329184"/>
          </a:xfrm>
          <a:prstGeom prst="roundRect">
            <a:avLst>
              <a:gd name="adj" fmla="val 50000"/>
            </a:avLst>
          </a:prstGeom>
          <a:solidFill>
            <a:schemeClr val="bg1"/>
          </a:solidFill>
          <a:ln>
            <a:noFill/>
          </a:ln>
        </p:spPr>
        <p:txBody>
          <a:bodyPr wrap="square" lIns="0" tIns="0" rIns="0" bIns="0" rtlCol="0" anchor="ctr">
            <a:noAutofit/>
          </a:bodyPr>
          <a:lstStyle/>
          <a:p>
            <a:pPr algn="ctr">
              <a:lnSpc>
                <a:spcPct val="100000"/>
              </a:lnSpc>
              <a:spcBef>
                <a:spcPts val="0"/>
              </a:spcBef>
              <a:spcAft>
                <a:spcPts val="0"/>
              </a:spcAft>
              <a:buNone/>
            </a:pPr>
            <a:r>
              <a:rPr lang="en-AU" sz="1000" dirty="0">
                <a:solidFill>
                  <a:schemeClr val="accent3">
                    <a:lumMod val="75000"/>
                  </a:schemeClr>
                </a:solidFill>
                <a:latin typeface="Poppins SemiBold" pitchFamily="2" charset="0"/>
                <a:cs typeface="Poppins SemiBold" pitchFamily="2" charset="0"/>
              </a:rPr>
              <a:t>Report p.39</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1068641" y="277669"/>
            <a:ext cx="11123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520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Q&amp;A</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0808267" cy="72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Other questions and clarifications: </a:t>
            </a:r>
            <a:r>
              <a:rPr lang="en-AU" dirty="0">
                <a:solidFill>
                  <a:schemeClr val="accent3"/>
                </a:solidFill>
              </a:rPr>
              <a:t>the research</a:t>
            </a:r>
            <a:endParaRPr lang="en-AU" dirty="0"/>
          </a:p>
        </p:txBody>
      </p:sp>
      <p:sp>
        <p:nvSpPr>
          <p:cNvPr id="170" name="Question card 170"/>
          <p:cNvSpPr/>
          <p:nvPr/>
        </p:nvSpPr>
        <p:spPr>
          <a:xfrm>
            <a:off x="566928" y="1417320"/>
            <a:ext cx="5394960" cy="992124"/>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71" name="Number 171"/>
          <p:cNvSpPr/>
          <p:nvPr/>
        </p:nvSpPr>
        <p:spPr>
          <a:xfrm>
            <a:off x="795528" y="1684782"/>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1</a:t>
            </a:r>
          </a:p>
        </p:txBody>
      </p:sp>
      <p:sp>
        <p:nvSpPr>
          <p:cNvPr id="172" name="Question 172"/>
          <p:cNvSpPr txBox="1"/>
          <p:nvPr/>
        </p:nvSpPr>
        <p:spPr>
          <a:xfrm>
            <a:off x="1435608" y="1417320"/>
            <a:ext cx="4343400" cy="992124"/>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Who did you speak to, and were any stakeholders excluded?</a:t>
            </a:r>
          </a:p>
        </p:txBody>
      </p:sp>
      <p:sp>
        <p:nvSpPr>
          <p:cNvPr id="173" name="Question card 173"/>
          <p:cNvSpPr/>
          <p:nvPr/>
        </p:nvSpPr>
        <p:spPr>
          <a:xfrm>
            <a:off x="566928" y="2610612"/>
            <a:ext cx="5394960" cy="992124"/>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74" name="Number 174"/>
          <p:cNvSpPr/>
          <p:nvPr/>
        </p:nvSpPr>
        <p:spPr>
          <a:xfrm>
            <a:off x="795528" y="2878074"/>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2</a:t>
            </a:r>
          </a:p>
        </p:txBody>
      </p:sp>
      <p:sp>
        <p:nvSpPr>
          <p:cNvPr id="175" name="Question 175"/>
          <p:cNvSpPr txBox="1"/>
          <p:nvPr/>
        </p:nvSpPr>
        <p:spPr>
          <a:xfrm>
            <a:off x="1435608" y="2610612"/>
            <a:ext cx="4343400" cy="992124"/>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Are these site-level people or senior decision makers?</a:t>
            </a:r>
          </a:p>
        </p:txBody>
      </p:sp>
      <p:sp>
        <p:nvSpPr>
          <p:cNvPr id="176" name="Question card 176"/>
          <p:cNvSpPr/>
          <p:nvPr/>
        </p:nvSpPr>
        <p:spPr>
          <a:xfrm>
            <a:off x="566928" y="3803904"/>
            <a:ext cx="5394960" cy="992124"/>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77" name="Number 177"/>
          <p:cNvSpPr/>
          <p:nvPr/>
        </p:nvSpPr>
        <p:spPr>
          <a:xfrm>
            <a:off x="795528" y="4071366"/>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3</a:t>
            </a:r>
          </a:p>
        </p:txBody>
      </p:sp>
      <p:sp>
        <p:nvSpPr>
          <p:cNvPr id="178" name="Question 178"/>
          <p:cNvSpPr txBox="1"/>
          <p:nvPr/>
        </p:nvSpPr>
        <p:spPr>
          <a:xfrm>
            <a:off x="1435608" y="3803904"/>
            <a:ext cx="4343400" cy="992124"/>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How were respondents selected? Were they cherry-picked?</a:t>
            </a:r>
          </a:p>
        </p:txBody>
      </p:sp>
      <p:sp>
        <p:nvSpPr>
          <p:cNvPr id="179" name="Question card 179"/>
          <p:cNvSpPr/>
          <p:nvPr/>
        </p:nvSpPr>
        <p:spPr>
          <a:xfrm>
            <a:off x="566928" y="4997196"/>
            <a:ext cx="5394960" cy="992124"/>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80" name="Number 180"/>
          <p:cNvSpPr/>
          <p:nvPr/>
        </p:nvSpPr>
        <p:spPr>
          <a:xfrm>
            <a:off x="795528" y="5264658"/>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4</a:t>
            </a:r>
          </a:p>
        </p:txBody>
      </p:sp>
      <p:sp>
        <p:nvSpPr>
          <p:cNvPr id="181" name="Question 181"/>
          <p:cNvSpPr txBox="1"/>
          <p:nvPr/>
        </p:nvSpPr>
        <p:spPr>
          <a:xfrm>
            <a:off x="1435608" y="4997196"/>
            <a:ext cx="4343400" cy="992124"/>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Which companies were involved?</a:t>
            </a:r>
          </a:p>
        </p:txBody>
      </p:sp>
      <p:sp>
        <p:nvSpPr>
          <p:cNvPr id="182" name="Question card 182"/>
          <p:cNvSpPr/>
          <p:nvPr/>
        </p:nvSpPr>
        <p:spPr>
          <a:xfrm>
            <a:off x="6236208" y="1417320"/>
            <a:ext cx="5394960" cy="992124"/>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83" name="Number 183"/>
          <p:cNvSpPr/>
          <p:nvPr/>
        </p:nvSpPr>
        <p:spPr>
          <a:xfrm>
            <a:off x="6464808" y="1684782"/>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5</a:t>
            </a:r>
          </a:p>
        </p:txBody>
      </p:sp>
      <p:sp>
        <p:nvSpPr>
          <p:cNvPr id="184" name="Question 184"/>
          <p:cNvSpPr txBox="1"/>
          <p:nvPr/>
        </p:nvSpPr>
        <p:spPr>
          <a:xfrm>
            <a:off x="7104888" y="1417320"/>
            <a:ext cx="4343400" cy="992124"/>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Can people work out who said what?</a:t>
            </a:r>
          </a:p>
        </p:txBody>
      </p:sp>
      <p:sp>
        <p:nvSpPr>
          <p:cNvPr id="185" name="Question card 185"/>
          <p:cNvSpPr/>
          <p:nvPr/>
        </p:nvSpPr>
        <p:spPr>
          <a:xfrm>
            <a:off x="6236208" y="2610612"/>
            <a:ext cx="5394960" cy="992124"/>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86" name="Number 186"/>
          <p:cNvSpPr/>
          <p:nvPr/>
        </p:nvSpPr>
        <p:spPr>
          <a:xfrm>
            <a:off x="6464808" y="2878074"/>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6</a:t>
            </a:r>
          </a:p>
        </p:txBody>
      </p:sp>
      <p:sp>
        <p:nvSpPr>
          <p:cNvPr id="187" name="Question 187"/>
          <p:cNvSpPr txBox="1"/>
          <p:nvPr/>
        </p:nvSpPr>
        <p:spPr>
          <a:xfrm>
            <a:off x="7104888" y="2610612"/>
            <a:ext cx="4343400" cy="992124"/>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Is 30 respondents enough?</a:t>
            </a:r>
          </a:p>
        </p:txBody>
      </p:sp>
      <p:sp>
        <p:nvSpPr>
          <p:cNvPr id="188" name="Question card 188"/>
          <p:cNvSpPr/>
          <p:nvPr/>
        </p:nvSpPr>
        <p:spPr>
          <a:xfrm>
            <a:off x="6236208" y="3803904"/>
            <a:ext cx="5394960" cy="992124"/>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89" name="Number 189"/>
          <p:cNvSpPr/>
          <p:nvPr/>
        </p:nvSpPr>
        <p:spPr>
          <a:xfrm>
            <a:off x="6464808" y="4071366"/>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7</a:t>
            </a:r>
          </a:p>
        </p:txBody>
      </p:sp>
      <p:sp>
        <p:nvSpPr>
          <p:cNvPr id="190" name="Question 190"/>
          <p:cNvSpPr txBox="1"/>
          <p:nvPr/>
        </p:nvSpPr>
        <p:spPr>
          <a:xfrm>
            <a:off x="7104888" y="3803904"/>
            <a:ext cx="4343400" cy="992124"/>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Did respondents find the process worthwhile?</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1068641" y="277669"/>
            <a:ext cx="11123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520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Q&amp;A</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0808267" cy="72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Other questions and clarifications: </a:t>
            </a:r>
            <a:r>
              <a:rPr lang="en-AU" dirty="0">
                <a:solidFill>
                  <a:schemeClr val="accent3"/>
                </a:solidFill>
              </a:rPr>
              <a:t>the score</a:t>
            </a:r>
            <a:endParaRPr lang="en-AU" dirty="0"/>
          </a:p>
        </p:txBody>
      </p:sp>
      <p:sp>
        <p:nvSpPr>
          <p:cNvPr id="191" name="Question card 191"/>
          <p:cNvSpPr/>
          <p:nvPr/>
        </p:nvSpPr>
        <p:spPr>
          <a:xfrm>
            <a:off x="566928" y="1417320"/>
            <a:ext cx="5394960" cy="138988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92" name="Number 192"/>
          <p:cNvSpPr/>
          <p:nvPr/>
        </p:nvSpPr>
        <p:spPr>
          <a:xfrm>
            <a:off x="795528" y="1883664"/>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1</a:t>
            </a:r>
          </a:p>
        </p:txBody>
      </p:sp>
      <p:sp>
        <p:nvSpPr>
          <p:cNvPr id="193" name="Question 193"/>
          <p:cNvSpPr txBox="1"/>
          <p:nvPr/>
        </p:nvSpPr>
        <p:spPr>
          <a:xfrm>
            <a:off x="1435608" y="1417320"/>
            <a:ext cx="4343400" cy="1389888"/>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Where did the methodology come from, and what is the anchor point?</a:t>
            </a:r>
          </a:p>
        </p:txBody>
      </p:sp>
      <p:sp>
        <p:nvSpPr>
          <p:cNvPr id="194" name="Question card 194"/>
          <p:cNvSpPr/>
          <p:nvPr/>
        </p:nvSpPr>
        <p:spPr>
          <a:xfrm>
            <a:off x="566928" y="3008376"/>
            <a:ext cx="5394960" cy="138988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95" name="Number 195"/>
          <p:cNvSpPr/>
          <p:nvPr/>
        </p:nvSpPr>
        <p:spPr>
          <a:xfrm>
            <a:off x="795528" y="3474720"/>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2</a:t>
            </a:r>
          </a:p>
        </p:txBody>
      </p:sp>
      <p:sp>
        <p:nvSpPr>
          <p:cNvPr id="196" name="Question 196"/>
          <p:cNvSpPr txBox="1"/>
          <p:nvPr/>
        </p:nvSpPr>
        <p:spPr>
          <a:xfrm>
            <a:off x="1435608" y="3008376"/>
            <a:ext cx="4343400" cy="1389888"/>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Should we have set a target score before we started?</a:t>
            </a:r>
          </a:p>
        </p:txBody>
      </p:sp>
      <p:sp>
        <p:nvSpPr>
          <p:cNvPr id="197" name="Question card 197"/>
          <p:cNvSpPr/>
          <p:nvPr/>
        </p:nvSpPr>
        <p:spPr>
          <a:xfrm>
            <a:off x="566928" y="4599432"/>
            <a:ext cx="5394960" cy="138988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98" name="Number 198"/>
          <p:cNvSpPr/>
          <p:nvPr/>
        </p:nvSpPr>
        <p:spPr>
          <a:xfrm>
            <a:off x="795528" y="5065776"/>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3</a:t>
            </a:r>
          </a:p>
        </p:txBody>
      </p:sp>
      <p:sp>
        <p:nvSpPr>
          <p:cNvPr id="199" name="Question 199"/>
          <p:cNvSpPr txBox="1"/>
          <p:nvPr/>
        </p:nvSpPr>
        <p:spPr>
          <a:xfrm>
            <a:off x="1435608" y="4599432"/>
            <a:ext cx="4343400" cy="1389888"/>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Does 65 match what we would expect?</a:t>
            </a:r>
          </a:p>
        </p:txBody>
      </p:sp>
      <p:sp>
        <p:nvSpPr>
          <p:cNvPr id="200" name="Question card 200"/>
          <p:cNvSpPr/>
          <p:nvPr/>
        </p:nvSpPr>
        <p:spPr>
          <a:xfrm>
            <a:off x="6236208" y="1417320"/>
            <a:ext cx="5394960" cy="138988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01" name="Number 201"/>
          <p:cNvSpPr/>
          <p:nvPr/>
        </p:nvSpPr>
        <p:spPr>
          <a:xfrm>
            <a:off x="6464808" y="1883664"/>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4</a:t>
            </a:r>
          </a:p>
        </p:txBody>
      </p:sp>
      <p:sp>
        <p:nvSpPr>
          <p:cNvPr id="202" name="Question 202"/>
          <p:cNvSpPr txBox="1"/>
          <p:nvPr/>
        </p:nvSpPr>
        <p:spPr>
          <a:xfrm>
            <a:off x="7104888" y="1417320"/>
            <a:ext cx="4343400" cy="1389888"/>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When respondents say “Coal Services”, do they mean corporate or the business units?</a:t>
            </a:r>
          </a:p>
        </p:txBody>
      </p:sp>
      <p:sp>
        <p:nvSpPr>
          <p:cNvPr id="203" name="Question card 203"/>
          <p:cNvSpPr/>
          <p:nvPr/>
        </p:nvSpPr>
        <p:spPr>
          <a:xfrm>
            <a:off x="6236208" y="3008376"/>
            <a:ext cx="5394960" cy="138988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04" name="Number 204"/>
          <p:cNvSpPr/>
          <p:nvPr/>
        </p:nvSpPr>
        <p:spPr>
          <a:xfrm>
            <a:off x="6464808" y="3474720"/>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5</a:t>
            </a:r>
          </a:p>
        </p:txBody>
      </p:sp>
      <p:sp>
        <p:nvSpPr>
          <p:cNvPr id="205" name="Question 205"/>
          <p:cNvSpPr txBox="1"/>
          <p:nvPr/>
        </p:nvSpPr>
        <p:spPr>
          <a:xfrm>
            <a:off x="7104888" y="3008376"/>
            <a:ext cx="4343400" cy="1389888"/>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What does “Value and Strategic Alignment” actually measure?</a:t>
            </a:r>
          </a:p>
        </p:txBody>
      </p:sp>
      <p:sp>
        <p:nvSpPr>
          <p:cNvPr id="206" name="Question card 206"/>
          <p:cNvSpPr/>
          <p:nvPr/>
        </p:nvSpPr>
        <p:spPr>
          <a:xfrm>
            <a:off x="6236208" y="4599432"/>
            <a:ext cx="5394960" cy="138988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07" name="Number 207"/>
          <p:cNvSpPr/>
          <p:nvPr/>
        </p:nvSpPr>
        <p:spPr>
          <a:xfrm>
            <a:off x="6464808" y="5065776"/>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6</a:t>
            </a:r>
          </a:p>
        </p:txBody>
      </p:sp>
      <p:sp>
        <p:nvSpPr>
          <p:cNvPr id="208" name="Question 208"/>
          <p:cNvSpPr txBox="1"/>
          <p:nvPr/>
        </p:nvSpPr>
        <p:spPr>
          <a:xfrm>
            <a:off x="7104888" y="4599432"/>
            <a:ext cx="4343400" cy="1389888"/>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Why did the MEU score higher than the Minerals Council?</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1068641" y="277669"/>
            <a:ext cx="11123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520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Q&amp;A</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0808267" cy="72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Other questions and clarifications: </a:t>
            </a:r>
            <a:r>
              <a:rPr lang="en-AU" dirty="0">
                <a:solidFill>
                  <a:schemeClr val="accent3"/>
                </a:solidFill>
              </a:rPr>
              <a:t>the findings</a:t>
            </a:r>
            <a:endParaRPr lang="en-AU" dirty="0"/>
          </a:p>
        </p:txBody>
      </p:sp>
      <p:sp>
        <p:nvSpPr>
          <p:cNvPr id="209" name="Question card 209"/>
          <p:cNvSpPr/>
          <p:nvPr/>
        </p:nvSpPr>
        <p:spPr>
          <a:xfrm>
            <a:off x="566928" y="1417320"/>
            <a:ext cx="5394960" cy="138988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10" name="Number 210"/>
          <p:cNvSpPr/>
          <p:nvPr/>
        </p:nvSpPr>
        <p:spPr>
          <a:xfrm>
            <a:off x="795528" y="1883664"/>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1</a:t>
            </a:r>
          </a:p>
        </p:txBody>
      </p:sp>
      <p:sp>
        <p:nvSpPr>
          <p:cNvPr id="211" name="Question 211"/>
          <p:cNvSpPr txBox="1"/>
          <p:nvPr/>
        </p:nvSpPr>
        <p:spPr>
          <a:xfrm>
            <a:off x="1435608" y="1417320"/>
            <a:ext cx="4343400" cy="1389888"/>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Did the Prism and premium issues drive the low trust score?</a:t>
            </a:r>
          </a:p>
        </p:txBody>
      </p:sp>
      <p:sp>
        <p:nvSpPr>
          <p:cNvPr id="212" name="Question card 212"/>
          <p:cNvSpPr/>
          <p:nvPr/>
        </p:nvSpPr>
        <p:spPr>
          <a:xfrm>
            <a:off x="566928" y="3008376"/>
            <a:ext cx="5394960" cy="138988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13" name="Number 213"/>
          <p:cNvSpPr/>
          <p:nvPr/>
        </p:nvSpPr>
        <p:spPr>
          <a:xfrm>
            <a:off x="795528" y="3474720"/>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2</a:t>
            </a:r>
          </a:p>
        </p:txBody>
      </p:sp>
      <p:sp>
        <p:nvSpPr>
          <p:cNvPr id="214" name="Question 214"/>
          <p:cNvSpPr txBox="1"/>
          <p:nvPr/>
        </p:nvSpPr>
        <p:spPr>
          <a:xfrm>
            <a:off x="1435608" y="3008376"/>
            <a:ext cx="4343400" cy="1389888"/>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Is “overreach” about scope or about capacity?</a:t>
            </a:r>
          </a:p>
        </p:txBody>
      </p:sp>
      <p:sp>
        <p:nvSpPr>
          <p:cNvPr id="215" name="Question card 215"/>
          <p:cNvSpPr/>
          <p:nvPr/>
        </p:nvSpPr>
        <p:spPr>
          <a:xfrm>
            <a:off x="566928" y="4599432"/>
            <a:ext cx="5394960" cy="138988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16" name="Number 216"/>
          <p:cNvSpPr/>
          <p:nvPr/>
        </p:nvSpPr>
        <p:spPr>
          <a:xfrm>
            <a:off x="795528" y="5065776"/>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3</a:t>
            </a:r>
          </a:p>
        </p:txBody>
      </p:sp>
      <p:sp>
        <p:nvSpPr>
          <p:cNvPr id="217" name="Question 217"/>
          <p:cNvSpPr txBox="1"/>
          <p:nvPr/>
        </p:nvSpPr>
        <p:spPr>
          <a:xfrm>
            <a:off x="1435608" y="4599432"/>
            <a:ext cx="4343400" cy="1389888"/>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Do Minerals Council respondents know what good looks like elsewhere?</a:t>
            </a:r>
          </a:p>
        </p:txBody>
      </p:sp>
      <p:sp>
        <p:nvSpPr>
          <p:cNvPr id="218" name="Question card 218"/>
          <p:cNvSpPr/>
          <p:nvPr/>
        </p:nvSpPr>
        <p:spPr>
          <a:xfrm>
            <a:off x="6236208" y="1417320"/>
            <a:ext cx="5394960" cy="138988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19" name="Number 219"/>
          <p:cNvSpPr/>
          <p:nvPr/>
        </p:nvSpPr>
        <p:spPr>
          <a:xfrm>
            <a:off x="6464808" y="1883664"/>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4</a:t>
            </a:r>
          </a:p>
        </p:txBody>
      </p:sp>
      <p:sp>
        <p:nvSpPr>
          <p:cNvPr id="220" name="Question 220"/>
          <p:cNvSpPr txBox="1"/>
          <p:nvPr/>
        </p:nvSpPr>
        <p:spPr>
          <a:xfrm>
            <a:off x="7104888" y="1417320"/>
            <a:ext cx="4343400" cy="1389888"/>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Were there any surprises?</a:t>
            </a:r>
          </a:p>
        </p:txBody>
      </p:sp>
      <p:sp>
        <p:nvSpPr>
          <p:cNvPr id="221" name="Question card 221"/>
          <p:cNvSpPr/>
          <p:nvPr/>
        </p:nvSpPr>
        <p:spPr>
          <a:xfrm>
            <a:off x="6236208" y="3008376"/>
            <a:ext cx="5394960" cy="138988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22" name="Number 222"/>
          <p:cNvSpPr/>
          <p:nvPr/>
        </p:nvSpPr>
        <p:spPr>
          <a:xfrm>
            <a:off x="6464808" y="3474720"/>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5</a:t>
            </a:r>
          </a:p>
        </p:txBody>
      </p:sp>
      <p:sp>
        <p:nvSpPr>
          <p:cNvPr id="223" name="Question 223"/>
          <p:cNvSpPr txBox="1"/>
          <p:nvPr/>
        </p:nvSpPr>
        <p:spPr>
          <a:xfrm>
            <a:off x="7104888" y="3008376"/>
            <a:ext cx="4343400" cy="1389888"/>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Why is CS Health scored this way when we’ve invested so heavily in Order 45?</a:t>
            </a:r>
          </a:p>
        </p:txBody>
      </p:sp>
      <p:sp>
        <p:nvSpPr>
          <p:cNvPr id="224" name="Question card 224"/>
          <p:cNvSpPr/>
          <p:nvPr/>
        </p:nvSpPr>
        <p:spPr>
          <a:xfrm>
            <a:off x="6236208" y="4599432"/>
            <a:ext cx="5394960" cy="138988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25" name="Number 225"/>
          <p:cNvSpPr/>
          <p:nvPr/>
        </p:nvSpPr>
        <p:spPr>
          <a:xfrm>
            <a:off x="6464808" y="5065776"/>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6</a:t>
            </a:r>
          </a:p>
        </p:txBody>
      </p:sp>
      <p:sp>
        <p:nvSpPr>
          <p:cNvPr id="226" name="Question 226"/>
          <p:cNvSpPr txBox="1"/>
          <p:nvPr/>
        </p:nvSpPr>
        <p:spPr>
          <a:xfrm>
            <a:off x="7104888" y="4599432"/>
            <a:ext cx="4343400" cy="1389888"/>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Isn’t this just perception rather than reality?</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1068641" y="277669"/>
            <a:ext cx="11123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520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Q&amp;A</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0808267" cy="72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Other questions and clarifications: </a:t>
            </a:r>
            <a:r>
              <a:rPr lang="en-AU" dirty="0">
                <a:solidFill>
                  <a:schemeClr val="accent3"/>
                </a:solidFill>
              </a:rPr>
              <a:t>what happens next</a:t>
            </a:r>
            <a:endParaRPr lang="en-AU" dirty="0"/>
          </a:p>
        </p:txBody>
      </p:sp>
      <p:sp>
        <p:nvSpPr>
          <p:cNvPr id="227" name="Question card 227"/>
          <p:cNvSpPr/>
          <p:nvPr/>
        </p:nvSpPr>
        <p:spPr>
          <a:xfrm>
            <a:off x="566928" y="1417320"/>
            <a:ext cx="5394960" cy="138988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28" name="Number 228"/>
          <p:cNvSpPr/>
          <p:nvPr/>
        </p:nvSpPr>
        <p:spPr>
          <a:xfrm>
            <a:off x="795528" y="1883664"/>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1</a:t>
            </a:r>
          </a:p>
        </p:txBody>
      </p:sp>
      <p:sp>
        <p:nvSpPr>
          <p:cNvPr id="229" name="Question 229"/>
          <p:cNvSpPr txBox="1"/>
          <p:nvPr/>
        </p:nvSpPr>
        <p:spPr>
          <a:xfrm>
            <a:off x="1435608" y="1417320"/>
            <a:ext cx="4343400" cy="1389888"/>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What do we actually do with this?</a:t>
            </a:r>
          </a:p>
        </p:txBody>
      </p:sp>
      <p:sp>
        <p:nvSpPr>
          <p:cNvPr id="230" name="Question card 230"/>
          <p:cNvSpPr/>
          <p:nvPr/>
        </p:nvSpPr>
        <p:spPr>
          <a:xfrm>
            <a:off x="566928" y="3008376"/>
            <a:ext cx="5394960" cy="138988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31" name="Number 231"/>
          <p:cNvSpPr/>
          <p:nvPr/>
        </p:nvSpPr>
        <p:spPr>
          <a:xfrm>
            <a:off x="795528" y="3474720"/>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2</a:t>
            </a:r>
          </a:p>
        </p:txBody>
      </p:sp>
      <p:sp>
        <p:nvSpPr>
          <p:cNvPr id="232" name="Question 232"/>
          <p:cNvSpPr txBox="1"/>
          <p:nvPr/>
        </p:nvSpPr>
        <p:spPr>
          <a:xfrm>
            <a:off x="1435608" y="3008376"/>
            <a:ext cx="4343400" cy="1389888"/>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Who sees this report?</a:t>
            </a:r>
          </a:p>
        </p:txBody>
      </p:sp>
      <p:sp>
        <p:nvSpPr>
          <p:cNvPr id="233" name="Question card 233"/>
          <p:cNvSpPr/>
          <p:nvPr/>
        </p:nvSpPr>
        <p:spPr>
          <a:xfrm>
            <a:off x="566928" y="4599432"/>
            <a:ext cx="5394960" cy="138988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34" name="Number 234"/>
          <p:cNvSpPr/>
          <p:nvPr/>
        </p:nvSpPr>
        <p:spPr>
          <a:xfrm>
            <a:off x="795528" y="5065776"/>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3</a:t>
            </a:r>
          </a:p>
        </p:txBody>
      </p:sp>
      <p:sp>
        <p:nvSpPr>
          <p:cNvPr id="235" name="Question 235"/>
          <p:cNvSpPr txBox="1"/>
          <p:nvPr/>
        </p:nvSpPr>
        <p:spPr>
          <a:xfrm>
            <a:off x="1435608" y="4599432"/>
            <a:ext cx="4343400" cy="1389888"/>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What’s a realistic target for Cycle 2?</a:t>
            </a:r>
          </a:p>
        </p:txBody>
      </p:sp>
      <p:sp>
        <p:nvSpPr>
          <p:cNvPr id="236" name="Question card 236"/>
          <p:cNvSpPr/>
          <p:nvPr/>
        </p:nvSpPr>
        <p:spPr>
          <a:xfrm>
            <a:off x="6236208" y="1417320"/>
            <a:ext cx="5394960" cy="138988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37" name="Number 237"/>
          <p:cNvSpPr/>
          <p:nvPr/>
        </p:nvSpPr>
        <p:spPr>
          <a:xfrm>
            <a:off x="6464808" y="1883664"/>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4</a:t>
            </a:r>
          </a:p>
        </p:txBody>
      </p:sp>
      <p:sp>
        <p:nvSpPr>
          <p:cNvPr id="238" name="Question 238"/>
          <p:cNvSpPr txBox="1"/>
          <p:nvPr/>
        </p:nvSpPr>
        <p:spPr>
          <a:xfrm>
            <a:off x="7104888" y="1417320"/>
            <a:ext cx="4343400" cy="1389888"/>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When do we go back to industry?</a:t>
            </a:r>
          </a:p>
        </p:txBody>
      </p:sp>
      <p:sp>
        <p:nvSpPr>
          <p:cNvPr id="239" name="Question card 239"/>
          <p:cNvSpPr/>
          <p:nvPr/>
        </p:nvSpPr>
        <p:spPr>
          <a:xfrm>
            <a:off x="6236208" y="3008376"/>
            <a:ext cx="5394960" cy="138988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40" name="Number 240"/>
          <p:cNvSpPr/>
          <p:nvPr/>
        </p:nvSpPr>
        <p:spPr>
          <a:xfrm>
            <a:off x="6464808" y="3474720"/>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5</a:t>
            </a:r>
          </a:p>
        </p:txBody>
      </p:sp>
      <p:sp>
        <p:nvSpPr>
          <p:cNvPr id="241" name="Question 241"/>
          <p:cNvSpPr txBox="1"/>
          <p:nvPr/>
        </p:nvSpPr>
        <p:spPr>
          <a:xfrm>
            <a:off x="7104888" y="3008376"/>
            <a:ext cx="4343400" cy="1389888"/>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What if we don’t move the needle by Cycle 2?</a:t>
            </a:r>
          </a:p>
        </p:txBody>
      </p:sp>
      <p:sp>
        <p:nvSpPr>
          <p:cNvPr id="242" name="Question card 242"/>
          <p:cNvSpPr/>
          <p:nvPr/>
        </p:nvSpPr>
        <p:spPr>
          <a:xfrm>
            <a:off x="6236208" y="4599432"/>
            <a:ext cx="5394960" cy="1389888"/>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43" name="Number 243"/>
          <p:cNvSpPr/>
          <p:nvPr/>
        </p:nvSpPr>
        <p:spPr>
          <a:xfrm>
            <a:off x="6464808" y="5065776"/>
            <a:ext cx="457200" cy="45720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6</a:t>
            </a:r>
          </a:p>
        </p:txBody>
      </p:sp>
      <p:sp>
        <p:nvSpPr>
          <p:cNvPr id="244" name="Question 244"/>
          <p:cNvSpPr txBox="1"/>
          <p:nvPr/>
        </p:nvSpPr>
        <p:spPr>
          <a:xfrm>
            <a:off x="7104888" y="4599432"/>
            <a:ext cx="4343400" cy="1389888"/>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Poppins SemiBold" pitchFamily="2" charset="0"/>
                <a:cs typeface="Poppins SemiBold" pitchFamily="2" charset="0"/>
              </a:rPr>
              <a:t>How does this relate to CSAT and the CX measurement model?</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theme/theme1.xml><?xml version="1.0" encoding="utf-8"?>
<a:theme xmlns:a="http://schemas.openxmlformats.org/drawingml/2006/main" name="The Strategy Group - 2022">
  <a:themeElements>
    <a:clrScheme name="The Strategy Group - 2022">
      <a:dk1>
        <a:srgbClr val="000000"/>
      </a:dk1>
      <a:lt1>
        <a:srgbClr val="FFFFFF"/>
      </a:lt1>
      <a:dk2>
        <a:srgbClr val="3C3C3C"/>
      </a:dk2>
      <a:lt2>
        <a:srgbClr val="E5E6EB"/>
      </a:lt2>
      <a:accent1>
        <a:srgbClr val="F38047"/>
      </a:accent1>
      <a:accent2>
        <a:srgbClr val="EE2B79"/>
      </a:accent2>
      <a:accent3>
        <a:srgbClr val="0E98D7"/>
      </a:accent3>
      <a:accent4>
        <a:srgbClr val="2EB88A"/>
      </a:accent4>
      <a:accent5>
        <a:srgbClr val="54C8E9"/>
      </a:accent5>
      <a:accent6>
        <a:srgbClr val="445469"/>
      </a:accent6>
      <a:hlink>
        <a:srgbClr val="0E98D7"/>
      </a:hlink>
      <a:folHlink>
        <a:srgbClr val="445469"/>
      </a:folHlink>
    </a:clrScheme>
    <a:fontScheme name="TSG-Font theme">
      <a:majorFont>
        <a:latin typeface="Poppi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700" row="1">
    <wetp:webextensionref xmlns:r="http://schemas.openxmlformats.org/officeDocument/2006/relationships" r:id="rId2"/>
  </wetp:taskpane>
  <wetp:taskpane dockstate="right" visibility="0" width="700" row="0">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E25CDEDE-93DF-C647-B5D8-A467E7AD6B70}">
  <we:reference id="wa104381063" version="1.0.0.1" store="en-GB"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D008E564-8F99-4EDF-B2EB-65FCC5B53607}">
  <we:reference id="WA200010001" version="1.0.0.0" store="Omex" storeType="OMEX"/>
  <we:alternateReferences>
    <we:reference id="WA200010001" version="1.0.0.0" store="WA200010001" storeType="OMEX"/>
  </we:alternateReferences>
  <we:properties>
    <we:property name="Office.AutoShowTaskpaneWithDocument" value="true"/>
    <we:property name="claude.fileId" value="&quot;8e7109f5-cc27-4dee-92c6-993b70563417&quot;"/>
  </we:properties>
  <we:bindings/>
  <we:snapshot xmlns:r="http://schemas.openxmlformats.org/officeDocument/2006/relationships"/>
</we:webextension>
</file>

<file path=ppt/webextensions/webextension3.xml><?xml version="1.0" encoding="utf-8"?>
<we:webextension xmlns:we="http://schemas.microsoft.com/office/webextensions/webextension/2010/11" id="{5E2B939A-A0AD-43B7-9FF7-30F71938C10C}">
  <we:reference id="f5f369e5-aa35-49d7-ad7b-638152ddb008" version="1.0.0.1" store="excatalog" storeType="excatalog"/>
  <we:alternateReferences>
    <we:reference id="WA200010001" version="1.0.0.1" store="en-gb" storeType="omex"/>
  </we:alternateReferences>
  <we:properties>
    <we:property name="claude.fileId" value="&quot;a2abae90-18fa-4d27-b228-3bd469c0ebe3&quot;"/>
  </we:properties>
  <we:bindings/>
  <we:snapshot xmlns:r="http://schemas.openxmlformats.org/officeDocument/2006/relationships"/>
  <we:extLst>
    <a:ext xmlns:a="http://schemas.openxmlformats.org/drawingml/2006/main" uri="{0858819E-0033-43BF-8937-05EC82904868}">
      <we:backgroundApp state="0" runtimeId="Taskpane.Url"/>
    </a:ext>
  </we:extLst>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65015FF0C4D0D4A84ACD5C5EC18BC34" ma:contentTypeVersion="19" ma:contentTypeDescription="Create a new document." ma:contentTypeScope="" ma:versionID="48ad552dc4ee1b4fa7ea69b2730e5273">
  <xsd:schema xmlns:xsd="http://www.w3.org/2001/XMLSchema" xmlns:xs="http://www.w3.org/2001/XMLSchema" xmlns:p="http://schemas.microsoft.com/office/2006/metadata/properties" xmlns:ns2="6287a675-f086-4c05-9b8c-42540f50c347" xmlns:ns3="cc335e2b-7f42-41d0-87ab-ac8237d9a47e" targetNamespace="http://schemas.microsoft.com/office/2006/metadata/properties" ma:root="true" ma:fieldsID="e2c4e7ddbc6a9a755bb796a3d33b9e2d" ns2:_="" ns3:_="">
    <xsd:import namespace="6287a675-f086-4c05-9b8c-42540f50c347"/>
    <xsd:import namespace="cc335e2b-7f42-41d0-87ab-ac8237d9a47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87a675-f086-4c05-9b8c-42540f50c3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5682369-6b18-44d4-a163-e404b92d838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335e2b-7f42-41d0-87ab-ac8237d9a47e"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1045b74b-362b-4bc9-9c37-0e1824aef99d}" ma:internalName="TaxCatchAll" ma:showField="CatchAllData" ma:web="cc335e2b-7f42-41d0-87ab-ac8237d9a47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c335e2b-7f42-41d0-87ab-ac8237d9a47e" xsi:nil="true"/>
    <lcf76f155ced4ddcb4097134ff3c332f xmlns="6287a675-f086-4c05-9b8c-42540f50c34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82AA5A5-98B4-437E-B556-5EED2ACC049C}">
  <ds:schemaRefs>
    <ds:schemaRef ds:uri="6287a675-f086-4c05-9b8c-42540f50c347"/>
    <ds:schemaRef ds:uri="cc335e2b-7f42-41d0-87ab-ac8237d9a47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2.xml><?xml version="1.0" encoding="utf-8"?>
<ds:datastoreItem xmlns:ds="http://schemas.openxmlformats.org/officeDocument/2006/customXml" ds:itemID="{01DB2E5F-D3D3-441D-A755-9F61C052A9B5}">
  <ds:schemaRefs>
    <ds:schemaRef ds:uri="http://schemas.microsoft.com/sharepoint/v3/contenttype/forms"/>
  </ds:schemaRefs>
</ds:datastoreItem>
</file>

<file path=customXml/itemProps3.xml><?xml version="1.0" encoding="utf-8"?>
<ds:datastoreItem xmlns:ds="http://schemas.openxmlformats.org/officeDocument/2006/customXml" ds:itemID="{6705A753-6E37-42CF-A494-5F3AA9FF7B7D}">
  <ds:schemaRefs>
    <ds:schemaRef ds:uri="http://www.w3.org/XML/1998/namespace"/>
    <ds:schemaRef ds:uri="http://purl.org/dc/dcmitype/"/>
    <ds:schemaRef ds:uri="http://schemas.microsoft.com/office/2006/metadata/properties"/>
    <ds:schemaRef ds:uri="cc335e2b-7f42-41d0-87ab-ac8237d9a47e"/>
    <ds:schemaRef ds:uri="6287a675-f086-4c05-9b8c-42540f50c347"/>
    <ds:schemaRef ds:uri="http://purl.org/dc/terms/"/>
    <ds:schemaRef ds:uri="http://purl.org/dc/elements/1.1/"/>
    <ds:schemaRef ds:uri="http://schemas.openxmlformats.org/package/2006/metadata/core-properties"/>
    <ds:schemaRef ds:uri="http://schemas.microsoft.com/office/2006/documentManagement/typ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359</TotalTime>
  <Words>447</Words>
  <Application>Microsoft Office PowerPoint</Application>
  <PresentationFormat>Widescreen</PresentationFormat>
  <Paragraphs>99</Paragraphs>
  <Slides>6</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vt:i4>
      </vt:variant>
    </vt:vector>
  </HeadingPairs>
  <TitlesOfParts>
    <vt:vector size="17" baseType="lpstr">
      <vt:lpstr>Aptos</vt:lpstr>
      <vt:lpstr>Arial</vt:lpstr>
      <vt:lpstr>Calibri</vt:lpstr>
      <vt:lpstr>Open Sans</vt:lpstr>
      <vt:lpstr>Open Sans Light</vt:lpstr>
      <vt:lpstr>Poppins</vt:lpstr>
      <vt:lpstr>Poppins Light</vt:lpstr>
      <vt:lpstr>Poppins Medium</vt:lpstr>
      <vt:lpstr>Poppins SemiBold</vt:lpstr>
      <vt:lpstr>Roboto</vt:lpstr>
      <vt:lpstr>The Strategy Group - 2022</vt:lpstr>
      <vt:lpstr>Coal Services: Industry Sentiment Scorecard</vt:lpstr>
      <vt:lpstr>PowerPoint Presentation</vt:lpstr>
      <vt:lpstr>PowerPoint Presentation</vt:lpstr>
      <vt:lpstr>PowerPoint Presentation</vt:lpstr>
      <vt:lpstr>PowerPoint Presentation</vt:lpstr>
      <vt:lpstr>Same systems produce different tensions and needs for MC and MEU</vt:lpstr>
    </vt:vector>
  </TitlesOfParts>
  <Company>Razer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Tim Halling</dc:creator>
  <cp:lastModifiedBy>Alycia Wolf</cp:lastModifiedBy>
  <cp:revision>5</cp:revision>
  <cp:lastPrinted>2026-06-05T05:24:36Z</cp:lastPrinted>
  <dcterms:created xsi:type="dcterms:W3CDTF">2017-07-17T06:01:31Z</dcterms:created>
  <dcterms:modified xsi:type="dcterms:W3CDTF">2026-10-09T00:47:54Z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0x010100B65015FF0C4D0D4A84ACD5C5EC18BC34</vt:lpwstr>
  </property>
  <property fmtid="{D5CDD505-2E9C-101B-9397-08002B2CF9AE}" pid="3" name="MediaServiceImageTags">
    <vt:lpwstr/>
  </property>
</Properties>
</file>