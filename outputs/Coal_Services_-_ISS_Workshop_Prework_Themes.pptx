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4" r:id="rId4"/>
  </p:sldMasterIdLst>
  <p:notesMasterIdLst>
    <p:notesMasterId r:id="rId11"/>
  </p:notesMasterIdLst>
  <p:handoutMasterIdLst>
    <p:handoutMasterId r:id="rId12"/>
  </p:handoutMasterIdLst>
  <p:sldIdLst>
    <p:sldId id="2147475314" r:id="rId19"/>
    <p:sldId id="2147475315" r:id="rId20"/>
    <p:sldId id="2147475316" r:id="rId21"/>
    <p:sldId id="214747531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2" orient="horz" pos="459" userDrawn="1">
          <p15:clr>
            <a:srgbClr val="A4A3A4"/>
          </p15:clr>
        </p15:guide>
        <p15:guide id="3" orient="horz" pos="210" userDrawn="1">
          <p15:clr>
            <a:srgbClr val="A4A3A4"/>
          </p15:clr>
        </p15:guide>
        <p15:guide id="4" orient="horz" pos="845" userDrawn="1">
          <p15:clr>
            <a:srgbClr val="A4A3A4"/>
          </p15:clr>
        </p15:guide>
        <p15:guide id="5" pos="2094" userDrawn="1">
          <p15:clr>
            <a:srgbClr val="A4A3A4"/>
          </p15:clr>
        </p15:guide>
        <p15:guide id="6" orient="horz" pos="663" userDrawn="1">
          <p15:clr>
            <a:srgbClr val="A4A3A4"/>
          </p15:clr>
        </p15:guide>
        <p15:guide id="7" pos="3500" userDrawn="1">
          <p15:clr>
            <a:srgbClr val="A4A3A4"/>
          </p15:clr>
        </p15:guide>
        <p15:guide id="8" orient="horz" pos="1230" userDrawn="1">
          <p15:clr>
            <a:srgbClr val="A4A3A4"/>
          </p15:clr>
        </p15:guide>
        <p15:guide id="9" orient="horz" pos="1366" userDrawn="1">
          <p15:clr>
            <a:srgbClr val="A4A3A4"/>
          </p15:clr>
        </p15:guide>
        <p15:guide id="10" pos="3341" userDrawn="1">
          <p15:clr>
            <a:srgbClr val="A4A3A4"/>
          </p15:clr>
        </p15:guide>
        <p15:guide id="11" pos="447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6DCF1C-F1BF-08F1-4F68-1A5268AB94AA}" name="Sabrina Thomas" initials="ST" userId="S::sabrina@thestrategygroup.com.au::71d01e8f-f5be-4dc8-9c6f-d69dbfe8b323" providerId="AD"/>
  <p188:author id="{22B6604C-64F9-9A4C-3D6F-FB7164E2FB2B}" name="Alycia Wolf" initials="AW" userId="S::alycia@thestrategygroup.com.au::c3aef7f7-6659-44db-bf40-576699cfa133" providerId="AD"/>
  <p188:author id="{C60AD75F-BB7A-E2C4-F03F-DC0A34C79042}" name="Liam Hoffman" initials="LH" userId="S::liam@thestrategygroup.com.au::4302a22b-3367-4883-8fcc-8cd8ad62a05e" providerId="AD"/>
  <p188:author id="{A4BFD185-8211-450F-9F9A-53B799A822F0}" name="Nitara Zaid" initials="NZ" userId="S::nitara@thestrategygroup.com.au::ea140d9b-d5e3-432c-a95a-295be01fe418" providerId="AD"/>
  <p188:author id="{AF742A88-23A4-B02F-D282-C8D9BD3AD95C}" name="Jeffrey Tobias" initials="JT" userId="S::jeffrey@thestrategygroup.com.au::9ceb8861-4a13-48a9-ba56-a8c90f5fbffd" providerId="AD"/>
  <p188:author id="{E6A896AE-EBD8-0C62-3B4C-D040BFAA362F}" name="Eliza Beatty" initials="EB" userId="S::eliza@thestrategygroup.com.au::2d4a6939-6cb8-4242-ae6e-ed7e41a40c00" providerId="AD"/>
  <p188:author id="{766270B2-8F53-BD49-570B-6812A4EA1E43}" name="Pierre Schaupp" initials="PS" userId="S::pierre@thestrategygroup.com.au::b910f653-e3ec-49e2-a16b-41bba1208509" providerId="AD"/>
  <p188:author id="{E38D6DFE-8075-8B96-8568-A158DDC43B24}" name="Marcus Naoum" initials="MN" userId="S::marcus@thestrategygroup.com.au::4578fcc8-dbf2-452a-b11c-6b75cc6176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Tabart" initials="M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E40"/>
    <a:srgbClr val="2772A1"/>
    <a:srgbClr val="216197"/>
    <a:srgbClr val="091489"/>
    <a:srgbClr val="F7FCFF"/>
    <a:srgbClr val="5BC3E8"/>
    <a:srgbClr val="E7280F"/>
    <a:srgbClr val="14359D"/>
    <a:srgbClr val="DC1B3A"/>
    <a:srgbClr val="EA5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23"/>
    <p:restoredTop sz="96371"/>
  </p:normalViewPr>
  <p:slideViewPr>
    <p:cSldViewPr snapToGrid="0">
      <p:cViewPr varScale="1">
        <p:scale>
          <a:sx n="75" d="100"/>
          <a:sy n="75" d="100"/>
        </p:scale>
        <p:origin x="60" y="60"/>
      </p:cViewPr>
      <p:guideLst>
        <p:guide pos="393"/>
        <p:guide orient="horz" pos="459"/>
        <p:guide orient="horz" pos="210"/>
        <p:guide orient="horz" pos="845"/>
        <p:guide pos="2094"/>
        <p:guide orient="horz" pos="663"/>
        <p:guide pos="3500"/>
        <p:guide orient="horz" pos="1230"/>
        <p:guide orient="horz" pos="1366"/>
        <p:guide pos="3341"/>
        <p:guide pos="44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11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14" Type="http://schemas.openxmlformats.org/officeDocument/2006/relationships/presProps" Target="presProps.xml"/>  <Relationship Id="rId19" Type="http://schemas.openxmlformats.org/officeDocument/2006/relationships/slide" Target="slides/slide7.xml"/>
  <Relationship Id="rId20" Type="http://schemas.openxmlformats.org/officeDocument/2006/relationships/slide" Target="slides/slide8.xml"/>
  <Relationship Id="rId21" Type="http://schemas.openxmlformats.org/officeDocument/2006/relationships/slide" Target="slides/slide9.xml"/>
  <Relationship Id="rId22" Type="http://schemas.openxmlformats.org/officeDocument/2006/relationships/slide" Target="slides/slide10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C5D396-7B96-4346-AAAE-754D44F7F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Open Sans Light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405ED-F3C3-C64D-896E-A82D517A68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F9414-3D7D-694D-A4D4-2A38CD631945}" type="datetimeFigureOut">
              <a:rPr lang="en-US" smtClean="0">
                <a:latin typeface="Open Sans Light" pitchFamily="2" charset="0"/>
              </a:rPr>
              <a:t>10/9/2026</a:t>
            </a:fld>
            <a:endParaRPr lang="en-US">
              <a:latin typeface="Open Sans Light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3EAB3-9FA5-9449-9881-6508ECDCC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Open Sans Ligh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50E67-DC67-0A48-968B-2D9E103292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C1F1D-0F54-3E40-B5C3-72C471D17D1E}" type="slidenum">
              <a:rPr lang="en-US" smtClean="0">
                <a:latin typeface="Open Sans Light" pitchFamily="2" charset="0"/>
              </a:rPr>
              <a:t>‹#›</a:t>
            </a:fld>
            <a:endParaRPr lang="en-US">
              <a:latin typeface="Open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435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pen Sans Light" pitchFamily="2" charset="0"/>
              </a:defRPr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pen Sans Light" pitchFamily="2" charset="0"/>
              </a:defRPr>
            </a:lvl1pPr>
          </a:lstStyle>
          <a:p>
            <a:fld id="{7DB8B409-6AE1-413F-AD0F-8F9B711D0698}" type="datetimeFigureOut">
              <a:rPr lang="en-AU" smtClean="0"/>
              <a:pPr/>
              <a:t>9/10/2026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pen Sans Light" pitchFamily="2" charset="0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pen Sans Light" pitchFamily="2" charset="0"/>
              </a:defRPr>
            </a:lvl1pPr>
          </a:lstStyle>
          <a:p>
            <a:fld id="{F7CA7197-82FF-4B06-884D-DB6B1218D97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9036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pen Sans Light" pitchFamily="2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32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856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83A61-EB54-06EF-DE47-F7E9A571DB61}"/>
              </a:ext>
            </a:extLst>
          </p:cNvPr>
          <p:cNvSpPr/>
          <p:nvPr userDrawn="1"/>
        </p:nvSpPr>
        <p:spPr>
          <a:xfrm>
            <a:off x="0" y="0"/>
            <a:ext cx="12192000" cy="131601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32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3871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83A61-EB54-06EF-DE47-F7E9A571DB61}"/>
              </a:ext>
            </a:extLst>
          </p:cNvPr>
          <p:cNvSpPr/>
          <p:nvPr userDrawn="1"/>
        </p:nvSpPr>
        <p:spPr>
          <a:xfrm>
            <a:off x="0" y="0"/>
            <a:ext cx="12192000" cy="13160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32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857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83A61-EB54-06EF-DE47-F7E9A571DB61}"/>
              </a:ext>
            </a:extLst>
          </p:cNvPr>
          <p:cNvSpPr/>
          <p:nvPr userDrawn="1"/>
        </p:nvSpPr>
        <p:spPr>
          <a:xfrm>
            <a:off x="0" y="0"/>
            <a:ext cx="12192000" cy="1316019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32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872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2">
            <a:extLst>
              <a:ext uri="{FF2B5EF4-FFF2-40B4-BE49-F238E27FC236}">
                <a16:creationId xmlns:a16="http://schemas.microsoft.com/office/drawing/2014/main" id="{8DF9EC0C-8D8A-394C-98CB-975B46260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110" y="517785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6174DF3-85AD-3849-AA29-99B8B3E8F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110" y="4096613"/>
            <a:ext cx="9144000" cy="947129"/>
          </a:xfrm>
        </p:spPr>
        <p:txBody>
          <a:bodyPr anchor="b">
            <a:normAutofit/>
          </a:bodyPr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155D132-6578-874E-A1F5-777D8134D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65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76918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9" y="1449389"/>
            <a:ext cx="769188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8411394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>
            <a:off x="8421564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2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E57028-D915-D943-99D7-8DF742659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2B019C-4E51-5CE7-5B1D-95225561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919" y="368300"/>
            <a:ext cx="704672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B002A0-5D60-0A4B-429C-D6178E03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19" y="1449389"/>
            <a:ext cx="7046721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28BE1-28ED-B995-96F1-1F1FD2D7396A}"/>
              </a:ext>
            </a:extLst>
          </p:cNvPr>
          <p:cNvSpPr/>
          <p:nvPr userDrawn="1"/>
        </p:nvSpPr>
        <p:spPr>
          <a:xfrm>
            <a:off x="0" y="1"/>
            <a:ext cx="3770435" cy="68901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5"/>
              <a:t>INSERT IMAGE WITH BLACK OVERLAY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4684993-AE64-49DC-81D8-A3F9EC93B95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006" r="30707" b="41106"/>
          <a:stretch/>
        </p:blipFill>
        <p:spPr>
          <a:xfrm rot="10800000" flipH="1">
            <a:off x="10170" y="-1"/>
            <a:ext cx="3770435" cy="56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22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3DD981-2F88-36B6-B48C-C1372B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8300"/>
            <a:ext cx="6646863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086BE6-D60A-9895-5FB7-271EEB74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88" y="1449388"/>
            <a:ext cx="6646863" cy="5040311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802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A6D41D4-8055-A24D-80E7-090637EBB6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789" t="43946" r="16249" b="16538"/>
          <a:stretch/>
        </p:blipFill>
        <p:spPr>
          <a:xfrm rot="16200000">
            <a:off x="-836593" y="709593"/>
            <a:ext cx="6985000" cy="531181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83DD981-2F88-36B6-B48C-C1372B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8300"/>
            <a:ext cx="6646863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086BE6-D60A-9895-5FB7-271EEB74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88" y="1449388"/>
            <a:ext cx="6646863" cy="5040311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430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3DD981-2F88-36B6-B48C-C1372B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8300"/>
            <a:ext cx="6646863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086BE6-D60A-9895-5FB7-271EEB74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88" y="1449388"/>
            <a:ext cx="6646863" cy="5040311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BC5C1FE-9433-3323-B1CF-97B605AB107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768" b="42291"/>
          <a:stretch/>
        </p:blipFill>
        <p:spPr>
          <a:xfrm rot="5400000">
            <a:off x="-1031083" y="1031083"/>
            <a:ext cx="8158166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16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3DD981-2F88-36B6-B48C-C1372B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8300"/>
            <a:ext cx="6646863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086BE6-D60A-9895-5FB7-271EEB74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88" y="1449388"/>
            <a:ext cx="6646863" cy="5040311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3B9BF0-1660-1AA0-06B5-6DFACF441A0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486" b="40030"/>
          <a:stretch/>
        </p:blipFill>
        <p:spPr>
          <a:xfrm rot="5400000">
            <a:off x="-640895" y="640893"/>
            <a:ext cx="8572503" cy="729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06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7EAB4-47B6-B94E-16B6-4925324A1E24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2F8669-A071-F66A-0E1D-C0B73FB862C7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rgbClr val="EF4136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775D67DB-CBF3-181D-0F68-C94113FC190E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E99D011B-5611-947A-E8D5-4848F44EE861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8BB1E48D-99B4-C3F1-96B8-3CFA4CE4F494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1BB5BD68-F3EC-D698-4E47-D0C1874BB8CC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FB12B21-F03F-768B-78B3-E0856D6D2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8300"/>
            <a:ext cx="11160125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9B1A806-7E4B-7D96-7208-91EBEB909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449388"/>
            <a:ext cx="11160113" cy="4239447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0058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7EAB4-47B6-B94E-16B6-4925324A1E24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2F8669-A071-F66A-0E1D-C0B73FB862C7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rgbClr val="EF4136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775D67DB-CBF3-181D-0F68-C94113FC190E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E99D011B-5611-947A-E8D5-4848F44EE861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8BB1E48D-99B4-C3F1-96B8-3CFA4CE4F494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1BB5BD68-F3EC-D698-4E47-D0C1874BB8CC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26B861B8-6461-3BD8-C6E6-DA70B2B2E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8300"/>
            <a:ext cx="11160125" cy="90011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6EF2579-4395-43A2-13FC-857B670C3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449388"/>
            <a:ext cx="11160113" cy="4239447"/>
          </a:xfrm>
        </p:spPr>
        <p:txBody>
          <a:bodyPr/>
          <a:lstStyle>
            <a:lvl1pPr>
              <a:defRPr sz="1800">
                <a:solidFill>
                  <a:schemeClr val="accent1">
                    <a:lumMod val="20000"/>
                    <a:lumOff val="8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08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FE0A4-E4BF-0B4D-9AAC-30724C2FC8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EEF"/>
              </a:gs>
              <a:gs pos="100000">
                <a:srgbClr val="1B75BC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A6D41D4-8055-A24D-80E7-090637EBB6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481" t="-1" r="30512" b="20969"/>
          <a:stretch/>
        </p:blipFill>
        <p:spPr>
          <a:xfrm>
            <a:off x="6393461" y="-1718316"/>
            <a:ext cx="5798540" cy="790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74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C3839F8-3364-3C4E-810A-2FC99C244E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000">
                <a:srgbClr val="F8952F"/>
              </a:gs>
              <a:gs pos="100000">
                <a:srgbClr val="EF413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	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DDEA3E2-E5AD-D14C-B1EB-E632CA3CDBB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42" r="35284" b="18720"/>
          <a:stretch/>
        </p:blipFill>
        <p:spPr>
          <a:xfrm>
            <a:off x="5545394" y="-1638142"/>
            <a:ext cx="6646606" cy="834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51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E03BB5-73A0-9740-A5A5-D1CE3064E40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E2B7B"/>
              </a:gs>
              <a:gs pos="100000">
                <a:srgbClr val="9E1F63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DCF62D6-5D07-004E-99E2-0014E921AD2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134" t="10221" r="1" b="18731"/>
          <a:stretch/>
        </p:blipFill>
        <p:spPr>
          <a:xfrm rot="10800000">
            <a:off x="5607255" y="0"/>
            <a:ext cx="6584745" cy="732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08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81B40DD-4CB3-499A-674B-EC5B3D14F8C2}"/>
              </a:ext>
            </a:extLst>
          </p:cNvPr>
          <p:cNvSpPr/>
          <p:nvPr userDrawn="1"/>
        </p:nvSpPr>
        <p:spPr>
          <a:xfrm>
            <a:off x="-2" y="-1"/>
            <a:ext cx="5112776" cy="6858000"/>
          </a:xfrm>
          <a:prstGeom prst="homePlate">
            <a:avLst>
              <a:gd name="adj" fmla="val 3215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77F37F6-697C-4F0B-9B07-E50867F217DA}"/>
              </a:ext>
            </a:extLst>
          </p:cNvPr>
          <p:cNvSpPr/>
          <p:nvPr userDrawn="1"/>
        </p:nvSpPr>
        <p:spPr>
          <a:xfrm>
            <a:off x="0" y="0"/>
            <a:ext cx="5014452" cy="6858000"/>
          </a:xfrm>
          <a:prstGeom prst="homePlate">
            <a:avLst>
              <a:gd name="adj" fmla="val 32151"/>
            </a:avLst>
          </a:prstGeom>
          <a:gradFill>
            <a:gsLst>
              <a:gs pos="40000">
                <a:schemeClr val="accent1"/>
              </a:gs>
              <a:gs pos="100000">
                <a:srgbClr val="E85A3C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412388-ED79-C9E4-19F6-A88EF37F8A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190" b="33857"/>
          <a:stretch/>
        </p:blipFill>
        <p:spPr>
          <a:xfrm rot="10800000" flipH="1">
            <a:off x="0" y="0"/>
            <a:ext cx="6959831" cy="5626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3BA3F-B8C5-8046-A4E4-565E3761D642}"/>
              </a:ext>
            </a:extLst>
          </p:cNvPr>
          <p:cNvSpPr/>
          <p:nvPr userDrawn="1"/>
        </p:nvSpPr>
        <p:spPr>
          <a:xfrm>
            <a:off x="8412480" y="6126480"/>
            <a:ext cx="3127248" cy="512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665" y="368300"/>
            <a:ext cx="5956398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653" y="1449388"/>
            <a:ext cx="5956398" cy="50403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359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81B40DD-4CB3-499A-674B-EC5B3D14F8C2}"/>
              </a:ext>
            </a:extLst>
          </p:cNvPr>
          <p:cNvSpPr/>
          <p:nvPr userDrawn="1"/>
        </p:nvSpPr>
        <p:spPr>
          <a:xfrm>
            <a:off x="-2" y="-1"/>
            <a:ext cx="5112776" cy="6858000"/>
          </a:xfrm>
          <a:prstGeom prst="homePlate">
            <a:avLst>
              <a:gd name="adj" fmla="val 3215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77F37F6-697C-4F0B-9B07-E50867F217DA}"/>
              </a:ext>
            </a:extLst>
          </p:cNvPr>
          <p:cNvSpPr/>
          <p:nvPr userDrawn="1"/>
        </p:nvSpPr>
        <p:spPr>
          <a:xfrm>
            <a:off x="0" y="0"/>
            <a:ext cx="5014452" cy="6858000"/>
          </a:xfrm>
          <a:prstGeom prst="homePlate">
            <a:avLst>
              <a:gd name="adj" fmla="val 32151"/>
            </a:avLst>
          </a:prstGeom>
          <a:gradFill>
            <a:gsLst>
              <a:gs pos="40000">
                <a:schemeClr val="accent3"/>
              </a:gs>
              <a:gs pos="100000">
                <a:srgbClr val="1B75BC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412388-ED79-C9E4-19F6-A88EF37F8A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190" b="33857"/>
          <a:stretch/>
        </p:blipFill>
        <p:spPr>
          <a:xfrm rot="10800000" flipH="1">
            <a:off x="0" y="0"/>
            <a:ext cx="6959831" cy="5626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3BA3F-B8C5-8046-A4E4-565E3761D642}"/>
              </a:ext>
            </a:extLst>
          </p:cNvPr>
          <p:cNvSpPr/>
          <p:nvPr userDrawn="1"/>
        </p:nvSpPr>
        <p:spPr>
          <a:xfrm>
            <a:off x="8412480" y="6126480"/>
            <a:ext cx="3127248" cy="512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665" y="368300"/>
            <a:ext cx="5956398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653" y="1449388"/>
            <a:ext cx="5956398" cy="50403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945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81B40DD-4CB3-499A-674B-EC5B3D14F8C2}"/>
              </a:ext>
            </a:extLst>
          </p:cNvPr>
          <p:cNvSpPr/>
          <p:nvPr userDrawn="1"/>
        </p:nvSpPr>
        <p:spPr>
          <a:xfrm>
            <a:off x="-2" y="-1"/>
            <a:ext cx="5112776" cy="6858000"/>
          </a:xfrm>
          <a:prstGeom prst="homePlate">
            <a:avLst>
              <a:gd name="adj" fmla="val 3215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77F37F6-697C-4F0B-9B07-E50867F217DA}"/>
              </a:ext>
            </a:extLst>
          </p:cNvPr>
          <p:cNvSpPr/>
          <p:nvPr userDrawn="1"/>
        </p:nvSpPr>
        <p:spPr>
          <a:xfrm>
            <a:off x="0" y="0"/>
            <a:ext cx="5014452" cy="6858000"/>
          </a:xfrm>
          <a:prstGeom prst="homePlate">
            <a:avLst>
              <a:gd name="adj" fmla="val 32151"/>
            </a:avLst>
          </a:prstGeom>
          <a:gradFill>
            <a:gsLst>
              <a:gs pos="40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412388-ED79-C9E4-19F6-A88EF37F8A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190" b="33857"/>
          <a:stretch/>
        </p:blipFill>
        <p:spPr>
          <a:xfrm rot="10800000" flipH="1">
            <a:off x="0" y="0"/>
            <a:ext cx="6959831" cy="56269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3BA3F-B8C5-8046-A4E4-565E3761D642}"/>
              </a:ext>
            </a:extLst>
          </p:cNvPr>
          <p:cNvSpPr/>
          <p:nvPr userDrawn="1"/>
        </p:nvSpPr>
        <p:spPr>
          <a:xfrm>
            <a:off x="8412480" y="6126480"/>
            <a:ext cx="3127248" cy="512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665" y="368300"/>
            <a:ext cx="5956398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653" y="1449388"/>
            <a:ext cx="5956398" cy="50403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0090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3187DA-91A8-9543-9044-A3EDC175753C}"/>
              </a:ext>
            </a:extLst>
          </p:cNvPr>
          <p:cNvSpPr/>
          <p:nvPr userDrawn="1"/>
        </p:nvSpPr>
        <p:spPr>
          <a:xfrm>
            <a:off x="8241475" y="6000547"/>
            <a:ext cx="2648198" cy="519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A31108C3-F34C-8C45-A897-FE6DA9684A4F}"/>
              </a:ext>
            </a:extLst>
          </p:cNvPr>
          <p:cNvSpPr/>
          <p:nvPr userDrawn="1"/>
        </p:nvSpPr>
        <p:spPr>
          <a:xfrm rot="16200000">
            <a:off x="7645400" y="2320583"/>
            <a:ext cx="6857999" cy="2235200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ABDBB91-4825-3149-B88C-7BEECA042FB7}"/>
              </a:ext>
            </a:extLst>
          </p:cNvPr>
          <p:cNvSpPr/>
          <p:nvPr userDrawn="1"/>
        </p:nvSpPr>
        <p:spPr>
          <a:xfrm rot="16200000">
            <a:off x="7731228" y="2397225"/>
            <a:ext cx="6858001" cy="2063551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EEF"/>
              </a:gs>
              <a:gs pos="100000">
                <a:srgbClr val="1B75BC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320102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3187DA-91A8-9543-9044-A3EDC175753C}"/>
              </a:ext>
            </a:extLst>
          </p:cNvPr>
          <p:cNvSpPr/>
          <p:nvPr userDrawn="1"/>
        </p:nvSpPr>
        <p:spPr>
          <a:xfrm>
            <a:off x="8241475" y="6000547"/>
            <a:ext cx="2648198" cy="519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1C706FE-8F3E-CE27-4809-462B78AE473B}"/>
              </a:ext>
            </a:extLst>
          </p:cNvPr>
          <p:cNvSpPr/>
          <p:nvPr userDrawn="1"/>
        </p:nvSpPr>
        <p:spPr>
          <a:xfrm rot="16200000">
            <a:off x="7645400" y="2320583"/>
            <a:ext cx="6857999" cy="2235200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ABDBB91-4825-3149-B88C-7BEECA042FB7}"/>
              </a:ext>
            </a:extLst>
          </p:cNvPr>
          <p:cNvSpPr/>
          <p:nvPr userDrawn="1"/>
        </p:nvSpPr>
        <p:spPr>
          <a:xfrm rot="16200000">
            <a:off x="7731228" y="2397225"/>
            <a:ext cx="6858001" cy="2063551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D41C234-8CDF-C44A-2B85-C29AF0F0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44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4F5225-44BA-2429-E778-C8E938E7E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82968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3187DA-91A8-9543-9044-A3EDC175753C}"/>
              </a:ext>
            </a:extLst>
          </p:cNvPr>
          <p:cNvSpPr/>
          <p:nvPr userDrawn="1"/>
        </p:nvSpPr>
        <p:spPr>
          <a:xfrm>
            <a:off x="8241475" y="6000547"/>
            <a:ext cx="2648198" cy="519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1C706FE-8F3E-CE27-4809-462B78AE473B}"/>
              </a:ext>
            </a:extLst>
          </p:cNvPr>
          <p:cNvSpPr/>
          <p:nvPr userDrawn="1"/>
        </p:nvSpPr>
        <p:spPr>
          <a:xfrm rot="16200000">
            <a:off x="7645400" y="2320583"/>
            <a:ext cx="6857999" cy="2235200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ABDBB91-4825-3149-B88C-7BEECA042FB7}"/>
              </a:ext>
            </a:extLst>
          </p:cNvPr>
          <p:cNvSpPr/>
          <p:nvPr userDrawn="1"/>
        </p:nvSpPr>
        <p:spPr>
          <a:xfrm rot="16200000">
            <a:off x="7731228" y="2397225"/>
            <a:ext cx="6858001" cy="2063551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F413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5E208D-C5D8-6524-F56F-4BD11742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44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480F6A-BCEC-25F3-0016-FD136C852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76493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3187DA-91A8-9543-9044-A3EDC175753C}"/>
              </a:ext>
            </a:extLst>
          </p:cNvPr>
          <p:cNvSpPr/>
          <p:nvPr userDrawn="1"/>
        </p:nvSpPr>
        <p:spPr>
          <a:xfrm>
            <a:off x="8241475" y="6000547"/>
            <a:ext cx="2648198" cy="519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3483602A-2DCA-F446-B0E9-1DEB2FE3B53A}"/>
              </a:ext>
            </a:extLst>
          </p:cNvPr>
          <p:cNvSpPr/>
          <p:nvPr userDrawn="1"/>
        </p:nvSpPr>
        <p:spPr>
          <a:xfrm rot="16200000">
            <a:off x="7310433" y="1985612"/>
            <a:ext cx="6857999" cy="2905143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A31108C3-F34C-8C45-A897-FE6DA9684A4F}"/>
              </a:ext>
            </a:extLst>
          </p:cNvPr>
          <p:cNvSpPr/>
          <p:nvPr userDrawn="1"/>
        </p:nvSpPr>
        <p:spPr>
          <a:xfrm rot="16200000">
            <a:off x="7520913" y="2191499"/>
            <a:ext cx="6857999" cy="2484185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5ABDBB91-4825-3149-B88C-7BEECA042FB7}"/>
              </a:ext>
            </a:extLst>
          </p:cNvPr>
          <p:cNvSpPr/>
          <p:nvPr userDrawn="1"/>
        </p:nvSpPr>
        <p:spPr>
          <a:xfrm rot="16200000">
            <a:off x="7731228" y="2397225"/>
            <a:ext cx="6858001" cy="2063551"/>
          </a:xfrm>
          <a:custGeom>
            <a:avLst/>
            <a:gdLst>
              <a:gd name="connsiteX0" fmla="*/ 0 w 4411579"/>
              <a:gd name="connsiteY0" fmla="*/ 0 h 9601200"/>
              <a:gd name="connsiteX1" fmla="*/ 4411579 w 4411579"/>
              <a:gd name="connsiteY1" fmla="*/ 0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  <a:gd name="connsiteX0" fmla="*/ 0 w 4411579"/>
              <a:gd name="connsiteY0" fmla="*/ 0 h 9601200"/>
              <a:gd name="connsiteX1" fmla="*/ 1909010 w 4411579"/>
              <a:gd name="connsiteY1" fmla="*/ 4475747 h 9601200"/>
              <a:gd name="connsiteX2" fmla="*/ 4411579 w 4411579"/>
              <a:gd name="connsiteY2" fmla="*/ 9601200 h 9601200"/>
              <a:gd name="connsiteX3" fmla="*/ 0 w 4411579"/>
              <a:gd name="connsiteY3" fmla="*/ 9601200 h 9601200"/>
              <a:gd name="connsiteX4" fmla="*/ 0 w 4411579"/>
              <a:gd name="connsiteY4" fmla="*/ 0 h 960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1579" h="9601200">
                <a:moveTo>
                  <a:pt x="0" y="0"/>
                </a:moveTo>
                <a:lnTo>
                  <a:pt x="1909010" y="4475747"/>
                </a:lnTo>
                <a:lnTo>
                  <a:pt x="4411579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AC590-A1D0-F2A3-1F1F-FA23ADC0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44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AFB4C4-7DC0-9548-E4FD-02E7BF7EA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619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6E2B82B2-7313-CACC-3F46-AF2D3AD1FAC3}"/>
              </a:ext>
            </a:extLst>
          </p:cNvPr>
          <p:cNvSpPr/>
          <p:nvPr userDrawn="1"/>
        </p:nvSpPr>
        <p:spPr>
          <a:xfrm>
            <a:off x="10261600" y="-1"/>
            <a:ext cx="1930400" cy="1984375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98635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1160CB-3EDC-5A4B-9028-588350DCA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380DB-5D7C-D077-1CD7-69080BB74ADA}"/>
              </a:ext>
            </a:extLst>
          </p:cNvPr>
          <p:cNvSpPr/>
          <p:nvPr userDrawn="1"/>
        </p:nvSpPr>
        <p:spPr>
          <a:xfrm>
            <a:off x="10388600" y="0"/>
            <a:ext cx="1803400" cy="1803400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chemeClr val="accent1"/>
              </a:gs>
              <a:gs pos="100000">
                <a:srgbClr val="EF4136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43984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6E2B82B2-7313-CACC-3F46-AF2D3AD1FAC3}"/>
              </a:ext>
            </a:extLst>
          </p:cNvPr>
          <p:cNvSpPr/>
          <p:nvPr userDrawn="1"/>
        </p:nvSpPr>
        <p:spPr>
          <a:xfrm>
            <a:off x="10261600" y="-1"/>
            <a:ext cx="1930400" cy="1984375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98635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1160CB-3EDC-5A4B-9028-588350DCA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380DB-5D7C-D077-1CD7-69080BB74ADA}"/>
              </a:ext>
            </a:extLst>
          </p:cNvPr>
          <p:cNvSpPr/>
          <p:nvPr userDrawn="1"/>
        </p:nvSpPr>
        <p:spPr>
          <a:xfrm>
            <a:off x="10388600" y="0"/>
            <a:ext cx="1803400" cy="1803400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89315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6E2B82B2-7313-CACC-3F46-AF2D3AD1FAC3}"/>
              </a:ext>
            </a:extLst>
          </p:cNvPr>
          <p:cNvSpPr/>
          <p:nvPr userDrawn="1"/>
        </p:nvSpPr>
        <p:spPr>
          <a:xfrm>
            <a:off x="10261600" y="-1"/>
            <a:ext cx="1930400" cy="1984375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9863581" cy="90011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03F3-BB36-094B-8F56-34F5177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1160CB-3EDC-5A4B-9028-588350DCA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380DB-5D7C-D077-1CD7-69080BB74ADA}"/>
              </a:ext>
            </a:extLst>
          </p:cNvPr>
          <p:cNvSpPr/>
          <p:nvPr userDrawn="1"/>
        </p:nvSpPr>
        <p:spPr>
          <a:xfrm>
            <a:off x="10388600" y="0"/>
            <a:ext cx="1803400" cy="1803400"/>
          </a:xfrm>
          <a:custGeom>
            <a:avLst/>
            <a:gdLst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1803400 h 1803400"/>
              <a:gd name="connsiteX4" fmla="*/ 0 w 1803400"/>
              <a:gd name="connsiteY4" fmla="*/ 0 h 1803400"/>
              <a:gd name="connsiteX0" fmla="*/ 0 w 1803400"/>
              <a:gd name="connsiteY0" fmla="*/ 0 h 1803400"/>
              <a:gd name="connsiteX1" fmla="*/ 1803400 w 1803400"/>
              <a:gd name="connsiteY1" fmla="*/ 0 h 1803400"/>
              <a:gd name="connsiteX2" fmla="*/ 1803400 w 1803400"/>
              <a:gd name="connsiteY2" fmla="*/ 1803400 h 1803400"/>
              <a:gd name="connsiteX3" fmla="*/ 0 w 1803400"/>
              <a:gd name="connsiteY3" fmla="*/ 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chemeClr val="accent3"/>
              </a:gs>
              <a:gs pos="100000">
                <a:srgbClr val="1B75BC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81487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460EAF-4649-FF95-874E-A0109DF57C9B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F10C9F18-66F6-E79A-6E06-65FA6FBC8669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rgbClr val="EF4136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03C9B154-C639-CDB7-2E12-E66ED22D2081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000905DE-A103-D404-B98D-ABB24F02A543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04B3BAE2-1CF0-CD26-7ADD-CD6A1BB9F72B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686DEDC8-C71C-E1F8-0601-D93F92F46FB7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4882EA-3D9E-4877-5961-B18BC092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4500562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45773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460EAF-4649-FF95-874E-A0109DF57C9B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F10C9F18-66F6-E79A-6E06-65FA6FBC8669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03C9B154-C639-CDB7-2E12-E66ED22D2081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000905DE-A103-D404-B98D-ABB24F02A543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0">
                  <a:schemeClr val="accent2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04B3BAE2-1CF0-CD26-7ADD-CD6A1BB9F72B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686DEDC8-C71C-E1F8-0601-D93F92F46FB7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4882EA-3D9E-4877-5961-B18BC092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32242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2980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1179-6902-E446-8B91-02FCFB89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460EAF-4649-FF95-874E-A0109DF57C9B}"/>
              </a:ext>
            </a:extLst>
          </p:cNvPr>
          <p:cNvGrpSpPr/>
          <p:nvPr userDrawn="1"/>
        </p:nvGrpSpPr>
        <p:grpSpPr>
          <a:xfrm>
            <a:off x="-14763" y="4808928"/>
            <a:ext cx="7482363" cy="2067930"/>
            <a:chOff x="-14763" y="3909367"/>
            <a:chExt cx="10737232" cy="2967491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F10C9F18-66F6-E79A-6E06-65FA6FBC8669}"/>
                </a:ext>
              </a:extLst>
            </p:cNvPr>
            <p:cNvSpPr/>
            <p:nvPr userDrawn="1"/>
          </p:nvSpPr>
          <p:spPr>
            <a:xfrm>
              <a:off x="-14763" y="3909367"/>
              <a:ext cx="3570795" cy="1243814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3570795"/>
                <a:gd name="connsiteY0" fmla="*/ 257273 h 1243814"/>
                <a:gd name="connsiteX1" fmla="*/ 3570795 w 3570795"/>
                <a:gd name="connsiteY1" fmla="*/ 0 h 1243814"/>
                <a:gd name="connsiteX2" fmla="*/ 0 w 3570795"/>
                <a:gd name="connsiteY2" fmla="*/ 1243814 h 1243814"/>
                <a:gd name="connsiteX3" fmla="*/ 0 w 3570795"/>
                <a:gd name="connsiteY3" fmla="*/ 257273 h 12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795" h="1243814">
                  <a:moveTo>
                    <a:pt x="0" y="257273"/>
                  </a:moveTo>
                  <a:lnTo>
                    <a:pt x="3570795" y="0"/>
                  </a:lnTo>
                  <a:lnTo>
                    <a:pt x="0" y="1243814"/>
                  </a:lnTo>
                  <a:lnTo>
                    <a:pt x="0" y="257273"/>
                  </a:lnTo>
                  <a:close/>
                </a:path>
              </a:pathLst>
            </a:custGeom>
            <a:gradFill>
              <a:gsLst>
                <a:gs pos="4500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03C9B154-C639-CDB7-2E12-E66ED22D2081}"/>
                </a:ext>
              </a:extLst>
            </p:cNvPr>
            <p:cNvSpPr/>
            <p:nvPr userDrawn="1"/>
          </p:nvSpPr>
          <p:spPr>
            <a:xfrm>
              <a:off x="0" y="3928225"/>
              <a:ext cx="3638746" cy="292469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606800"/>
                <a:gd name="connsiteY0" fmla="*/ 1244600 h 2146300"/>
                <a:gd name="connsiteX1" fmla="*/ 3606800 w 3606800"/>
                <a:gd name="connsiteY1" fmla="*/ 0 h 2146300"/>
                <a:gd name="connsiteX2" fmla="*/ 0 w 3606800"/>
                <a:gd name="connsiteY2" fmla="*/ 2146300 h 2146300"/>
                <a:gd name="connsiteX3" fmla="*/ 0 w 3606800"/>
                <a:gd name="connsiteY3" fmla="*/ 1244600 h 21463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0 w 3606800"/>
                <a:gd name="connsiteY3" fmla="*/ 1244600 h 2857500"/>
                <a:gd name="connsiteX0" fmla="*/ 0 w 3606800"/>
                <a:gd name="connsiteY0" fmla="*/ 1244600 h 2902271"/>
                <a:gd name="connsiteX1" fmla="*/ 3606800 w 3606800"/>
                <a:gd name="connsiteY1" fmla="*/ 0 h 2902271"/>
                <a:gd name="connsiteX2" fmla="*/ 1727200 w 3606800"/>
                <a:gd name="connsiteY2" fmla="*/ 2857500 h 2902271"/>
                <a:gd name="connsiteX3" fmla="*/ 12700 w 3606800"/>
                <a:gd name="connsiteY3" fmla="*/ 2819400 h 2902271"/>
                <a:gd name="connsiteX4" fmla="*/ 0 w 3606800"/>
                <a:gd name="connsiteY4" fmla="*/ 1244600 h 2902271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66612"/>
                <a:gd name="connsiteX1" fmla="*/ 3606800 w 3606800"/>
                <a:gd name="connsiteY1" fmla="*/ 0 h 2866612"/>
                <a:gd name="connsiteX2" fmla="*/ 1727200 w 3606800"/>
                <a:gd name="connsiteY2" fmla="*/ 2857500 h 2866612"/>
                <a:gd name="connsiteX3" fmla="*/ 12700 w 3606800"/>
                <a:gd name="connsiteY3" fmla="*/ 2819400 h 2866612"/>
                <a:gd name="connsiteX4" fmla="*/ 0 w 3606800"/>
                <a:gd name="connsiteY4" fmla="*/ 1244600 h 2866612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57500"/>
                <a:gd name="connsiteX1" fmla="*/ 3606800 w 3606800"/>
                <a:gd name="connsiteY1" fmla="*/ 0 h 2857500"/>
                <a:gd name="connsiteX2" fmla="*/ 1727200 w 3606800"/>
                <a:gd name="connsiteY2" fmla="*/ 2857500 h 2857500"/>
                <a:gd name="connsiteX3" fmla="*/ 12700 w 3606800"/>
                <a:gd name="connsiteY3" fmla="*/ 2819400 h 2857500"/>
                <a:gd name="connsiteX4" fmla="*/ 0 w 3606800"/>
                <a:gd name="connsiteY4" fmla="*/ 1244600 h 2857500"/>
                <a:gd name="connsiteX0" fmla="*/ 0 w 3606800"/>
                <a:gd name="connsiteY0" fmla="*/ 1244600 h 2881832"/>
                <a:gd name="connsiteX1" fmla="*/ 3606800 w 3606800"/>
                <a:gd name="connsiteY1" fmla="*/ 0 h 2881832"/>
                <a:gd name="connsiteX2" fmla="*/ 1727200 w 3606800"/>
                <a:gd name="connsiteY2" fmla="*/ 2857500 h 2881832"/>
                <a:gd name="connsiteX3" fmla="*/ 5080 w 3606800"/>
                <a:gd name="connsiteY3" fmla="*/ 2865120 h 2881832"/>
                <a:gd name="connsiteX4" fmla="*/ 0 w 3606800"/>
                <a:gd name="connsiteY4" fmla="*/ 1244600 h 2881832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  <a:gd name="connsiteX0" fmla="*/ 0 w 3606800"/>
                <a:gd name="connsiteY0" fmla="*/ 1244600 h 2865120"/>
                <a:gd name="connsiteX1" fmla="*/ 3606800 w 3606800"/>
                <a:gd name="connsiteY1" fmla="*/ 0 h 2865120"/>
                <a:gd name="connsiteX2" fmla="*/ 1727200 w 3606800"/>
                <a:gd name="connsiteY2" fmla="*/ 2857500 h 2865120"/>
                <a:gd name="connsiteX3" fmla="*/ 5080 w 3606800"/>
                <a:gd name="connsiteY3" fmla="*/ 2865120 h 2865120"/>
                <a:gd name="connsiteX4" fmla="*/ 0 w 3606800"/>
                <a:gd name="connsiteY4" fmla="*/ 1244600 h 28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6800" h="2865120">
                  <a:moveTo>
                    <a:pt x="0" y="1244600"/>
                  </a:moveTo>
                  <a:lnTo>
                    <a:pt x="3606800" y="0"/>
                  </a:lnTo>
                  <a:lnTo>
                    <a:pt x="1727200" y="2857500"/>
                  </a:lnTo>
                  <a:lnTo>
                    <a:pt x="5080" y="2865120"/>
                  </a:lnTo>
                  <a:cubicBezTo>
                    <a:pt x="3387" y="2324947"/>
                    <a:pt x="1693" y="1784773"/>
                    <a:pt x="0" y="124460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1B75BC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000905DE-A103-D404-B98D-ABB24F02A543}"/>
                </a:ext>
              </a:extLst>
            </p:cNvPr>
            <p:cNvSpPr/>
            <p:nvPr userDrawn="1"/>
          </p:nvSpPr>
          <p:spPr>
            <a:xfrm rot="16200000">
              <a:off x="1383972" y="4338949"/>
              <a:ext cx="2948633" cy="2127185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882644"/>
                <a:gd name="connsiteY0" fmla="*/ 0 h 2127185"/>
                <a:gd name="connsiteX1" fmla="*/ 2882644 w 2882644"/>
                <a:gd name="connsiteY1" fmla="*/ 1910893 h 2127185"/>
                <a:gd name="connsiteX2" fmla="*/ 0 w 2882644"/>
                <a:gd name="connsiteY2" fmla="*/ 2127185 h 2127185"/>
                <a:gd name="connsiteX3" fmla="*/ 18857 w 2882644"/>
                <a:gd name="connsiteY3" fmla="*/ 0 h 21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644" h="2127185">
                  <a:moveTo>
                    <a:pt x="18857" y="0"/>
                  </a:moveTo>
                  <a:lnTo>
                    <a:pt x="2882644" y="1910893"/>
                  </a:lnTo>
                  <a:lnTo>
                    <a:pt x="0" y="2127185"/>
                  </a:lnTo>
                  <a:lnTo>
                    <a:pt x="18857" y="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rgbClr val="1B75BC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04B3BAE2-1CF0-CD26-7ADD-CD6A1BB9F72B}"/>
                </a:ext>
              </a:extLst>
            </p:cNvPr>
            <p:cNvSpPr/>
            <p:nvPr userDrawn="1"/>
          </p:nvSpPr>
          <p:spPr>
            <a:xfrm rot="16200000">
              <a:off x="4075788" y="3616875"/>
              <a:ext cx="2930683" cy="3572238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0683" h="3572238">
                  <a:moveTo>
                    <a:pt x="907" y="219563"/>
                  </a:moveTo>
                  <a:lnTo>
                    <a:pt x="2930683" y="0"/>
                  </a:lnTo>
                  <a:lnTo>
                    <a:pt x="907" y="3572238"/>
                  </a:lnTo>
                  <a:cubicBezTo>
                    <a:pt x="4049" y="2460964"/>
                    <a:pt x="-2235" y="1330837"/>
                    <a:pt x="907" y="21956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686DEDC8-C71C-E1F8-0601-D93F92F46FB7}"/>
                </a:ext>
              </a:extLst>
            </p:cNvPr>
            <p:cNvSpPr/>
            <p:nvPr userDrawn="1"/>
          </p:nvSpPr>
          <p:spPr>
            <a:xfrm rot="16200000">
              <a:off x="7037377" y="3183243"/>
              <a:ext cx="1837173" cy="5533011"/>
            </a:xfrm>
            <a:custGeom>
              <a:avLst/>
              <a:gdLst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3454400 w 3454400"/>
                <a:gd name="connsiteY2" fmla="*/ 736600 h 736600"/>
                <a:gd name="connsiteX3" fmla="*/ 0 w 3454400"/>
                <a:gd name="connsiteY3" fmla="*/ 736600 h 736600"/>
                <a:gd name="connsiteX4" fmla="*/ 0 w 3454400"/>
                <a:gd name="connsiteY4" fmla="*/ 0 h 736600"/>
                <a:gd name="connsiteX0" fmla="*/ 0 w 3454400"/>
                <a:gd name="connsiteY0" fmla="*/ 0 h 736600"/>
                <a:gd name="connsiteX1" fmla="*/ 3454400 w 3454400"/>
                <a:gd name="connsiteY1" fmla="*/ 0 h 736600"/>
                <a:gd name="connsiteX2" fmla="*/ 0 w 3454400"/>
                <a:gd name="connsiteY2" fmla="*/ 736600 h 736600"/>
                <a:gd name="connsiteX3" fmla="*/ 0 w 3454400"/>
                <a:gd name="connsiteY3" fmla="*/ 0 h 736600"/>
                <a:gd name="connsiteX0" fmla="*/ 0 w 3454400"/>
                <a:gd name="connsiteY0" fmla="*/ 0 h 901700"/>
                <a:gd name="connsiteX1" fmla="*/ 3454400 w 3454400"/>
                <a:gd name="connsiteY1" fmla="*/ 165100 h 901700"/>
                <a:gd name="connsiteX2" fmla="*/ 0 w 3454400"/>
                <a:gd name="connsiteY2" fmla="*/ 901700 h 901700"/>
                <a:gd name="connsiteX3" fmla="*/ 0 w 3454400"/>
                <a:gd name="connsiteY3" fmla="*/ 0 h 901700"/>
                <a:gd name="connsiteX0" fmla="*/ 0 w 3467100"/>
                <a:gd name="connsiteY0" fmla="*/ 266700 h 1168400"/>
                <a:gd name="connsiteX1" fmla="*/ 3467100 w 3467100"/>
                <a:gd name="connsiteY1" fmla="*/ 0 h 1168400"/>
                <a:gd name="connsiteX2" fmla="*/ 0 w 3467100"/>
                <a:gd name="connsiteY2" fmla="*/ 1168400 h 1168400"/>
                <a:gd name="connsiteX3" fmla="*/ 0 w 3467100"/>
                <a:gd name="connsiteY3" fmla="*/ 266700 h 1168400"/>
                <a:gd name="connsiteX0" fmla="*/ 0 w 3570795"/>
                <a:gd name="connsiteY0" fmla="*/ 257273 h 1158973"/>
                <a:gd name="connsiteX1" fmla="*/ 3570795 w 3570795"/>
                <a:gd name="connsiteY1" fmla="*/ 0 h 1158973"/>
                <a:gd name="connsiteX2" fmla="*/ 0 w 3570795"/>
                <a:gd name="connsiteY2" fmla="*/ 1158973 h 1158973"/>
                <a:gd name="connsiteX3" fmla="*/ 0 w 3570795"/>
                <a:gd name="connsiteY3" fmla="*/ 257273 h 1158973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901700 h 1750636"/>
                <a:gd name="connsiteX3" fmla="*/ 0 w 2835504"/>
                <a:gd name="connsiteY3" fmla="*/ 0 h 1750636"/>
                <a:gd name="connsiteX0" fmla="*/ 0 w 2835504"/>
                <a:gd name="connsiteY0" fmla="*/ 0 h 1750636"/>
                <a:gd name="connsiteX1" fmla="*/ 2835504 w 2835504"/>
                <a:gd name="connsiteY1" fmla="*/ 1750636 h 1750636"/>
                <a:gd name="connsiteX2" fmla="*/ 0 w 2835504"/>
                <a:gd name="connsiteY2" fmla="*/ 1684125 h 1750636"/>
                <a:gd name="connsiteX3" fmla="*/ 0 w 2835504"/>
                <a:gd name="connsiteY3" fmla="*/ 0 h 1750636"/>
                <a:gd name="connsiteX0" fmla="*/ 0 w 2835504"/>
                <a:gd name="connsiteY0" fmla="*/ 0 h 1873184"/>
                <a:gd name="connsiteX1" fmla="*/ 2835504 w 2835504"/>
                <a:gd name="connsiteY1" fmla="*/ 1873184 h 1873184"/>
                <a:gd name="connsiteX2" fmla="*/ 0 w 2835504"/>
                <a:gd name="connsiteY2" fmla="*/ 1806673 h 1873184"/>
                <a:gd name="connsiteX3" fmla="*/ 0 w 2835504"/>
                <a:gd name="connsiteY3" fmla="*/ 0 h 1873184"/>
                <a:gd name="connsiteX0" fmla="*/ 0 w 2863785"/>
                <a:gd name="connsiteY0" fmla="*/ 0 h 1863758"/>
                <a:gd name="connsiteX1" fmla="*/ 2863785 w 2863785"/>
                <a:gd name="connsiteY1" fmla="*/ 1863758 h 1863758"/>
                <a:gd name="connsiteX2" fmla="*/ 0 w 2863785"/>
                <a:gd name="connsiteY2" fmla="*/ 1806673 h 1863758"/>
                <a:gd name="connsiteX3" fmla="*/ 0 w 2863785"/>
                <a:gd name="connsiteY3" fmla="*/ 0 h 1863758"/>
                <a:gd name="connsiteX0" fmla="*/ 0 w 2863787"/>
                <a:gd name="connsiteY0" fmla="*/ 0 h 1835480"/>
                <a:gd name="connsiteX1" fmla="*/ 2863787 w 2863787"/>
                <a:gd name="connsiteY1" fmla="*/ 1835480 h 1835480"/>
                <a:gd name="connsiteX2" fmla="*/ 0 w 2863787"/>
                <a:gd name="connsiteY2" fmla="*/ 1806673 h 1835480"/>
                <a:gd name="connsiteX3" fmla="*/ 0 w 2863787"/>
                <a:gd name="connsiteY3" fmla="*/ 0 h 1835480"/>
                <a:gd name="connsiteX0" fmla="*/ 18857 w 2882644"/>
                <a:gd name="connsiteY0" fmla="*/ 0 h 2051772"/>
                <a:gd name="connsiteX1" fmla="*/ 2882644 w 2882644"/>
                <a:gd name="connsiteY1" fmla="*/ 1835480 h 2051772"/>
                <a:gd name="connsiteX2" fmla="*/ 0 w 2882644"/>
                <a:gd name="connsiteY2" fmla="*/ 2051772 h 2051772"/>
                <a:gd name="connsiteX3" fmla="*/ 18857 w 2882644"/>
                <a:gd name="connsiteY3" fmla="*/ 0 h 2051772"/>
                <a:gd name="connsiteX0" fmla="*/ 18857 w 2948632"/>
                <a:gd name="connsiteY0" fmla="*/ 210137 h 2261909"/>
                <a:gd name="connsiteX1" fmla="*/ 2948632 w 2948632"/>
                <a:gd name="connsiteY1" fmla="*/ 0 h 2261909"/>
                <a:gd name="connsiteX2" fmla="*/ 0 w 2948632"/>
                <a:gd name="connsiteY2" fmla="*/ 2261909 h 2261909"/>
                <a:gd name="connsiteX3" fmla="*/ 18857 w 2948632"/>
                <a:gd name="connsiteY3" fmla="*/ 210137 h 2261909"/>
                <a:gd name="connsiteX0" fmla="*/ 9427 w 2939202"/>
                <a:gd name="connsiteY0" fmla="*/ 210137 h 3543958"/>
                <a:gd name="connsiteX1" fmla="*/ 2939202 w 2939202"/>
                <a:gd name="connsiteY1" fmla="*/ 0 h 3543958"/>
                <a:gd name="connsiteX2" fmla="*/ 0 w 2939202"/>
                <a:gd name="connsiteY2" fmla="*/ 3543958 h 3543958"/>
                <a:gd name="connsiteX3" fmla="*/ 9427 w 2939202"/>
                <a:gd name="connsiteY3" fmla="*/ 210137 h 3543958"/>
                <a:gd name="connsiteX0" fmla="*/ 9427 w 2929776"/>
                <a:gd name="connsiteY0" fmla="*/ 238417 h 3572238"/>
                <a:gd name="connsiteX1" fmla="*/ 2929776 w 2929776"/>
                <a:gd name="connsiteY1" fmla="*/ 0 h 3572238"/>
                <a:gd name="connsiteX2" fmla="*/ 0 w 2929776"/>
                <a:gd name="connsiteY2" fmla="*/ 3572238 h 3572238"/>
                <a:gd name="connsiteX3" fmla="*/ 9427 w 2929776"/>
                <a:gd name="connsiteY3" fmla="*/ 238417 h 3572238"/>
                <a:gd name="connsiteX0" fmla="*/ 907 w 2930683"/>
                <a:gd name="connsiteY0" fmla="*/ 219563 h 3572238"/>
                <a:gd name="connsiteX1" fmla="*/ 2930683 w 2930683"/>
                <a:gd name="connsiteY1" fmla="*/ 0 h 3572238"/>
                <a:gd name="connsiteX2" fmla="*/ 907 w 2930683"/>
                <a:gd name="connsiteY2" fmla="*/ 3572238 h 3572238"/>
                <a:gd name="connsiteX3" fmla="*/ 907 w 2930683"/>
                <a:gd name="connsiteY3" fmla="*/ 219563 h 3572238"/>
                <a:gd name="connsiteX0" fmla="*/ 907 w 1837173"/>
                <a:gd name="connsiteY0" fmla="*/ 2180336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180336 h 5533011"/>
                <a:gd name="connsiteX0" fmla="*/ 907 w 1837173"/>
                <a:gd name="connsiteY0" fmla="*/ 2218043 h 5533011"/>
                <a:gd name="connsiteX1" fmla="*/ 1837173 w 1837173"/>
                <a:gd name="connsiteY1" fmla="*/ 0 h 5533011"/>
                <a:gd name="connsiteX2" fmla="*/ 907 w 1837173"/>
                <a:gd name="connsiteY2" fmla="*/ 5533011 h 5533011"/>
                <a:gd name="connsiteX3" fmla="*/ 907 w 1837173"/>
                <a:gd name="connsiteY3" fmla="*/ 2218043 h 55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173" h="5533011">
                  <a:moveTo>
                    <a:pt x="907" y="2218043"/>
                  </a:moveTo>
                  <a:lnTo>
                    <a:pt x="1837173" y="0"/>
                  </a:lnTo>
                  <a:lnTo>
                    <a:pt x="907" y="5533011"/>
                  </a:lnTo>
                  <a:cubicBezTo>
                    <a:pt x="4049" y="4421737"/>
                    <a:pt x="-2235" y="3329317"/>
                    <a:pt x="907" y="2218043"/>
                  </a:cubicBezTo>
                  <a:close/>
                </a:path>
              </a:pathLst>
            </a:custGeom>
            <a:gradFill>
              <a:gsLst>
                <a:gs pos="45000">
                  <a:schemeClr val="accent3"/>
                </a:gs>
                <a:gs pos="100000">
                  <a:srgbClr val="1B75BC"/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64882EA-3D9E-4877-5961-B18BC092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" y="1449389"/>
            <a:ext cx="11151033" cy="3224211"/>
          </a:xfrm>
        </p:spPr>
        <p:txBody>
          <a:bodyPr/>
          <a:lstStyle>
            <a:lvl1pPr>
              <a:defRPr sz="1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4225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9B4F-E032-7842-81B5-F7DAEF0B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7A7A84D-8766-D045-8B74-31B5E18E5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220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0FBA-829C-6D43-A610-2ACFFB456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4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1D45D-9934-604D-99B4-7F9FD259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19" y="368300"/>
            <a:ext cx="11151044" cy="900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3DDE4-94D2-5D4A-8196-76F06726B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018" y="1449389"/>
            <a:ext cx="11151033" cy="450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62BF66-4F9E-8D30-103D-C44E14CD1BAC}"/>
              </a:ext>
            </a:extLst>
          </p:cNvPr>
          <p:cNvGrpSpPr/>
          <p:nvPr userDrawn="1"/>
        </p:nvGrpSpPr>
        <p:grpSpPr>
          <a:xfrm>
            <a:off x="337362" y="6000547"/>
            <a:ext cx="1633336" cy="719658"/>
            <a:chOff x="160202" y="5758079"/>
            <a:chExt cx="2310184" cy="10178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C626DE-394C-4914-C5B2-59BAC8AFA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0202" y="5758079"/>
              <a:ext cx="2198685" cy="1017881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B1BCF9-28F7-5132-DF0D-EBA2DF39BA52}"/>
                </a:ext>
              </a:extLst>
            </p:cNvPr>
            <p:cNvCxnSpPr>
              <a:cxnSpLocks/>
            </p:cNvCxnSpPr>
            <p:nvPr/>
          </p:nvCxnSpPr>
          <p:spPr>
            <a:xfrm>
              <a:off x="2470386" y="5980428"/>
              <a:ext cx="0" cy="5731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7" name="Picture 2" descr="Coal Mining Health &amp; Safety Services | Coal Services">
            <a:extLst>
              <a:ext uri="{FF2B5EF4-FFF2-40B4-BE49-F238E27FC236}">
                <a16:creationId xmlns:a16="http://schemas.microsoft.com/office/drawing/2014/main" id="{4E5A161A-9D63-DE93-630B-CC3C952E71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42624" y="6130926"/>
            <a:ext cx="971104" cy="471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F960E2-91A0-CB6A-A7C3-C045C270FF0D}"/>
              </a:ext>
            </a:extLst>
          </p:cNvPr>
          <p:cNvSpPr txBox="1"/>
          <p:nvPr userDrawn="1"/>
        </p:nvSpPr>
        <p:spPr>
          <a:xfrm>
            <a:off x="7927089" y="6308575"/>
            <a:ext cx="3011070" cy="2308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900">
                <a:latin typeface="Roboto" panose="02000000000000000000" pitchFamily="2" charset="0"/>
                <a:ea typeface="Roboto" panose="02000000000000000000" pitchFamily="2" charset="0"/>
              </a:rPr>
              <a:t>© The Strategy Group 2026. All rights reserved</a:t>
            </a:r>
            <a:r>
              <a:rPr lang="en-AU" sz="80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621E0AC-692E-D20F-992A-AF88F018E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0440" y="62414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D019-05FF-F145-A6E1-6EE5A88665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8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918" r:id="rId2"/>
    <p:sldLayoutId id="2147483919" r:id="rId3"/>
    <p:sldLayoutId id="2147483920" r:id="rId4"/>
    <p:sldLayoutId id="2147483891" r:id="rId5"/>
    <p:sldLayoutId id="2147483926" r:id="rId6"/>
    <p:sldLayoutId id="2147483927" r:id="rId7"/>
    <p:sldLayoutId id="2147483916" r:id="rId8"/>
    <p:sldLayoutId id="2147483917" r:id="rId9"/>
    <p:sldLayoutId id="2147484027" r:id="rId10"/>
    <p:sldLayoutId id="2147484030" r:id="rId11"/>
    <p:sldLayoutId id="2147484046" r:id="rId12"/>
    <p:sldLayoutId id="2147484047" r:id="rId13"/>
    <p:sldLayoutId id="2147484039" r:id="rId14"/>
    <p:sldLayoutId id="2147484043" r:id="rId15"/>
    <p:sldLayoutId id="2147483922" r:id="rId16"/>
    <p:sldLayoutId id="2147483928" r:id="rId17"/>
    <p:sldLayoutId id="2147483929" r:id="rId18"/>
    <p:sldLayoutId id="2147483930" r:id="rId19"/>
    <p:sldLayoutId id="2147483915" r:id="rId20"/>
    <p:sldLayoutId id="2147483912" r:id="rId21"/>
    <p:sldLayoutId id="2147483931" r:id="rId22"/>
    <p:sldLayoutId id="2147483932" r:id="rId23"/>
    <p:sldLayoutId id="2147483933" r:id="rId24"/>
    <p:sldLayoutId id="2147483934" r:id="rId25"/>
    <p:sldLayoutId id="2147483935" r:id="rId26"/>
    <p:sldLayoutId id="2147483936" r:id="rId27"/>
    <p:sldLayoutId id="2147483881" r:id="rId28"/>
    <p:sldLayoutId id="2147483877" r:id="rId29"/>
    <p:sldLayoutId id="2147483910" r:id="rId30"/>
    <p:sldLayoutId id="2147483880" r:id="rId31"/>
    <p:sldLayoutId id="2147483907" r:id="rId32"/>
    <p:sldLayoutId id="2147483874" r:id="rId33"/>
    <p:sldLayoutId id="2147483908" r:id="rId34"/>
    <p:sldLayoutId id="2147483911" r:id="rId35"/>
    <p:sldLayoutId id="2147483913" r:id="rId36"/>
    <p:sldLayoutId id="2147483914" r:id="rId37"/>
    <p:sldLayoutId id="2147483850" r:id="rId38"/>
    <p:sldLayoutId id="2147483851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Light" panose="00000400000000000000" pitchFamily="2" charset="0"/>
          <a:ea typeface="Lato" panose="020F0502020204030203" pitchFamily="34" charset="0"/>
          <a:cs typeface="Poppins Light" panose="000004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7355" userDrawn="1">
          <p15:clr>
            <a:srgbClr val="F26B43"/>
          </p15:clr>
        </p15:guide>
        <p15:guide id="5" pos="7129" userDrawn="1">
          <p15:clr>
            <a:srgbClr val="F26B43"/>
          </p15:clr>
        </p15:guide>
      </p15:sldGuideLst>
    </p:ext>
  </p:extLst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4E26-E604-813E-86D3-014AA1D9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8ACD3-B5DF-52A8-4DE1-4D5D28F05B1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35641" y="277669"/>
            <a:ext cx="9756359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5E4999-7C88-D24F-75F2-28872F004E5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0" y="277669"/>
            <a:ext cx="548641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0">
            <a:extLst>
              <a:ext uri="{FF2B5EF4-FFF2-40B4-BE49-F238E27FC236}">
                <a16:creationId xmlns:a16="http://schemas.microsoft.com/office/drawing/2014/main" id="{93F24A76-699F-A050-BCAC-71BD08B264A2}"/>
              </a:ext>
            </a:extLst>
          </p:cNvPr>
          <p:cNvSpPr/>
          <p:nvPr/>
        </p:nvSpPr>
        <p:spPr>
          <a:xfrm>
            <a:off x="548641" y="165782"/>
            <a:ext cx="1887000" cy="223773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ISS Workshop Pre-work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15B0D0C6-2A12-4A64-5CA6-AFD820857D29}"/>
              </a:ext>
            </a:extLst>
          </p:cNvPr>
          <p:cNvSpPr txBox="1">
            <a:spLocks/>
          </p:cNvSpPr>
          <p:nvPr/>
        </p:nvSpPr>
        <p:spPr>
          <a:xfrm>
            <a:off x="525018" y="573082"/>
            <a:ext cx="10808267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14000"/>
              </a:lnSpc>
              <a:spcBef>
                <a:spcPct val="0"/>
              </a:spcBef>
              <a:buNone/>
              <a:defRPr sz="2200">
                <a:solidFill>
                  <a:schemeClr val="accent6">
                    <a:lumMod val="75000"/>
                  </a:schemeClr>
                </a:solidFill>
                <a:latin typeface="Poppins SemiBold" panose="00000700000000000000" pitchFamily="2" charset="0"/>
                <a:ea typeface="+mj-ea"/>
                <a:cs typeface="Poppins SemiBold" panose="00000700000000000000" pitchFamily="2" charset="0"/>
              </a:defRPr>
            </a:lvl1pPr>
          </a:lstStyle>
          <a:p>
            <a:r>
              <a:rPr lang="en-AU" dirty="0"/>
              <a:t>Theme 1: </a:t>
            </a:r>
            <a:r>
              <a:rPr lang="en-AU" dirty="0">
                <a:solidFill>
                  <a:schemeClr val="accent3"/>
                </a:solidFill>
              </a:rPr>
              <a:t>Show the reasoning behind every decision</a:t>
            </a:r>
            <a:endParaRPr lang="en-AU" dirty="0"/>
          </a:p>
        </p:txBody>
      </p:sp>
      <p:sp>
        <p:nvSpPr>
          <p:cNvPr id="101" name="HMW 101"/>
          <p:cNvSpPr/>
          <p:nvPr/>
        </p:nvSpPr>
        <p:spPr>
          <a:xfrm>
            <a:off x="566928" y="1133856"/>
            <a:ext cx="11064240" cy="6583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2700" dir="5400000" algn="t" rotWithShape="0">
              <a:srgbClr val="445469">
                <a:alpha val="14000"/>
              </a:srgbClr>
            </a:outerShdw>
          </a:effectLst>
        </p:spPr>
        <p:txBody>
          <a:bodyPr wrap="square" lIns="274320" tIns="0" rIns="27432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 b="1" dirty="0">
                <a:solidFill>
                  <a:schemeClr val="accent3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How might we make the reasoning behind our decisions visible to the people they affect?</a:t>
            </a:r>
          </a:p>
        </p:txBody>
      </p:sp>
      <p:sp>
        <p:nvSpPr>
          <p:cNvPr id="102" name="Panel 102"/>
          <p:cNvSpPr/>
          <p:nvPr/>
        </p:nvSpPr>
        <p:spPr>
          <a:xfrm>
            <a:off x="566928" y="1920240"/>
            <a:ext cx="11064240" cy="3429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  <a:alpha val="68823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03" name="Header 103"/>
          <p:cNvSpPr txBox="1"/>
          <p:nvPr/>
        </p:nvSpPr>
        <p:spPr>
          <a:xfrm>
            <a:off x="841248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BUSINESS UNIT</a:t>
            </a:r>
          </a:p>
        </p:txBody>
      </p:sp>
      <p:sp>
        <p:nvSpPr>
          <p:cNvPr id="104" name="Header 104"/>
          <p:cNvSpPr txBox="1"/>
          <p:nvPr/>
        </p:nvSpPr>
        <p:spPr>
          <a:xfrm>
            <a:off x="3081528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WHAT INDUSTRY TOLD US</a:t>
            </a:r>
          </a:p>
        </p:txBody>
      </p:sp>
      <p:sp>
        <p:nvSpPr>
          <p:cNvPr id="105" name="Header 105"/>
          <p:cNvSpPr txBox="1"/>
          <p:nvPr/>
        </p:nvSpPr>
        <p:spPr>
          <a:xfrm>
            <a:off x="10396728" y="20574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RAISED BY</a:t>
            </a:r>
          </a:p>
        </p:txBody>
      </p:sp>
      <p:sp>
        <p:nvSpPr>
          <p:cNvPr id="106" name="BU chip 106"/>
          <p:cNvSpPr/>
          <p:nvPr/>
        </p:nvSpPr>
        <p:spPr>
          <a:xfrm>
            <a:off x="841248" y="2487168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3CA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Mines Insurance</a:t>
            </a:r>
          </a:p>
        </p:txBody>
      </p:sp>
      <p:sp>
        <p:nvSpPr>
          <p:cNvPr id="107" name="Insight 107"/>
          <p:cNvSpPr txBox="1"/>
          <p:nvPr/>
        </p:nvSpPr>
        <p:spPr>
          <a:xfrm>
            <a:off x="3081528" y="2377440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estimates arrive with no rationale, and employers can’t reconcile them against their own results</a:t>
            </a:r>
          </a:p>
        </p:txBody>
      </p:sp>
      <p:sp>
        <p:nvSpPr>
          <p:cNvPr id="108" name="Raised by 108"/>
          <p:cNvSpPr/>
          <p:nvPr/>
        </p:nvSpPr>
        <p:spPr>
          <a:xfrm>
            <a:off x="10442448" y="2505456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MC</a:t>
            </a:r>
          </a:p>
        </p:txBody>
      </p:sp>
      <p:sp>
        <p:nvSpPr>
          <p:cNvPr id="109" name="BU chip 109"/>
          <p:cNvSpPr/>
          <p:nvPr/>
        </p:nvSpPr>
        <p:spPr>
          <a:xfrm>
            <a:off x="841248" y="3072384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3CA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Mines Insurance</a:t>
            </a:r>
          </a:p>
        </p:txBody>
      </p:sp>
      <p:sp>
        <p:nvSpPr>
          <p:cNvPr id="110" name="Insight 110"/>
          <p:cNvSpPr txBox="1"/>
          <p:nvPr/>
        </p:nvSpPr>
        <p:spPr>
          <a:xfrm>
            <a:off x="3081528" y="2962656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Claim decisions arrive without a visible basis, and challenging a decision rarely changes the outcome</a:t>
            </a:r>
          </a:p>
        </p:txBody>
      </p:sp>
      <p:sp>
        <p:nvSpPr>
          <p:cNvPr id="111" name="Raised by 111"/>
          <p:cNvSpPr/>
          <p:nvPr/>
        </p:nvSpPr>
        <p:spPr>
          <a:xfrm>
            <a:off x="10442448" y="3090672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Both</a:t>
            </a:r>
          </a:p>
        </p:txBody>
      </p:sp>
      <p:sp>
        <p:nvSpPr>
          <p:cNvPr id="112" name="BU chip 112"/>
          <p:cNvSpPr/>
          <p:nvPr/>
        </p:nvSpPr>
        <p:spPr>
          <a:xfrm>
            <a:off x="841248" y="365760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D600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 Health</a:t>
            </a:r>
          </a:p>
        </p:txBody>
      </p:sp>
      <p:sp>
        <p:nvSpPr>
          <p:cNvPr id="113" name="Insight 113"/>
          <p:cNvSpPr txBox="1"/>
          <p:nvPr/>
        </p:nvSpPr>
        <p:spPr>
          <a:xfrm>
            <a:off x="3081528" y="3547872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Restrictions and fitness determinations arrive without guidance on how to apply them</a:t>
            </a:r>
          </a:p>
        </p:txBody>
      </p:sp>
      <p:sp>
        <p:nvSpPr>
          <p:cNvPr id="114" name="Raised by 114"/>
          <p:cNvSpPr/>
          <p:nvPr/>
        </p:nvSpPr>
        <p:spPr>
          <a:xfrm>
            <a:off x="10442448" y="3675888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MC</a:t>
            </a:r>
          </a:p>
        </p:txBody>
      </p:sp>
      <p:sp>
        <p:nvSpPr>
          <p:cNvPr id="115" name="BU chip 115"/>
          <p:cNvSpPr/>
          <p:nvPr/>
        </p:nvSpPr>
        <p:spPr>
          <a:xfrm>
            <a:off x="841248" y="4242816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D600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 Health</a:t>
            </a:r>
          </a:p>
        </p:txBody>
      </p:sp>
      <p:sp>
        <p:nvSpPr>
          <p:cNvPr id="116" name="Insight 116"/>
          <p:cNvSpPr txBox="1"/>
          <p:nvPr/>
        </p:nvSpPr>
        <p:spPr>
          <a:xfrm>
            <a:off x="3081528" y="4133088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Advice on Order 45 availability changed after employers had acted on it, which stalled recruitment</a:t>
            </a:r>
          </a:p>
        </p:txBody>
      </p:sp>
      <p:sp>
        <p:nvSpPr>
          <p:cNvPr id="117" name="Raised by 117"/>
          <p:cNvSpPr/>
          <p:nvPr/>
        </p:nvSpPr>
        <p:spPr>
          <a:xfrm>
            <a:off x="10442448" y="4261104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MC</a:t>
            </a:r>
          </a:p>
        </p:txBody>
      </p:sp>
      <p:sp>
        <p:nvSpPr>
          <p:cNvPr id="118" name="BU chip 118"/>
          <p:cNvSpPr/>
          <p:nvPr/>
        </p:nvSpPr>
        <p:spPr>
          <a:xfrm>
            <a:off x="841248" y="4828032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44546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Services-wide</a:t>
            </a:r>
          </a:p>
        </p:txBody>
      </p:sp>
      <p:sp>
        <p:nvSpPr>
          <p:cNvPr id="119" name="Insight 119"/>
          <p:cNvSpPr txBox="1"/>
          <p:nvPr/>
        </p:nvSpPr>
        <p:spPr>
          <a:xfrm>
            <a:off x="3081528" y="4718304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Commitments are made without a visible outcome</a:t>
            </a:r>
          </a:p>
        </p:txBody>
      </p:sp>
      <p:sp>
        <p:nvSpPr>
          <p:cNvPr id="120" name="Raised by 120"/>
          <p:cNvSpPr/>
          <p:nvPr/>
        </p:nvSpPr>
        <p:spPr>
          <a:xfrm>
            <a:off x="10442448" y="48463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Both</a:t>
            </a:r>
          </a:p>
        </p:txBody>
      </p:sp>
      <p:sp>
        <p:nvSpPr>
          <p:cNvPr id="121" name="Strength 121"/>
          <p:cNvSpPr/>
          <p:nvPr/>
        </p:nvSpPr>
        <p:spPr>
          <a:xfrm>
            <a:off x="566928" y="5486400"/>
            <a:ext cx="11064240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>
                <a:lumMod val="75000"/>
              </a:schemeClr>
            </a:solidFill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4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STRENGTH TO PROTECT  </a:t>
            </a: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MRS Working Group’s prepared papers and openness about plans</a:t>
            </a:r>
          </a:p>
        </p:txBody>
      </p:sp>
      <p:sp>
        <p:nvSpPr>
          <p:cNvPr id="122" name="Legend 122"/>
          <p:cNvSpPr txBox="1"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i="1" dirty="0">
                <a:solidFill>
                  <a:schemeClr val="accent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MC: Minerals Council (employers)     MEU: Mining and Energy Union     Both: raised by MC and MEU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6BE33A-60B5-E311-CB42-7B2F0308709E}"/>
              </a:ext>
            </a:extLst>
          </p:cNvPr>
          <p:cNvSpPr txBox="1">
            <a:spLocks/>
          </p:cNvSpPr>
          <p:nvPr/>
        </p:nvSpPr>
        <p:spPr>
          <a:xfrm>
            <a:off x="9309830" y="64298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8BD019-05FF-F145-A6E1-6EE5A88665E4}" type="slidenum">
              <a:rPr kumimoji="0" lang="en-AU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9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29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4E26-E604-813E-86D3-014AA1D9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8ACD3-B5DF-52A8-4DE1-4D5D28F05B1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35641" y="277669"/>
            <a:ext cx="9756359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5E4999-7C88-D24F-75F2-28872F004E5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0" y="277669"/>
            <a:ext cx="548641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0">
            <a:extLst>
              <a:ext uri="{FF2B5EF4-FFF2-40B4-BE49-F238E27FC236}">
                <a16:creationId xmlns:a16="http://schemas.microsoft.com/office/drawing/2014/main" id="{93F24A76-699F-A050-BCAC-71BD08B264A2}"/>
              </a:ext>
            </a:extLst>
          </p:cNvPr>
          <p:cNvSpPr/>
          <p:nvPr/>
        </p:nvSpPr>
        <p:spPr>
          <a:xfrm>
            <a:off x="548641" y="165782"/>
            <a:ext cx="1887000" cy="223773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ISS Workshop Pre-work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15B0D0C6-2A12-4A64-5CA6-AFD820857D29}"/>
              </a:ext>
            </a:extLst>
          </p:cNvPr>
          <p:cNvSpPr txBox="1">
            <a:spLocks/>
          </p:cNvSpPr>
          <p:nvPr/>
        </p:nvSpPr>
        <p:spPr>
          <a:xfrm>
            <a:off x="525018" y="573082"/>
            <a:ext cx="10808267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14000"/>
              </a:lnSpc>
              <a:spcBef>
                <a:spcPct val="0"/>
              </a:spcBef>
              <a:buNone/>
              <a:defRPr sz="2200">
                <a:solidFill>
                  <a:schemeClr val="accent6">
                    <a:lumMod val="75000"/>
                  </a:schemeClr>
                </a:solidFill>
                <a:latin typeface="Poppins SemiBold" panose="00000700000000000000" pitchFamily="2" charset="0"/>
                <a:ea typeface="+mj-ea"/>
                <a:cs typeface="Poppins SemiBold" panose="00000700000000000000" pitchFamily="2" charset="0"/>
              </a:defRPr>
            </a:lvl1pPr>
          </a:lstStyle>
          <a:p>
            <a:r>
              <a:rPr lang="en-AU" dirty="0"/>
              <a:t>Theme 2: </a:t>
            </a:r>
            <a:r>
              <a:rPr lang="en-AU" dirty="0">
                <a:solidFill>
                  <a:schemeClr val="accent3"/>
                </a:solidFill>
              </a:rPr>
              <a:t>Timeliness</a:t>
            </a:r>
            <a:endParaRPr lang="en-AU" dirty="0"/>
          </a:p>
        </p:txBody>
      </p:sp>
      <p:sp>
        <p:nvSpPr>
          <p:cNvPr id="123" name="HMW 123"/>
          <p:cNvSpPr/>
          <p:nvPr/>
        </p:nvSpPr>
        <p:spPr>
          <a:xfrm>
            <a:off x="566928" y="1133856"/>
            <a:ext cx="11064240" cy="6583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2700" dir="5400000" algn="t" rotWithShape="0">
              <a:srgbClr val="445469">
                <a:alpha val="14000"/>
              </a:srgbClr>
            </a:outerShdw>
          </a:effectLst>
        </p:spPr>
        <p:txBody>
          <a:bodyPr wrap="square" lIns="274320" tIns="0" rIns="27432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 b="1" dirty="0">
                <a:solidFill>
                  <a:schemeClr val="accent3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How might we make sure every worker and site gets a timely response, without needing a senior contact to step in?</a:t>
            </a:r>
          </a:p>
        </p:txBody>
      </p:sp>
      <p:sp>
        <p:nvSpPr>
          <p:cNvPr id="124" name="Panel 124"/>
          <p:cNvSpPr/>
          <p:nvPr/>
        </p:nvSpPr>
        <p:spPr>
          <a:xfrm>
            <a:off x="566928" y="1920240"/>
            <a:ext cx="11064240" cy="3429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  <a:alpha val="68823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25" name="Header 125"/>
          <p:cNvSpPr txBox="1"/>
          <p:nvPr/>
        </p:nvSpPr>
        <p:spPr>
          <a:xfrm>
            <a:off x="841248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BUSINESS UNIT</a:t>
            </a:r>
          </a:p>
        </p:txBody>
      </p:sp>
      <p:sp>
        <p:nvSpPr>
          <p:cNvPr id="126" name="Header 126"/>
          <p:cNvSpPr txBox="1"/>
          <p:nvPr/>
        </p:nvSpPr>
        <p:spPr>
          <a:xfrm>
            <a:off x="3081528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WHAT INDUSTRY TOLD US</a:t>
            </a:r>
          </a:p>
        </p:txBody>
      </p:sp>
      <p:sp>
        <p:nvSpPr>
          <p:cNvPr id="127" name="Header 127"/>
          <p:cNvSpPr txBox="1"/>
          <p:nvPr/>
        </p:nvSpPr>
        <p:spPr>
          <a:xfrm>
            <a:off x="10396728" y="20574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RAISED BY</a:t>
            </a:r>
          </a:p>
        </p:txBody>
      </p:sp>
      <p:sp>
        <p:nvSpPr>
          <p:cNvPr id="128" name="BU chip 128"/>
          <p:cNvSpPr/>
          <p:nvPr/>
        </p:nvSpPr>
        <p:spPr>
          <a:xfrm>
            <a:off x="841248" y="2487168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3CA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Mines Insurance</a:t>
            </a:r>
          </a:p>
        </p:txBody>
      </p:sp>
      <p:sp>
        <p:nvSpPr>
          <p:cNvPr id="129" name="Insight 129"/>
          <p:cNvSpPr txBox="1"/>
          <p:nvPr/>
        </p:nvSpPr>
        <p:spPr>
          <a:xfrm>
            <a:off x="3081528" y="2377440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Officials relay that members wait the full statutory period, and matters stalled for weeks get fixed in one call once an official steps in</a:t>
            </a:r>
          </a:p>
        </p:txBody>
      </p:sp>
      <p:sp>
        <p:nvSpPr>
          <p:cNvPr id="130" name="Raised by 130"/>
          <p:cNvSpPr/>
          <p:nvPr/>
        </p:nvSpPr>
        <p:spPr>
          <a:xfrm>
            <a:off x="10442448" y="2505456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MEU</a:t>
            </a:r>
          </a:p>
        </p:txBody>
      </p:sp>
      <p:sp>
        <p:nvSpPr>
          <p:cNvPr id="131" name="BU chip 131"/>
          <p:cNvSpPr/>
          <p:nvPr/>
        </p:nvSpPr>
        <p:spPr>
          <a:xfrm>
            <a:off x="841248" y="3072384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D600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 Health</a:t>
            </a:r>
          </a:p>
        </p:txBody>
      </p:sp>
      <p:sp>
        <p:nvSpPr>
          <p:cNvPr id="132" name="Insight 132"/>
          <p:cNvSpPr txBox="1"/>
          <p:nvPr/>
        </p:nvSpPr>
        <p:spPr>
          <a:xfrm>
            <a:off x="3081528" y="2962656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bookings line rings out and waits run to three months</a:t>
            </a:r>
          </a:p>
        </p:txBody>
      </p:sp>
      <p:sp>
        <p:nvSpPr>
          <p:cNvPr id="133" name="Raised by 133"/>
          <p:cNvSpPr/>
          <p:nvPr/>
        </p:nvSpPr>
        <p:spPr>
          <a:xfrm>
            <a:off x="10442448" y="3090672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MC</a:t>
            </a:r>
          </a:p>
        </p:txBody>
      </p:sp>
      <p:sp>
        <p:nvSpPr>
          <p:cNvPr id="134" name="BU chip 134"/>
          <p:cNvSpPr/>
          <p:nvPr/>
        </p:nvSpPr>
        <p:spPr>
          <a:xfrm>
            <a:off x="841248" y="365760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8A8F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Mines Rescue Service</a:t>
            </a:r>
          </a:p>
        </p:txBody>
      </p:sp>
      <p:sp>
        <p:nvSpPr>
          <p:cNvPr id="135" name="Insight 135"/>
          <p:cNvSpPr txBox="1"/>
          <p:nvPr/>
        </p:nvSpPr>
        <p:spPr>
          <a:xfrm>
            <a:off x="3081528" y="3547872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Non-urgent requests go unanswered until the site chases them</a:t>
            </a:r>
          </a:p>
        </p:txBody>
      </p:sp>
      <p:sp>
        <p:nvSpPr>
          <p:cNvPr id="136" name="Raised by 136"/>
          <p:cNvSpPr/>
          <p:nvPr/>
        </p:nvSpPr>
        <p:spPr>
          <a:xfrm>
            <a:off x="10442448" y="3675888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MC</a:t>
            </a:r>
          </a:p>
        </p:txBody>
      </p:sp>
      <p:sp>
        <p:nvSpPr>
          <p:cNvPr id="137" name="BU chip 137"/>
          <p:cNvSpPr/>
          <p:nvPr/>
        </p:nvSpPr>
        <p:spPr>
          <a:xfrm>
            <a:off x="841248" y="4242816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3799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Mine Site Occ. Hygiene</a:t>
            </a:r>
          </a:p>
        </p:txBody>
      </p:sp>
      <p:sp>
        <p:nvSpPr>
          <p:cNvPr id="138" name="Insight 138"/>
          <p:cNvSpPr txBox="1"/>
          <p:nvPr/>
        </p:nvSpPr>
        <p:spPr>
          <a:xfrm>
            <a:off x="3081528" y="4133088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Dust reports reach union representatives, not the wider workforce</a:t>
            </a:r>
          </a:p>
        </p:txBody>
      </p:sp>
      <p:sp>
        <p:nvSpPr>
          <p:cNvPr id="139" name="Raised by 139"/>
          <p:cNvSpPr/>
          <p:nvPr/>
        </p:nvSpPr>
        <p:spPr>
          <a:xfrm>
            <a:off x="10442448" y="4261104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MEU</a:t>
            </a:r>
          </a:p>
        </p:txBody>
      </p:sp>
      <p:sp>
        <p:nvSpPr>
          <p:cNvPr id="140" name="BU chip 140"/>
          <p:cNvSpPr/>
          <p:nvPr/>
        </p:nvSpPr>
        <p:spPr>
          <a:xfrm>
            <a:off x="841248" y="4828032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44546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Services-wide</a:t>
            </a:r>
          </a:p>
        </p:txBody>
      </p:sp>
      <p:sp>
        <p:nvSpPr>
          <p:cNvPr id="141" name="Insight 141"/>
          <p:cNvSpPr txBox="1"/>
          <p:nvPr/>
        </p:nvSpPr>
        <p:spPr>
          <a:xfrm>
            <a:off x="3081528" y="4718304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member is the last to hear, and communication drops away as a case gets harder</a:t>
            </a:r>
          </a:p>
        </p:txBody>
      </p:sp>
      <p:sp>
        <p:nvSpPr>
          <p:cNvPr id="142" name="Raised by 142"/>
          <p:cNvSpPr/>
          <p:nvPr/>
        </p:nvSpPr>
        <p:spPr>
          <a:xfrm>
            <a:off x="10442448" y="48463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MEU</a:t>
            </a:r>
          </a:p>
        </p:txBody>
      </p:sp>
      <p:sp>
        <p:nvSpPr>
          <p:cNvPr id="143" name="Strength 143"/>
          <p:cNvSpPr/>
          <p:nvPr/>
        </p:nvSpPr>
        <p:spPr>
          <a:xfrm>
            <a:off x="566928" y="5486400"/>
            <a:ext cx="11064240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>
                <a:lumMod val="75000"/>
              </a:schemeClr>
            </a:solidFill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4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STRENGTH TO PROTECT  </a:t>
            </a: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Account managers who call ahead and follow through</a:t>
            </a:r>
          </a:p>
        </p:txBody>
      </p:sp>
      <p:sp>
        <p:nvSpPr>
          <p:cNvPr id="144" name="Legend 144"/>
          <p:cNvSpPr txBox="1"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i="1" dirty="0">
                <a:solidFill>
                  <a:schemeClr val="accent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MC: Minerals Council (employers)     MEU: Mining and Energy Union     Both: raised by MC and MEU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6BE33A-60B5-E311-CB42-7B2F0308709E}"/>
              </a:ext>
            </a:extLst>
          </p:cNvPr>
          <p:cNvSpPr txBox="1">
            <a:spLocks/>
          </p:cNvSpPr>
          <p:nvPr/>
        </p:nvSpPr>
        <p:spPr>
          <a:xfrm>
            <a:off x="9309830" y="64298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8BD019-05FF-F145-A6E1-6EE5A88665E4}" type="slidenum">
              <a:rPr kumimoji="0" lang="en-AU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9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29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4E26-E604-813E-86D3-014AA1D9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8ACD3-B5DF-52A8-4DE1-4D5D28F05B1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35641" y="277669"/>
            <a:ext cx="9756359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5E4999-7C88-D24F-75F2-28872F004E5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0" y="277669"/>
            <a:ext cx="548641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0">
            <a:extLst>
              <a:ext uri="{FF2B5EF4-FFF2-40B4-BE49-F238E27FC236}">
                <a16:creationId xmlns:a16="http://schemas.microsoft.com/office/drawing/2014/main" id="{93F24A76-699F-A050-BCAC-71BD08B264A2}"/>
              </a:ext>
            </a:extLst>
          </p:cNvPr>
          <p:cNvSpPr/>
          <p:nvPr/>
        </p:nvSpPr>
        <p:spPr>
          <a:xfrm>
            <a:off x="548641" y="165782"/>
            <a:ext cx="1887000" cy="223773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ISS Workshop Pre-work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15B0D0C6-2A12-4A64-5CA6-AFD820857D29}"/>
              </a:ext>
            </a:extLst>
          </p:cNvPr>
          <p:cNvSpPr txBox="1">
            <a:spLocks/>
          </p:cNvSpPr>
          <p:nvPr/>
        </p:nvSpPr>
        <p:spPr>
          <a:xfrm>
            <a:off x="525018" y="573082"/>
            <a:ext cx="10808267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14000"/>
              </a:lnSpc>
              <a:spcBef>
                <a:spcPct val="0"/>
              </a:spcBef>
              <a:buNone/>
              <a:defRPr sz="2200">
                <a:solidFill>
                  <a:schemeClr val="accent6">
                    <a:lumMod val="75000"/>
                  </a:schemeClr>
                </a:solidFill>
                <a:latin typeface="Poppins SemiBold" panose="00000700000000000000" pitchFamily="2" charset="0"/>
                <a:ea typeface="+mj-ea"/>
                <a:cs typeface="Poppins SemiBold" panose="00000700000000000000" pitchFamily="2" charset="0"/>
              </a:defRPr>
            </a:lvl1pPr>
          </a:lstStyle>
          <a:p>
            <a:r>
              <a:rPr lang="en-AU" dirty="0"/>
              <a:t>Theme 3: </a:t>
            </a:r>
            <a:r>
              <a:rPr lang="en-AU" dirty="0">
                <a:solidFill>
                  <a:schemeClr val="accent3"/>
                </a:solidFill>
              </a:rPr>
              <a:t>Consistency</a:t>
            </a:r>
            <a:endParaRPr lang="en-AU" dirty="0"/>
          </a:p>
        </p:txBody>
      </p:sp>
      <p:sp>
        <p:nvSpPr>
          <p:cNvPr id="145" name="HMW 145"/>
          <p:cNvSpPr/>
          <p:nvPr/>
        </p:nvSpPr>
        <p:spPr>
          <a:xfrm>
            <a:off x="566928" y="1133856"/>
            <a:ext cx="11064240" cy="6583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2700" dir="5400000" algn="t" rotWithShape="0">
              <a:srgbClr val="445469">
                <a:alpha val="14000"/>
              </a:srgbClr>
            </a:outerShdw>
          </a:effectLst>
        </p:spPr>
        <p:txBody>
          <a:bodyPr wrap="square" lIns="274320" tIns="0" rIns="27432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 b="1" dirty="0">
                <a:solidFill>
                  <a:schemeClr val="accent3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How might we make service quality consistent regardless of who handles it?</a:t>
            </a:r>
          </a:p>
        </p:txBody>
      </p:sp>
      <p:sp>
        <p:nvSpPr>
          <p:cNvPr id="146" name="Panel 146"/>
          <p:cNvSpPr/>
          <p:nvPr/>
        </p:nvSpPr>
        <p:spPr>
          <a:xfrm>
            <a:off x="566928" y="1920240"/>
            <a:ext cx="11064240" cy="3429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  <a:alpha val="68823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47" name="Header 147"/>
          <p:cNvSpPr txBox="1"/>
          <p:nvPr/>
        </p:nvSpPr>
        <p:spPr>
          <a:xfrm>
            <a:off x="841248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BUSINESS UNIT</a:t>
            </a:r>
          </a:p>
        </p:txBody>
      </p:sp>
      <p:sp>
        <p:nvSpPr>
          <p:cNvPr id="148" name="Header 148"/>
          <p:cNvSpPr txBox="1"/>
          <p:nvPr/>
        </p:nvSpPr>
        <p:spPr>
          <a:xfrm>
            <a:off x="3081528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WHAT INDUSTRY TOLD US</a:t>
            </a:r>
          </a:p>
        </p:txBody>
      </p:sp>
      <p:sp>
        <p:nvSpPr>
          <p:cNvPr id="149" name="Header 149"/>
          <p:cNvSpPr txBox="1"/>
          <p:nvPr/>
        </p:nvSpPr>
        <p:spPr>
          <a:xfrm>
            <a:off x="10396728" y="20574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RAISED BY</a:t>
            </a:r>
          </a:p>
        </p:txBody>
      </p:sp>
      <p:sp>
        <p:nvSpPr>
          <p:cNvPr id="150" name="BU chip 150"/>
          <p:cNvSpPr/>
          <p:nvPr/>
        </p:nvSpPr>
        <p:spPr>
          <a:xfrm>
            <a:off x="841248" y="2487168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3CA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Mines Insurance</a:t>
            </a:r>
          </a:p>
        </p:txBody>
      </p:sp>
      <p:sp>
        <p:nvSpPr>
          <p:cNvPr id="151" name="Insight 151"/>
          <p:cNvSpPr txBox="1"/>
          <p:nvPr/>
        </p:nvSpPr>
        <p:spPr>
          <a:xfrm>
            <a:off x="3081528" y="2377440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claim can pass through several case managers, and outcomes depend on who is assigned</a:t>
            </a:r>
          </a:p>
        </p:txBody>
      </p:sp>
      <p:sp>
        <p:nvSpPr>
          <p:cNvPr id="152" name="Raised by 152"/>
          <p:cNvSpPr/>
          <p:nvPr/>
        </p:nvSpPr>
        <p:spPr>
          <a:xfrm>
            <a:off x="10442448" y="2505456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Both</a:t>
            </a:r>
          </a:p>
        </p:txBody>
      </p:sp>
      <p:sp>
        <p:nvSpPr>
          <p:cNvPr id="153" name="BU chip 153"/>
          <p:cNvSpPr/>
          <p:nvPr/>
        </p:nvSpPr>
        <p:spPr>
          <a:xfrm>
            <a:off x="841248" y="3072384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D600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 Health</a:t>
            </a:r>
          </a:p>
        </p:txBody>
      </p:sp>
      <p:sp>
        <p:nvSpPr>
          <p:cNvPr id="154" name="Insight 154"/>
          <p:cNvSpPr txBox="1"/>
          <p:nvPr/>
        </p:nvSpPr>
        <p:spPr>
          <a:xfrm>
            <a:off x="3081528" y="2962656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Findings vary by clinician and location, without established guidelines</a:t>
            </a:r>
          </a:p>
        </p:txBody>
      </p:sp>
      <p:sp>
        <p:nvSpPr>
          <p:cNvPr id="155" name="Raised by 155"/>
          <p:cNvSpPr/>
          <p:nvPr/>
        </p:nvSpPr>
        <p:spPr>
          <a:xfrm>
            <a:off x="10442448" y="3090672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MEU</a:t>
            </a:r>
          </a:p>
        </p:txBody>
      </p:sp>
      <p:sp>
        <p:nvSpPr>
          <p:cNvPr id="156" name="BU chip 156"/>
          <p:cNvSpPr/>
          <p:nvPr/>
        </p:nvSpPr>
        <p:spPr>
          <a:xfrm>
            <a:off x="841248" y="365760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8A8F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Mines Rescue Service</a:t>
            </a:r>
          </a:p>
        </p:txBody>
      </p:sp>
      <p:sp>
        <p:nvSpPr>
          <p:cNvPr id="157" name="Insight 157"/>
          <p:cNvSpPr txBox="1"/>
          <p:nvPr/>
        </p:nvSpPr>
        <p:spPr>
          <a:xfrm>
            <a:off x="3081528" y="3547872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Station management quality varies, affecting retention and resourcing</a:t>
            </a:r>
          </a:p>
        </p:txBody>
      </p:sp>
      <p:sp>
        <p:nvSpPr>
          <p:cNvPr id="158" name="Raised by 158"/>
          <p:cNvSpPr/>
          <p:nvPr/>
        </p:nvSpPr>
        <p:spPr>
          <a:xfrm>
            <a:off x="10442448" y="3675888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MEU</a:t>
            </a:r>
          </a:p>
        </p:txBody>
      </p:sp>
      <p:sp>
        <p:nvSpPr>
          <p:cNvPr id="159" name="BU chip 159"/>
          <p:cNvSpPr/>
          <p:nvPr/>
        </p:nvSpPr>
        <p:spPr>
          <a:xfrm>
            <a:off x="841248" y="4242816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3799A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Mine Site Occ. Hygiene</a:t>
            </a:r>
          </a:p>
        </p:txBody>
      </p:sp>
      <p:sp>
        <p:nvSpPr>
          <p:cNvPr id="160" name="Insight 160"/>
          <p:cNvSpPr txBox="1"/>
          <p:nvPr/>
        </p:nvSpPr>
        <p:spPr>
          <a:xfrm>
            <a:off x="3081528" y="4133088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quality varies by sampler</a:t>
            </a:r>
          </a:p>
        </p:txBody>
      </p:sp>
      <p:sp>
        <p:nvSpPr>
          <p:cNvPr id="161" name="Raised by 161"/>
          <p:cNvSpPr/>
          <p:nvPr/>
        </p:nvSpPr>
        <p:spPr>
          <a:xfrm>
            <a:off x="10442448" y="4261104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MEU</a:t>
            </a:r>
          </a:p>
        </p:txBody>
      </p:sp>
      <p:sp>
        <p:nvSpPr>
          <p:cNvPr id="162" name="BU chip 162"/>
          <p:cNvSpPr/>
          <p:nvPr/>
        </p:nvSpPr>
        <p:spPr>
          <a:xfrm>
            <a:off x="841248" y="4828032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44546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Services-wide</a:t>
            </a:r>
          </a:p>
        </p:txBody>
      </p:sp>
      <p:sp>
        <p:nvSpPr>
          <p:cNvPr id="163" name="Insight 163"/>
          <p:cNvSpPr txBox="1"/>
          <p:nvPr/>
        </p:nvSpPr>
        <p:spPr>
          <a:xfrm>
            <a:off x="3081528" y="4718304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standards aren’t preventing the variation</a:t>
            </a:r>
          </a:p>
        </p:txBody>
      </p:sp>
      <p:sp>
        <p:nvSpPr>
          <p:cNvPr id="164" name="Raised by 164"/>
          <p:cNvSpPr/>
          <p:nvPr/>
        </p:nvSpPr>
        <p:spPr>
          <a:xfrm>
            <a:off x="10442448" y="48463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Both</a:t>
            </a:r>
          </a:p>
        </p:txBody>
      </p:sp>
      <p:sp>
        <p:nvSpPr>
          <p:cNvPr id="165" name="Strength 165"/>
          <p:cNvSpPr/>
          <p:nvPr/>
        </p:nvSpPr>
        <p:spPr>
          <a:xfrm>
            <a:off x="566928" y="5486400"/>
            <a:ext cx="11064240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>
                <a:lumMod val="75000"/>
              </a:schemeClr>
            </a:solidFill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4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STRENGTH TO PROTECT  </a:t>
            </a: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MSOH’s statutory dust reporting arriving without prompting</a:t>
            </a:r>
          </a:p>
        </p:txBody>
      </p:sp>
      <p:sp>
        <p:nvSpPr>
          <p:cNvPr id="166" name="Legend 166"/>
          <p:cNvSpPr txBox="1"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i="1" dirty="0">
                <a:solidFill>
                  <a:schemeClr val="accent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MC: Minerals Council (employers)     MEU: Mining and Energy Union     Both: raised by MC and MEU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6BE33A-60B5-E311-CB42-7B2F0308709E}"/>
              </a:ext>
            </a:extLst>
          </p:cNvPr>
          <p:cNvSpPr txBox="1">
            <a:spLocks/>
          </p:cNvSpPr>
          <p:nvPr/>
        </p:nvSpPr>
        <p:spPr>
          <a:xfrm>
            <a:off x="9309830" y="64298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8BD019-05FF-F145-A6E1-6EE5A88665E4}" type="slidenum">
              <a:rPr kumimoji="0" lang="en-AU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9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29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4E26-E604-813E-86D3-014AA1D9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8ACD3-B5DF-52A8-4DE1-4D5D28F05B1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35641" y="277669"/>
            <a:ext cx="9756359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5E4999-7C88-D24F-75F2-28872F004E5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0" y="277669"/>
            <a:ext cx="548641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0">
            <a:extLst>
              <a:ext uri="{FF2B5EF4-FFF2-40B4-BE49-F238E27FC236}">
                <a16:creationId xmlns:a16="http://schemas.microsoft.com/office/drawing/2014/main" id="{93F24A76-699F-A050-BCAC-71BD08B264A2}"/>
              </a:ext>
            </a:extLst>
          </p:cNvPr>
          <p:cNvSpPr/>
          <p:nvPr/>
        </p:nvSpPr>
        <p:spPr>
          <a:xfrm>
            <a:off x="548641" y="165782"/>
            <a:ext cx="1887000" cy="223773"/>
          </a:xfrm>
          <a:prstGeom prst="roundRect">
            <a:avLst>
              <a:gd name="adj" fmla="val 50000"/>
            </a:avLst>
          </a:prstGeom>
          <a:noFill/>
          <a:ln w="3175"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ISS Workshop Pre-work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15B0D0C6-2A12-4A64-5CA6-AFD820857D29}"/>
              </a:ext>
            </a:extLst>
          </p:cNvPr>
          <p:cNvSpPr txBox="1">
            <a:spLocks/>
          </p:cNvSpPr>
          <p:nvPr/>
        </p:nvSpPr>
        <p:spPr>
          <a:xfrm>
            <a:off x="525018" y="573082"/>
            <a:ext cx="10808267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14000"/>
              </a:lnSpc>
              <a:spcBef>
                <a:spcPct val="0"/>
              </a:spcBef>
              <a:buNone/>
              <a:defRPr sz="2200">
                <a:solidFill>
                  <a:schemeClr val="accent6">
                    <a:lumMod val="75000"/>
                  </a:schemeClr>
                </a:solidFill>
                <a:latin typeface="Poppins SemiBold" panose="00000700000000000000" pitchFamily="2" charset="0"/>
                <a:ea typeface="+mj-ea"/>
                <a:cs typeface="Poppins SemiBold" panose="00000700000000000000" pitchFamily="2" charset="0"/>
              </a:defRPr>
            </a:lvl1pPr>
          </a:lstStyle>
          <a:p>
            <a:r>
              <a:rPr lang="en-AU" dirty="0"/>
              <a:t>Theme 4: </a:t>
            </a:r>
            <a:r>
              <a:rPr lang="en-AU" dirty="0">
                <a:solidFill>
                  <a:schemeClr val="accent3"/>
                </a:solidFill>
              </a:rPr>
              <a:t>Engage industry before decisions are made, not after</a:t>
            </a:r>
            <a:endParaRPr lang="en-AU" dirty="0"/>
          </a:p>
        </p:txBody>
      </p:sp>
      <p:sp>
        <p:nvSpPr>
          <p:cNvPr id="167" name="HMW 167"/>
          <p:cNvSpPr/>
          <p:nvPr/>
        </p:nvSpPr>
        <p:spPr>
          <a:xfrm>
            <a:off x="566928" y="1133856"/>
            <a:ext cx="11064240" cy="6583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2700" dir="5400000" algn="t" rotWithShape="0">
              <a:srgbClr val="445469">
                <a:alpha val="14000"/>
              </a:srgbClr>
            </a:outerShdw>
          </a:effectLst>
        </p:spPr>
        <p:txBody>
          <a:bodyPr wrap="square" lIns="274320" tIns="0" rIns="27432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 b="1" dirty="0">
                <a:solidFill>
                  <a:schemeClr val="accent3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How might we make engaging first the default across Coal Services?</a:t>
            </a:r>
          </a:p>
        </p:txBody>
      </p:sp>
      <p:sp>
        <p:nvSpPr>
          <p:cNvPr id="168" name="Panel 168"/>
          <p:cNvSpPr/>
          <p:nvPr/>
        </p:nvSpPr>
        <p:spPr>
          <a:xfrm>
            <a:off x="566928" y="1920240"/>
            <a:ext cx="11064240" cy="3429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  <a:alpha val="68823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AU" sz="1000"/>
          </a:p>
        </p:txBody>
      </p:sp>
      <p:sp>
        <p:nvSpPr>
          <p:cNvPr id="169" name="Header 169"/>
          <p:cNvSpPr txBox="1"/>
          <p:nvPr/>
        </p:nvSpPr>
        <p:spPr>
          <a:xfrm>
            <a:off x="841248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BUSINESS UNIT</a:t>
            </a:r>
          </a:p>
        </p:txBody>
      </p:sp>
      <p:sp>
        <p:nvSpPr>
          <p:cNvPr id="170" name="Header 170"/>
          <p:cNvSpPr txBox="1"/>
          <p:nvPr/>
        </p:nvSpPr>
        <p:spPr>
          <a:xfrm>
            <a:off x="3081528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WHAT INDUSTRY TOLD US</a:t>
            </a:r>
          </a:p>
        </p:txBody>
      </p:sp>
      <p:sp>
        <p:nvSpPr>
          <p:cNvPr id="171" name="Header 171"/>
          <p:cNvSpPr txBox="1"/>
          <p:nvPr/>
        </p:nvSpPr>
        <p:spPr>
          <a:xfrm>
            <a:off x="10396728" y="20574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RAISED BY</a:t>
            </a:r>
          </a:p>
        </p:txBody>
      </p:sp>
      <p:sp>
        <p:nvSpPr>
          <p:cNvPr id="172" name="BU chip 172"/>
          <p:cNvSpPr/>
          <p:nvPr/>
        </p:nvSpPr>
        <p:spPr>
          <a:xfrm>
            <a:off x="841248" y="2487168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3CA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Mines Insurance</a:t>
            </a:r>
          </a:p>
        </p:txBody>
      </p:sp>
      <p:sp>
        <p:nvSpPr>
          <p:cNvPr id="173" name="Insight 173"/>
          <p:cNvSpPr txBox="1"/>
          <p:nvPr/>
        </p:nvSpPr>
        <p:spPr>
          <a:xfrm>
            <a:off x="3081528" y="2377440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Respondents describe a decline-first default, with claims declined at first instance and delayed</a:t>
            </a:r>
          </a:p>
        </p:txBody>
      </p:sp>
      <p:sp>
        <p:nvSpPr>
          <p:cNvPr id="174" name="Raised by 174"/>
          <p:cNvSpPr/>
          <p:nvPr/>
        </p:nvSpPr>
        <p:spPr>
          <a:xfrm>
            <a:off x="10442448" y="2505456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MEU</a:t>
            </a:r>
          </a:p>
        </p:txBody>
      </p:sp>
      <p:sp>
        <p:nvSpPr>
          <p:cNvPr id="175" name="BU chip 175"/>
          <p:cNvSpPr/>
          <p:nvPr/>
        </p:nvSpPr>
        <p:spPr>
          <a:xfrm>
            <a:off x="841248" y="3072384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3CA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Mines Insurance</a:t>
            </a:r>
          </a:p>
        </p:txBody>
      </p:sp>
      <p:sp>
        <p:nvSpPr>
          <p:cNvPr id="176" name="Insight 176"/>
          <p:cNvSpPr txBox="1"/>
          <p:nvPr/>
        </p:nvSpPr>
        <p:spPr>
          <a:xfrm>
            <a:off x="3081528" y="2962656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Claims are notified rather than consulted on</a:t>
            </a:r>
          </a:p>
        </p:txBody>
      </p:sp>
      <p:sp>
        <p:nvSpPr>
          <p:cNvPr id="177" name="Raised by 177"/>
          <p:cNvSpPr/>
          <p:nvPr/>
        </p:nvSpPr>
        <p:spPr>
          <a:xfrm>
            <a:off x="10442448" y="3090672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MC</a:t>
            </a:r>
          </a:p>
        </p:txBody>
      </p:sp>
      <p:sp>
        <p:nvSpPr>
          <p:cNvPr id="178" name="BU chip 178"/>
          <p:cNvSpPr/>
          <p:nvPr/>
        </p:nvSpPr>
        <p:spPr>
          <a:xfrm>
            <a:off x="841248" y="365760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D6001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 Health</a:t>
            </a:r>
          </a:p>
        </p:txBody>
      </p:sp>
      <p:sp>
        <p:nvSpPr>
          <p:cNvPr id="179" name="Insight 179"/>
          <p:cNvSpPr txBox="1"/>
          <p:nvPr/>
        </p:nvSpPr>
        <p:spPr>
          <a:xfrm>
            <a:off x="3081528" y="3547872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Order 45 rollout didn’t account for the recruitment cycle</a:t>
            </a:r>
          </a:p>
        </p:txBody>
      </p:sp>
      <p:sp>
        <p:nvSpPr>
          <p:cNvPr id="180" name="Raised by 180"/>
          <p:cNvSpPr/>
          <p:nvPr/>
        </p:nvSpPr>
        <p:spPr>
          <a:xfrm>
            <a:off x="10442448" y="3675888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MC</a:t>
            </a:r>
          </a:p>
        </p:txBody>
      </p:sp>
      <p:sp>
        <p:nvSpPr>
          <p:cNvPr id="181" name="BU chip 181"/>
          <p:cNvSpPr/>
          <p:nvPr/>
        </p:nvSpPr>
        <p:spPr>
          <a:xfrm>
            <a:off x="841248" y="4242816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8A8F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Mines Rescue Service</a:t>
            </a:r>
          </a:p>
        </p:txBody>
      </p:sp>
      <p:sp>
        <p:nvSpPr>
          <p:cNvPr id="182" name="Insight 182"/>
          <p:cNvSpPr txBox="1"/>
          <p:nvPr/>
        </p:nvSpPr>
        <p:spPr>
          <a:xfrm>
            <a:off x="3081528" y="4133088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shift towards commercial training work, with no long-term direction communicated</a:t>
            </a:r>
          </a:p>
        </p:txBody>
      </p:sp>
      <p:sp>
        <p:nvSpPr>
          <p:cNvPr id="183" name="Raised by 183"/>
          <p:cNvSpPr/>
          <p:nvPr/>
        </p:nvSpPr>
        <p:spPr>
          <a:xfrm>
            <a:off x="10442448" y="4261104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MEU</a:t>
            </a:r>
          </a:p>
        </p:txBody>
      </p:sp>
      <p:sp>
        <p:nvSpPr>
          <p:cNvPr id="184" name="BU chip 184"/>
          <p:cNvSpPr/>
          <p:nvPr/>
        </p:nvSpPr>
        <p:spPr>
          <a:xfrm>
            <a:off x="841248" y="4828032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44546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bg1"/>
                </a:solidFill>
                <a:latin typeface="Poppins SemiBold" pitchFamily="2" charset="0"/>
                <a:cs typeface="Poppins SemiBold" pitchFamily="2" charset="0"/>
              </a:rPr>
              <a:t>Coal Services-wide</a:t>
            </a:r>
          </a:p>
        </p:txBody>
      </p:sp>
      <p:sp>
        <p:nvSpPr>
          <p:cNvPr id="185" name="Insight 185"/>
          <p:cNvSpPr txBox="1"/>
          <p:nvPr/>
        </p:nvSpPr>
        <p:spPr>
          <a:xfrm>
            <a:off x="3081528" y="4718304"/>
            <a:ext cx="71323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 are still designed around underground operations</a:t>
            </a:r>
          </a:p>
        </p:txBody>
      </p:sp>
      <p:sp>
        <p:nvSpPr>
          <p:cNvPr id="186" name="Raised by 186"/>
          <p:cNvSpPr/>
          <p:nvPr/>
        </p:nvSpPr>
        <p:spPr>
          <a:xfrm>
            <a:off x="10442448" y="48463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6"/>
                </a:solidFill>
                <a:latin typeface="Poppins SemiBold" pitchFamily="2" charset="0"/>
                <a:cs typeface="Poppins SemiBold" pitchFamily="2" charset="0"/>
              </a:rPr>
              <a:t>MC</a:t>
            </a:r>
          </a:p>
        </p:txBody>
      </p:sp>
      <p:sp>
        <p:nvSpPr>
          <p:cNvPr id="187" name="Strength 187"/>
          <p:cNvSpPr/>
          <p:nvPr/>
        </p:nvSpPr>
        <p:spPr>
          <a:xfrm>
            <a:off x="566928" y="5486400"/>
            <a:ext cx="11064240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>
                <a:lumMod val="75000"/>
              </a:schemeClr>
            </a:solidFill>
          </a:ln>
        </p:spPr>
        <p:txBody>
          <a:bodyPr wrap="square" lIns="274320" tIns="0" rIns="27432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 b="1" dirty="0">
                <a:solidFill>
                  <a:schemeClr val="accent4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STRENGTHS TO PROTECT  </a:t>
            </a:r>
            <a:r>
              <a:rPr lang="en-AU" sz="1300" dirty="0">
                <a:solidFill>
                  <a:schemeClr val="accent6">
                    <a:lumMod val="75000"/>
                  </a:schemeClr>
                </a:solidFill>
                <a:latin typeface="Poppins SemiBold" pitchFamily="2" charset="0"/>
                <a:cs typeface="Poppins SemiBold" pitchFamily="2" charset="0"/>
              </a:rPr>
              <a:t>Order 45 consultation, the Standing Dust Committee, and recent improvement in CMI dispute handling</a:t>
            </a:r>
          </a:p>
        </p:txBody>
      </p:sp>
      <p:sp>
        <p:nvSpPr>
          <p:cNvPr id="188" name="Legend 188"/>
          <p:cNvSpPr txBox="1"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i="1" dirty="0">
                <a:solidFill>
                  <a:schemeClr val="accent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MC: Minerals Council (employers)     MEU: Mining and Energy Union     Both: raised by MC and MEU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6BE33A-60B5-E311-CB42-7B2F0308709E}"/>
              </a:ext>
            </a:extLst>
          </p:cNvPr>
          <p:cNvSpPr txBox="1">
            <a:spLocks/>
          </p:cNvSpPr>
          <p:nvPr/>
        </p:nvSpPr>
        <p:spPr>
          <a:xfrm>
            <a:off x="9309830" y="64298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8BD019-05FF-F145-A6E1-6EE5A88665E4}" type="slidenum">
              <a:rPr kumimoji="0" lang="en-AU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9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296058"/>
      </p:ext>
    </p:extLst>
  </p:cSld>
  <p:clrMapOvr>
    <a:masterClrMapping/>
  </p:clrMapOvr>
</p:sld>
</file>

<file path=ppt/theme/theme1.xml><?xml version="1.0" encoding="utf-8"?>
<a:theme xmlns:a="http://schemas.openxmlformats.org/drawingml/2006/main" name="The Strategy Group - 2022">
  <a:themeElements>
    <a:clrScheme name="The Strategy Group - 2022">
      <a:dk1>
        <a:srgbClr val="000000"/>
      </a:dk1>
      <a:lt1>
        <a:srgbClr val="FFFFFF"/>
      </a:lt1>
      <a:dk2>
        <a:srgbClr val="3C3C3C"/>
      </a:dk2>
      <a:lt2>
        <a:srgbClr val="E5E6EB"/>
      </a:lt2>
      <a:accent1>
        <a:srgbClr val="F38047"/>
      </a:accent1>
      <a:accent2>
        <a:srgbClr val="EE2B79"/>
      </a:accent2>
      <a:accent3>
        <a:srgbClr val="0E98D7"/>
      </a:accent3>
      <a:accent4>
        <a:srgbClr val="2EB88A"/>
      </a:accent4>
      <a:accent5>
        <a:srgbClr val="54C8E9"/>
      </a:accent5>
      <a:accent6>
        <a:srgbClr val="445469"/>
      </a:accent6>
      <a:hlink>
        <a:srgbClr val="0E98D7"/>
      </a:hlink>
      <a:folHlink>
        <a:srgbClr val="445469"/>
      </a:folHlink>
    </a:clrScheme>
    <a:fontScheme name="TSG-Font theme">
      <a:majorFont>
        <a:latin typeface="Poppi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700" row="1">
    <wetp:webextensionref xmlns:r="http://schemas.openxmlformats.org/officeDocument/2006/relationships" r:id="rId2"/>
  </wetp:taskpane>
  <wetp:taskpane dockstate="right" visibility="0" width="70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E25CDEDE-93DF-C647-B5D8-A467E7AD6B70}">
  <we:reference id="wa104381063" version="1.0.0.1" store="en-GB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008E564-8F99-4EDF-B2EB-65FCC5B53607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  <we:property name="claude.fileId" value="&quot;8e7109f5-cc27-4dee-92c6-993b70563417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5E2B939A-A0AD-43B7-9FF7-30F71938C10C}">
  <we:reference id="f5f369e5-aa35-49d7-ad7b-638152ddb008" version="1.0.0.1" store="excatalog" storeType="excatalog"/>
  <we:alternateReferences>
    <we:reference id="WA200010001" version="1.0.0.1" store="en-gb" storeType="omex"/>
  </we:alternateReferences>
  <we:properties>
    <we:property name="claude.fileId" value="&quot;a2abae90-18fa-4d27-b228-3bd469c0ebe3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5015FF0C4D0D4A84ACD5C5EC18BC34" ma:contentTypeVersion="19" ma:contentTypeDescription="Create a new document." ma:contentTypeScope="" ma:versionID="48ad552dc4ee1b4fa7ea69b2730e5273">
  <xsd:schema xmlns:xsd="http://www.w3.org/2001/XMLSchema" xmlns:xs="http://www.w3.org/2001/XMLSchema" xmlns:p="http://schemas.microsoft.com/office/2006/metadata/properties" xmlns:ns2="6287a675-f086-4c05-9b8c-42540f50c347" xmlns:ns3="cc335e2b-7f42-41d0-87ab-ac8237d9a47e" targetNamespace="http://schemas.microsoft.com/office/2006/metadata/properties" ma:root="true" ma:fieldsID="e2c4e7ddbc6a9a755bb796a3d33b9e2d" ns2:_="" ns3:_="">
    <xsd:import namespace="6287a675-f086-4c05-9b8c-42540f50c347"/>
    <xsd:import namespace="cc335e2b-7f42-41d0-87ab-ac8237d9a4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7a675-f086-4c05-9b8c-42540f50c3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5682369-6b18-44d4-a163-e404b92d83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35e2b-7f42-41d0-87ab-ac8237d9a47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045b74b-362b-4bc9-9c37-0e1824aef99d}" ma:internalName="TaxCatchAll" ma:showField="CatchAllData" ma:web="cc335e2b-7f42-41d0-87ab-ac8237d9a4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335e2b-7f42-41d0-87ab-ac8237d9a47e" xsi:nil="true"/>
    <lcf76f155ced4ddcb4097134ff3c332f xmlns="6287a675-f086-4c05-9b8c-42540f50c34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82AA5A5-98B4-437E-B556-5EED2ACC049C}">
  <ds:schemaRefs>
    <ds:schemaRef ds:uri="6287a675-f086-4c05-9b8c-42540f50c347"/>
    <ds:schemaRef ds:uri="cc335e2b-7f42-41d0-87ab-ac8237d9a4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1DB2E5F-D3D3-441D-A755-9F61C052A9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05A753-6E37-42CF-A494-5F3AA9FF7B7D}">
  <ds:schemaRefs>
    <ds:schemaRef ds:uri="http://www.w3.org/XML/1998/namespace"/>
    <ds:schemaRef ds:uri="http://purl.org/dc/dcmitype/"/>
    <ds:schemaRef ds:uri="http://schemas.microsoft.com/office/2006/metadata/properties"/>
    <ds:schemaRef ds:uri="cc335e2b-7f42-41d0-87ab-ac8237d9a47e"/>
    <ds:schemaRef ds:uri="6287a675-f086-4c05-9b8c-42540f50c347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447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Arial</vt:lpstr>
      <vt:lpstr>Calibri</vt:lpstr>
      <vt:lpstr>Open Sans</vt:lpstr>
      <vt:lpstr>Open Sans Light</vt:lpstr>
      <vt:lpstr>Poppins</vt:lpstr>
      <vt:lpstr>Poppins Light</vt:lpstr>
      <vt:lpstr>Poppins Medium</vt:lpstr>
      <vt:lpstr>Poppins SemiBold</vt:lpstr>
      <vt:lpstr>Roboto</vt:lpstr>
      <vt:lpstr>The Strategy Group - 2022</vt:lpstr>
      <vt:lpstr>Coal Services: Industry Sentiment Scorecard</vt:lpstr>
      <vt:lpstr>PowerPoint Presentation</vt:lpstr>
      <vt:lpstr>PowerPoint Presentation</vt:lpstr>
      <vt:lpstr>PowerPoint Presentation</vt:lpstr>
      <vt:lpstr>PowerPoint Presentation</vt:lpstr>
      <vt:lpstr>Same systems produce different tensions and needs for MC and MEU</vt:lpstr>
    </vt:vector>
  </TitlesOfParts>
  <Company>Razer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Halling</dc:creator>
  <cp:lastModifiedBy>Alycia Wolf</cp:lastModifiedBy>
  <cp:revision>5</cp:revision>
  <cp:lastPrinted>2026-06-05T05:24:36Z</cp:lastPrinted>
  <dcterms:created xsi:type="dcterms:W3CDTF">2017-07-17T06:01:31Z</dcterms:created>
  <dcterms:modified xsi:type="dcterms:W3CDTF">2026-10-09T00:47:54Z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0x010100B65015FF0C4D0D4A84ACD5C5EC18BC34</vt:lpwstr>
  </property>
  <property fmtid="{D5CDD505-2E9C-101B-9397-08002B2CF9AE}" pid="3" name="MediaServiceImageTags">
    <vt:lpwstr/>
  </property>
</Properties>
</file>