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2.svg" ContentType="image/svg+xml"/>
  <Override PartName="/ppt/media/image24.svg" ContentType="image/svg+xml"/>
  <Override PartName="/ppt/media/image28.svg" ContentType="image/svg+xml"/>
  <Override PartName="/ppt/media/image3.svg" ContentType="image/svg+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844" r:id="rId4"/>
  </p:sldMasterIdLst>
  <p:notesMasterIdLst>
    <p:notesMasterId r:id="rId12"/>
  </p:notesMasterIdLst>
  <p:handoutMasterIdLst>
    <p:handoutMasterId r:id="rId13"/>
  </p:handoutMasterIdLst>
  <p:sldIdLst>
    <p:sldId id="2147474477" r:id="rId11"/>
    <p:sldId id="6217" r:id="rId6"/>
    <p:sldId id="2147474522" r:id="rId22"/>
    <p:sldId id="2147474523" r:id="rId23"/>
    <p:sldId id="2147474469" r:id="rId5"/>
    <p:sldId id="2147474524" r:id="rId24"/>
    <p:sldId id="2147474525" r:id="rId25"/>
    <p:sldId id="2147474526" r:id="rId26"/>
    <p:sldId id="2147474527" r:id="rId27"/>
    <p:sldId id="2147474528" r:id="rId28"/>
    <p:sldId id="2147474529" r:id="rId29"/>
    <p:sldId id="2147470331" r:id="rId8"/>
    <p:sldId id="2147474530" r:id="rId30"/>
    <p:sldId id="2147474521" r:id="rId9"/>
    <p:sldId id="2147474531" r:id="rId31"/>
    <p:sldId id="2147474532" r:id="rId32"/>
    <p:sldId id="2147474533" r:id="rId33"/>
    <p:sldId id="2147474534" r:id="rId34"/>
    <p:sldId id="2147474535" r:id="rId35"/>
    <p:sldId id="2147474485" r:id="rId10"/>
    <p:sldId id="2147474536" r:id="rId36"/>
    <p:sldId id="2147474537" r:id="rId37"/>
    <p:sldId id="2147474538" r:id="rId38"/>
    <p:sldId id="2147474539" r:id="rId39"/>
    <p:sldId id="2147474475" r:id="rId7"/>
    <p:sldId id="2147474540" r:id="rId40"/>
    <p:sldId id="2147474541" r:id="rId41"/>
    <p:sldId id="2147474542" r:id="rId42"/>
    <p:sldId id="2147474543" r:id="rId43"/>
    <p:sldId id="2147474544" r:id="rId44"/>
    <p:sldId id="2147474545" r:id="rId45"/>
    <p:sldId id="2147474546"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66270B2-8F53-BD49-570B-6812A4EA1E43}" name="Pierre Schaupp" initials="PS" userId="S::pierre@thestrategygroup.com.au::b910f653-e3ec-49e2-a16b-41bba1208509" providerId="AD"/>
  <p188:author id="{E38D6DFE-8075-8B96-8568-A158DDC43B24}" name="Marcus Naoum" initials="MN" userId="S::marcus@thestrategygroup.com.au::4578fcc8-dbf2-452a-b11c-6b75cc6176d4"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ichelle Tabart" initials="MT"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F4136"/>
    <a:srgbClr val="C31057"/>
    <a:srgbClr val="0E98D7"/>
    <a:srgbClr val="F38047"/>
    <a:srgbClr val="F58550"/>
    <a:srgbClr val="FFF6EE"/>
    <a:srgbClr val="F7F7F7"/>
    <a:srgbClr val="F67F45"/>
    <a:srgbClr val="F57F45"/>
    <a:srgbClr val="F275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DC0BF03-3BEC-4A82-8BC7-5AECF0C30570}" v="6" dt="2026-10-28T22:47:02.02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22"/>
    <p:restoredTop sz="94721"/>
  </p:normalViewPr>
  <p:slideViewPr>
    <p:cSldViewPr snapToGrid="0">
      <p:cViewPr>
        <p:scale>
          <a:sx n="100" d="100"/>
          <a:sy n="100" d="100"/>
        </p:scale>
        <p:origin x="876" y="9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5.xml"/><Relationship Id="rId6" Type="http://schemas.openxmlformats.org/officeDocument/2006/relationships/slide" Target="slides/slide2.xml"/><Relationship Id="rId7" Type="http://schemas.openxmlformats.org/officeDocument/2006/relationships/slide" Target="slides/slide25.xml"/><Relationship Id="rId8" Type="http://schemas.openxmlformats.org/officeDocument/2006/relationships/slide" Target="slides/slide12.xml"/><Relationship Id="rId9" Type="http://schemas.openxmlformats.org/officeDocument/2006/relationships/slide" Target="slides/slide14.xml"/><Relationship Id="rId10" Type="http://schemas.openxmlformats.org/officeDocument/2006/relationships/slide" Target="slides/slide20.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6/11/relationships/changesInfo" Target="changesInfos/changesInfo1.xml"/><Relationship Id="rId20" Type="http://schemas.microsoft.com/office/2015/10/relationships/revisionInfo" Target="revisionInfo.xml"/><Relationship Id="rId21" Type="http://schemas.microsoft.com/office/2018/10/relationships/authors" Target="authors.xml"/><Relationship Id="rId22" Type="http://schemas.openxmlformats.org/officeDocument/2006/relationships/slide" Target="slides/slide3.xml"/><Relationship Id="rId23" Type="http://schemas.openxmlformats.org/officeDocument/2006/relationships/slide" Target="slides/slide4.xml"/><Relationship Id="rId24" Type="http://schemas.openxmlformats.org/officeDocument/2006/relationships/slide" Target="slides/slide6.xml"/><Relationship Id="rId25" Type="http://schemas.openxmlformats.org/officeDocument/2006/relationships/slide" Target="slides/slide7.xml"/><Relationship Id="rId26" Type="http://schemas.openxmlformats.org/officeDocument/2006/relationships/slide" Target="slides/slide8.xml"/><Relationship Id="rId27" Type="http://schemas.openxmlformats.org/officeDocument/2006/relationships/slide" Target="slides/slide9.xml"/><Relationship Id="rId28" Type="http://schemas.openxmlformats.org/officeDocument/2006/relationships/slide" Target="slides/slide10.xml"/><Relationship Id="rId29" Type="http://schemas.openxmlformats.org/officeDocument/2006/relationships/slide" Target="slides/slide11.xml"/><Relationship Id="rId30" Type="http://schemas.openxmlformats.org/officeDocument/2006/relationships/slide" Target="slides/slide13.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ycia Wolf" userId="c3aef7f7-6659-44db-bf40-576699cfa133" providerId="ADAL" clId="{0050FAD3-4552-4704-84A6-01FEAEE1C93F}"/>
    <pc:docChg chg="addSld delSld modSld delSection modSection">
      <pc:chgData name="Alycia Wolf" userId="c3aef7f7-6659-44db-bf40-576699cfa133" providerId="ADAL" clId="{0050FAD3-4552-4704-84A6-01FEAEE1C93F}" dt="2026-10-28T22:47:02.020" v="9"/>
      <pc:docMkLst>
        <pc:docMk/>
      </pc:docMkLst>
      <pc:sldChg chg="del">
        <pc:chgData name="Alycia Wolf" userId="c3aef7f7-6659-44db-bf40-576699cfa133" providerId="ADAL" clId="{0050FAD3-4552-4704-84A6-01FEAEE1C93F}" dt="2026-10-28T22:44:08.998" v="0" actId="47"/>
        <pc:sldMkLst>
          <pc:docMk/>
          <pc:sldMk cId="880240303" sldId="398"/>
        </pc:sldMkLst>
      </pc:sldChg>
      <pc:sldChg chg="del">
        <pc:chgData name="Alycia Wolf" userId="c3aef7f7-6659-44db-bf40-576699cfa133" providerId="ADAL" clId="{0050FAD3-4552-4704-84A6-01FEAEE1C93F}" dt="2026-10-28T22:44:08.998" v="0" actId="47"/>
        <pc:sldMkLst>
          <pc:docMk/>
          <pc:sldMk cId="1768702909" sldId="399"/>
        </pc:sldMkLst>
      </pc:sldChg>
      <pc:sldChg chg="del">
        <pc:chgData name="Alycia Wolf" userId="c3aef7f7-6659-44db-bf40-576699cfa133" providerId="ADAL" clId="{0050FAD3-4552-4704-84A6-01FEAEE1C93F}" dt="2026-10-28T22:44:08.998" v="0" actId="47"/>
        <pc:sldMkLst>
          <pc:docMk/>
          <pc:sldMk cId="1021347961" sldId="6012"/>
        </pc:sldMkLst>
      </pc:sldChg>
      <pc:sldChg chg="del">
        <pc:chgData name="Alycia Wolf" userId="c3aef7f7-6659-44db-bf40-576699cfa133" providerId="ADAL" clId="{0050FAD3-4552-4704-84A6-01FEAEE1C93F}" dt="2026-10-28T22:44:08.998" v="0" actId="47"/>
        <pc:sldMkLst>
          <pc:docMk/>
          <pc:sldMk cId="374105141" sldId="6022"/>
        </pc:sldMkLst>
      </pc:sldChg>
      <pc:sldChg chg="del">
        <pc:chgData name="Alycia Wolf" userId="c3aef7f7-6659-44db-bf40-576699cfa133" providerId="ADAL" clId="{0050FAD3-4552-4704-84A6-01FEAEE1C93F}" dt="2026-10-28T22:44:08.998" v="0" actId="47"/>
        <pc:sldMkLst>
          <pc:docMk/>
          <pc:sldMk cId="2894055251" sldId="6210"/>
        </pc:sldMkLst>
      </pc:sldChg>
      <pc:sldChg chg="del">
        <pc:chgData name="Alycia Wolf" userId="c3aef7f7-6659-44db-bf40-576699cfa133" providerId="ADAL" clId="{0050FAD3-4552-4704-84A6-01FEAEE1C93F}" dt="2026-10-28T22:44:08.998" v="0" actId="47"/>
        <pc:sldMkLst>
          <pc:docMk/>
          <pc:sldMk cId="2121256911" sldId="6211"/>
        </pc:sldMkLst>
      </pc:sldChg>
      <pc:sldChg chg="del">
        <pc:chgData name="Alycia Wolf" userId="c3aef7f7-6659-44db-bf40-576699cfa133" providerId="ADAL" clId="{0050FAD3-4552-4704-84A6-01FEAEE1C93F}" dt="2026-10-28T22:44:08.998" v="0" actId="47"/>
        <pc:sldMkLst>
          <pc:docMk/>
          <pc:sldMk cId="4151458871" sldId="6212"/>
        </pc:sldMkLst>
      </pc:sldChg>
      <pc:sldChg chg="del">
        <pc:chgData name="Alycia Wolf" userId="c3aef7f7-6659-44db-bf40-576699cfa133" providerId="ADAL" clId="{0050FAD3-4552-4704-84A6-01FEAEE1C93F}" dt="2026-10-28T22:44:08.998" v="0" actId="47"/>
        <pc:sldMkLst>
          <pc:docMk/>
          <pc:sldMk cId="611517470" sldId="6213"/>
        </pc:sldMkLst>
      </pc:sldChg>
      <pc:sldChg chg="del">
        <pc:chgData name="Alycia Wolf" userId="c3aef7f7-6659-44db-bf40-576699cfa133" providerId="ADAL" clId="{0050FAD3-4552-4704-84A6-01FEAEE1C93F}" dt="2026-10-28T22:44:08.998" v="0" actId="47"/>
        <pc:sldMkLst>
          <pc:docMk/>
          <pc:sldMk cId="2274772187" sldId="6214"/>
        </pc:sldMkLst>
      </pc:sldChg>
      <pc:sldChg chg="del">
        <pc:chgData name="Alycia Wolf" userId="c3aef7f7-6659-44db-bf40-576699cfa133" providerId="ADAL" clId="{0050FAD3-4552-4704-84A6-01FEAEE1C93F}" dt="2026-10-28T22:44:08.998" v="0" actId="47"/>
        <pc:sldMkLst>
          <pc:docMk/>
          <pc:sldMk cId="595824996" sldId="6216"/>
        </pc:sldMkLst>
      </pc:sldChg>
      <pc:sldChg chg="add">
        <pc:chgData name="Alycia Wolf" userId="c3aef7f7-6659-44db-bf40-576699cfa133" providerId="ADAL" clId="{0050FAD3-4552-4704-84A6-01FEAEE1C93F}" dt="2026-10-28T22:44:26.803" v="5"/>
        <pc:sldMkLst>
          <pc:docMk/>
          <pc:sldMk cId="3726619913" sldId="6217"/>
        </pc:sldMkLst>
      </pc:sldChg>
      <pc:sldChg chg="del">
        <pc:chgData name="Alycia Wolf" userId="c3aef7f7-6659-44db-bf40-576699cfa133" providerId="ADAL" clId="{0050FAD3-4552-4704-84A6-01FEAEE1C93F}" dt="2026-10-28T22:44:08.998" v="0" actId="47"/>
        <pc:sldMkLst>
          <pc:docMk/>
          <pc:sldMk cId="771230594" sldId="6228"/>
        </pc:sldMkLst>
      </pc:sldChg>
      <pc:sldChg chg="del">
        <pc:chgData name="Alycia Wolf" userId="c3aef7f7-6659-44db-bf40-576699cfa133" providerId="ADAL" clId="{0050FAD3-4552-4704-84A6-01FEAEE1C93F}" dt="2026-10-28T22:44:08.998" v="0" actId="47"/>
        <pc:sldMkLst>
          <pc:docMk/>
          <pc:sldMk cId="474656464" sldId="6229"/>
        </pc:sldMkLst>
      </pc:sldChg>
      <pc:sldChg chg="del">
        <pc:chgData name="Alycia Wolf" userId="c3aef7f7-6659-44db-bf40-576699cfa133" providerId="ADAL" clId="{0050FAD3-4552-4704-84A6-01FEAEE1C93F}" dt="2026-10-28T22:44:08.998" v="0" actId="47"/>
        <pc:sldMkLst>
          <pc:docMk/>
          <pc:sldMk cId="1831277542" sldId="2147469808"/>
        </pc:sldMkLst>
      </pc:sldChg>
      <pc:sldChg chg="del">
        <pc:chgData name="Alycia Wolf" userId="c3aef7f7-6659-44db-bf40-576699cfa133" providerId="ADAL" clId="{0050FAD3-4552-4704-84A6-01FEAEE1C93F}" dt="2026-10-28T22:44:08.998" v="0" actId="47"/>
        <pc:sldMkLst>
          <pc:docMk/>
          <pc:sldMk cId="4051379968" sldId="2147469809"/>
        </pc:sldMkLst>
      </pc:sldChg>
      <pc:sldChg chg="del">
        <pc:chgData name="Alycia Wolf" userId="c3aef7f7-6659-44db-bf40-576699cfa133" providerId="ADAL" clId="{0050FAD3-4552-4704-84A6-01FEAEE1C93F}" dt="2026-10-28T22:44:08.998" v="0" actId="47"/>
        <pc:sldMkLst>
          <pc:docMk/>
          <pc:sldMk cId="3561517195" sldId="2147469810"/>
        </pc:sldMkLst>
      </pc:sldChg>
      <pc:sldChg chg="del">
        <pc:chgData name="Alycia Wolf" userId="c3aef7f7-6659-44db-bf40-576699cfa133" providerId="ADAL" clId="{0050FAD3-4552-4704-84A6-01FEAEE1C93F}" dt="2026-10-28T22:44:08.998" v="0" actId="47"/>
        <pc:sldMkLst>
          <pc:docMk/>
          <pc:sldMk cId="3999452962" sldId="2147469832"/>
        </pc:sldMkLst>
      </pc:sldChg>
      <pc:sldChg chg="del">
        <pc:chgData name="Alycia Wolf" userId="c3aef7f7-6659-44db-bf40-576699cfa133" providerId="ADAL" clId="{0050FAD3-4552-4704-84A6-01FEAEE1C93F}" dt="2026-10-28T22:44:08.998" v="0" actId="47"/>
        <pc:sldMkLst>
          <pc:docMk/>
          <pc:sldMk cId="640658587" sldId="2147469833"/>
        </pc:sldMkLst>
      </pc:sldChg>
      <pc:sldChg chg="del">
        <pc:chgData name="Alycia Wolf" userId="c3aef7f7-6659-44db-bf40-576699cfa133" providerId="ADAL" clId="{0050FAD3-4552-4704-84A6-01FEAEE1C93F}" dt="2026-10-28T22:44:08.998" v="0" actId="47"/>
        <pc:sldMkLst>
          <pc:docMk/>
          <pc:sldMk cId="2103999816" sldId="2147469834"/>
        </pc:sldMkLst>
      </pc:sldChg>
      <pc:sldChg chg="del">
        <pc:chgData name="Alycia Wolf" userId="c3aef7f7-6659-44db-bf40-576699cfa133" providerId="ADAL" clId="{0050FAD3-4552-4704-84A6-01FEAEE1C93F}" dt="2026-10-28T22:44:08.998" v="0" actId="47"/>
        <pc:sldMkLst>
          <pc:docMk/>
          <pc:sldMk cId="3057407009" sldId="2147470067"/>
        </pc:sldMkLst>
      </pc:sldChg>
      <pc:sldChg chg="del">
        <pc:chgData name="Alycia Wolf" userId="c3aef7f7-6659-44db-bf40-576699cfa133" providerId="ADAL" clId="{0050FAD3-4552-4704-84A6-01FEAEE1C93F}" dt="2026-10-28T22:44:08.998" v="0" actId="47"/>
        <pc:sldMkLst>
          <pc:docMk/>
          <pc:sldMk cId="4189870934" sldId="2147470120"/>
        </pc:sldMkLst>
      </pc:sldChg>
      <pc:sldChg chg="del">
        <pc:chgData name="Alycia Wolf" userId="c3aef7f7-6659-44db-bf40-576699cfa133" providerId="ADAL" clId="{0050FAD3-4552-4704-84A6-01FEAEE1C93F}" dt="2026-10-28T22:44:08.998" v="0" actId="47"/>
        <pc:sldMkLst>
          <pc:docMk/>
          <pc:sldMk cId="610628623" sldId="2147470122"/>
        </pc:sldMkLst>
      </pc:sldChg>
      <pc:sldChg chg="del">
        <pc:chgData name="Alycia Wolf" userId="c3aef7f7-6659-44db-bf40-576699cfa133" providerId="ADAL" clId="{0050FAD3-4552-4704-84A6-01FEAEE1C93F}" dt="2026-10-28T22:44:08.998" v="0" actId="47"/>
        <pc:sldMkLst>
          <pc:docMk/>
          <pc:sldMk cId="3700976444" sldId="2147470123"/>
        </pc:sldMkLst>
      </pc:sldChg>
      <pc:sldChg chg="add">
        <pc:chgData name="Alycia Wolf" userId="c3aef7f7-6659-44db-bf40-576699cfa133" providerId="ADAL" clId="{0050FAD3-4552-4704-84A6-01FEAEE1C93F}" dt="2026-10-28T22:45:59.480" v="8"/>
        <pc:sldMkLst>
          <pc:docMk/>
          <pc:sldMk cId="2188325152" sldId="2147470331"/>
        </pc:sldMkLst>
      </pc:sldChg>
      <pc:sldChg chg="del">
        <pc:chgData name="Alycia Wolf" userId="c3aef7f7-6659-44db-bf40-576699cfa133" providerId="ADAL" clId="{0050FAD3-4552-4704-84A6-01FEAEE1C93F}" dt="2026-10-28T22:44:17.393" v="3" actId="47"/>
        <pc:sldMkLst>
          <pc:docMk/>
          <pc:sldMk cId="453069070" sldId="2147474324"/>
        </pc:sldMkLst>
      </pc:sldChg>
      <pc:sldChg chg="add">
        <pc:chgData name="Alycia Wolf" userId="c3aef7f7-6659-44db-bf40-576699cfa133" providerId="ADAL" clId="{0050FAD3-4552-4704-84A6-01FEAEE1C93F}" dt="2026-10-28T22:44:18.027" v="4"/>
        <pc:sldMkLst>
          <pc:docMk/>
          <pc:sldMk cId="2147037898" sldId="2147474469"/>
        </pc:sldMkLst>
      </pc:sldChg>
      <pc:sldChg chg="add">
        <pc:chgData name="Alycia Wolf" userId="c3aef7f7-6659-44db-bf40-576699cfa133" providerId="ADAL" clId="{0050FAD3-4552-4704-84A6-01FEAEE1C93F}" dt="2026-10-28T22:45:25.919" v="6"/>
        <pc:sldMkLst>
          <pc:docMk/>
          <pc:sldMk cId="386929533" sldId="2147474475"/>
        </pc:sldMkLst>
      </pc:sldChg>
      <pc:sldChg chg="add">
        <pc:chgData name="Alycia Wolf" userId="c3aef7f7-6659-44db-bf40-576699cfa133" providerId="ADAL" clId="{0050FAD3-4552-4704-84A6-01FEAEE1C93F}" dt="2026-10-28T22:45:39.668" v="7"/>
        <pc:sldMkLst>
          <pc:docMk/>
          <pc:sldMk cId="2949948834" sldId="2147474477"/>
        </pc:sldMkLst>
      </pc:sldChg>
      <pc:sldChg chg="add">
        <pc:chgData name="Alycia Wolf" userId="c3aef7f7-6659-44db-bf40-576699cfa133" providerId="ADAL" clId="{0050FAD3-4552-4704-84A6-01FEAEE1C93F}" dt="2026-10-28T22:47:02.020" v="9"/>
        <pc:sldMkLst>
          <pc:docMk/>
          <pc:sldMk cId="3318771896" sldId="2147474485"/>
        </pc:sldMkLst>
      </pc:sldChg>
      <pc:sldChg chg="add">
        <pc:chgData name="Alycia Wolf" userId="c3aef7f7-6659-44db-bf40-576699cfa133" providerId="ADAL" clId="{0050FAD3-4552-4704-84A6-01FEAEE1C93F}" dt="2026-10-28T22:47:02.020" v="9"/>
        <pc:sldMkLst>
          <pc:docMk/>
          <pc:sldMk cId="859076035" sldId="2147474521"/>
        </pc:sldMkLst>
      </pc:sldChg>
      <pc:sldChg chg="del">
        <pc:chgData name="Alycia Wolf" userId="c3aef7f7-6659-44db-bf40-576699cfa133" providerId="ADAL" clId="{0050FAD3-4552-4704-84A6-01FEAEE1C93F}" dt="2026-10-28T22:44:08.998" v="0" actId="47"/>
        <pc:sldMkLst>
          <pc:docMk/>
          <pc:sldMk cId="3663480554" sldId="2147474615"/>
        </pc:sldMkLst>
      </pc:sldChg>
      <pc:sldChg chg="del">
        <pc:chgData name="Alycia Wolf" userId="c3aef7f7-6659-44db-bf40-576699cfa133" providerId="ADAL" clId="{0050FAD3-4552-4704-84A6-01FEAEE1C93F}" dt="2026-10-28T22:44:08.998" v="0" actId="47"/>
        <pc:sldMkLst>
          <pc:docMk/>
          <pc:sldMk cId="2505534864" sldId="2147474616"/>
        </pc:sldMkLst>
      </pc:sldChg>
      <pc:sldChg chg="del">
        <pc:chgData name="Alycia Wolf" userId="c3aef7f7-6659-44db-bf40-576699cfa133" providerId="ADAL" clId="{0050FAD3-4552-4704-84A6-01FEAEE1C93F}" dt="2026-10-28T22:44:08.998" v="0" actId="47"/>
        <pc:sldMkLst>
          <pc:docMk/>
          <pc:sldMk cId="729029131" sldId="2147474685"/>
        </pc:sldMkLst>
      </pc:sldChg>
      <pc:sldChg chg="del">
        <pc:chgData name="Alycia Wolf" userId="c3aef7f7-6659-44db-bf40-576699cfa133" providerId="ADAL" clId="{0050FAD3-4552-4704-84A6-01FEAEE1C93F}" dt="2026-10-28T22:44:08.998" v="0" actId="47"/>
        <pc:sldMkLst>
          <pc:docMk/>
          <pc:sldMk cId="613781267" sldId="2147474691"/>
        </pc:sldMkLst>
      </pc:sldChg>
      <pc:sldChg chg="del">
        <pc:chgData name="Alycia Wolf" userId="c3aef7f7-6659-44db-bf40-576699cfa133" providerId="ADAL" clId="{0050FAD3-4552-4704-84A6-01FEAEE1C93F}" dt="2026-10-28T22:44:08.998" v="0" actId="47"/>
        <pc:sldMkLst>
          <pc:docMk/>
          <pc:sldMk cId="842322628" sldId="2147474692"/>
        </pc:sldMkLst>
      </pc:sldChg>
      <pc:sldChg chg="del">
        <pc:chgData name="Alycia Wolf" userId="c3aef7f7-6659-44db-bf40-576699cfa133" providerId="ADAL" clId="{0050FAD3-4552-4704-84A6-01FEAEE1C93F}" dt="2026-10-28T22:44:08.998" v="0" actId="47"/>
        <pc:sldMkLst>
          <pc:docMk/>
          <pc:sldMk cId="2208132041" sldId="2147474693"/>
        </pc:sldMkLst>
      </pc:sldChg>
      <pc:sldChg chg="del">
        <pc:chgData name="Alycia Wolf" userId="c3aef7f7-6659-44db-bf40-576699cfa133" providerId="ADAL" clId="{0050FAD3-4552-4704-84A6-01FEAEE1C93F}" dt="2026-10-28T22:44:08.998" v="0" actId="47"/>
        <pc:sldMkLst>
          <pc:docMk/>
          <pc:sldMk cId="61658177" sldId="2147474694"/>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C5D396-7B96-4346-AAAE-754D44F7F52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4D405ED-F3C3-C64D-896E-A82D517A68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BF9414-3D7D-694D-A4D4-2A38CD631945}" type="datetimeFigureOut">
              <a:rPr lang="en-US" smtClean="0"/>
              <a:t>10/29/2026</a:t>
            </a:fld>
            <a:endParaRPr lang="en-US"/>
          </a:p>
        </p:txBody>
      </p:sp>
      <p:sp>
        <p:nvSpPr>
          <p:cNvPr id="4" name="Footer Placeholder 3">
            <a:extLst>
              <a:ext uri="{FF2B5EF4-FFF2-40B4-BE49-F238E27FC236}">
                <a16:creationId xmlns:a16="http://schemas.microsoft.com/office/drawing/2014/main" id="{CEA3EAB3-9FA5-9449-9881-6508ECDCC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5250E67-DC67-0A48-968B-2D9E1032923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9C1F1D-0F54-3E40-B5C3-72C471D17D1E}" type="slidenum">
              <a:rPr lang="en-US" smtClean="0"/>
              <a:t>‹#›</a:t>
            </a:fld>
            <a:endParaRPr lang="en-US"/>
          </a:p>
        </p:txBody>
      </p:sp>
    </p:spTree>
    <p:extLst>
      <p:ext uri="{BB962C8B-B14F-4D97-AF65-F5344CB8AC3E}">
        <p14:creationId xmlns:p14="http://schemas.microsoft.com/office/powerpoint/2010/main" val="19724352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B8B409-6AE1-413F-AD0F-8F9B711D0698}" type="datetimeFigureOut">
              <a:rPr lang="en-AU" smtClean="0"/>
              <a:t>29/10/2026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CA7197-82FF-4B06-884D-DB6B1218D975}" type="slidenum">
              <a:rPr lang="en-AU" smtClean="0"/>
              <a:t>‹#›</a:t>
            </a:fld>
            <a:endParaRPr lang="en-AU"/>
          </a:p>
        </p:txBody>
      </p:sp>
    </p:spTree>
    <p:extLst>
      <p:ext uri="{BB962C8B-B14F-4D97-AF65-F5344CB8AC3E}">
        <p14:creationId xmlns:p14="http://schemas.microsoft.com/office/powerpoint/2010/main" val="40990367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1CF57-BD24-1812-1477-54678D99AA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E1F74-B050-FD9E-3123-502FDA9E7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493669-40FB-9CAB-A2BF-49567E930C07}"/>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7C7DB2A-4CE7-2F55-2FC9-CBE4C044144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CA7197-82FF-4B06-884D-DB6B1218D975}"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034227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7CA7197-82FF-4B06-884D-DB6B1218D975}" type="slidenum">
              <a:rPr kumimoji="0" lang="en-AU"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AU"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31156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F7CA7197-82FF-4B06-884D-DB6B1218D975}" type="slidenum">
              <a:rPr lang="en-AU" smtClean="0"/>
              <a:t>3</a:t>
            </a:fld>
            <a:endParaRPr lang="en-AU"/>
          </a:p>
        </p:txBody>
      </p:sp>
    </p:spTree>
    <p:extLst>
      <p:ext uri="{BB962C8B-B14F-4D97-AF65-F5344CB8AC3E}">
        <p14:creationId xmlns:p14="http://schemas.microsoft.com/office/powerpoint/2010/main" val="744974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FF9C5-75A3-E354-F105-12B05266A5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616B31-0BA3-DF21-038F-F639D6D978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946960-7EA2-BD35-4CE4-1E4046F1A86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A26CDF0-2B64-23BA-63B3-8D552A29A9FD}"/>
              </a:ext>
            </a:extLst>
          </p:cNvPr>
          <p:cNvSpPr>
            <a:spLocks noGrp="1"/>
          </p:cNvSpPr>
          <p:nvPr>
            <p:ph type="sldNum" sz="quarter" idx="5"/>
          </p:nvPr>
        </p:nvSpPr>
        <p:spPr/>
        <p:txBody>
          <a:bodyPr/>
          <a:lstStyle/>
          <a:p>
            <a:fld id="{F7CA7197-82FF-4B06-884D-DB6B1218D975}" type="slidenum">
              <a:rPr lang="en-AU" smtClean="0"/>
              <a:t>5</a:t>
            </a:fld>
            <a:endParaRPr lang="en-AU"/>
          </a:p>
        </p:txBody>
      </p:sp>
    </p:spTree>
    <p:extLst>
      <p:ext uri="{BB962C8B-B14F-4D97-AF65-F5344CB8AC3E}">
        <p14:creationId xmlns:p14="http://schemas.microsoft.com/office/powerpoint/2010/main" val="807894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FD379-DC02-BBDF-6FCF-9A766CBA01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CED064-C2CD-48A3-E197-94CA5E3543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B575B9-4D31-DEC0-D2EB-E951A62926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181C23-66EE-FB6A-6E25-97F1F8F489B6}"/>
              </a:ext>
            </a:extLst>
          </p:cNvPr>
          <p:cNvSpPr>
            <a:spLocks noGrp="1"/>
          </p:cNvSpPr>
          <p:nvPr>
            <p:ph type="sldNum" sz="quarter" idx="5"/>
          </p:nvPr>
        </p:nvSpPr>
        <p:spPr/>
        <p:txBody>
          <a:bodyPr/>
          <a:lstStyle/>
          <a:p>
            <a:fld id="{F7CA7197-82FF-4B06-884D-DB6B1218D975}" type="slidenum">
              <a:rPr lang="en-AU" smtClean="0"/>
              <a:t>6</a:t>
            </a:fld>
            <a:endParaRPr lang="en-AU"/>
          </a:p>
        </p:txBody>
      </p:sp>
    </p:spTree>
    <p:extLst>
      <p:ext uri="{BB962C8B-B14F-4D97-AF65-F5344CB8AC3E}">
        <p14:creationId xmlns:p14="http://schemas.microsoft.com/office/powerpoint/2010/main" val="3138786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ubheader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Content Placeholder 2">
            <a:extLst>
              <a:ext uri="{FF2B5EF4-FFF2-40B4-BE49-F238E27FC236}">
                <a16:creationId xmlns:a16="http://schemas.microsoft.com/office/drawing/2014/main" id="{54C61C60-001A-8AA7-CFB2-86D7AE8BD73A}"/>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tx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3" name="Title 2">
            <a:extLst>
              <a:ext uri="{FF2B5EF4-FFF2-40B4-BE49-F238E27FC236}">
                <a16:creationId xmlns:a16="http://schemas.microsoft.com/office/drawing/2014/main" id="{51C5F644-741F-5183-DF81-735EC2E22418}"/>
              </a:ext>
            </a:extLst>
          </p:cNvPr>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8935647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lvl1pPr>
          </a:lstStyle>
          <a:p>
            <a:r>
              <a:rPr lang="en-US" dirty="0"/>
              <a:t>Click to edit Master title style</a:t>
            </a:r>
          </a:p>
        </p:txBody>
      </p:sp>
      <p:sp>
        <p:nvSpPr>
          <p:cNvPr id="5" name="Content Placeholder 2">
            <a:extLst>
              <a:ext uri="{FF2B5EF4-FFF2-40B4-BE49-F238E27FC236}">
                <a16:creationId xmlns:a16="http://schemas.microsoft.com/office/drawing/2014/main" id="{FFB002A0-5D60-0A4B-429C-D6178E03B636}"/>
              </a:ext>
            </a:extLst>
          </p:cNvPr>
          <p:cNvSpPr>
            <a:spLocks noGrp="1"/>
          </p:cNvSpPr>
          <p:nvPr>
            <p:ph idx="1"/>
          </p:nvPr>
        </p:nvSpPr>
        <p:spPr>
          <a:xfrm>
            <a:off x="525018" y="1449389"/>
            <a:ext cx="11151033" cy="4500562"/>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885646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range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E8291A93-4081-00FE-8D86-B78BC1877C06}"/>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7" name="Content Placeholder 2">
            <a:extLst>
              <a:ext uri="{FF2B5EF4-FFF2-40B4-BE49-F238E27FC236}">
                <a16:creationId xmlns:a16="http://schemas.microsoft.com/office/drawing/2014/main" id="{52FB8B8D-4649-478B-33F3-D7E4AF2E3D6B}"/>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8685747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ue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B47E750-3802-FBF8-E08F-9C1738888FF9}"/>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7" name="Content Placeholder 2">
            <a:extLst>
              <a:ext uri="{FF2B5EF4-FFF2-40B4-BE49-F238E27FC236}">
                <a16:creationId xmlns:a16="http://schemas.microsoft.com/office/drawing/2014/main" id="{9D0B6D57-446C-1D88-4F2F-B161F686A3E3}"/>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13871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ink Header">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183A61-EB54-06EF-DE47-F7E9A571DB61}"/>
              </a:ext>
            </a:extLst>
          </p:cNvPr>
          <p:cNvSpPr/>
          <p:nvPr userDrawn="1"/>
        </p:nvSpPr>
        <p:spPr>
          <a:xfrm>
            <a:off x="0" y="0"/>
            <a:ext cx="12192000" cy="1316019"/>
          </a:xfrm>
          <a:prstGeom prst="rect">
            <a:avLst/>
          </a:pr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Roboto"/>
              <a:ea typeface="+mn-ea"/>
              <a:cs typeface="+mn-cs"/>
            </a:endParaRPr>
          </a:p>
        </p:txBody>
      </p:sp>
      <p:sp>
        <p:nvSpPr>
          <p:cNvPr id="6" name="Slide Number Placeholder 3">
            <a:extLst>
              <a:ext uri="{FF2B5EF4-FFF2-40B4-BE49-F238E27FC236}">
                <a16:creationId xmlns:a16="http://schemas.microsoft.com/office/drawing/2014/main" id="{8FE57028-D915-D943-99D7-8DF74265968B}"/>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Title 1">
            <a:extLst>
              <a:ext uri="{FF2B5EF4-FFF2-40B4-BE49-F238E27FC236}">
                <a16:creationId xmlns:a16="http://schemas.microsoft.com/office/drawing/2014/main" id="{872B019C-4E51-5CE7-5B1D-95225561FA84}"/>
              </a:ext>
            </a:extLst>
          </p:cNvPr>
          <p:cNvSpPr>
            <a:spLocks noGrp="1"/>
          </p:cNvSpPr>
          <p:nvPr>
            <p:ph type="title"/>
          </p:nvPr>
        </p:nvSpPr>
        <p:spPr>
          <a:xfrm>
            <a:off x="525019" y="368300"/>
            <a:ext cx="11151032" cy="900114"/>
          </a:xfrm>
        </p:spPr>
        <p:txBody>
          <a:bodyPr>
            <a:normAutofit/>
          </a:bodyPr>
          <a:lstStyle>
            <a:lvl1pPr>
              <a:defRPr sz="2800">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444391AA-EE75-B38C-13B8-EDA655F21AB1}"/>
              </a:ext>
            </a:extLst>
          </p:cNvPr>
          <p:cNvSpPr>
            <a:spLocks noGrp="1"/>
          </p:cNvSpPr>
          <p:nvPr>
            <p:ph idx="10"/>
          </p:nvPr>
        </p:nvSpPr>
        <p:spPr>
          <a:xfrm>
            <a:off x="525018" y="1489075"/>
            <a:ext cx="11151033" cy="708026"/>
          </a:xfrm>
        </p:spPr>
        <p:txBody>
          <a:bodyPr/>
          <a:lstStyle>
            <a:lvl1pPr>
              <a:lnSpc>
                <a:spcPct val="100000"/>
              </a:lnSpc>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7" name="Content Placeholder 2">
            <a:extLst>
              <a:ext uri="{FF2B5EF4-FFF2-40B4-BE49-F238E27FC236}">
                <a16:creationId xmlns:a16="http://schemas.microsoft.com/office/drawing/2014/main" id="{305D6275-EA83-B059-B695-A7028EF622A9}"/>
              </a:ext>
            </a:extLst>
          </p:cNvPr>
          <p:cNvSpPr>
            <a:spLocks noGrp="1"/>
          </p:cNvSpPr>
          <p:nvPr>
            <p:ph idx="1"/>
          </p:nvPr>
        </p:nvSpPr>
        <p:spPr>
          <a:xfrm>
            <a:off x="525018" y="2417763"/>
            <a:ext cx="11151033" cy="3532188"/>
          </a:xfrm>
        </p:spPr>
        <p:txBody>
          <a:bodyPr>
            <a:normAutofit/>
          </a:bodyPr>
          <a:lstStyle>
            <a:lvl1pPr>
              <a:lnSpc>
                <a:spcPct val="100000"/>
              </a:lnSpc>
              <a:defRPr lang="en-US" sz="1400" kern="1200" dirty="0">
                <a:solidFill>
                  <a:schemeClr val="tx1"/>
                </a:solidFill>
                <a:latin typeface="+mn-lt"/>
                <a:ea typeface="Open Sans" panose="020B0606030504020204" pitchFamily="34" charset="0"/>
                <a:cs typeface="Open Sans" panose="020B0606030504020204" pitchFamily="34" charset="0"/>
              </a:defRPr>
            </a:lvl1pPr>
            <a:lvl2pPr>
              <a:lnSpc>
                <a:spcPct val="100000"/>
              </a:lnSpc>
              <a:defRPr sz="1200"/>
            </a:lvl2pPr>
            <a:lvl3pPr>
              <a:lnSpc>
                <a:spcPct val="100000"/>
              </a:lnSpc>
              <a:defRPr sz="1100"/>
            </a:lvl3pPr>
            <a:lvl4pPr>
              <a:lnSpc>
                <a:spcPct val="100000"/>
              </a:lnSpc>
              <a:defRPr sz="1050"/>
            </a:lvl4pPr>
            <a:lvl5pPr>
              <a:lnSpc>
                <a:spcPct val="100000"/>
              </a:lnSpc>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587218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1"/>
      </p:bgRef>
    </p:bg>
    <p:spTree>
      <p:nvGrpSpPr>
        <p:cNvPr id="1" name=""/>
        <p:cNvGrpSpPr/>
        <p:nvPr/>
      </p:nvGrpSpPr>
      <p:grpSpPr>
        <a:xfrm>
          <a:off x="0" y="0"/>
          <a:ext cx="0" cy="0"/>
          <a:chOff x="0" y="0"/>
          <a:chExt cx="0" cy="0"/>
        </a:xfrm>
      </p:grpSpPr>
      <p:sp>
        <p:nvSpPr>
          <p:cNvPr id="18" name="Subtitle 2">
            <a:extLst>
              <a:ext uri="{FF2B5EF4-FFF2-40B4-BE49-F238E27FC236}">
                <a16:creationId xmlns:a16="http://schemas.microsoft.com/office/drawing/2014/main" id="{8DF9EC0C-8D8A-394C-98CB-975B46260778}"/>
              </a:ext>
            </a:extLst>
          </p:cNvPr>
          <p:cNvSpPr>
            <a:spLocks noGrp="1"/>
          </p:cNvSpPr>
          <p:nvPr>
            <p:ph type="subTitle" idx="1"/>
          </p:nvPr>
        </p:nvSpPr>
        <p:spPr>
          <a:xfrm>
            <a:off x="499110" y="5177854"/>
            <a:ext cx="9144000" cy="1655762"/>
          </a:xfrm>
        </p:spPr>
        <p:txBody>
          <a:bodyPr>
            <a:normAutofit/>
          </a:bodyPr>
          <a:lstStyle>
            <a:lvl1pPr marL="0" indent="0" algn="l">
              <a:buNone/>
              <a:defRPr sz="2000">
                <a:solidFill>
                  <a:schemeClr val="bg2"/>
                </a:solidFill>
                <a:latin typeface="Open Sans" panose="020B0606030504020204" pitchFamily="34" charset="0"/>
                <a:ea typeface="Open Sans" panose="020B0606030504020204" pitchFamily="34" charset="0"/>
                <a:cs typeface="Open Sans" panose="020B0606030504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9" name="Title 1">
            <a:extLst>
              <a:ext uri="{FF2B5EF4-FFF2-40B4-BE49-F238E27FC236}">
                <a16:creationId xmlns:a16="http://schemas.microsoft.com/office/drawing/2014/main" id="{E6174DF3-85AD-3849-AA29-99B8B3E8F7CA}"/>
              </a:ext>
            </a:extLst>
          </p:cNvPr>
          <p:cNvSpPr>
            <a:spLocks noGrp="1"/>
          </p:cNvSpPr>
          <p:nvPr>
            <p:ph type="ctrTitle"/>
          </p:nvPr>
        </p:nvSpPr>
        <p:spPr>
          <a:xfrm>
            <a:off x="499110" y="4096613"/>
            <a:ext cx="9144000" cy="947129"/>
          </a:xfrm>
        </p:spPr>
        <p:txBody>
          <a:bodyPr anchor="b">
            <a:normAutofit/>
          </a:bodyPr>
          <a:lstStyle>
            <a:lvl1pPr algn="l">
              <a:defRPr sz="4400" b="0">
                <a:solidFill>
                  <a:schemeClr val="bg1"/>
                </a:solidFill>
              </a:defRPr>
            </a:lvl1pPr>
          </a:lstStyle>
          <a:p>
            <a:r>
              <a:rPr lang="en-US"/>
              <a:t>Click to edit Master title style</a:t>
            </a:r>
          </a:p>
        </p:txBody>
      </p:sp>
      <p:sp>
        <p:nvSpPr>
          <p:cNvPr id="7" name="Slide Number Placeholder 3">
            <a:extLst>
              <a:ext uri="{FF2B5EF4-FFF2-40B4-BE49-F238E27FC236}">
                <a16:creationId xmlns:a16="http://schemas.microsoft.com/office/drawing/2014/main" id="{E155D132-6578-874E-A1F5-777D8134DC9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733865409"/>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range Background">
    <p:bg>
      <p:bgRef idx="1001">
        <a:schemeClr val="bg1"/>
      </p:bgRef>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C3839F8-3364-3C4E-810A-2FC99C244E37}"/>
              </a:ext>
            </a:extLst>
          </p:cNvPr>
          <p:cNvSpPr/>
          <p:nvPr userDrawn="1"/>
        </p:nvSpPr>
        <p:spPr>
          <a:xfrm>
            <a:off x="0" y="0"/>
            <a:ext cx="12192000" cy="6858000"/>
          </a:xfrm>
          <a:prstGeom prst="rect">
            <a:avLst/>
          </a:prstGeom>
          <a:gradFill>
            <a:gsLst>
              <a:gs pos="41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15" name="Graphic 14">
            <a:extLst>
              <a:ext uri="{FF2B5EF4-FFF2-40B4-BE49-F238E27FC236}">
                <a16:creationId xmlns:a16="http://schemas.microsoft.com/office/drawing/2014/main" id="{DDDEA3E2-E5AD-D14C-B1EB-E632CA3CDBB3}"/>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42" r="35284" b="18720"/>
          <a:stretch/>
        </p:blipFill>
        <p:spPr>
          <a:xfrm>
            <a:off x="5545394" y="-1638142"/>
            <a:ext cx="6646606" cy="8342359"/>
          </a:xfrm>
          <a:prstGeom prst="rect">
            <a:avLst/>
          </a:prstGeom>
        </p:spPr>
      </p:pic>
    </p:spTree>
    <p:extLst>
      <p:ext uri="{BB962C8B-B14F-4D97-AF65-F5344CB8AC3E}">
        <p14:creationId xmlns:p14="http://schemas.microsoft.com/office/powerpoint/2010/main" val="369315177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ue Background">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1481" t="-1" r="30512" b="20969"/>
          <a:stretch/>
        </p:blipFill>
        <p:spPr>
          <a:xfrm>
            <a:off x="6393461" y="-1718316"/>
            <a:ext cx="5798540" cy="7900197"/>
          </a:xfrm>
          <a:prstGeom prst="rect">
            <a:avLst/>
          </a:prstGeom>
        </p:spPr>
      </p:pic>
    </p:spTree>
    <p:extLst>
      <p:ext uri="{BB962C8B-B14F-4D97-AF65-F5344CB8AC3E}">
        <p14:creationId xmlns:p14="http://schemas.microsoft.com/office/powerpoint/2010/main" val="942874928"/>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nk Background">
    <p:bg>
      <p:bgRef idx="1001">
        <a:schemeClr val="bg1"/>
      </p:bgRef>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81E03BB5-73A0-9740-A5A5-D1CE3064E40F}"/>
              </a:ext>
            </a:extLst>
          </p:cNvPr>
          <p:cNvSpPr/>
          <p:nvPr userDrawn="1"/>
        </p:nvSpPr>
        <p:spPr>
          <a:xfrm>
            <a:off x="0" y="0"/>
            <a:ext cx="12192000" cy="6858000"/>
          </a:xfrm>
          <a:prstGeom prst="rect">
            <a:avLst/>
          </a:prstGeom>
          <a:gradFill>
            <a:gsLst>
              <a:gs pos="0">
                <a:srgbClr val="EE2B7B"/>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4DCF62D6-5D07-004E-99E2-0014E921AD21}"/>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6134" t="10221" r="1" b="18731"/>
          <a:stretch/>
        </p:blipFill>
        <p:spPr>
          <a:xfrm rot="10800000">
            <a:off x="5607255" y="0"/>
            <a:ext cx="6584745" cy="7325222"/>
          </a:xfrm>
          <a:prstGeom prst="rect">
            <a:avLst/>
          </a:prstGeom>
        </p:spPr>
      </p:pic>
    </p:spTree>
    <p:extLst>
      <p:ext uri="{BB962C8B-B14F-4D97-AF65-F5344CB8AC3E}">
        <p14:creationId xmlns:p14="http://schemas.microsoft.com/office/powerpoint/2010/main" val="121470806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Orang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1"/>
              </a:gs>
              <a:gs pos="100000">
                <a:srgbClr val="E85A3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16359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Blu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945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Pink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0090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Green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4"/>
              </a:gs>
              <a:gs pos="100000">
                <a:schemeClr val="accent4">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911923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Grey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6"/>
              </a:gs>
              <a:gs pos="100000">
                <a:schemeClr val="accent6">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266868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Light Blue Arrow">
    <p:spTree>
      <p:nvGrpSpPr>
        <p:cNvPr id="1" name=""/>
        <p:cNvGrpSpPr/>
        <p:nvPr/>
      </p:nvGrpSpPr>
      <p:grpSpPr>
        <a:xfrm>
          <a:off x="0" y="0"/>
          <a:ext cx="0" cy="0"/>
          <a:chOff x="0" y="0"/>
          <a:chExt cx="0" cy="0"/>
        </a:xfrm>
      </p:grpSpPr>
      <p:sp>
        <p:nvSpPr>
          <p:cNvPr id="7" name="Arrow: Pentagon 6">
            <a:extLst>
              <a:ext uri="{FF2B5EF4-FFF2-40B4-BE49-F238E27FC236}">
                <a16:creationId xmlns:a16="http://schemas.microsoft.com/office/drawing/2014/main" id="{981B40DD-4CB3-499A-674B-EC5B3D14F8C2}"/>
              </a:ext>
            </a:extLst>
          </p:cNvPr>
          <p:cNvSpPr/>
          <p:nvPr userDrawn="1"/>
        </p:nvSpPr>
        <p:spPr>
          <a:xfrm>
            <a:off x="-2" y="-1"/>
            <a:ext cx="5112776" cy="6858000"/>
          </a:xfrm>
          <a:prstGeom prst="homePlate">
            <a:avLst>
              <a:gd name="adj" fmla="val 32151"/>
            </a:avLst>
          </a:prstGeom>
          <a:solidFill>
            <a:schemeClr val="accent5">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Arrow: Pentagon 7">
            <a:extLst>
              <a:ext uri="{FF2B5EF4-FFF2-40B4-BE49-F238E27FC236}">
                <a16:creationId xmlns:a16="http://schemas.microsoft.com/office/drawing/2014/main" id="{B77F37F6-697C-4F0B-9B07-E50867F217DA}"/>
              </a:ext>
            </a:extLst>
          </p:cNvPr>
          <p:cNvSpPr/>
          <p:nvPr userDrawn="1"/>
        </p:nvSpPr>
        <p:spPr>
          <a:xfrm>
            <a:off x="0" y="0"/>
            <a:ext cx="5014452" cy="6858000"/>
          </a:xfrm>
          <a:prstGeom prst="homePlate">
            <a:avLst>
              <a:gd name="adj" fmla="val 32151"/>
            </a:avLst>
          </a:prstGeom>
          <a:gradFill>
            <a:gsLst>
              <a:gs pos="40000">
                <a:schemeClr val="accent5"/>
              </a:gs>
              <a:gs pos="99000">
                <a:schemeClr val="accent5">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9" name="Graphic 8">
            <a:extLst>
              <a:ext uri="{FF2B5EF4-FFF2-40B4-BE49-F238E27FC236}">
                <a16:creationId xmlns:a16="http://schemas.microsoft.com/office/drawing/2014/main" id="{F8412388-ED79-C9E4-19F6-A88EF37F8AA4}"/>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0" y="0"/>
            <a:ext cx="6959831" cy="5626984"/>
          </a:xfrm>
          <a:prstGeom prst="rect">
            <a:avLst/>
          </a:prstGeom>
        </p:spPr>
      </p:pic>
      <p:sp>
        <p:nvSpPr>
          <p:cNvPr id="4" name="Rectangle 3">
            <a:extLst>
              <a:ext uri="{FF2B5EF4-FFF2-40B4-BE49-F238E27FC236}">
                <a16:creationId xmlns:a16="http://schemas.microsoft.com/office/drawing/2014/main" id="{D983BA3F-B8C5-8046-A4E4-565E3761D642}"/>
              </a:ext>
            </a:extLst>
          </p:cNvPr>
          <p:cNvSpPr/>
          <p:nvPr userDrawn="1"/>
        </p:nvSpPr>
        <p:spPr>
          <a:xfrm>
            <a:off x="8412480" y="6126480"/>
            <a:ext cx="3127248" cy="5120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719665" y="368300"/>
            <a:ext cx="5956398" cy="900114"/>
          </a:xfrm>
        </p:spPr>
        <p:txBody>
          <a:bodyPr>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539103F3-BB36-094B-8F56-34F5177C7F92}"/>
              </a:ext>
            </a:extLst>
          </p:cNvPr>
          <p:cNvSpPr>
            <a:spLocks noGrp="1"/>
          </p:cNvSpPr>
          <p:nvPr>
            <p:ph idx="1"/>
          </p:nvPr>
        </p:nvSpPr>
        <p:spPr>
          <a:xfrm>
            <a:off x="5719653" y="1449388"/>
            <a:ext cx="5956398" cy="5040311"/>
          </a:xfrm>
        </p:spPr>
        <p:txBody>
          <a:bodyPr/>
          <a:lstStyle>
            <a:lvl1pPr>
              <a:defRPr sz="1800">
                <a:latin typeface="Poppins Light" panose="00000400000000000000" pitchFamily="2" charset="0"/>
                <a:cs typeface="Poppins Light" panose="00000400000000000000" pitchFamily="2" charset="0"/>
              </a:defRPr>
            </a:lvl1pPr>
            <a:lvl2pPr>
              <a:defRPr sz="1600"/>
            </a:lvl2pPr>
            <a:lvl3pPr>
              <a:defRPr sz="1400"/>
            </a:lvl3pPr>
            <a:lvl4pPr>
              <a:defRPr sz="11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67977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Orange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Title 1">
            <a:extLst>
              <a:ext uri="{FF2B5EF4-FFF2-40B4-BE49-F238E27FC236}">
                <a16:creationId xmlns:a16="http://schemas.microsoft.com/office/drawing/2014/main" id="{785E208D-C5D8-6524-F56F-4BD1174247AC}"/>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2" name="Content Placeholder 2">
            <a:extLst>
              <a:ext uri="{FF2B5EF4-FFF2-40B4-BE49-F238E27FC236}">
                <a16:creationId xmlns:a16="http://schemas.microsoft.com/office/drawing/2014/main" id="{6D0DA3B5-E9B5-9E73-6E4A-E6A8D4226CBE}"/>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3" name="Content Placeholder 2">
            <a:extLst>
              <a:ext uri="{FF2B5EF4-FFF2-40B4-BE49-F238E27FC236}">
                <a16:creationId xmlns:a16="http://schemas.microsoft.com/office/drawing/2014/main" id="{7FB55E82-4F67-E441-5FA4-A49E2A16A71B}"/>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77649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ue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Rectangle 29">
            <a:extLst>
              <a:ext uri="{FF2B5EF4-FFF2-40B4-BE49-F238E27FC236}">
                <a16:creationId xmlns:a16="http://schemas.microsoft.com/office/drawing/2014/main" id="{A31108C3-F34C-8C45-A897-FE6DA9684A4F}"/>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rgbClr val="00AEEF"/>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5" name="Content Placeholder 2">
            <a:extLst>
              <a:ext uri="{FF2B5EF4-FFF2-40B4-BE49-F238E27FC236}">
                <a16:creationId xmlns:a16="http://schemas.microsoft.com/office/drawing/2014/main" id="{29049417-149F-92E6-29AE-727BB8EE3AC5}"/>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7" name="Content Placeholder 2">
            <a:extLst>
              <a:ext uri="{FF2B5EF4-FFF2-40B4-BE49-F238E27FC236}">
                <a16:creationId xmlns:a16="http://schemas.microsoft.com/office/drawing/2014/main" id="{EA224E19-2466-3A21-E067-E2334736B2B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2320102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nk Long Side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93187DA-91A8-9543-9044-A3EDC175753C}"/>
              </a:ext>
            </a:extLst>
          </p:cNvPr>
          <p:cNvSpPr/>
          <p:nvPr userDrawn="1"/>
        </p:nvSpPr>
        <p:spPr>
          <a:xfrm>
            <a:off x="8241475" y="6000547"/>
            <a:ext cx="2648198" cy="51900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29">
            <a:extLst>
              <a:ext uri="{FF2B5EF4-FFF2-40B4-BE49-F238E27FC236}">
                <a16:creationId xmlns:a16="http://schemas.microsoft.com/office/drawing/2014/main" id="{01C706FE-8F3E-CE27-4809-462B78AE473B}"/>
              </a:ext>
            </a:extLst>
          </p:cNvPr>
          <p:cNvSpPr/>
          <p:nvPr userDrawn="1"/>
        </p:nvSpPr>
        <p:spPr>
          <a:xfrm rot="16200000">
            <a:off x="7645400" y="2320583"/>
            <a:ext cx="6857999" cy="2235200"/>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8" name="Rectangle 29">
            <a:extLst>
              <a:ext uri="{FF2B5EF4-FFF2-40B4-BE49-F238E27FC236}">
                <a16:creationId xmlns:a16="http://schemas.microsoft.com/office/drawing/2014/main" id="{5ABDBB91-4825-3149-B88C-7BEECA042FB7}"/>
              </a:ext>
            </a:extLst>
          </p:cNvPr>
          <p:cNvSpPr/>
          <p:nvPr userDrawn="1"/>
        </p:nvSpPr>
        <p:spPr>
          <a:xfrm rot="16200000">
            <a:off x="7731228" y="2397225"/>
            <a:ext cx="6858001" cy="2063551"/>
          </a:xfrm>
          <a:custGeom>
            <a:avLst/>
            <a:gdLst>
              <a:gd name="connsiteX0" fmla="*/ 0 w 4411579"/>
              <a:gd name="connsiteY0" fmla="*/ 0 h 9601200"/>
              <a:gd name="connsiteX1" fmla="*/ 4411579 w 4411579"/>
              <a:gd name="connsiteY1" fmla="*/ 0 h 9601200"/>
              <a:gd name="connsiteX2" fmla="*/ 4411579 w 4411579"/>
              <a:gd name="connsiteY2" fmla="*/ 9601200 h 9601200"/>
              <a:gd name="connsiteX3" fmla="*/ 0 w 4411579"/>
              <a:gd name="connsiteY3" fmla="*/ 9601200 h 9601200"/>
              <a:gd name="connsiteX4" fmla="*/ 0 w 4411579"/>
              <a:gd name="connsiteY4" fmla="*/ 0 h 9601200"/>
              <a:gd name="connsiteX0" fmla="*/ 0 w 4411579"/>
              <a:gd name="connsiteY0" fmla="*/ 0 h 9601200"/>
              <a:gd name="connsiteX1" fmla="*/ 1909010 w 4411579"/>
              <a:gd name="connsiteY1" fmla="*/ 4475747 h 9601200"/>
              <a:gd name="connsiteX2" fmla="*/ 4411579 w 4411579"/>
              <a:gd name="connsiteY2" fmla="*/ 9601200 h 9601200"/>
              <a:gd name="connsiteX3" fmla="*/ 0 w 4411579"/>
              <a:gd name="connsiteY3" fmla="*/ 9601200 h 9601200"/>
              <a:gd name="connsiteX4" fmla="*/ 0 w 4411579"/>
              <a:gd name="connsiteY4" fmla="*/ 0 h 9601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1579" h="9601200">
                <a:moveTo>
                  <a:pt x="0" y="0"/>
                </a:moveTo>
                <a:lnTo>
                  <a:pt x="1909010" y="4475747"/>
                </a:lnTo>
                <a:lnTo>
                  <a:pt x="4411579" y="9601200"/>
                </a:lnTo>
                <a:lnTo>
                  <a:pt x="0" y="9601200"/>
                </a:lnTo>
                <a:lnTo>
                  <a:pt x="0" y="0"/>
                </a:lnTo>
                <a:close/>
              </a:path>
            </a:pathLst>
          </a:custGeom>
          <a:gradFill>
            <a:gsLst>
              <a:gs pos="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eaLnBrk="0" fontAlgn="base" hangingPunct="0">
              <a:spcBef>
                <a:spcPct val="0"/>
              </a:spcBef>
              <a:spcAft>
                <a:spcPct val="0"/>
              </a:spcAft>
            </a:pPr>
            <a:endParaRPr lang="en-US" sz="3200">
              <a:solidFill>
                <a:prstClr val="white"/>
              </a:solidFill>
              <a:latin typeface="Roboto"/>
            </a:endParaRPr>
          </a:p>
        </p:txBody>
      </p:sp>
      <p:sp>
        <p:nvSpPr>
          <p:cNvPr id="9" name="Title 1">
            <a:extLst>
              <a:ext uri="{FF2B5EF4-FFF2-40B4-BE49-F238E27FC236}">
                <a16:creationId xmlns:a16="http://schemas.microsoft.com/office/drawing/2014/main" id="{6D41C234-8CDF-C44A-2B85-C29AF0F0E254}"/>
              </a:ext>
            </a:extLst>
          </p:cNvPr>
          <p:cNvSpPr>
            <a:spLocks noGrp="1"/>
          </p:cNvSpPr>
          <p:nvPr>
            <p:ph type="title"/>
          </p:nvPr>
        </p:nvSpPr>
        <p:spPr>
          <a:xfrm>
            <a:off x="525019" y="368300"/>
            <a:ext cx="11151044" cy="900114"/>
          </a:xfrm>
        </p:spPr>
        <p:txBody>
          <a:bodyPr>
            <a:normAutofit/>
          </a:bodyPr>
          <a:lstStyle>
            <a:lvl1pPr>
              <a:defRPr sz="2800"/>
            </a:lvl1pPr>
          </a:lstStyle>
          <a:p>
            <a:r>
              <a:rPr lang="en-US"/>
              <a:t>Click to edit Master title style</a:t>
            </a:r>
          </a:p>
        </p:txBody>
      </p:sp>
      <p:sp>
        <p:nvSpPr>
          <p:cNvPr id="2" name="Content Placeholder 2">
            <a:extLst>
              <a:ext uri="{FF2B5EF4-FFF2-40B4-BE49-F238E27FC236}">
                <a16:creationId xmlns:a16="http://schemas.microsoft.com/office/drawing/2014/main" id="{572FD90D-CA92-67F9-C4F4-64875ACA3247}"/>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3" name="Content Placeholder 2">
            <a:extLst>
              <a:ext uri="{FF2B5EF4-FFF2-40B4-BE49-F238E27FC236}">
                <a16:creationId xmlns:a16="http://schemas.microsoft.com/office/drawing/2014/main" id="{56FF4714-C7CB-771D-F435-2E5C8A82F40B}"/>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18296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Orange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1"/>
              </a:gs>
              <a:gs pos="100000">
                <a:srgbClr val="EF4136"/>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7A46BE76-DCE2-F95E-B217-5A073CE32881}"/>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6" name="Content Placeholder 2">
            <a:extLst>
              <a:ext uri="{FF2B5EF4-FFF2-40B4-BE49-F238E27FC236}">
                <a16:creationId xmlns:a16="http://schemas.microsoft.com/office/drawing/2014/main" id="{860B162B-9DE8-B5C5-0029-E19F7D82FA5D}"/>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743984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ue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75B83C9C-027A-60BC-8557-ACD67417F97F}"/>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6" name="Content Placeholder 2">
            <a:extLst>
              <a:ext uri="{FF2B5EF4-FFF2-40B4-BE49-F238E27FC236}">
                <a16:creationId xmlns:a16="http://schemas.microsoft.com/office/drawing/2014/main" id="{1EBA31E1-74A9-A507-53C1-5304675B62C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0814875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ink Corner Graphic">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6E2B82B2-7313-CACC-3F46-AF2D3AD1FAC3}"/>
              </a:ext>
            </a:extLst>
          </p:cNvPr>
          <p:cNvSpPr/>
          <p:nvPr userDrawn="1"/>
        </p:nvSpPr>
        <p:spPr>
          <a:xfrm>
            <a:off x="10261600" y="-1"/>
            <a:ext cx="1930400" cy="1984375"/>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a:xfrm>
            <a:off x="525019" y="368300"/>
            <a:ext cx="9863581" cy="900114"/>
          </a:xfrm>
        </p:spPr>
        <p:txBody>
          <a:bodyPr>
            <a:normAutofit/>
          </a:bodyPr>
          <a:lstStyle>
            <a:lvl1pPr>
              <a:defRPr sz="2800"/>
            </a:lvl1pPr>
          </a:lstStyle>
          <a:p>
            <a:r>
              <a:rPr lang="en-US"/>
              <a:t>Click to edit Master title style</a:t>
            </a:r>
          </a:p>
        </p:txBody>
      </p:sp>
      <p:sp>
        <p:nvSpPr>
          <p:cNvPr id="7" name="Slide Number Placeholder 3">
            <a:extLst>
              <a:ext uri="{FF2B5EF4-FFF2-40B4-BE49-F238E27FC236}">
                <a16:creationId xmlns:a16="http://schemas.microsoft.com/office/drawing/2014/main" id="{6C1160CB-3EDC-5A4B-9028-588350DCACB1}"/>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
        <p:nvSpPr>
          <p:cNvPr id="4" name="Rectangle 3">
            <a:extLst>
              <a:ext uri="{FF2B5EF4-FFF2-40B4-BE49-F238E27FC236}">
                <a16:creationId xmlns:a16="http://schemas.microsoft.com/office/drawing/2014/main" id="{F8E380DB-5D7C-D077-1CD7-69080BB74ADA}"/>
              </a:ext>
            </a:extLst>
          </p:cNvPr>
          <p:cNvSpPr/>
          <p:nvPr userDrawn="1"/>
        </p:nvSpPr>
        <p:spPr>
          <a:xfrm>
            <a:off x="10388600" y="0"/>
            <a:ext cx="1803400" cy="1803400"/>
          </a:xfrm>
          <a:custGeom>
            <a:avLst/>
            <a:gdLst>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1803400 h 1803400"/>
              <a:gd name="connsiteX4" fmla="*/ 0 w 1803400"/>
              <a:gd name="connsiteY4" fmla="*/ 0 h 1803400"/>
              <a:gd name="connsiteX0" fmla="*/ 0 w 1803400"/>
              <a:gd name="connsiteY0" fmla="*/ 0 h 1803400"/>
              <a:gd name="connsiteX1" fmla="*/ 1803400 w 1803400"/>
              <a:gd name="connsiteY1" fmla="*/ 0 h 1803400"/>
              <a:gd name="connsiteX2" fmla="*/ 1803400 w 1803400"/>
              <a:gd name="connsiteY2" fmla="*/ 1803400 h 1803400"/>
              <a:gd name="connsiteX3" fmla="*/ 0 w 1803400"/>
              <a:gd name="connsiteY3" fmla="*/ 0 h 1803400"/>
            </a:gdLst>
            <a:ahLst/>
            <a:cxnLst>
              <a:cxn ang="0">
                <a:pos x="connsiteX0" y="connsiteY0"/>
              </a:cxn>
              <a:cxn ang="0">
                <a:pos x="connsiteX1" y="connsiteY1"/>
              </a:cxn>
              <a:cxn ang="0">
                <a:pos x="connsiteX2" y="connsiteY2"/>
              </a:cxn>
              <a:cxn ang="0">
                <a:pos x="connsiteX3" y="connsiteY3"/>
              </a:cxn>
            </a:cxnLst>
            <a:rect l="l" t="t" r="r" b="b"/>
            <a:pathLst>
              <a:path w="1803400" h="1803400">
                <a:moveTo>
                  <a:pt x="0" y="0"/>
                </a:moveTo>
                <a:lnTo>
                  <a:pt x="1803400" y="0"/>
                </a:lnTo>
                <a:lnTo>
                  <a:pt x="1803400" y="1803400"/>
                </a:lnTo>
                <a:lnTo>
                  <a:pt x="0" y="0"/>
                </a:lnTo>
                <a:close/>
              </a:path>
            </a:pathLst>
          </a:custGeom>
          <a:gradFill>
            <a:gsLst>
              <a:gs pos="40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Content Placeholder 2">
            <a:extLst>
              <a:ext uri="{FF2B5EF4-FFF2-40B4-BE49-F238E27FC236}">
                <a16:creationId xmlns:a16="http://schemas.microsoft.com/office/drawing/2014/main" id="{6C7488F1-4877-7037-BCA4-AD749C49BC09}"/>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6" name="Content Placeholder 2">
            <a:extLst>
              <a:ext uri="{FF2B5EF4-FFF2-40B4-BE49-F238E27FC236}">
                <a16:creationId xmlns:a16="http://schemas.microsoft.com/office/drawing/2014/main" id="{97CF355D-4967-5A79-DFCE-2773ADFFC906}"/>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8893151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Orange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1"/>
                </a:gs>
                <a:gs pos="100000">
                  <a:srgbClr val="EF4136"/>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1"/>
                </a:gs>
                <a:gs pos="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1"/>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1"/>
                </a:gs>
                <a:gs pos="100000">
                  <a:schemeClr val="accent1">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F443B213-CFD2-A09E-12D6-B0ED72AC3E18}"/>
              </a:ext>
            </a:extLst>
          </p:cNvPr>
          <p:cNvSpPr>
            <a:spLocks noGrp="1"/>
          </p:cNvSpPr>
          <p:nvPr>
            <p:ph idx="10"/>
          </p:nvPr>
        </p:nvSpPr>
        <p:spPr>
          <a:xfrm>
            <a:off x="525018" y="1489075"/>
            <a:ext cx="11151033" cy="708026"/>
          </a:xfrm>
        </p:spPr>
        <p:txBody>
          <a:bodyPr/>
          <a:lstStyle>
            <a:lvl1pPr>
              <a:defRPr lang="en-US" sz="1800" kern="1200" dirty="0">
                <a:solidFill>
                  <a:schemeClr val="accent1"/>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4" name="Content Placeholder 2">
            <a:extLst>
              <a:ext uri="{FF2B5EF4-FFF2-40B4-BE49-F238E27FC236}">
                <a16:creationId xmlns:a16="http://schemas.microsoft.com/office/drawing/2014/main" id="{1548AAB4-64C1-C6D1-A1EB-C4DC25877458}"/>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3">
            <a:extLst>
              <a:ext uri="{FF2B5EF4-FFF2-40B4-BE49-F238E27FC236}">
                <a16:creationId xmlns:a16="http://schemas.microsoft.com/office/drawing/2014/main" id="{EC48DEC7-E5D0-3C40-AE90-EF3B7AC0BF4A}"/>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4577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Blue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0">
                  <a:schemeClr val="accent3"/>
                </a:gs>
                <a:gs pos="10000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100000">
                  <a:schemeClr val="accent3"/>
                </a:gs>
                <a:gs pos="0">
                  <a:srgbClr val="1B75BC"/>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0">
                  <a:schemeClr val="accent3"/>
                </a:gs>
                <a:gs pos="100000">
                  <a:schemeClr val="accent3">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3"/>
                </a:gs>
                <a:gs pos="100000">
                  <a:srgbClr val="1B75BC"/>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DB861266-E30E-B346-AA28-DA2F7843A097}"/>
              </a:ext>
            </a:extLst>
          </p:cNvPr>
          <p:cNvSpPr>
            <a:spLocks noGrp="1"/>
          </p:cNvSpPr>
          <p:nvPr>
            <p:ph idx="10"/>
          </p:nvPr>
        </p:nvSpPr>
        <p:spPr>
          <a:xfrm>
            <a:off x="525018" y="1489075"/>
            <a:ext cx="11151033" cy="708026"/>
          </a:xfrm>
        </p:spPr>
        <p:txBody>
          <a:bodyPr/>
          <a:lstStyle>
            <a:lvl1pPr>
              <a:defRPr lang="en-US" sz="1800" kern="1200" dirty="0">
                <a:solidFill>
                  <a:schemeClr val="accent3"/>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4" name="Content Placeholder 2">
            <a:extLst>
              <a:ext uri="{FF2B5EF4-FFF2-40B4-BE49-F238E27FC236}">
                <a16:creationId xmlns:a16="http://schemas.microsoft.com/office/drawing/2014/main" id="{7825B473-433E-D951-6E94-A3B1AFFA06A4}"/>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3">
            <a:extLst>
              <a:ext uri="{FF2B5EF4-FFF2-40B4-BE49-F238E27FC236}">
                <a16:creationId xmlns:a16="http://schemas.microsoft.com/office/drawing/2014/main" id="{147D8B8C-6F8D-77E4-897B-38CA0C77B099}"/>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2484225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Pink Pris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91179-6902-E446-8B91-02FCFB894D9F}"/>
              </a:ext>
            </a:extLst>
          </p:cNvPr>
          <p:cNvSpPr>
            <a:spLocks noGrp="1"/>
          </p:cNvSpPr>
          <p:nvPr>
            <p:ph type="title"/>
          </p:nvPr>
        </p:nvSpPr>
        <p:spPr/>
        <p:txBody>
          <a:bodyPr>
            <a:normAutofit/>
          </a:bodyPr>
          <a:lstStyle>
            <a:lvl1pPr>
              <a:defRPr sz="2800"/>
            </a:lvl1pPr>
          </a:lstStyle>
          <a:p>
            <a:r>
              <a:rPr lang="en-US"/>
              <a:t>Click to edit Master title style</a:t>
            </a:r>
          </a:p>
        </p:txBody>
      </p:sp>
      <p:grpSp>
        <p:nvGrpSpPr>
          <p:cNvPr id="15" name="Group 14">
            <a:extLst>
              <a:ext uri="{FF2B5EF4-FFF2-40B4-BE49-F238E27FC236}">
                <a16:creationId xmlns:a16="http://schemas.microsoft.com/office/drawing/2014/main" id="{83460EAF-4649-FF95-874E-A0109DF57C9B}"/>
              </a:ext>
            </a:extLst>
          </p:cNvPr>
          <p:cNvGrpSpPr/>
          <p:nvPr userDrawn="1"/>
        </p:nvGrpSpPr>
        <p:grpSpPr>
          <a:xfrm>
            <a:off x="-14763" y="4808928"/>
            <a:ext cx="7482363" cy="2067930"/>
            <a:chOff x="-14763" y="3909367"/>
            <a:chExt cx="10737232" cy="2967491"/>
          </a:xfrm>
        </p:grpSpPr>
        <p:sp>
          <p:nvSpPr>
            <p:cNvPr id="16" name="Rectangle 1">
              <a:extLst>
                <a:ext uri="{FF2B5EF4-FFF2-40B4-BE49-F238E27FC236}">
                  <a16:creationId xmlns:a16="http://schemas.microsoft.com/office/drawing/2014/main" id="{F10C9F18-66F6-E79A-6E06-65FA6FBC8669}"/>
                </a:ext>
              </a:extLst>
            </p:cNvPr>
            <p:cNvSpPr/>
            <p:nvPr userDrawn="1"/>
          </p:nvSpPr>
          <p:spPr>
            <a:xfrm>
              <a:off x="-14763" y="3909367"/>
              <a:ext cx="3570795" cy="1243814"/>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3570795"/>
                <a:gd name="connsiteY0" fmla="*/ 257273 h 1243814"/>
                <a:gd name="connsiteX1" fmla="*/ 3570795 w 3570795"/>
                <a:gd name="connsiteY1" fmla="*/ 0 h 1243814"/>
                <a:gd name="connsiteX2" fmla="*/ 0 w 3570795"/>
                <a:gd name="connsiteY2" fmla="*/ 1243814 h 1243814"/>
                <a:gd name="connsiteX3" fmla="*/ 0 w 3570795"/>
                <a:gd name="connsiteY3" fmla="*/ 257273 h 1243814"/>
              </a:gdLst>
              <a:ahLst/>
              <a:cxnLst>
                <a:cxn ang="0">
                  <a:pos x="connsiteX0" y="connsiteY0"/>
                </a:cxn>
                <a:cxn ang="0">
                  <a:pos x="connsiteX1" y="connsiteY1"/>
                </a:cxn>
                <a:cxn ang="0">
                  <a:pos x="connsiteX2" y="connsiteY2"/>
                </a:cxn>
                <a:cxn ang="0">
                  <a:pos x="connsiteX3" y="connsiteY3"/>
                </a:cxn>
              </a:cxnLst>
              <a:rect l="l" t="t" r="r" b="b"/>
              <a:pathLst>
                <a:path w="3570795" h="1243814">
                  <a:moveTo>
                    <a:pt x="0" y="257273"/>
                  </a:moveTo>
                  <a:lnTo>
                    <a:pt x="3570795" y="0"/>
                  </a:lnTo>
                  <a:lnTo>
                    <a:pt x="0" y="1243814"/>
                  </a:lnTo>
                  <a:lnTo>
                    <a:pt x="0" y="257273"/>
                  </a:ln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Rectangle 1">
              <a:extLst>
                <a:ext uri="{FF2B5EF4-FFF2-40B4-BE49-F238E27FC236}">
                  <a16:creationId xmlns:a16="http://schemas.microsoft.com/office/drawing/2014/main" id="{03C9B154-C639-CDB7-2E12-E66ED22D2081}"/>
                </a:ext>
              </a:extLst>
            </p:cNvPr>
            <p:cNvSpPr/>
            <p:nvPr userDrawn="1"/>
          </p:nvSpPr>
          <p:spPr>
            <a:xfrm>
              <a:off x="0" y="3928225"/>
              <a:ext cx="3638746" cy="292469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606800"/>
                <a:gd name="connsiteY0" fmla="*/ 1244600 h 2146300"/>
                <a:gd name="connsiteX1" fmla="*/ 3606800 w 3606800"/>
                <a:gd name="connsiteY1" fmla="*/ 0 h 2146300"/>
                <a:gd name="connsiteX2" fmla="*/ 0 w 3606800"/>
                <a:gd name="connsiteY2" fmla="*/ 2146300 h 2146300"/>
                <a:gd name="connsiteX3" fmla="*/ 0 w 3606800"/>
                <a:gd name="connsiteY3" fmla="*/ 1244600 h 2146300"/>
                <a:gd name="connsiteX0" fmla="*/ 0 w 3606800"/>
                <a:gd name="connsiteY0" fmla="*/ 1244600 h 2857500"/>
                <a:gd name="connsiteX1" fmla="*/ 3606800 w 3606800"/>
                <a:gd name="connsiteY1" fmla="*/ 0 h 2857500"/>
                <a:gd name="connsiteX2" fmla="*/ 1727200 w 3606800"/>
                <a:gd name="connsiteY2" fmla="*/ 2857500 h 2857500"/>
                <a:gd name="connsiteX3" fmla="*/ 0 w 3606800"/>
                <a:gd name="connsiteY3" fmla="*/ 1244600 h 2857500"/>
                <a:gd name="connsiteX0" fmla="*/ 0 w 3606800"/>
                <a:gd name="connsiteY0" fmla="*/ 1244600 h 2902271"/>
                <a:gd name="connsiteX1" fmla="*/ 3606800 w 3606800"/>
                <a:gd name="connsiteY1" fmla="*/ 0 h 2902271"/>
                <a:gd name="connsiteX2" fmla="*/ 1727200 w 3606800"/>
                <a:gd name="connsiteY2" fmla="*/ 2857500 h 2902271"/>
                <a:gd name="connsiteX3" fmla="*/ 12700 w 3606800"/>
                <a:gd name="connsiteY3" fmla="*/ 2819400 h 2902271"/>
                <a:gd name="connsiteX4" fmla="*/ 0 w 3606800"/>
                <a:gd name="connsiteY4" fmla="*/ 1244600 h 2902271"/>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66612"/>
                <a:gd name="connsiteX1" fmla="*/ 3606800 w 3606800"/>
                <a:gd name="connsiteY1" fmla="*/ 0 h 2866612"/>
                <a:gd name="connsiteX2" fmla="*/ 1727200 w 3606800"/>
                <a:gd name="connsiteY2" fmla="*/ 2857500 h 2866612"/>
                <a:gd name="connsiteX3" fmla="*/ 12700 w 3606800"/>
                <a:gd name="connsiteY3" fmla="*/ 2819400 h 2866612"/>
                <a:gd name="connsiteX4" fmla="*/ 0 w 3606800"/>
                <a:gd name="connsiteY4" fmla="*/ 1244600 h 2866612"/>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57500"/>
                <a:gd name="connsiteX1" fmla="*/ 3606800 w 3606800"/>
                <a:gd name="connsiteY1" fmla="*/ 0 h 2857500"/>
                <a:gd name="connsiteX2" fmla="*/ 1727200 w 3606800"/>
                <a:gd name="connsiteY2" fmla="*/ 2857500 h 2857500"/>
                <a:gd name="connsiteX3" fmla="*/ 12700 w 3606800"/>
                <a:gd name="connsiteY3" fmla="*/ 2819400 h 2857500"/>
                <a:gd name="connsiteX4" fmla="*/ 0 w 3606800"/>
                <a:gd name="connsiteY4" fmla="*/ 1244600 h 2857500"/>
                <a:gd name="connsiteX0" fmla="*/ 0 w 3606800"/>
                <a:gd name="connsiteY0" fmla="*/ 1244600 h 2881832"/>
                <a:gd name="connsiteX1" fmla="*/ 3606800 w 3606800"/>
                <a:gd name="connsiteY1" fmla="*/ 0 h 2881832"/>
                <a:gd name="connsiteX2" fmla="*/ 1727200 w 3606800"/>
                <a:gd name="connsiteY2" fmla="*/ 2857500 h 2881832"/>
                <a:gd name="connsiteX3" fmla="*/ 5080 w 3606800"/>
                <a:gd name="connsiteY3" fmla="*/ 2865120 h 2881832"/>
                <a:gd name="connsiteX4" fmla="*/ 0 w 3606800"/>
                <a:gd name="connsiteY4" fmla="*/ 1244600 h 2881832"/>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 name="connsiteX0" fmla="*/ 0 w 3606800"/>
                <a:gd name="connsiteY0" fmla="*/ 1244600 h 2865120"/>
                <a:gd name="connsiteX1" fmla="*/ 3606800 w 3606800"/>
                <a:gd name="connsiteY1" fmla="*/ 0 h 2865120"/>
                <a:gd name="connsiteX2" fmla="*/ 1727200 w 3606800"/>
                <a:gd name="connsiteY2" fmla="*/ 2857500 h 2865120"/>
                <a:gd name="connsiteX3" fmla="*/ 5080 w 3606800"/>
                <a:gd name="connsiteY3" fmla="*/ 2865120 h 2865120"/>
                <a:gd name="connsiteX4" fmla="*/ 0 w 3606800"/>
                <a:gd name="connsiteY4" fmla="*/ 1244600 h 2865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06800" h="2865120">
                  <a:moveTo>
                    <a:pt x="0" y="1244600"/>
                  </a:moveTo>
                  <a:lnTo>
                    <a:pt x="3606800" y="0"/>
                  </a:lnTo>
                  <a:lnTo>
                    <a:pt x="1727200" y="2857500"/>
                  </a:lnTo>
                  <a:lnTo>
                    <a:pt x="5080" y="2865120"/>
                  </a:lnTo>
                  <a:cubicBezTo>
                    <a:pt x="3387" y="2324947"/>
                    <a:pt x="1693" y="1784773"/>
                    <a:pt x="0" y="1244600"/>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Rectangle 1">
              <a:extLst>
                <a:ext uri="{FF2B5EF4-FFF2-40B4-BE49-F238E27FC236}">
                  <a16:creationId xmlns:a16="http://schemas.microsoft.com/office/drawing/2014/main" id="{000905DE-A103-D404-B98D-ABB24F02A543}"/>
                </a:ext>
              </a:extLst>
            </p:cNvPr>
            <p:cNvSpPr/>
            <p:nvPr userDrawn="1"/>
          </p:nvSpPr>
          <p:spPr>
            <a:xfrm rot="16200000">
              <a:off x="1383972" y="4338949"/>
              <a:ext cx="2948633" cy="2127185"/>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882644"/>
                <a:gd name="connsiteY0" fmla="*/ 0 h 2127185"/>
                <a:gd name="connsiteX1" fmla="*/ 2882644 w 2882644"/>
                <a:gd name="connsiteY1" fmla="*/ 1910893 h 2127185"/>
                <a:gd name="connsiteX2" fmla="*/ 0 w 2882644"/>
                <a:gd name="connsiteY2" fmla="*/ 2127185 h 2127185"/>
                <a:gd name="connsiteX3" fmla="*/ 18857 w 2882644"/>
                <a:gd name="connsiteY3" fmla="*/ 0 h 2127185"/>
              </a:gdLst>
              <a:ahLst/>
              <a:cxnLst>
                <a:cxn ang="0">
                  <a:pos x="connsiteX0" y="connsiteY0"/>
                </a:cxn>
                <a:cxn ang="0">
                  <a:pos x="connsiteX1" y="connsiteY1"/>
                </a:cxn>
                <a:cxn ang="0">
                  <a:pos x="connsiteX2" y="connsiteY2"/>
                </a:cxn>
                <a:cxn ang="0">
                  <a:pos x="connsiteX3" y="connsiteY3"/>
                </a:cxn>
              </a:cxnLst>
              <a:rect l="l" t="t" r="r" b="b"/>
              <a:pathLst>
                <a:path w="2882644" h="2127185">
                  <a:moveTo>
                    <a:pt x="18857" y="0"/>
                  </a:moveTo>
                  <a:lnTo>
                    <a:pt x="2882644" y="1910893"/>
                  </a:lnTo>
                  <a:lnTo>
                    <a:pt x="0" y="2127185"/>
                  </a:lnTo>
                  <a:lnTo>
                    <a:pt x="18857" y="0"/>
                  </a:lnTo>
                  <a:close/>
                </a:path>
              </a:pathLst>
            </a:custGeom>
            <a:gradFill>
              <a:gsLst>
                <a:gs pos="45000">
                  <a:schemeClr val="accent2"/>
                </a:gs>
                <a:gs pos="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9" name="Rectangle 1">
              <a:extLst>
                <a:ext uri="{FF2B5EF4-FFF2-40B4-BE49-F238E27FC236}">
                  <a16:creationId xmlns:a16="http://schemas.microsoft.com/office/drawing/2014/main" id="{04B3BAE2-1CF0-CD26-7ADD-CD6A1BB9F72B}"/>
                </a:ext>
              </a:extLst>
            </p:cNvPr>
            <p:cNvSpPr/>
            <p:nvPr userDrawn="1"/>
          </p:nvSpPr>
          <p:spPr>
            <a:xfrm rot="16200000">
              <a:off x="4075788" y="3616875"/>
              <a:ext cx="2930683" cy="3572238"/>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Lst>
              <a:ahLst/>
              <a:cxnLst>
                <a:cxn ang="0">
                  <a:pos x="connsiteX0" y="connsiteY0"/>
                </a:cxn>
                <a:cxn ang="0">
                  <a:pos x="connsiteX1" y="connsiteY1"/>
                </a:cxn>
                <a:cxn ang="0">
                  <a:pos x="connsiteX2" y="connsiteY2"/>
                </a:cxn>
                <a:cxn ang="0">
                  <a:pos x="connsiteX3" y="connsiteY3"/>
                </a:cxn>
              </a:cxnLst>
              <a:rect l="l" t="t" r="r" b="b"/>
              <a:pathLst>
                <a:path w="2930683" h="3572238">
                  <a:moveTo>
                    <a:pt x="907" y="219563"/>
                  </a:moveTo>
                  <a:lnTo>
                    <a:pt x="2930683" y="0"/>
                  </a:lnTo>
                  <a:lnTo>
                    <a:pt x="907" y="3572238"/>
                  </a:lnTo>
                  <a:cubicBezTo>
                    <a:pt x="4049" y="2460964"/>
                    <a:pt x="-2235" y="1330837"/>
                    <a:pt x="907" y="219563"/>
                  </a:cubicBezTo>
                  <a:close/>
                </a:path>
              </a:pathLst>
            </a:custGeom>
            <a:gradFill>
              <a:gsLst>
                <a:gs pos="45000">
                  <a:schemeClr val="accent2"/>
                </a:gs>
                <a:gs pos="100000">
                  <a:schemeClr val="accent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0" name="Rectangle 1">
              <a:extLst>
                <a:ext uri="{FF2B5EF4-FFF2-40B4-BE49-F238E27FC236}">
                  <a16:creationId xmlns:a16="http://schemas.microsoft.com/office/drawing/2014/main" id="{686DEDC8-C71C-E1F8-0601-D93F92F46FB7}"/>
                </a:ext>
              </a:extLst>
            </p:cNvPr>
            <p:cNvSpPr/>
            <p:nvPr userDrawn="1"/>
          </p:nvSpPr>
          <p:spPr>
            <a:xfrm rot="16200000">
              <a:off x="7037377" y="3183243"/>
              <a:ext cx="1837173" cy="5533011"/>
            </a:xfrm>
            <a:custGeom>
              <a:avLst/>
              <a:gdLst>
                <a:gd name="connsiteX0" fmla="*/ 0 w 3454400"/>
                <a:gd name="connsiteY0" fmla="*/ 0 h 736600"/>
                <a:gd name="connsiteX1" fmla="*/ 3454400 w 3454400"/>
                <a:gd name="connsiteY1" fmla="*/ 0 h 736600"/>
                <a:gd name="connsiteX2" fmla="*/ 3454400 w 3454400"/>
                <a:gd name="connsiteY2" fmla="*/ 736600 h 736600"/>
                <a:gd name="connsiteX3" fmla="*/ 0 w 3454400"/>
                <a:gd name="connsiteY3" fmla="*/ 736600 h 736600"/>
                <a:gd name="connsiteX4" fmla="*/ 0 w 3454400"/>
                <a:gd name="connsiteY4" fmla="*/ 0 h 736600"/>
                <a:gd name="connsiteX0" fmla="*/ 0 w 3454400"/>
                <a:gd name="connsiteY0" fmla="*/ 0 h 736600"/>
                <a:gd name="connsiteX1" fmla="*/ 3454400 w 3454400"/>
                <a:gd name="connsiteY1" fmla="*/ 0 h 736600"/>
                <a:gd name="connsiteX2" fmla="*/ 0 w 3454400"/>
                <a:gd name="connsiteY2" fmla="*/ 736600 h 736600"/>
                <a:gd name="connsiteX3" fmla="*/ 0 w 3454400"/>
                <a:gd name="connsiteY3" fmla="*/ 0 h 736600"/>
                <a:gd name="connsiteX0" fmla="*/ 0 w 3454400"/>
                <a:gd name="connsiteY0" fmla="*/ 0 h 901700"/>
                <a:gd name="connsiteX1" fmla="*/ 3454400 w 3454400"/>
                <a:gd name="connsiteY1" fmla="*/ 165100 h 901700"/>
                <a:gd name="connsiteX2" fmla="*/ 0 w 3454400"/>
                <a:gd name="connsiteY2" fmla="*/ 901700 h 901700"/>
                <a:gd name="connsiteX3" fmla="*/ 0 w 3454400"/>
                <a:gd name="connsiteY3" fmla="*/ 0 h 901700"/>
                <a:gd name="connsiteX0" fmla="*/ 0 w 3467100"/>
                <a:gd name="connsiteY0" fmla="*/ 266700 h 1168400"/>
                <a:gd name="connsiteX1" fmla="*/ 3467100 w 3467100"/>
                <a:gd name="connsiteY1" fmla="*/ 0 h 1168400"/>
                <a:gd name="connsiteX2" fmla="*/ 0 w 3467100"/>
                <a:gd name="connsiteY2" fmla="*/ 1168400 h 1168400"/>
                <a:gd name="connsiteX3" fmla="*/ 0 w 3467100"/>
                <a:gd name="connsiteY3" fmla="*/ 266700 h 1168400"/>
                <a:gd name="connsiteX0" fmla="*/ 0 w 3570795"/>
                <a:gd name="connsiteY0" fmla="*/ 257273 h 1158973"/>
                <a:gd name="connsiteX1" fmla="*/ 3570795 w 3570795"/>
                <a:gd name="connsiteY1" fmla="*/ 0 h 1158973"/>
                <a:gd name="connsiteX2" fmla="*/ 0 w 3570795"/>
                <a:gd name="connsiteY2" fmla="*/ 1158973 h 1158973"/>
                <a:gd name="connsiteX3" fmla="*/ 0 w 3570795"/>
                <a:gd name="connsiteY3" fmla="*/ 257273 h 1158973"/>
                <a:gd name="connsiteX0" fmla="*/ 0 w 2835504"/>
                <a:gd name="connsiteY0" fmla="*/ 0 h 1750636"/>
                <a:gd name="connsiteX1" fmla="*/ 2835504 w 2835504"/>
                <a:gd name="connsiteY1" fmla="*/ 1750636 h 1750636"/>
                <a:gd name="connsiteX2" fmla="*/ 0 w 2835504"/>
                <a:gd name="connsiteY2" fmla="*/ 901700 h 1750636"/>
                <a:gd name="connsiteX3" fmla="*/ 0 w 2835504"/>
                <a:gd name="connsiteY3" fmla="*/ 0 h 1750636"/>
                <a:gd name="connsiteX0" fmla="*/ 0 w 2835504"/>
                <a:gd name="connsiteY0" fmla="*/ 0 h 1750636"/>
                <a:gd name="connsiteX1" fmla="*/ 2835504 w 2835504"/>
                <a:gd name="connsiteY1" fmla="*/ 1750636 h 1750636"/>
                <a:gd name="connsiteX2" fmla="*/ 0 w 2835504"/>
                <a:gd name="connsiteY2" fmla="*/ 1684125 h 1750636"/>
                <a:gd name="connsiteX3" fmla="*/ 0 w 2835504"/>
                <a:gd name="connsiteY3" fmla="*/ 0 h 1750636"/>
                <a:gd name="connsiteX0" fmla="*/ 0 w 2835504"/>
                <a:gd name="connsiteY0" fmla="*/ 0 h 1873184"/>
                <a:gd name="connsiteX1" fmla="*/ 2835504 w 2835504"/>
                <a:gd name="connsiteY1" fmla="*/ 1873184 h 1873184"/>
                <a:gd name="connsiteX2" fmla="*/ 0 w 2835504"/>
                <a:gd name="connsiteY2" fmla="*/ 1806673 h 1873184"/>
                <a:gd name="connsiteX3" fmla="*/ 0 w 2835504"/>
                <a:gd name="connsiteY3" fmla="*/ 0 h 1873184"/>
                <a:gd name="connsiteX0" fmla="*/ 0 w 2863785"/>
                <a:gd name="connsiteY0" fmla="*/ 0 h 1863758"/>
                <a:gd name="connsiteX1" fmla="*/ 2863785 w 2863785"/>
                <a:gd name="connsiteY1" fmla="*/ 1863758 h 1863758"/>
                <a:gd name="connsiteX2" fmla="*/ 0 w 2863785"/>
                <a:gd name="connsiteY2" fmla="*/ 1806673 h 1863758"/>
                <a:gd name="connsiteX3" fmla="*/ 0 w 2863785"/>
                <a:gd name="connsiteY3" fmla="*/ 0 h 1863758"/>
                <a:gd name="connsiteX0" fmla="*/ 0 w 2863787"/>
                <a:gd name="connsiteY0" fmla="*/ 0 h 1835480"/>
                <a:gd name="connsiteX1" fmla="*/ 2863787 w 2863787"/>
                <a:gd name="connsiteY1" fmla="*/ 1835480 h 1835480"/>
                <a:gd name="connsiteX2" fmla="*/ 0 w 2863787"/>
                <a:gd name="connsiteY2" fmla="*/ 1806673 h 1835480"/>
                <a:gd name="connsiteX3" fmla="*/ 0 w 2863787"/>
                <a:gd name="connsiteY3" fmla="*/ 0 h 1835480"/>
                <a:gd name="connsiteX0" fmla="*/ 18857 w 2882644"/>
                <a:gd name="connsiteY0" fmla="*/ 0 h 2051772"/>
                <a:gd name="connsiteX1" fmla="*/ 2882644 w 2882644"/>
                <a:gd name="connsiteY1" fmla="*/ 1835480 h 2051772"/>
                <a:gd name="connsiteX2" fmla="*/ 0 w 2882644"/>
                <a:gd name="connsiteY2" fmla="*/ 2051772 h 2051772"/>
                <a:gd name="connsiteX3" fmla="*/ 18857 w 2882644"/>
                <a:gd name="connsiteY3" fmla="*/ 0 h 2051772"/>
                <a:gd name="connsiteX0" fmla="*/ 18857 w 2948632"/>
                <a:gd name="connsiteY0" fmla="*/ 210137 h 2261909"/>
                <a:gd name="connsiteX1" fmla="*/ 2948632 w 2948632"/>
                <a:gd name="connsiteY1" fmla="*/ 0 h 2261909"/>
                <a:gd name="connsiteX2" fmla="*/ 0 w 2948632"/>
                <a:gd name="connsiteY2" fmla="*/ 2261909 h 2261909"/>
                <a:gd name="connsiteX3" fmla="*/ 18857 w 2948632"/>
                <a:gd name="connsiteY3" fmla="*/ 210137 h 2261909"/>
                <a:gd name="connsiteX0" fmla="*/ 9427 w 2939202"/>
                <a:gd name="connsiteY0" fmla="*/ 210137 h 3543958"/>
                <a:gd name="connsiteX1" fmla="*/ 2939202 w 2939202"/>
                <a:gd name="connsiteY1" fmla="*/ 0 h 3543958"/>
                <a:gd name="connsiteX2" fmla="*/ 0 w 2939202"/>
                <a:gd name="connsiteY2" fmla="*/ 3543958 h 3543958"/>
                <a:gd name="connsiteX3" fmla="*/ 9427 w 2939202"/>
                <a:gd name="connsiteY3" fmla="*/ 210137 h 3543958"/>
                <a:gd name="connsiteX0" fmla="*/ 9427 w 2929776"/>
                <a:gd name="connsiteY0" fmla="*/ 238417 h 3572238"/>
                <a:gd name="connsiteX1" fmla="*/ 2929776 w 2929776"/>
                <a:gd name="connsiteY1" fmla="*/ 0 h 3572238"/>
                <a:gd name="connsiteX2" fmla="*/ 0 w 2929776"/>
                <a:gd name="connsiteY2" fmla="*/ 3572238 h 3572238"/>
                <a:gd name="connsiteX3" fmla="*/ 9427 w 2929776"/>
                <a:gd name="connsiteY3" fmla="*/ 238417 h 3572238"/>
                <a:gd name="connsiteX0" fmla="*/ 907 w 2930683"/>
                <a:gd name="connsiteY0" fmla="*/ 219563 h 3572238"/>
                <a:gd name="connsiteX1" fmla="*/ 2930683 w 2930683"/>
                <a:gd name="connsiteY1" fmla="*/ 0 h 3572238"/>
                <a:gd name="connsiteX2" fmla="*/ 907 w 2930683"/>
                <a:gd name="connsiteY2" fmla="*/ 3572238 h 3572238"/>
                <a:gd name="connsiteX3" fmla="*/ 907 w 2930683"/>
                <a:gd name="connsiteY3" fmla="*/ 219563 h 3572238"/>
                <a:gd name="connsiteX0" fmla="*/ 907 w 1837173"/>
                <a:gd name="connsiteY0" fmla="*/ 2180336 h 5533011"/>
                <a:gd name="connsiteX1" fmla="*/ 1837173 w 1837173"/>
                <a:gd name="connsiteY1" fmla="*/ 0 h 5533011"/>
                <a:gd name="connsiteX2" fmla="*/ 907 w 1837173"/>
                <a:gd name="connsiteY2" fmla="*/ 5533011 h 5533011"/>
                <a:gd name="connsiteX3" fmla="*/ 907 w 1837173"/>
                <a:gd name="connsiteY3" fmla="*/ 2180336 h 5533011"/>
                <a:gd name="connsiteX0" fmla="*/ 907 w 1837173"/>
                <a:gd name="connsiteY0" fmla="*/ 2218043 h 5533011"/>
                <a:gd name="connsiteX1" fmla="*/ 1837173 w 1837173"/>
                <a:gd name="connsiteY1" fmla="*/ 0 h 5533011"/>
                <a:gd name="connsiteX2" fmla="*/ 907 w 1837173"/>
                <a:gd name="connsiteY2" fmla="*/ 5533011 h 5533011"/>
                <a:gd name="connsiteX3" fmla="*/ 907 w 1837173"/>
                <a:gd name="connsiteY3" fmla="*/ 2218043 h 5533011"/>
              </a:gdLst>
              <a:ahLst/>
              <a:cxnLst>
                <a:cxn ang="0">
                  <a:pos x="connsiteX0" y="connsiteY0"/>
                </a:cxn>
                <a:cxn ang="0">
                  <a:pos x="connsiteX1" y="connsiteY1"/>
                </a:cxn>
                <a:cxn ang="0">
                  <a:pos x="connsiteX2" y="connsiteY2"/>
                </a:cxn>
                <a:cxn ang="0">
                  <a:pos x="connsiteX3" y="connsiteY3"/>
                </a:cxn>
              </a:cxnLst>
              <a:rect l="l" t="t" r="r" b="b"/>
              <a:pathLst>
                <a:path w="1837173" h="5533011">
                  <a:moveTo>
                    <a:pt x="907" y="2218043"/>
                  </a:moveTo>
                  <a:lnTo>
                    <a:pt x="1837173" y="0"/>
                  </a:lnTo>
                  <a:lnTo>
                    <a:pt x="907" y="5533011"/>
                  </a:lnTo>
                  <a:cubicBezTo>
                    <a:pt x="4049" y="4421737"/>
                    <a:pt x="-2235" y="3329317"/>
                    <a:pt x="907" y="2218043"/>
                  </a:cubicBezTo>
                  <a:close/>
                </a:path>
              </a:pathLst>
            </a:custGeom>
            <a:gradFill>
              <a:gsLst>
                <a:gs pos="45000">
                  <a:schemeClr val="accent2"/>
                </a:gs>
                <a:gs pos="100000">
                  <a:schemeClr val="accent2">
                    <a:lumMod val="75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3" name="Content Placeholder 2">
            <a:extLst>
              <a:ext uri="{FF2B5EF4-FFF2-40B4-BE49-F238E27FC236}">
                <a16:creationId xmlns:a16="http://schemas.microsoft.com/office/drawing/2014/main" id="{0A86C974-15D3-8B58-8610-2335C05DF6D3}"/>
              </a:ext>
            </a:extLst>
          </p:cNvPr>
          <p:cNvSpPr>
            <a:spLocks noGrp="1"/>
          </p:cNvSpPr>
          <p:nvPr>
            <p:ph idx="10"/>
          </p:nvPr>
        </p:nvSpPr>
        <p:spPr>
          <a:xfrm>
            <a:off x="525018" y="1489075"/>
            <a:ext cx="11151033" cy="708026"/>
          </a:xfrm>
        </p:spPr>
        <p:txBody>
          <a:bodyPr/>
          <a:lstStyle>
            <a:lvl1pPr>
              <a:defRPr lang="en-US" sz="1800" kern="1200" dirty="0">
                <a:solidFill>
                  <a:schemeClr val="accent2"/>
                </a:solidFill>
                <a:latin typeface="Poppins" pitchFamily="2" charset="77"/>
                <a:ea typeface="Open Sans" panose="020B0606030504020204" pitchFamily="34" charset="0"/>
                <a:cs typeface="Poppins" pitchFamily="2" charset="77"/>
              </a:defRPr>
            </a:lvl1pPr>
            <a:lvl2pPr>
              <a:defRPr sz="1600"/>
            </a:lvl2pPr>
            <a:lvl3pPr>
              <a:defRPr sz="1400"/>
            </a:lvl3pPr>
            <a:lvl4pPr>
              <a:defRPr sz="1200"/>
            </a:lvl4pPr>
            <a:lvl5pPr>
              <a:defRPr sz="11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p:txBody>
      </p:sp>
      <p:sp>
        <p:nvSpPr>
          <p:cNvPr id="4" name="Content Placeholder 2">
            <a:extLst>
              <a:ext uri="{FF2B5EF4-FFF2-40B4-BE49-F238E27FC236}">
                <a16:creationId xmlns:a16="http://schemas.microsoft.com/office/drawing/2014/main" id="{F2A6A591-31FF-756F-6264-123058C10B96}"/>
              </a:ext>
            </a:extLst>
          </p:cNvPr>
          <p:cNvSpPr>
            <a:spLocks noGrp="1"/>
          </p:cNvSpPr>
          <p:nvPr>
            <p:ph idx="1"/>
          </p:nvPr>
        </p:nvSpPr>
        <p:spPr>
          <a:xfrm>
            <a:off x="525018" y="2417763"/>
            <a:ext cx="11151033" cy="3532188"/>
          </a:xfrm>
        </p:spPr>
        <p:txBody>
          <a:bodyPr>
            <a:normAutofit/>
          </a:bodyPr>
          <a:lstStyle>
            <a:lvl1pPr>
              <a:defRPr lang="en-US" sz="1400" kern="1200" dirty="0">
                <a:solidFill>
                  <a:schemeClr val="tx1"/>
                </a:solidFill>
                <a:latin typeface="+mn-lt"/>
                <a:ea typeface="Open Sans" panose="020B0606030504020204" pitchFamily="34" charset="0"/>
                <a:cs typeface="Open Sans" panose="020B0606030504020204" pitchFamily="34" charset="0"/>
              </a:defRPr>
            </a:lvl1pPr>
            <a:lvl2pPr>
              <a:defRPr sz="1200"/>
            </a:lvl2pPr>
            <a:lvl3pPr>
              <a:defRPr sz="1100"/>
            </a:lvl3pPr>
            <a:lvl4pPr>
              <a:defRPr sz="1050"/>
            </a:lvl4pPr>
            <a:lvl5pPr>
              <a:defRPr sz="1000"/>
            </a:lvl5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3">
            <a:extLst>
              <a:ext uri="{FF2B5EF4-FFF2-40B4-BE49-F238E27FC236}">
                <a16:creationId xmlns:a16="http://schemas.microsoft.com/office/drawing/2014/main" id="{F1B1F545-BB23-5F51-9BF6-9617CB8CFF4A}"/>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202980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19B4F-E032-7842-81B5-F7DAEF0BD261}"/>
              </a:ext>
            </a:extLst>
          </p:cNvPr>
          <p:cNvSpPr>
            <a:spLocks noGrp="1"/>
          </p:cNvSpPr>
          <p:nvPr>
            <p:ph type="title"/>
          </p:nvPr>
        </p:nvSpPr>
        <p:spPr/>
        <p:txBody>
          <a:bodyPr>
            <a:normAutofit/>
          </a:bodyPr>
          <a:lstStyle>
            <a:lvl1pPr>
              <a:defRPr sz="2800"/>
            </a:lvl1pPr>
          </a:lstStyle>
          <a:p>
            <a:r>
              <a:rPr lang="en-US"/>
              <a:t>Click to edit Master title style</a:t>
            </a:r>
          </a:p>
        </p:txBody>
      </p:sp>
      <p:sp>
        <p:nvSpPr>
          <p:cNvPr id="6" name="Slide Number Placeholder 3">
            <a:extLst>
              <a:ext uri="{FF2B5EF4-FFF2-40B4-BE49-F238E27FC236}">
                <a16:creationId xmlns:a16="http://schemas.microsoft.com/office/drawing/2014/main" id="{B7A7A84D-8766-D045-8B74-31B5E18E5185}"/>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17784220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F30FBA-829C-6D43-A610-2ACFFB45657D}"/>
              </a:ext>
            </a:extLst>
          </p:cNvPr>
          <p:cNvSpPr>
            <a:spLocks noGrp="1"/>
          </p:cNvSpPr>
          <p:nvPr>
            <p:ph type="sldNum" sz="quarter" idx="4"/>
          </p:nvPr>
        </p:nvSpPr>
        <p:spPr>
          <a:xfrm>
            <a:off x="8600440" y="6241428"/>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spTree>
    <p:extLst>
      <p:ext uri="{BB962C8B-B14F-4D97-AF65-F5344CB8AC3E}">
        <p14:creationId xmlns:p14="http://schemas.microsoft.com/office/powerpoint/2010/main" val="29127473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4. 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0"/>
          </p:nvPr>
        </p:nvSpPr>
        <p:spPr/>
        <p:txBody>
          <a:bodyPr/>
          <a:lstStyle>
            <a:lvl1pPr>
              <a:defRPr b="0" i="0">
                <a:latin typeface="Open Sans" panose="020B0606030504020204" pitchFamily="34" charset="0"/>
              </a:defRPr>
            </a:lvl1pPr>
          </a:lstStyle>
          <a:p>
            <a:fld id="{05B65C0E-5B24-7B4A-AD60-B4353633466D}" type="slidenum">
              <a:rPr lang="en-US" smtClean="0"/>
              <a:pPr/>
              <a:t>‹#›</a:t>
            </a:fld>
            <a:endParaRPr lang="en-US"/>
          </a:p>
        </p:txBody>
      </p:sp>
    </p:spTree>
    <p:extLst>
      <p:ext uri="{BB962C8B-B14F-4D97-AF65-F5344CB8AC3E}">
        <p14:creationId xmlns:p14="http://schemas.microsoft.com/office/powerpoint/2010/main" val="73303425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2_Title Slide">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69FE0A4-E4BF-0B4D-9AAC-30724C2FC845}"/>
              </a:ext>
            </a:extLst>
          </p:cNvPr>
          <p:cNvSpPr/>
          <p:nvPr userDrawn="1"/>
        </p:nvSpPr>
        <p:spPr>
          <a:xfrm>
            <a:off x="0" y="0"/>
            <a:ext cx="12192000" cy="6858000"/>
          </a:xfrm>
          <a:prstGeom prst="rect">
            <a:avLst/>
          </a:prstGeom>
          <a:gradFill>
            <a:gsLst>
              <a:gs pos="0">
                <a:schemeClr val="tx2"/>
              </a:gs>
              <a:gs pos="100000">
                <a:schemeClr val="tx2">
                  <a:lumMod val="7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5A6D41D4-8055-A24D-80E7-090637EBB6CA}"/>
              </a:ext>
            </a:extLst>
          </p:cNvPr>
          <p:cNvPicPr>
            <a:picLocks noChangeAspect="1"/>
          </p:cNvPicPr>
          <p:nvPr userDrawn="1"/>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31789" t="43946" r="16249" b="16538"/>
          <a:stretch/>
        </p:blipFill>
        <p:spPr>
          <a:xfrm rot="16200000">
            <a:off x="-836593" y="709593"/>
            <a:ext cx="6985000" cy="5311814"/>
          </a:xfrm>
          <a:prstGeom prst="rect">
            <a:avLst/>
          </a:prstGeom>
        </p:spPr>
      </p:pic>
      <p:sp>
        <p:nvSpPr>
          <p:cNvPr id="9" name="Title 1">
            <a:extLst>
              <a:ext uri="{FF2B5EF4-FFF2-40B4-BE49-F238E27FC236}">
                <a16:creationId xmlns:a16="http://schemas.microsoft.com/office/drawing/2014/main" id="{583DD981-2F88-36B6-B48C-C1372B8C9A02}"/>
              </a:ext>
            </a:extLst>
          </p:cNvPr>
          <p:cNvSpPr>
            <a:spLocks noGrp="1"/>
          </p:cNvSpPr>
          <p:nvPr>
            <p:ph type="title"/>
          </p:nvPr>
        </p:nvSpPr>
        <p:spPr>
          <a:xfrm>
            <a:off x="5029200" y="368300"/>
            <a:ext cx="6646863" cy="900114"/>
          </a:xfrm>
        </p:spPr>
        <p:txBody>
          <a:bodyPr>
            <a:normAutofit/>
          </a:bodyPr>
          <a:lstStyle>
            <a:lvl1pPr>
              <a:defRPr sz="2800">
                <a:solidFill>
                  <a:schemeClr val="accent1"/>
                </a:solidFill>
              </a:defRPr>
            </a:lvl1pPr>
          </a:lstStyle>
          <a:p>
            <a:r>
              <a:rPr lang="en-US"/>
              <a:t>Click to edit Master title style</a:t>
            </a:r>
          </a:p>
        </p:txBody>
      </p:sp>
      <p:sp>
        <p:nvSpPr>
          <p:cNvPr id="10" name="Content Placeholder 2">
            <a:extLst>
              <a:ext uri="{FF2B5EF4-FFF2-40B4-BE49-F238E27FC236}">
                <a16:creationId xmlns:a16="http://schemas.microsoft.com/office/drawing/2014/main" id="{A2086BE6-D60A-9895-5FB7-271EEB74359B}"/>
              </a:ext>
            </a:extLst>
          </p:cNvPr>
          <p:cNvSpPr>
            <a:spLocks noGrp="1"/>
          </p:cNvSpPr>
          <p:nvPr>
            <p:ph idx="1"/>
          </p:nvPr>
        </p:nvSpPr>
        <p:spPr>
          <a:xfrm>
            <a:off x="5029188" y="1449388"/>
            <a:ext cx="6646863" cy="5040311"/>
          </a:xfrm>
        </p:spPr>
        <p:txBody>
          <a:bodyPr/>
          <a:lstStyle>
            <a:lvl1pPr>
              <a:defRPr sz="1800">
                <a:solidFill>
                  <a:schemeClr val="accent1">
                    <a:lumMod val="20000"/>
                    <a:lumOff val="80000"/>
                  </a:schemeClr>
                </a:solidFill>
                <a:latin typeface="Poppins Light" panose="00000400000000000000" pitchFamily="2" charset="0"/>
                <a:cs typeface="Poppins Light" panose="00000400000000000000" pitchFamily="2" charset="0"/>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1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6704973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 Id="rId30" Type="http://schemas.openxmlformats.org/officeDocument/2006/relationships/image" Target="../media/image1.png"/><Relationship Id="rId31"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751D45D-9934-604D-99B4-7F9FD259C3C4}"/>
              </a:ext>
            </a:extLst>
          </p:cNvPr>
          <p:cNvSpPr>
            <a:spLocks noGrp="1"/>
          </p:cNvSpPr>
          <p:nvPr>
            <p:ph type="title"/>
          </p:nvPr>
        </p:nvSpPr>
        <p:spPr>
          <a:xfrm>
            <a:off x="525019" y="368300"/>
            <a:ext cx="11151044" cy="90011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CF73DDE4-94D2-5D4A-8196-76F06726BE19}"/>
              </a:ext>
            </a:extLst>
          </p:cNvPr>
          <p:cNvSpPr>
            <a:spLocks noGrp="1"/>
          </p:cNvSpPr>
          <p:nvPr>
            <p:ph type="body" idx="1"/>
          </p:nvPr>
        </p:nvSpPr>
        <p:spPr>
          <a:xfrm>
            <a:off x="525018" y="1449389"/>
            <a:ext cx="11151033" cy="4500562"/>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lide Number Placeholder 3">
            <a:extLst>
              <a:ext uri="{FF2B5EF4-FFF2-40B4-BE49-F238E27FC236}">
                <a16:creationId xmlns:a16="http://schemas.microsoft.com/office/drawing/2014/main" id="{2718ADEF-C0A1-8B49-91E2-AFDA120F0929}"/>
              </a:ext>
            </a:extLst>
          </p:cNvPr>
          <p:cNvSpPr>
            <a:spLocks noGrp="1"/>
          </p:cNvSpPr>
          <p:nvPr>
            <p:ph type="sldNum" sz="quarter" idx="4"/>
          </p:nvPr>
        </p:nvSpPr>
        <p:spPr>
          <a:xfrm>
            <a:off x="10504448" y="6241428"/>
            <a:ext cx="839191"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A8BD019-05FF-F145-A6E1-6EE5A88665E4}" type="slidenum">
              <a:rPr lang="en-US" smtClean="0"/>
              <a:pPr/>
              <a:t>‹#›</a:t>
            </a:fld>
            <a:endParaRPr lang="en-US"/>
          </a:p>
        </p:txBody>
      </p:sp>
      <p:grpSp>
        <p:nvGrpSpPr>
          <p:cNvPr id="5" name="Group 4">
            <a:extLst>
              <a:ext uri="{FF2B5EF4-FFF2-40B4-BE49-F238E27FC236}">
                <a16:creationId xmlns:a16="http://schemas.microsoft.com/office/drawing/2014/main" id="{64482773-B2E0-D326-27CB-64C855DD4DE5}"/>
              </a:ext>
            </a:extLst>
          </p:cNvPr>
          <p:cNvGrpSpPr/>
          <p:nvPr userDrawn="1"/>
        </p:nvGrpSpPr>
        <p:grpSpPr>
          <a:xfrm>
            <a:off x="337362" y="6000547"/>
            <a:ext cx="1633336" cy="719658"/>
            <a:chOff x="160202" y="5758079"/>
            <a:chExt cx="2310184" cy="1017881"/>
          </a:xfrm>
        </p:grpSpPr>
        <p:pic>
          <p:nvPicPr>
            <p:cNvPr id="6" name="Picture 5">
              <a:extLst>
                <a:ext uri="{FF2B5EF4-FFF2-40B4-BE49-F238E27FC236}">
                  <a16:creationId xmlns:a16="http://schemas.microsoft.com/office/drawing/2014/main" id="{3551CE2F-3298-01F2-6306-63927A6420B3}"/>
                </a:ext>
              </a:extLst>
            </p:cNvPr>
            <p:cNvPicPr>
              <a:picLocks noChangeAspect="1"/>
            </p:cNvPicPr>
            <p:nvPr/>
          </p:nvPicPr>
          <p:blipFill>
            <a:blip r:embed="rId30" cstate="print">
              <a:extLst>
                <a:ext uri="{28A0092B-C50C-407E-A947-70E740481C1C}">
                  <a14:useLocalDpi xmlns:a14="http://schemas.microsoft.com/office/drawing/2010/main"/>
                </a:ext>
              </a:extLst>
            </a:blip>
            <a:stretch>
              <a:fillRect/>
            </a:stretch>
          </p:blipFill>
          <p:spPr>
            <a:xfrm>
              <a:off x="160202" y="5758079"/>
              <a:ext cx="2198685" cy="1017881"/>
            </a:xfrm>
            <a:prstGeom prst="rect">
              <a:avLst/>
            </a:prstGeom>
          </p:spPr>
        </p:pic>
        <p:cxnSp>
          <p:nvCxnSpPr>
            <p:cNvPr id="7" name="Straight Connector 6">
              <a:extLst>
                <a:ext uri="{FF2B5EF4-FFF2-40B4-BE49-F238E27FC236}">
                  <a16:creationId xmlns:a16="http://schemas.microsoft.com/office/drawing/2014/main" id="{030E8B77-A89A-2DF0-F6BE-25862EA85E77}"/>
                </a:ext>
              </a:extLst>
            </p:cNvPr>
            <p:cNvCxnSpPr>
              <a:cxnSpLocks/>
            </p:cNvCxnSpPr>
            <p:nvPr/>
          </p:nvCxnSpPr>
          <p:spPr>
            <a:xfrm>
              <a:off x="2470386" y="5980428"/>
              <a:ext cx="0" cy="573181"/>
            </a:xfrm>
            <a:prstGeom prst="line">
              <a:avLst/>
            </a:prstGeom>
            <a:ln>
              <a:solidFill>
                <a:schemeClr val="bg1">
                  <a:lumMod val="65000"/>
                </a:schemeClr>
              </a:solidFill>
            </a:ln>
          </p:spPr>
          <p:style>
            <a:lnRef idx="1">
              <a:schemeClr val="dk1"/>
            </a:lnRef>
            <a:fillRef idx="0">
              <a:schemeClr val="dk1"/>
            </a:fillRef>
            <a:effectRef idx="0">
              <a:schemeClr val="dk1"/>
            </a:effectRef>
            <a:fontRef idx="minor">
              <a:schemeClr val="tx1"/>
            </a:fontRef>
          </p:style>
        </p:cxnSp>
      </p:grpSp>
      <p:pic>
        <p:nvPicPr>
          <p:cNvPr id="26" name="Client Logo" descr="webuild.png"/>
          <p:cNvPicPr>
            <a:picLocks noChangeAspect="1"/>
          </p:cNvPicPr>
          <p:nvPr/>
        </p:nvPicPr>
        <p:blipFill>
          <a:blip r:embed="rId31"/>
          <a:stretch>
            <a:fillRect/>
          </a:stretch>
        </p:blipFill>
        <p:spPr>
          <a:xfrm>
            <a:off x="2249424" y="6163056"/>
            <a:ext cx="1069145" cy="365760"/>
          </a:xfrm>
          <a:prstGeom prst="rect">
            <a:avLst/>
          </a:prstGeom>
        </p:spPr>
      </p:pic>
    </p:spTree>
    <p:extLst>
      <p:ext uri="{BB962C8B-B14F-4D97-AF65-F5344CB8AC3E}">
        <p14:creationId xmlns:p14="http://schemas.microsoft.com/office/powerpoint/2010/main" val="766684962"/>
      </p:ext>
    </p:extLst>
  </p:cSld>
  <p:clrMap bg1="lt1" tx1="dk1" bg2="lt2" tx2="dk2" accent1="accent1" accent2="accent2" accent3="accent3" accent4="accent4" accent5="accent5" accent6="accent6" hlink="hlink" folHlink="folHlink"/>
  <p:sldLayoutIdLst>
    <p:sldLayoutId id="2147483922" r:id="rId1"/>
    <p:sldLayoutId id="2147483846" r:id="rId2"/>
    <p:sldLayoutId id="2147483919" r:id="rId3"/>
    <p:sldLayoutId id="2147483918" r:id="rId4"/>
    <p:sldLayoutId id="2147483920" r:id="rId5"/>
    <p:sldLayoutId id="2147483891" r:id="rId6"/>
    <p:sldLayoutId id="2147483886" r:id="rId7"/>
    <p:sldLayoutId id="2147483885" r:id="rId8"/>
    <p:sldLayoutId id="2147483887" r:id="rId9"/>
    <p:sldLayoutId id="2147483898" r:id="rId10"/>
    <p:sldLayoutId id="2147483905" r:id="rId11"/>
    <p:sldLayoutId id="2147483906" r:id="rId12"/>
    <p:sldLayoutId id="2147483923" r:id="rId13"/>
    <p:sldLayoutId id="2147483924" r:id="rId14"/>
    <p:sldLayoutId id="2147483925" r:id="rId15"/>
    <p:sldLayoutId id="2147483910" r:id="rId16"/>
    <p:sldLayoutId id="2147483881" r:id="rId17"/>
    <p:sldLayoutId id="2147483877" r:id="rId18"/>
    <p:sldLayoutId id="2147483907" r:id="rId19"/>
    <p:sldLayoutId id="2147483908" r:id="rId20"/>
    <p:sldLayoutId id="2147483874" r:id="rId21"/>
    <p:sldLayoutId id="2147483911" r:id="rId22"/>
    <p:sldLayoutId id="2147483914" r:id="rId23"/>
    <p:sldLayoutId id="2147483913" r:id="rId24"/>
    <p:sldLayoutId id="2147483850" r:id="rId25"/>
    <p:sldLayoutId id="2147483851" r:id="rId26"/>
    <p:sldLayoutId id="2147483926" r:id="rId27"/>
    <p:sldLayoutId id="2147483927" r:id="rId28"/>
  </p:sldLayoutIdLst>
  <p:hf hdr="0" ftr="0" dt="0"/>
  <p:txStyles>
    <p:titleStyle>
      <a:lvl1pPr algn="l" defTabSz="914400" rtl="0" eaLnBrk="1" latinLnBrk="0" hangingPunct="1">
        <a:lnSpc>
          <a:spcPct val="90000"/>
        </a:lnSpc>
        <a:spcBef>
          <a:spcPct val="0"/>
        </a:spcBef>
        <a:buNone/>
        <a:defRPr sz="2800" b="0" i="0" kern="1200">
          <a:solidFill>
            <a:schemeClr val="tx1"/>
          </a:solidFill>
          <a:latin typeface="Poppins Medium" pitchFamily="2" charset="77"/>
          <a:ea typeface="+mj-ea"/>
          <a:cs typeface="Poppins Medium" pitchFamily="2" charset="77"/>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400" kern="1200">
          <a:solidFill>
            <a:schemeClr val="tx1"/>
          </a:solidFill>
          <a:latin typeface="+mn-lt"/>
          <a:ea typeface="Open Sans" panose="020B0606030504020204" pitchFamily="34" charset="0"/>
          <a:cs typeface="Open Sans" panose="020B060603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1200" kern="1200">
          <a:solidFill>
            <a:schemeClr val="tx1"/>
          </a:solidFill>
          <a:latin typeface="+mn-lt"/>
          <a:ea typeface="Lato" panose="020F0502020204030203" pitchFamily="34" charset="0"/>
          <a:cs typeface="Lato" panose="020F0502020204030203"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100" kern="1200">
          <a:solidFill>
            <a:schemeClr val="tx1"/>
          </a:solidFill>
          <a:latin typeface="+mn-lt"/>
          <a:ea typeface="Lato" panose="020F0502020204030203" pitchFamily="34" charset="0"/>
          <a:cs typeface="Lato" panose="020F050202020403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25" userDrawn="1">
          <p15:clr>
            <a:srgbClr val="F26B43"/>
          </p15:clr>
        </p15:guide>
        <p15:guide id="3" pos="7355" userDrawn="1">
          <p15:clr>
            <a:srgbClr val="F26B43"/>
          </p15:clr>
        </p15:guide>
        <p15:guide id="4" pos="551" userDrawn="1">
          <p15:clr>
            <a:srgbClr val="F26B43"/>
          </p15:clr>
        </p15:guide>
        <p15:guide id="5" pos="7129" userDrawn="1">
          <p15:clr>
            <a:srgbClr val="F26B43"/>
          </p15:clr>
        </p15:guide>
        <p15:guide id="6" orient="horz" pos="232" userDrawn="1">
          <p15:clr>
            <a:srgbClr val="F26B43"/>
          </p15:clr>
        </p15:guide>
        <p15:guide id="7" orient="horz" pos="799" userDrawn="1">
          <p15:clr>
            <a:srgbClr val="F26B43"/>
          </p15:clr>
        </p15:guide>
        <p15:guide id="8" orient="horz" pos="3748" userDrawn="1">
          <p15:clr>
            <a:srgbClr val="F26B43"/>
          </p15:clr>
        </p15:guide>
        <p15:guide id="9" orient="horz" pos="913"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8.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8.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8.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8.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jpeg"/><Relationship Id="rId7" Type="http://schemas.openxmlformats.org/officeDocument/2006/relationships/image" Target="../media/image17.gif"/><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20.png"/><Relationship Id="rId11" Type="http://schemas.openxmlformats.org/officeDocument/2006/relationships/image" Target="../media/image21.png"/><Relationship Id="rId12" Type="http://schemas.openxmlformats.org/officeDocument/2006/relationships/image" Target="../media/image22.png"/><Relationship Id="rId13" Type="http://schemas.openxmlformats.org/officeDocument/2006/relationships/image" Target="../media/image23.png"/><Relationship Id="rId14" Type="http://schemas.openxmlformats.org/officeDocument/2006/relationships/image" Target="../media/image24.svg"/><Relationship Id="rId15" Type="http://schemas.openxmlformats.org/officeDocument/2006/relationships/image" Target="../media/image25.png"/><Relationship Id="rId16" Type="http://schemas.openxmlformats.org/officeDocument/2006/relationships/image" Target="../media/image26.png"/><Relationship Id="rId17"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8.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8.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1.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 Id="rId7" Type="http://schemas.openxmlformats.org/officeDocument/2006/relationships/image" Target="../media/image3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 Id="rId7" Type="http://schemas.openxmlformats.org/officeDocument/2006/relationships/image" Target="../media/image3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4.jp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 Id="rId7"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3.xml"/><Relationship Id="rId3" Type="http://schemas.openxmlformats.org/officeDocument/2006/relationships/image" Target="../media/image35.jp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6.jpg"/><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7.jpg"/><Relationship Id="rId3"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38.jpg"/><Relationship Id="rId3"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8.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eg"/><Relationship Id="rId6" Type="http://schemas.openxmlformats.org/officeDocument/2006/relationships/image" Target="../media/image11.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09AC-ABC7-FBD8-C445-E53C0C4FC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A19359-B947-1961-75AA-936DA272766C}"/>
              </a:ext>
            </a:extLst>
          </p:cNvPr>
          <p:cNvSpPr/>
          <p:nvPr/>
        </p:nvSpPr>
        <p:spPr>
          <a:xfrm>
            <a:off x="0" y="9253"/>
            <a:ext cx="12197626" cy="6880902"/>
          </a:xfrm>
          <a:prstGeom prst="rect">
            <a:avLst/>
          </a:prstGeom>
          <a:solidFill>
            <a:schemeClr val="tx1">
              <a:alpha val="6357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55" b="0" i="0" u="none" strike="noStrike" kern="1200" cap="none" spc="0" normalizeH="0" baseline="0" noProof="0">
              <a:ln>
                <a:noFill/>
              </a:ln>
              <a:solidFill>
                <a:srgbClr val="FFFFFF"/>
              </a:solidFill>
              <a:effectLst/>
              <a:uLnTx/>
              <a:uFillTx/>
              <a:latin typeface="Open Sans Light"/>
              <a:ea typeface="+mn-ea"/>
              <a:cs typeface="+mn-cs"/>
            </a:endParaRPr>
          </a:p>
        </p:txBody>
      </p:sp>
      <p:pic>
        <p:nvPicPr>
          <p:cNvPr id="7" name="Graphic 6">
            <a:extLst>
              <a:ext uri="{FF2B5EF4-FFF2-40B4-BE49-F238E27FC236}">
                <a16:creationId xmlns:a16="http://schemas.microsoft.com/office/drawing/2014/main" id="{9A0843B3-C65C-5254-9739-F0B4D579E1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25966" y="0"/>
            <a:ext cx="6959831" cy="5626984"/>
          </a:xfrm>
          <a:prstGeom prst="rect">
            <a:avLst/>
          </a:prstGeom>
        </p:spPr>
      </p:pic>
      <p:sp>
        <p:nvSpPr>
          <p:cNvPr id="8" name="TextBox 7"/>
          <p:cNvSpPr txBox="1"/>
          <p:nvPr/>
        </p:nvSpPr>
        <p:spPr>
          <a:xfrm>
            <a:off x="5989320" y="1417320"/>
            <a:ext cx="5669280" cy="365760"/>
          </a:xfrm>
          <a:prstGeom prst="rect">
            <a:avLst/>
          </a:prstGeom>
          <a:noFill/>
        </p:spPr>
        <p:txBody>
          <a:bodyPr wrap="square" lIns="0" rIns="0" tIns="0" bIns="0" anchor="t">
            <a:spAutoFit/>
          </a:bodyPr>
          <a:lstStyle/>
          <a:p>
            <a:pPr>
              <a:spcAft>
                <a:spcPts val="400"/>
              </a:spcAft>
              <a:buNone/>
            </a:pPr>
            <a:r>
              <a:rPr sz="1400" b="1" i="0">
                <a:solidFill>
                  <a:srgbClr val="F48047"/>
                </a:solidFill>
                <a:latin typeface="Poppins"/>
              </a:rPr>
              <a:t>PROPOSAL</a:t>
            </a:r>
          </a:p>
        </p:txBody>
      </p:sp>
      <p:sp>
        <p:nvSpPr>
          <p:cNvPr id="9" name="TextBox 8"/>
          <p:cNvSpPr txBox="1"/>
          <p:nvPr/>
        </p:nvSpPr>
        <p:spPr>
          <a:xfrm>
            <a:off x="5989320" y="1828800"/>
            <a:ext cx="5760720" cy="1828800"/>
          </a:xfrm>
          <a:prstGeom prst="rect">
            <a:avLst/>
          </a:prstGeom>
          <a:noFill/>
        </p:spPr>
        <p:txBody>
          <a:bodyPr wrap="square" lIns="0" rIns="0" tIns="0" bIns="0" anchor="t">
            <a:spAutoFit/>
          </a:bodyPr>
          <a:lstStyle/>
          <a:p>
            <a:pPr>
              <a:lnSpc>
                <a:spcPct val="100000"/>
              </a:lnSpc>
              <a:spcAft>
                <a:spcPts val="400"/>
              </a:spcAft>
              <a:buNone/>
            </a:pPr>
            <a:r>
              <a:rPr sz="3600" b="0" i="0">
                <a:solidFill>
                  <a:srgbClr val="FFFFFF"/>
                </a:solidFill>
                <a:latin typeface="Poppins Medium"/>
              </a:rPr>
              <a:t>Earning Webuild's place on Gold Coast Light Rail Stage 4</a:t>
            </a:r>
          </a:p>
        </p:txBody>
      </p:sp>
      <p:sp>
        <p:nvSpPr>
          <p:cNvPr id="10" name="TextBox 9"/>
          <p:cNvSpPr txBox="1"/>
          <p:nvPr/>
        </p:nvSpPr>
        <p:spPr>
          <a:xfrm>
            <a:off x="5989320" y="3794760"/>
            <a:ext cx="5669280" cy="822960"/>
          </a:xfrm>
          <a:prstGeom prst="rect">
            <a:avLst/>
          </a:prstGeom>
          <a:noFill/>
        </p:spPr>
        <p:txBody>
          <a:bodyPr wrap="square" lIns="0" rIns="0" tIns="0" bIns="0" anchor="t">
            <a:spAutoFit/>
          </a:bodyPr>
          <a:lstStyle/>
          <a:p>
            <a:pPr>
              <a:spcAft>
                <a:spcPts val="400"/>
              </a:spcAft>
              <a:buNone/>
            </a:pPr>
            <a:r>
              <a:rPr sz="1800" b="0" i="0">
                <a:solidFill>
                  <a:srgbClr val="D9D9D9"/>
                </a:solidFill>
                <a:latin typeface="Poppins"/>
              </a:rPr>
              <a:t>EOI strategy, positioning and storyboarding support</a:t>
            </a:r>
          </a:p>
        </p:txBody>
      </p:sp>
      <p:sp>
        <p:nvSpPr>
          <p:cNvPr id="11" name="TextBox 10"/>
          <p:cNvSpPr txBox="1"/>
          <p:nvPr/>
        </p:nvSpPr>
        <p:spPr>
          <a:xfrm>
            <a:off x="5989320" y="4983480"/>
            <a:ext cx="5669280" cy="731520"/>
          </a:xfrm>
          <a:prstGeom prst="rect">
            <a:avLst/>
          </a:prstGeom>
          <a:noFill/>
        </p:spPr>
        <p:txBody>
          <a:bodyPr wrap="square" lIns="0" rIns="0" tIns="0" bIns="0" anchor="t">
            <a:spAutoFit/>
          </a:bodyPr>
          <a:lstStyle/>
          <a:p>
            <a:pPr>
              <a:spcAft>
                <a:spcPts val="200"/>
              </a:spcAft>
              <a:buNone/>
            </a:pPr>
            <a:r>
              <a:rPr sz="1200" b="0" i="0">
                <a:solidFill>
                  <a:srgbClr val="BFBFBF"/>
                </a:solidFill>
                <a:latin typeface="Open Sans"/>
              </a:rPr>
              <a:t>Prepared for Webuild</a:t>
            </a:r>
          </a:p>
          <a:p>
            <a:pPr>
              <a:spcAft>
                <a:spcPts val="400"/>
              </a:spcAft>
              <a:buNone/>
            </a:pPr>
            <a:r>
              <a:rPr sz="1200" b="0" i="0">
                <a:solidFill>
                  <a:srgbClr val="BFBFBF"/>
                </a:solidFill>
                <a:latin typeface="Open Sans"/>
              </a:rPr>
              <a:t>Presented by The Strategy Group  |  October 2026</a:t>
            </a:r>
          </a:p>
        </p:txBody>
      </p:sp>
    </p:spTree>
    <p:extLst>
      <p:ext uri="{BB962C8B-B14F-4D97-AF65-F5344CB8AC3E}">
        <p14:creationId xmlns:p14="http://schemas.microsoft.com/office/powerpoint/2010/main" val="29499488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5" name="TextBox 4"/>
          <p:cNvSpPr txBox="1"/>
          <p:nvPr/>
        </p:nvSpPr>
        <p:spPr>
          <a:xfrm>
            <a:off x="548640" y="457200"/>
            <a:ext cx="10607040" cy="4206240"/>
          </a:xfrm>
          <a:prstGeom prst="rect">
            <a:avLst/>
          </a:prstGeom>
          <a:noFill/>
        </p:spPr>
        <p:txBody>
          <a:bodyPr wrap="square" lIns="0" rIns="0" tIns="0" bIns="0" anchor="t">
            <a:spAutoFit/>
          </a:bodyPr>
          <a:lstStyle/>
          <a:p>
            <a:pPr>
              <a:spcAft>
                <a:spcPts val="900"/>
              </a:spcAft>
              <a:buNone/>
            </a:pPr>
            <a:r>
              <a:rPr sz="1250" b="0" i="0">
                <a:solidFill>
                  <a:srgbClr val="3D3C3C"/>
                </a:solidFill>
                <a:latin typeface="Open Sans"/>
              </a:rPr>
              <a:t>Dear Joe,</a:t>
            </a:r>
          </a:p>
          <a:p>
            <a:pPr>
              <a:spcAft>
                <a:spcPts val="900"/>
              </a:spcAft>
              <a:buNone/>
            </a:pPr>
            <a:r>
              <a:rPr sz="1250" b="0" i="0">
                <a:solidFill>
                  <a:srgbClr val="3D3C3C"/>
                </a:solidFill>
                <a:latin typeface="Open Sans"/>
              </a:rPr>
              <a:t>Thank you for the opportunity to present this proposal, and for the open conversation about where Webuild wants to go next. Gold Coast Light Rail Stage 4 is a modest project by Webuild's standards, but it carries real weight: it is the door into Australia's light rail market and a chance to remind the market who Webuild really is.</a:t>
            </a:r>
          </a:p>
          <a:p>
            <a:pPr>
              <a:spcAft>
                <a:spcPts val="900"/>
              </a:spcAft>
              <a:buNone/>
            </a:pPr>
            <a:r>
              <a:rPr sz="1250" b="0" i="0">
                <a:solidFill>
                  <a:srgbClr val="3D3C3C"/>
                </a:solidFill>
                <a:latin typeface="Open Sans"/>
              </a:rPr>
              <a:t>We understand the challenge plainly. Webuild has not yet delivered light rail, it will compete against contractors who have, and recent headlines on other projects mean evaluators may arrive with questions already in mind. None of that changes what Webuild brings: more than 20 years of rail delivery, a global network of rail and metro expertise, and people who know how to deliver complex infrastructure for demanding clients. The task is to make that capability visible, relevant and credible through the client's eyes.</a:t>
            </a:r>
          </a:p>
          <a:p>
            <a:pPr>
              <a:spcAft>
                <a:spcPts val="900"/>
              </a:spcAft>
              <a:buNone/>
            </a:pPr>
            <a:r>
              <a:rPr sz="1250" b="0" i="0">
                <a:solidFill>
                  <a:srgbClr val="3D3C3C"/>
                </a:solidFill>
                <a:latin typeface="Open Sans"/>
              </a:rPr>
              <a:t>That is where we can help. We are not your bid writers. Our role is to help your leadership and proposed team agree on what the client truly needs, rediscover the Webuild story and storyboard every EOI response so it tells one consistent, evidence-backed story. Your team then takes that direction to your writers, and we check in at two key points to make sure the story holds.</a:t>
            </a:r>
          </a:p>
          <a:p>
            <a:pPr>
              <a:spcAft>
                <a:spcPts val="900"/>
              </a:spcAft>
              <a:buNone/>
            </a:pPr>
            <a:r>
              <a:rPr sz="1250" b="0" i="0">
                <a:solidFill>
                  <a:srgbClr val="3D3C3C"/>
                </a:solidFill>
                <a:latin typeface="Open Sans"/>
              </a:rPr>
              <a:t>We have partnered with leading construction and engineering organisations across Australia for more than 20 years, including Webuild on Sydney Water. We recently used this same storyboarding approach to help a consortium earn its place in the ECI phase of Australia's High Speed Rail project.</a:t>
            </a:r>
          </a:p>
          <a:p>
            <a:pPr>
              <a:spcAft>
                <a:spcPts val="900"/>
              </a:spcAft>
              <a:buNone/>
            </a:pPr>
            <a:r>
              <a:rPr sz="1250" b="0" i="0">
                <a:solidFill>
                  <a:srgbClr val="3D3C3C"/>
                </a:solidFill>
                <a:latin typeface="Open Sans"/>
              </a:rPr>
              <a:t>We would be delighted to partner with you on this bid and to help Webuild take its first step into light rail with confidence.</a:t>
            </a:r>
          </a:p>
          <a:p>
            <a:pPr>
              <a:spcAft>
                <a:spcPts val="900"/>
              </a:spcAft>
              <a:buNone/>
            </a:pPr>
            <a:r>
              <a:rPr sz="1250" b="0" i="0">
                <a:solidFill>
                  <a:srgbClr val="3D3C3C"/>
                </a:solidFill>
                <a:latin typeface="Open Sans"/>
              </a:rPr>
              <a:t>Warm regards,</a:t>
            </a:r>
          </a:p>
        </p:txBody>
      </p:sp>
      <p:pic>
        <p:nvPicPr>
          <p:cNvPr id="6" name="Picture 5" descr="jt_sig.png"/>
          <p:cNvPicPr>
            <a:picLocks noChangeAspect="1"/>
          </p:cNvPicPr>
          <p:nvPr/>
        </p:nvPicPr>
        <p:blipFill>
          <a:blip r:embed="rId8"/>
          <a:stretch>
            <a:fillRect/>
          </a:stretch>
        </p:blipFill>
        <p:spPr>
          <a:xfrm>
            <a:off x="548640" y="4864608"/>
            <a:ext cx="996261" cy="475488"/>
          </a:xfrm>
          <a:prstGeom prst="rect">
            <a:avLst/>
          </a:prstGeom>
        </p:spPr>
      </p:pic>
      <p:pic>
        <p:nvPicPr>
          <p:cNvPr id="7" name="Picture 6" descr="jt.png"/>
          <p:cNvPicPr>
            <a:picLocks noChangeAspect="1"/>
          </p:cNvPicPr>
          <p:nvPr/>
        </p:nvPicPr>
        <p:blipFill>
          <a:blip r:embed="rId9"/>
          <a:stretch>
            <a:fillRect/>
          </a:stretch>
        </p:blipFill>
        <p:spPr>
          <a:xfrm>
            <a:off x="2240280" y="4800600"/>
            <a:ext cx="658368" cy="658368"/>
          </a:xfrm>
          <a:prstGeom prst="rect">
            <a:avLst/>
          </a:prstGeom>
        </p:spPr>
      </p:pic>
      <p:sp>
        <p:nvSpPr>
          <p:cNvPr id="8" name="TextBox 7"/>
          <p:cNvSpPr txBox="1"/>
          <p:nvPr/>
        </p:nvSpPr>
        <p:spPr>
          <a:xfrm>
            <a:off x="548640" y="5413248"/>
            <a:ext cx="5486400" cy="502920"/>
          </a:xfrm>
          <a:prstGeom prst="rect">
            <a:avLst/>
          </a:prstGeom>
          <a:noFill/>
        </p:spPr>
        <p:txBody>
          <a:bodyPr wrap="square" lIns="0" rIns="0" tIns="0" bIns="0" anchor="t">
            <a:spAutoFit/>
          </a:bodyPr>
          <a:lstStyle/>
          <a:p>
            <a:pPr>
              <a:spcAft>
                <a:spcPts val="0"/>
              </a:spcAft>
              <a:buNone/>
            </a:pPr>
            <a:r>
              <a:rPr sz="1200" b="1" i="0">
                <a:solidFill>
                  <a:srgbClr val="3D3C3C"/>
                </a:solidFill>
                <a:latin typeface="Open Sans"/>
              </a:rPr>
              <a:t>Jeffrey Tobias</a:t>
            </a:r>
          </a:p>
          <a:p>
            <a:pPr>
              <a:spcAft>
                <a:spcPts val="400"/>
              </a:spcAft>
              <a:buNone/>
            </a:pPr>
            <a:r>
              <a:rPr sz="1100" b="0" i="0">
                <a:solidFill>
                  <a:srgbClr val="3D3C3C"/>
                </a:solidFill>
                <a:latin typeface="Open Sans"/>
              </a:rPr>
              <a:t>Founder and Managing Partner, The Strategy Group</a:t>
            </a:r>
          </a:p>
        </p:txBody>
      </p:sp>
    </p:spTree>
    <p:extLst>
      <p:ext uri="{BB962C8B-B14F-4D97-AF65-F5344CB8AC3E}">
        <p14:creationId xmlns:p14="http://schemas.microsoft.com/office/powerpoint/2010/main" val="3726619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09AC-ABC7-FBD8-C445-E53C0C4FC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A19359-B947-1961-75AA-936DA272766C}"/>
              </a:ext>
            </a:extLst>
          </p:cNvPr>
          <p:cNvSpPr/>
          <p:nvPr/>
        </p:nvSpPr>
        <p:spPr>
          <a:xfrm>
            <a:off x="0" y="9253"/>
            <a:ext cx="12197626" cy="6880902"/>
          </a:xfrm>
          <a:prstGeom prst="rect">
            <a:avLst/>
          </a:prstGeom>
          <a:solidFill>
            <a:schemeClr val="tx1">
              <a:alpha val="6357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55" b="0" i="0" u="none" strike="noStrike" kern="1200" cap="none" spc="0" normalizeH="0" baseline="0" noProof="0">
              <a:ln>
                <a:noFill/>
              </a:ln>
              <a:solidFill>
                <a:srgbClr val="FFFFFF"/>
              </a:solidFill>
              <a:effectLst/>
              <a:uLnTx/>
              <a:uFillTx/>
              <a:latin typeface="Open Sans Light"/>
              <a:ea typeface="+mn-ea"/>
              <a:cs typeface="+mn-cs"/>
            </a:endParaRPr>
          </a:p>
        </p:txBody>
      </p:sp>
      <p:graphicFrame>
        <p:nvGraphicFramePr>
          <p:cNvPr id="3" name="Table 2">
            <a:extLst>
              <a:ext uri="{FF2B5EF4-FFF2-40B4-BE49-F238E27FC236}">
                <a16:creationId xmlns:a16="http://schemas.microsoft.com/office/drawing/2014/main" id="{D8A41966-51FC-7551-9FA9-8CFE56E86842}"/>
              </a:ext>
            </a:extLst>
          </p:cNvPr>
          <p:cNvGraphicFramePr>
            <a:graphicFrameLocks noGrp="1"/>
          </p:cNvGraphicFramePr>
          <p:nvPr/>
        </p:nvGraphicFramePr>
        <p:xfrm>
          <a:off x="5288691" y="1179740"/>
          <a:ext cx="6903309" cy="4412595"/>
        </p:xfrm>
        <a:graphic>
          <a:graphicData uri="http://schemas.openxmlformats.org/drawingml/2006/table">
            <a:tbl>
              <a:tblPr firstRow="1" bandRow="1">
                <a:tableStyleId>{5940675A-B579-460E-94D1-54222C63F5DA}</a:tableStyleId>
              </a:tblPr>
              <a:tblGrid>
                <a:gridCol w="1643448">
                  <a:extLst>
                    <a:ext uri="{9D8B030D-6E8A-4147-A177-3AD203B41FA5}">
                      <a16:colId xmlns:a16="http://schemas.microsoft.com/office/drawing/2014/main" val="3489013786"/>
                    </a:ext>
                  </a:extLst>
                </a:gridCol>
                <a:gridCol w="208280">
                  <a:extLst>
                    <a:ext uri="{9D8B030D-6E8A-4147-A177-3AD203B41FA5}">
                      <a16:colId xmlns:a16="http://schemas.microsoft.com/office/drawing/2014/main" val="2551940119"/>
                    </a:ext>
                  </a:extLst>
                </a:gridCol>
                <a:gridCol w="5051581">
                  <a:extLst>
                    <a:ext uri="{9D8B030D-6E8A-4147-A177-3AD203B41FA5}">
                      <a16:colId xmlns:a16="http://schemas.microsoft.com/office/drawing/2014/main" val="58592591"/>
                    </a:ext>
                  </a:extLst>
                </a:gridCol>
              </a:tblGrid>
              <a:tr h="882519">
                <a:tc>
                  <a:txBody>
                    <a:bodyPr/>
                    <a:lstStyle/>
                    <a:p>
                      <a:pPr algn="ctr"/>
                      <a:r>
                        <a:rPr lang="en-US" sz="2800" b="0" dirty="0">
                          <a:solidFill>
                            <a:schemeClr val="bg1"/>
                          </a:solidFill>
                          <a:latin typeface="Poppins" pitchFamily="2" charset="77"/>
                          <a:cs typeface="Poppins" pitchFamily="2" charset="77"/>
                        </a:rPr>
                        <a:t>01</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Poppins" pitchFamily="2" charset="77"/>
                          <a:cs typeface="Poppins" pitchFamily="2" charset="77"/>
                        </a:rPr>
                        <a:t>Our Understanding of Your Needs</a:t>
                      </a:r>
                      <a:endParaRPr lang="en-US" sz="18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6261238"/>
                  </a:ext>
                </a:extLst>
              </a:tr>
              <a:tr h="882519">
                <a:tc>
                  <a:txBody>
                    <a:bodyPr/>
                    <a:lstStyle/>
                    <a:p>
                      <a:pPr algn="ctr"/>
                      <a:r>
                        <a:rPr lang="en-US" sz="2800" b="0" dirty="0">
                          <a:solidFill>
                            <a:schemeClr val="bg1"/>
                          </a:solidFill>
                          <a:latin typeface="+mj-lt"/>
                          <a:cs typeface="Poppins Medium" panose="00000600000000000000" pitchFamily="2" charset="0"/>
                        </a:rPr>
                        <a:t>02</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mj-lt"/>
                          <a:cs typeface="Poppins Medium" panose="00000600000000000000" pitchFamily="2" charset="0"/>
                        </a:rPr>
                        <a:t>Why The Strategy Group</a:t>
                      </a:r>
                      <a:endParaRPr lang="en-US" sz="18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559838"/>
                  </a:ext>
                </a:extLst>
              </a:tr>
              <a:tr h="882519">
                <a:tc>
                  <a:txBody>
                    <a:bodyPr/>
                    <a:lstStyle/>
                    <a:p>
                      <a:pPr algn="ctr"/>
                      <a:r>
                        <a:rPr lang="en-US" sz="2800" b="0" dirty="0">
                          <a:solidFill>
                            <a:schemeClr val="bg1"/>
                          </a:solidFill>
                          <a:latin typeface="+mj-lt"/>
                          <a:cs typeface="Poppins Medium" panose="00000600000000000000" pitchFamily="2" charset="0"/>
                        </a:rPr>
                        <a:t>03</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0">
                          <a:solidFill>
                            <a:schemeClr val="bg1"/>
                          </a:solidFill>
                          <a:latin typeface="+mj-lt"/>
                          <a:cs typeface="Poppins Medium" panose="00000600000000000000" pitchFamily="2" charset="0"/>
                        </a:rPr>
                        <a:t>Our Approach</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1536259"/>
                  </a:ext>
                </a:extLst>
              </a:tr>
              <a:tr h="882519">
                <a:tc>
                  <a:txBody>
                    <a:bodyPr/>
                    <a:lstStyle/>
                    <a:p>
                      <a:pPr algn="ctr"/>
                      <a:r>
                        <a:rPr lang="en-US" sz="2800" b="0" dirty="0">
                          <a:solidFill>
                            <a:schemeClr val="bg1"/>
                          </a:solidFill>
                          <a:latin typeface="Poppins Medium" panose="00000600000000000000" pitchFamily="2" charset="0"/>
                          <a:cs typeface="Poppins Medium" panose="00000600000000000000" pitchFamily="2" charset="0"/>
                        </a:rPr>
                        <a:t>04</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b="0">
                          <a:solidFill>
                            <a:schemeClr val="bg1"/>
                          </a:solidFill>
                          <a:latin typeface="Poppins Medium" panose="00000600000000000000" pitchFamily="2" charset="0"/>
                          <a:cs typeface="Poppins Medium" panose="00000600000000000000" pitchFamily="2" charset="0"/>
                        </a:rPr>
                        <a:t>Our Experience and Team</a:t>
                      </a:r>
                      <a:r>
                        <a:rPr lang="en-US" sz="1800" b="0">
                          <a:solidFill>
                            <a:schemeClr val="bg1"/>
                          </a:solidFill>
                          <a:latin typeface="Poppins Medium" panose="00000600000000000000" pitchFamily="2" charset="0"/>
                          <a:cs typeface="Poppins Medium" panose="00000600000000000000" pitchFamily="2" charset="0"/>
                        </a:rPr>
                        <a:t/>
                      </a:r>
                      <a:r>
                        <a:rPr lang="en-AU" sz="1800" b="0">
                          <a:solidFill>
                            <a:schemeClr val="bg1"/>
                          </a:solidFill>
                          <a:latin typeface="Poppins Medium" panose="00000600000000000000" pitchFamily="2" charset="0"/>
                          <a:cs typeface="Poppins Medium" panose="00000600000000000000" pitchFamily="2" charset="0"/>
                        </a:rPr>
                        <a:t/>
                      </a:r>
                      <a:endParaRPr lang="en-US" sz="18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5165721"/>
                  </a:ext>
                </a:extLst>
              </a:tr>
              <a:tr h="882519">
                <a:tc>
                  <a:txBody>
                    <a:bodyPr/>
                    <a:lstStyle/>
                    <a:p>
                      <a:pPr algn="ctr"/>
                      <a:r>
                        <a:rPr lang="en-US" sz="2800" b="0" dirty="0">
                          <a:solidFill>
                            <a:schemeClr val="bg1"/>
                          </a:solidFill>
                          <a:latin typeface="Poppins" pitchFamily="2" charset="77"/>
                          <a:cs typeface="Poppins" pitchFamily="2" charset="77"/>
                        </a:rPr>
                        <a:t>05</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Poppins" pitchFamily="2" charset="77"/>
                          <a:cs typeface="Poppins" pitchFamily="2" charset="77"/>
                        </a:rPr>
                        <a:t>Investment</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18104154"/>
                  </a:ext>
                </a:extLst>
              </a:tr>
            </a:tbl>
          </a:graphicData>
        </a:graphic>
      </p:graphicFrame>
      <p:pic>
        <p:nvPicPr>
          <p:cNvPr id="7" name="Graphic 6">
            <a:extLst>
              <a:ext uri="{FF2B5EF4-FFF2-40B4-BE49-F238E27FC236}">
                <a16:creationId xmlns:a16="http://schemas.microsoft.com/office/drawing/2014/main" id="{9A0843B3-C65C-5254-9739-F0B4D579E1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25966" y="0"/>
            <a:ext cx="6959831" cy="5626984"/>
          </a:xfrm>
          <a:prstGeom prst="rect">
            <a:avLst/>
          </a:prstGeom>
        </p:spPr>
      </p:pic>
      <p:grpSp>
        <p:nvGrpSpPr>
          <p:cNvPr id="2" name="Group 1">
            <a:extLst>
              <a:ext uri="{FF2B5EF4-FFF2-40B4-BE49-F238E27FC236}">
                <a16:creationId xmlns:a16="http://schemas.microsoft.com/office/drawing/2014/main" id="{1D4B8EB6-53C5-A71D-D316-785AA88D6F8E}"/>
              </a:ext>
            </a:extLst>
          </p:cNvPr>
          <p:cNvGrpSpPr/>
          <p:nvPr/>
        </p:nvGrpSpPr>
        <p:grpSpPr>
          <a:xfrm>
            <a:off x="6931557" y="331283"/>
            <a:ext cx="2758775" cy="618017"/>
            <a:chOff x="6931557" y="331283"/>
            <a:chExt cx="2758775" cy="618017"/>
          </a:xfrm>
        </p:grpSpPr>
        <p:sp>
          <p:nvSpPr>
            <p:cNvPr id="12" name="TextBox 11">
              <a:extLst>
                <a:ext uri="{FF2B5EF4-FFF2-40B4-BE49-F238E27FC236}">
                  <a16:creationId xmlns:a16="http://schemas.microsoft.com/office/drawing/2014/main" id="{2114E355-9DF7-7479-CC8B-8E254E8D7542}"/>
                </a:ext>
              </a:extLst>
            </p:cNvPr>
            <p:cNvSpPr txBox="1"/>
            <p:nvPr/>
          </p:nvSpPr>
          <p:spPr>
            <a:xfrm>
              <a:off x="7334552" y="378682"/>
              <a:ext cx="19527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a:ln>
                    <a:noFill/>
                  </a:ln>
                  <a:solidFill>
                    <a:srgbClr val="FFFFFF"/>
                  </a:solidFill>
                  <a:effectLst/>
                  <a:uLnTx/>
                  <a:uFillTx/>
                  <a:latin typeface="Poppins" pitchFamily="2" charset="77"/>
                  <a:ea typeface="+mn-ea"/>
                  <a:cs typeface="Poppins" pitchFamily="2" charset="77"/>
                </a:rPr>
                <a:t>Contents</a:t>
              </a:r>
            </a:p>
          </p:txBody>
        </p:sp>
        <p:sp>
          <p:nvSpPr>
            <p:cNvPr id="13" name="Rectangle: Rounded Corners 12">
              <a:extLst>
                <a:ext uri="{FF2B5EF4-FFF2-40B4-BE49-F238E27FC236}">
                  <a16:creationId xmlns:a16="http://schemas.microsoft.com/office/drawing/2014/main" id="{2AA2110F-460B-4BA5-F8E5-3198C17D6E0C}"/>
                </a:ext>
              </a:extLst>
            </p:cNvPr>
            <p:cNvSpPr/>
            <p:nvPr/>
          </p:nvSpPr>
          <p:spPr>
            <a:xfrm>
              <a:off x="6931557" y="331283"/>
              <a:ext cx="2758775" cy="618017"/>
            </a:xfrm>
            <a:prstGeom prst="roundRect">
              <a:avLst>
                <a:gd name="adj" fmla="val 5000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Light"/>
                <a:ea typeface="+mn-ea"/>
                <a:cs typeface="+mn-cs"/>
              </a:endParaRPr>
            </a:p>
          </p:txBody>
        </p:sp>
      </p:grpSp>
    </p:spTree>
    <p:extLst>
      <p:ext uri="{BB962C8B-B14F-4D97-AF65-F5344CB8AC3E}">
        <p14:creationId xmlns:p14="http://schemas.microsoft.com/office/powerpoint/2010/main" val="2949948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09AC-ABC7-FBD8-C445-E53C0C4FC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A19359-B947-1961-75AA-936DA272766C}"/>
              </a:ext>
            </a:extLst>
          </p:cNvPr>
          <p:cNvSpPr/>
          <p:nvPr/>
        </p:nvSpPr>
        <p:spPr>
          <a:xfrm>
            <a:off x="0" y="9253"/>
            <a:ext cx="12197626" cy="6880902"/>
          </a:xfrm>
          <a:prstGeom prst="rect">
            <a:avLst/>
          </a:prstGeom>
          <a:solidFill>
            <a:schemeClr val="tx1">
              <a:alpha val="6357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55" b="0" i="0" u="none" strike="noStrike" kern="1200" cap="none" spc="0" normalizeH="0" baseline="0" noProof="0">
              <a:ln>
                <a:noFill/>
              </a:ln>
              <a:solidFill>
                <a:srgbClr val="FFFFFF"/>
              </a:solidFill>
              <a:effectLst/>
              <a:uLnTx/>
              <a:uFillTx/>
              <a:latin typeface="Open Sans Light"/>
              <a:ea typeface="+mn-ea"/>
              <a:cs typeface="+mn-cs"/>
            </a:endParaRPr>
          </a:p>
        </p:txBody>
      </p:sp>
      <p:graphicFrame>
        <p:nvGraphicFramePr>
          <p:cNvPr id="3" name="Table 2">
            <a:extLst>
              <a:ext uri="{FF2B5EF4-FFF2-40B4-BE49-F238E27FC236}">
                <a16:creationId xmlns:a16="http://schemas.microsoft.com/office/drawing/2014/main" id="{D8A41966-51FC-7551-9FA9-8CFE56E86842}"/>
              </a:ext>
            </a:extLst>
          </p:cNvPr>
          <p:cNvGraphicFramePr>
            <a:graphicFrameLocks noGrp="1"/>
          </p:cNvGraphicFramePr>
          <p:nvPr/>
        </p:nvGraphicFramePr>
        <p:xfrm>
          <a:off x="5288691" y="1179740"/>
          <a:ext cx="6903309" cy="4412595"/>
        </p:xfrm>
        <a:graphic>
          <a:graphicData uri="http://schemas.openxmlformats.org/drawingml/2006/table">
            <a:tbl>
              <a:tblPr firstRow="1" bandRow="1">
                <a:tableStyleId>{5940675A-B579-460E-94D1-54222C63F5DA}</a:tableStyleId>
              </a:tblPr>
              <a:tblGrid>
                <a:gridCol w="1643448">
                  <a:extLst>
                    <a:ext uri="{9D8B030D-6E8A-4147-A177-3AD203B41FA5}">
                      <a16:colId xmlns:a16="http://schemas.microsoft.com/office/drawing/2014/main" val="3489013786"/>
                    </a:ext>
                  </a:extLst>
                </a:gridCol>
                <a:gridCol w="208280">
                  <a:extLst>
                    <a:ext uri="{9D8B030D-6E8A-4147-A177-3AD203B41FA5}">
                      <a16:colId xmlns:a16="http://schemas.microsoft.com/office/drawing/2014/main" val="2551940119"/>
                    </a:ext>
                  </a:extLst>
                </a:gridCol>
                <a:gridCol w="5051581">
                  <a:extLst>
                    <a:ext uri="{9D8B030D-6E8A-4147-A177-3AD203B41FA5}">
                      <a16:colId xmlns:a16="http://schemas.microsoft.com/office/drawing/2014/main" val="58592591"/>
                    </a:ext>
                  </a:extLst>
                </a:gridCol>
              </a:tblGrid>
              <a:tr h="882519">
                <a:tc>
                  <a:txBody>
                    <a:bodyPr/>
                    <a:lstStyle/>
                    <a:p>
                      <a:pPr algn="ctr"/>
                      <a:r>
                        <a:rPr lang="en-US" sz="2800" b="1" dirty="0">
                          <a:solidFill>
                            <a:schemeClr val="bg1"/>
                          </a:solidFill>
                          <a:latin typeface="Poppins" pitchFamily="2" charset="77"/>
                          <a:cs typeface="Poppins" pitchFamily="2" charset="77"/>
                        </a:rPr>
                        <a:t>01</a:t>
                      </a:r>
                    </a:p>
                  </a:txBody>
                  <a:tcPr anchor="ctr">
                    <a:lnL w="12700" cmpd="sng">
                      <a:noFill/>
                    </a:lnL>
                    <a:lnR w="12700" cmpd="sng">
                      <a:no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1">
                          <a:solidFill>
                            <a:schemeClr val="bg1"/>
                          </a:solidFill>
                          <a:latin typeface="Poppins" pitchFamily="2" charset="77"/>
                          <a:cs typeface="Poppins" pitchFamily="2" charset="77"/>
                        </a:rPr>
                        <a:t>Our Understanding of Your Needs</a:t>
                      </a:r>
                      <a:endParaRPr lang="en-US" sz="1800" b="0">
                        <a:solidFill>
                          <a:schemeClr val="bg1"/>
                        </a:solidFill>
                        <a:latin typeface="Poppins" pitchFamily="2" charset="77"/>
                        <a:cs typeface="Poppins" pitchFamily="2" charset="77"/>
                      </a:endParaRPr>
                    </a:p>
                  </a:txBody>
                  <a:tcPr anchor="ctr">
                    <a:lnL w="12700" cmpd="sng">
                      <a:noFill/>
                    </a:lnL>
                    <a:lnR w="12700" cmpd="sng">
                      <a:no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6261238"/>
                  </a:ext>
                </a:extLst>
              </a:tr>
              <a:tr h="882519">
                <a:tc>
                  <a:txBody>
                    <a:bodyPr/>
                    <a:lstStyle/>
                    <a:p>
                      <a:pPr algn="ctr"/>
                      <a:r>
                        <a:rPr lang="en-US" sz="2800" b="0" dirty="0">
                          <a:solidFill>
                            <a:schemeClr val="bg1"/>
                          </a:solidFill>
                          <a:latin typeface="+mj-lt"/>
                          <a:cs typeface="Poppins Medium" panose="00000600000000000000" pitchFamily="2" charset="0"/>
                        </a:rPr>
                        <a:t>02</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mj-lt"/>
                          <a:cs typeface="Poppins Medium" panose="00000600000000000000" pitchFamily="2" charset="0"/>
                        </a:rPr>
                        <a:t>Why The Strategy Group</a:t>
                      </a:r>
                      <a:endParaRPr lang="en-US" sz="18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559838"/>
                  </a:ext>
                </a:extLst>
              </a:tr>
              <a:tr h="882519">
                <a:tc>
                  <a:txBody>
                    <a:bodyPr/>
                    <a:lstStyle/>
                    <a:p>
                      <a:pPr algn="ctr"/>
                      <a:r>
                        <a:rPr lang="en-US" sz="2800" b="0" dirty="0">
                          <a:solidFill>
                            <a:schemeClr val="bg1"/>
                          </a:solidFill>
                          <a:latin typeface="+mj-lt"/>
                          <a:cs typeface="Poppins Medium" panose="00000600000000000000" pitchFamily="2" charset="0"/>
                        </a:rPr>
                        <a:t>03</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0">
                          <a:solidFill>
                            <a:schemeClr val="bg1"/>
                          </a:solidFill>
                          <a:latin typeface="+mj-lt"/>
                          <a:cs typeface="Poppins Medium" panose="00000600000000000000" pitchFamily="2" charset="0"/>
                        </a:rPr>
                        <a:t>Our Approach</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1536259"/>
                  </a:ext>
                </a:extLst>
              </a:tr>
              <a:tr h="882519">
                <a:tc>
                  <a:txBody>
                    <a:bodyPr/>
                    <a:lstStyle/>
                    <a:p>
                      <a:pPr algn="ctr"/>
                      <a:r>
                        <a:rPr lang="en-US" sz="2800" b="0" dirty="0">
                          <a:solidFill>
                            <a:schemeClr val="bg1"/>
                          </a:solidFill>
                          <a:latin typeface="Poppins Medium" panose="00000600000000000000" pitchFamily="2" charset="0"/>
                          <a:cs typeface="Poppins Medium" panose="00000600000000000000" pitchFamily="2" charset="0"/>
                        </a:rPr>
                        <a:t>04</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b="0">
                          <a:solidFill>
                            <a:schemeClr val="bg1"/>
                          </a:solidFill>
                          <a:latin typeface="Poppins Medium" panose="00000600000000000000" pitchFamily="2" charset="0"/>
                          <a:cs typeface="Poppins Medium" panose="00000600000000000000" pitchFamily="2" charset="0"/>
                        </a:rPr>
                        <a:t>Our Experience and Team</a:t>
                      </a:r>
                      <a:r>
                        <a:rPr lang="en-US" sz="1800" b="0">
                          <a:solidFill>
                            <a:schemeClr val="bg1"/>
                          </a:solidFill>
                          <a:latin typeface="Poppins Medium" panose="00000600000000000000" pitchFamily="2" charset="0"/>
                          <a:cs typeface="Poppins Medium" panose="00000600000000000000" pitchFamily="2" charset="0"/>
                        </a:rPr>
                        <a:t/>
                      </a:r>
                      <a:r>
                        <a:rPr lang="en-AU" sz="1800" b="0">
                          <a:solidFill>
                            <a:schemeClr val="bg1"/>
                          </a:solidFill>
                          <a:latin typeface="Poppins Medium" panose="00000600000000000000" pitchFamily="2" charset="0"/>
                          <a:cs typeface="Poppins Medium" panose="00000600000000000000" pitchFamily="2" charset="0"/>
                        </a:rPr>
                        <a:t/>
                      </a:r>
                      <a:endParaRPr lang="en-US" sz="18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5165721"/>
                  </a:ext>
                </a:extLst>
              </a:tr>
              <a:tr h="882519">
                <a:tc>
                  <a:txBody>
                    <a:bodyPr/>
                    <a:lstStyle/>
                    <a:p>
                      <a:pPr algn="ctr"/>
                      <a:r>
                        <a:rPr lang="en-US" sz="2800" b="0" dirty="0">
                          <a:solidFill>
                            <a:schemeClr val="bg1"/>
                          </a:solidFill>
                          <a:latin typeface="Poppins" pitchFamily="2" charset="77"/>
                          <a:cs typeface="Poppins" pitchFamily="2" charset="77"/>
                        </a:rPr>
                        <a:t>05</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Poppins" pitchFamily="2" charset="77"/>
                          <a:cs typeface="Poppins" pitchFamily="2" charset="77"/>
                        </a:rPr>
                        <a:t>Investment</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18104154"/>
                  </a:ext>
                </a:extLst>
              </a:tr>
            </a:tbl>
          </a:graphicData>
        </a:graphic>
      </p:graphicFrame>
      <p:pic>
        <p:nvPicPr>
          <p:cNvPr id="7" name="Graphic 6">
            <a:extLst>
              <a:ext uri="{FF2B5EF4-FFF2-40B4-BE49-F238E27FC236}">
                <a16:creationId xmlns:a16="http://schemas.microsoft.com/office/drawing/2014/main" id="{9A0843B3-C65C-5254-9739-F0B4D579E1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25966" y="0"/>
            <a:ext cx="6959831" cy="5626984"/>
          </a:xfrm>
          <a:prstGeom prst="rect">
            <a:avLst/>
          </a:prstGeom>
        </p:spPr>
      </p:pic>
      <p:grpSp>
        <p:nvGrpSpPr>
          <p:cNvPr id="2" name="Group 1">
            <a:extLst>
              <a:ext uri="{FF2B5EF4-FFF2-40B4-BE49-F238E27FC236}">
                <a16:creationId xmlns:a16="http://schemas.microsoft.com/office/drawing/2014/main" id="{1D4B8EB6-53C5-A71D-D316-785AA88D6F8E}"/>
              </a:ext>
            </a:extLst>
          </p:cNvPr>
          <p:cNvGrpSpPr/>
          <p:nvPr/>
        </p:nvGrpSpPr>
        <p:grpSpPr>
          <a:xfrm>
            <a:off x="6931557" y="331283"/>
            <a:ext cx="2758775" cy="618017"/>
            <a:chOff x="6931557" y="331283"/>
            <a:chExt cx="2758775" cy="618017"/>
          </a:xfrm>
        </p:grpSpPr>
        <p:sp>
          <p:nvSpPr>
            <p:cNvPr id="12" name="TextBox 11">
              <a:extLst>
                <a:ext uri="{FF2B5EF4-FFF2-40B4-BE49-F238E27FC236}">
                  <a16:creationId xmlns:a16="http://schemas.microsoft.com/office/drawing/2014/main" id="{2114E355-9DF7-7479-CC8B-8E254E8D7542}"/>
                </a:ext>
              </a:extLst>
            </p:cNvPr>
            <p:cNvSpPr txBox="1"/>
            <p:nvPr/>
          </p:nvSpPr>
          <p:spPr>
            <a:xfrm>
              <a:off x="7334552" y="378682"/>
              <a:ext cx="19527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a:ln>
                    <a:noFill/>
                  </a:ln>
                  <a:solidFill>
                    <a:srgbClr val="FFFFFF"/>
                  </a:solidFill>
                  <a:effectLst/>
                  <a:uLnTx/>
                  <a:uFillTx/>
                  <a:latin typeface="Poppins" pitchFamily="2" charset="77"/>
                  <a:ea typeface="+mn-ea"/>
                  <a:cs typeface="Poppins" pitchFamily="2" charset="77"/>
                </a:rPr>
                <a:t>Contents</a:t>
              </a:r>
            </a:p>
          </p:txBody>
        </p:sp>
        <p:sp>
          <p:nvSpPr>
            <p:cNvPr id="13" name="Rectangle: Rounded Corners 12">
              <a:extLst>
                <a:ext uri="{FF2B5EF4-FFF2-40B4-BE49-F238E27FC236}">
                  <a16:creationId xmlns:a16="http://schemas.microsoft.com/office/drawing/2014/main" id="{2AA2110F-460B-4BA5-F8E5-3198C17D6E0C}"/>
                </a:ext>
              </a:extLst>
            </p:cNvPr>
            <p:cNvSpPr/>
            <p:nvPr/>
          </p:nvSpPr>
          <p:spPr>
            <a:xfrm>
              <a:off x="6931557" y="331283"/>
              <a:ext cx="2758775" cy="618017"/>
            </a:xfrm>
            <a:prstGeom prst="roundRect">
              <a:avLst>
                <a:gd name="adj" fmla="val 5000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Light"/>
                <a:ea typeface="+mn-ea"/>
                <a:cs typeface="+mn-cs"/>
              </a:endParaRPr>
            </a:p>
          </p:txBody>
        </p:sp>
      </p:grpSp>
    </p:spTree>
    <p:extLst>
      <p:ext uri="{BB962C8B-B14F-4D97-AF65-F5344CB8AC3E}">
        <p14:creationId xmlns:p14="http://schemas.microsoft.com/office/powerpoint/2010/main" val="2949948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058D24-5D21-9344-B94E-5CEDA277C645}"/>
            </a:ext>
          </a:extLst>
        </p:cNvPr>
        <p:cNvGrpSpPr/>
        <p:nvPr/>
      </p:nvGrpSpPr>
      <p:grpSpPr>
        <a:xfrm>
          <a:off x="0" y="0"/>
          <a:ext cx="0" cy="0"/>
          <a:chOff x="0" y="0"/>
          <a:chExt cx="0" cy="0"/>
        </a:xfrm>
      </p:grpSpPr>
      <p:pic>
        <p:nvPicPr>
          <p:cNvPr id="1030" name="Picture 6">
            <a:extLst>
              <a:ext uri="{FF2B5EF4-FFF2-40B4-BE49-F238E27FC236}">
                <a16:creationId xmlns:a16="http://schemas.microsoft.com/office/drawing/2014/main" id="{60B4C24D-A552-D053-8B6F-13422AF695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970" r="19970"/>
          <a:stretch/>
        </p:blipFill>
        <p:spPr bwMode="auto">
          <a:xfrm>
            <a:off x="8073134" y="0"/>
            <a:ext cx="4118866" cy="6858000"/>
          </a:xfrm>
          <a:prstGeom prst="parallelogram">
            <a:avLst>
              <a:gd name="adj" fmla="val 26441"/>
            </a:avLst>
          </a:prstGeom>
          <a:noFill/>
          <a:extLst>
            <a:ext uri="{909E8E84-426E-40DD-AFC4-6F175D3DCCD1}">
              <a14:hiddenFill xmlns:a14="http://schemas.microsoft.com/office/drawing/2010/main">
                <a:solidFill>
                  <a:srgbClr val="FFFFFF"/>
                </a:solidFill>
              </a14:hiddenFill>
            </a:ext>
          </a:extLst>
        </p:spPr>
      </p:pic>
      <p:grpSp>
        <p:nvGrpSpPr>
          <p:cNvPr id="9" name="Group 8">
            <a:extLst>
              <a:ext uri="{FF2B5EF4-FFF2-40B4-BE49-F238E27FC236}">
                <a16:creationId xmlns:a16="http://schemas.microsoft.com/office/drawing/2014/main" id="{7436DCE3-F6B3-E59A-23C9-E85EB4478C1C}"/>
              </a:ext>
            </a:extLst>
          </p:cNvPr>
          <p:cNvGrpSpPr/>
          <p:nvPr/>
        </p:nvGrpSpPr>
        <p:grpSpPr>
          <a:xfrm>
            <a:off x="-94946" y="3219855"/>
            <a:ext cx="8790432" cy="2804268"/>
            <a:chOff x="607450" y="4026484"/>
            <a:chExt cx="7276532" cy="958837"/>
          </a:xfrm>
        </p:grpSpPr>
        <p:sp>
          <p:nvSpPr>
            <p:cNvPr id="10" name="Arrow: Pentagon 9">
              <a:extLst>
                <a:ext uri="{FF2B5EF4-FFF2-40B4-BE49-F238E27FC236}">
                  <a16:creationId xmlns:a16="http://schemas.microsoft.com/office/drawing/2014/main" id="{C321230E-2EA7-7386-D074-E0E6CCCA2032}"/>
                </a:ext>
              </a:extLst>
            </p:cNvPr>
            <p:cNvSpPr/>
            <p:nvPr/>
          </p:nvSpPr>
          <p:spPr>
            <a:xfrm>
              <a:off x="2635834" y="4026484"/>
              <a:ext cx="5248148" cy="958837"/>
            </a:xfrm>
            <a:prstGeom prst="homePlate">
              <a:avLst>
                <a:gd name="adj" fmla="val 0"/>
              </a:avLst>
            </a:prstGeom>
            <a:gradFill>
              <a:gsLst>
                <a:gs pos="33000">
                  <a:schemeClr val="bg1">
                    <a:lumMod val="95000"/>
                  </a:schemeClr>
                </a:gs>
                <a:gs pos="100000">
                  <a:schemeClr val="accent3">
                    <a:lumMod val="20000"/>
                    <a:lumOff val="80000"/>
                    <a:alpha val="0"/>
                  </a:schemeClr>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Light"/>
                <a:ea typeface="+mn-ea"/>
                <a:cs typeface="+mn-cs"/>
              </a:endParaRPr>
            </a:p>
          </p:txBody>
        </p:sp>
        <p:sp>
          <p:nvSpPr>
            <p:cNvPr id="11" name="Arrow: Pentagon 10">
              <a:extLst>
                <a:ext uri="{FF2B5EF4-FFF2-40B4-BE49-F238E27FC236}">
                  <a16:creationId xmlns:a16="http://schemas.microsoft.com/office/drawing/2014/main" id="{8F1DD3F0-979A-6C35-59CB-DE75530F0579}"/>
                </a:ext>
              </a:extLst>
            </p:cNvPr>
            <p:cNvSpPr/>
            <p:nvPr/>
          </p:nvSpPr>
          <p:spPr>
            <a:xfrm>
              <a:off x="607450" y="4031214"/>
              <a:ext cx="3870388" cy="954107"/>
            </a:xfrm>
            <a:prstGeom prst="homePlate">
              <a:avLst>
                <a:gd name="adj" fmla="val 28261"/>
              </a:avLst>
            </a:prstGeom>
            <a:gradFill>
              <a:gsLst>
                <a:gs pos="0">
                  <a:schemeClr val="bg1">
                    <a:lumMod val="95000"/>
                  </a:schemeClr>
                </a:gs>
                <a:gs pos="100000">
                  <a:schemeClr val="bg2"/>
                </a:gs>
              </a:gsLst>
              <a:lin ang="1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Light"/>
                <a:ea typeface="+mn-ea"/>
                <a:cs typeface="+mn-cs"/>
              </a:endParaRPr>
            </a:p>
          </p:txBody>
        </p:sp>
      </p:grpSp>
      <p:sp>
        <p:nvSpPr>
          <p:cNvPr id="17" name="Rectangle 16">
            <a:extLst>
              <a:ext uri="{FF2B5EF4-FFF2-40B4-BE49-F238E27FC236}">
                <a16:creationId xmlns:a16="http://schemas.microsoft.com/office/drawing/2014/main" id="{D40A054F-2BA3-184C-D3F2-939C5033B55F}"/>
              </a:ext>
            </a:extLst>
          </p:cNvPr>
          <p:cNvSpPr/>
          <p:nvPr/>
        </p:nvSpPr>
        <p:spPr>
          <a:xfrm>
            <a:off x="527407" y="1832039"/>
            <a:ext cx="7920792" cy="23276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sz="1050" b="0" i="0">
                <a:solidFill>
                  <a:srgbClr val="3D3C3C"/>
                </a:solidFill>
                <a:latin typeface="Open Sans"/>
              </a:rPr>
              <a:t>The Queensland Government is seeking Expressions of Interest from contractors to partner on Gold Coast Light Rail Stage 4 through an Early Contractor Involvement (ECI) model. The EOI is expected shortly, with a response period of around six weeks.</a:t>
            </a:r>
          </a:p>
          <a:p>
            <a:pPr>
              <a:spcAft>
                <a:spcPts val="600"/>
              </a:spcAft>
              <a:buNone/>
            </a:pPr>
            <a:r>
              <a:rPr sz="1050" b="0" i="0">
                <a:solidFill>
                  <a:srgbClr val="3D3C3C"/>
                </a:solidFill>
                <a:latin typeface="Open Sans"/>
              </a:rPr>
              <a:t>Webuild brings decades of rail and major infrastructure delivery, but has not yet delivered light rail. It will compete against contractors with light rail track records, at a time when coverage of other projects has put its reputation under scrutiny. The EOI must do more than answer questions: it must give the client confidence that Webuild understands their world and will be a partner that is easy to work with.</a:t>
            </a:r>
          </a:p>
        </p:txBody>
      </p:sp>
      <p:sp>
        <p:nvSpPr>
          <p:cNvPr id="4" name="TextBox 3">
            <a:extLst>
              <a:ext uri="{FF2B5EF4-FFF2-40B4-BE49-F238E27FC236}">
                <a16:creationId xmlns:a16="http://schemas.microsoft.com/office/drawing/2014/main" id="{5DEEC1EA-FB6B-3F06-BE8E-BC74E1BC05F2}"/>
              </a:ext>
            </a:extLst>
          </p:cNvPr>
          <p:cNvSpPr txBox="1"/>
          <p:nvPr/>
        </p:nvSpPr>
        <p:spPr>
          <a:xfrm>
            <a:off x="527407" y="1541383"/>
            <a:ext cx="330476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AU" sz="1200" b="1" i="0" u="none" strike="noStrike" kern="1200" cap="none" spc="0" normalizeH="0" baseline="0" noProof="0">
                <a:ln>
                  <a:noFill/>
                </a:ln>
                <a:solidFill>
                  <a:srgbClr val="EE2B79"/>
                </a:solidFill>
                <a:effectLst/>
                <a:uLnTx/>
                <a:uFillTx/>
                <a:latin typeface="Poppins" pitchFamily="2" charset="77"/>
                <a:ea typeface="+mn-ea"/>
                <a:cs typeface="Poppins" pitchFamily="2" charset="77"/>
              </a:rPr>
              <a:t>Background</a:t>
            </a:r>
            <a:endParaRPr kumimoji="0" lang="en-AU" sz="1200" b="0" i="0" u="none" strike="noStrike" kern="1200" cap="none" spc="0" normalizeH="0" baseline="0" noProof="0">
              <a:ln>
                <a:noFill/>
              </a:ln>
              <a:solidFill>
                <a:srgbClr val="EE2B79"/>
              </a:solidFill>
              <a:effectLst/>
              <a:uLnTx/>
              <a:uFillTx/>
              <a:latin typeface="Poppins" pitchFamily="2" charset="77"/>
              <a:ea typeface="+mn-ea"/>
              <a:cs typeface="Poppins" pitchFamily="2" charset="77"/>
            </a:endParaRPr>
          </a:p>
        </p:txBody>
      </p:sp>
      <p:sp>
        <p:nvSpPr>
          <p:cNvPr id="27" name="TextBox 26">
            <a:extLst>
              <a:ext uri="{FF2B5EF4-FFF2-40B4-BE49-F238E27FC236}">
                <a16:creationId xmlns:a16="http://schemas.microsoft.com/office/drawing/2014/main" id="{0D3E50D8-867E-DEBA-19B4-D2CE1FC4FE89}"/>
              </a:ext>
            </a:extLst>
          </p:cNvPr>
          <p:cNvSpPr txBox="1"/>
          <p:nvPr/>
        </p:nvSpPr>
        <p:spPr>
          <a:xfrm>
            <a:off x="527405" y="3359087"/>
            <a:ext cx="2880000" cy="276999"/>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E98D7"/>
                </a:solidFill>
                <a:effectLst/>
                <a:uLnTx/>
                <a:uFillTx/>
                <a:latin typeface="Poppins" pitchFamily="2" charset="77"/>
                <a:ea typeface="+mn-ea"/>
                <a:cs typeface="Poppins" pitchFamily="2" charset="77"/>
              </a:rPr>
              <a:t>Our Strategic Approach</a:t>
            </a:r>
          </a:p>
        </p:txBody>
      </p:sp>
      <p:sp>
        <p:nvSpPr>
          <p:cNvPr id="25" name="TextBox 24">
            <a:extLst>
              <a:ext uri="{FF2B5EF4-FFF2-40B4-BE49-F238E27FC236}">
                <a16:creationId xmlns:a16="http://schemas.microsoft.com/office/drawing/2014/main" id="{BBAC706F-3D37-65EA-59FB-92ACF78AFE78}"/>
              </a:ext>
            </a:extLst>
          </p:cNvPr>
          <p:cNvSpPr txBox="1"/>
          <p:nvPr/>
        </p:nvSpPr>
        <p:spPr>
          <a:xfrm>
            <a:off x="4727250" y="3359087"/>
            <a:ext cx="2880000" cy="276999"/>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EB88A"/>
                </a:solidFill>
                <a:effectLst/>
                <a:uLnTx/>
                <a:uFillTx/>
                <a:latin typeface="Poppins" pitchFamily="2" charset="77"/>
                <a:ea typeface="+mn-ea"/>
                <a:cs typeface="Poppins" pitchFamily="2" charset="77"/>
              </a:rPr>
              <a:t>Key Benefits</a:t>
            </a:r>
          </a:p>
        </p:txBody>
      </p:sp>
      <p:sp>
        <p:nvSpPr>
          <p:cNvPr id="7" name="Rectangle 6">
            <a:extLst>
              <a:ext uri="{FF2B5EF4-FFF2-40B4-BE49-F238E27FC236}">
                <a16:creationId xmlns:a16="http://schemas.microsoft.com/office/drawing/2014/main" id="{3D134C87-3D91-7B7E-E753-57013E5C9E7F}"/>
              </a:ext>
            </a:extLst>
          </p:cNvPr>
          <p:cNvSpPr/>
          <p:nvPr/>
        </p:nvSpPr>
        <p:spPr>
          <a:xfrm>
            <a:off x="527405" y="3705471"/>
            <a:ext cx="3801928" cy="179548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lstStyle/>
          <a:p>
            <a:pPr marL="155448" marR="0" lvl="0" indent="-155448" algn="l" defTabSz="914400" rtl="0" eaLnBrk="1" fontAlgn="auto" latinLnBrk="0" hangingPunct="1">
              <a:lnSpc>
                <a:spcPct val="100000"/>
              </a:lnSpc>
              <a:spcBef>
                <a:spcPts val="0"/>
              </a:spcBef>
              <a:spcAft>
                <a:spcPts val="300"/>
              </a:spcAft>
              <a:buClrTx/>
              <a:buSzTx/>
              <a:tabLst/>
              <a:defRPr/>
              <a:buFont typeface="Arial"/>
              <a:buChar char="•"/>
            </a:pPr>
            <a:r>
              <a:rPr sz="1050" b="0" i="0">
                <a:solidFill>
                  <a:srgbClr val="3D3C3C"/>
                </a:solidFill>
                <a:latin typeface="Open Sans"/>
              </a:rPr>
              <a:t>Build a clear picture of what the client needs, values and will not compromise on</a:t>
            </a:r>
          </a:p>
          <a:p>
            <a:pPr marL="155448" indent="-155448">
              <a:spcAft>
                <a:spcPts val="300"/>
              </a:spcAft>
              <a:buFont typeface="Arial"/>
              <a:buChar char="•"/>
            </a:pPr>
            <a:r>
              <a:rPr sz="1050" b="0" i="0">
                <a:solidFill>
                  <a:srgbClr val="3D3C3C"/>
                </a:solidFill>
                <a:latin typeface="Open Sans"/>
              </a:rPr>
              <a:t>Help Webuild rediscover its story and define evidence-backed win themes</a:t>
            </a:r>
          </a:p>
          <a:p>
            <a:pPr marL="155448" indent="-155448">
              <a:spcAft>
                <a:spcPts val="300"/>
              </a:spcAft>
              <a:buFont typeface="Arial"/>
              <a:buChar char="•"/>
            </a:pPr>
            <a:r>
              <a:rPr sz="1050" b="0" i="0">
                <a:solidFill>
                  <a:srgbClr val="3D3C3C"/>
                </a:solidFill>
                <a:latin typeface="Open Sans"/>
              </a:rPr>
              <a:t>Storyboard each EOI response, linking every person and project to the client's outcomes</a:t>
            </a:r>
          </a:p>
          <a:p>
            <a:pPr marL="155448" indent="-155448">
              <a:spcAft>
                <a:spcPts val="300"/>
              </a:spcAft>
              <a:buFont typeface="Arial"/>
              <a:buChar char="•"/>
            </a:pPr>
            <a:r>
              <a:rPr sz="1050" b="0" i="0">
                <a:solidFill>
                  <a:srgbClr val="3D3C3C"/>
                </a:solidFill>
                <a:latin typeface="Open Sans"/>
              </a:rPr>
              <a:t>Equip Webuild to brief its bid writers with clear, prescriptive direction</a:t>
            </a:r>
          </a:p>
          <a:p>
            <a:pPr marL="155448" indent="-155448">
              <a:spcAft>
                <a:spcPts val="300"/>
              </a:spcAft>
              <a:buFont typeface="Arial"/>
              <a:buChar char="•"/>
            </a:pPr>
            <a:r>
              <a:rPr sz="1050" b="0" i="0">
                <a:solidFill>
                  <a:srgbClr val="3D3C3C"/>
                </a:solidFill>
                <a:latin typeface="Open Sans"/>
              </a:rPr>
              <a:t>Review drafts at Weeks 4 and 5 through an independent client lens</a:t>
            </a:r>
          </a:p>
        </p:txBody>
      </p:sp>
      <p:sp>
        <p:nvSpPr>
          <p:cNvPr id="8" name="Rectangle 7">
            <a:extLst>
              <a:ext uri="{FF2B5EF4-FFF2-40B4-BE49-F238E27FC236}">
                <a16:creationId xmlns:a16="http://schemas.microsoft.com/office/drawing/2014/main" id="{B521628C-1441-7F39-0310-825B8D6CD8E3}"/>
              </a:ext>
            </a:extLst>
          </p:cNvPr>
          <p:cNvSpPr/>
          <p:nvPr/>
        </p:nvSpPr>
        <p:spPr>
          <a:xfrm>
            <a:off x="4727250" y="3732007"/>
            <a:ext cx="3587397" cy="16960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anchor="t"/>
          <a:lstStyle/>
          <a:p>
            <a:pPr marL="155448" marR="0" lvl="0" indent="-155448" algn="l" defTabSz="914400" rtl="0" eaLnBrk="1" fontAlgn="auto" latinLnBrk="0" hangingPunct="1">
              <a:lnSpc>
                <a:spcPct val="100000"/>
              </a:lnSpc>
              <a:spcBef>
                <a:spcPts val="0"/>
              </a:spcBef>
              <a:spcAft>
                <a:spcPts val="300"/>
              </a:spcAft>
              <a:buClrTx/>
              <a:buSzTx/>
              <a:tabLst/>
              <a:defRPr/>
              <a:buClr>
                <a:srgbClr val="2EB88A"/>
              </a:buClr>
              <a:buFont typeface="Arial"/>
              <a:buChar char="•"/>
            </a:pPr>
            <a:r>
              <a:rPr sz="1050" b="0" i="0">
                <a:solidFill>
                  <a:srgbClr val="3D3C3C"/>
                </a:solidFill>
                <a:latin typeface="Open Sans"/>
              </a:rPr>
              <a:t>Transferable experience reframed as a credible strength, not a gap</a:t>
            </a:r>
          </a:p>
          <a:p>
            <a:pPr marL="155448" indent="-155448">
              <a:spcAft>
                <a:spcPts val="300"/>
              </a:spcAft>
              <a:buClr>
                <a:srgbClr val="2EB88A"/>
              </a:buClr>
              <a:buFont typeface="Arial"/>
              <a:buChar char="•"/>
            </a:pPr>
            <a:r>
              <a:rPr sz="1050" b="0" i="0">
                <a:solidFill>
                  <a:srgbClr val="3D3C3C"/>
                </a:solidFill>
                <a:latin typeface="Open Sans"/>
              </a:rPr>
              <a:t>One consistent, client-centred story across every response</a:t>
            </a:r>
          </a:p>
          <a:p>
            <a:pPr marL="155448" indent="-155448">
              <a:spcAft>
                <a:spcPts val="300"/>
              </a:spcAft>
              <a:buClr>
                <a:srgbClr val="2EB88A"/>
              </a:buClr>
              <a:buFont typeface="Arial"/>
              <a:buChar char="•"/>
            </a:pPr>
            <a:r>
              <a:rPr sz="1050" b="0" i="0">
                <a:solidFill>
                  <a:srgbClr val="3D3C3C"/>
                </a:solidFill>
                <a:latin typeface="Open Sans"/>
              </a:rPr>
              <a:t>A proposed team the client can picture working alongside</a:t>
            </a:r>
          </a:p>
          <a:p>
            <a:pPr marL="155448" indent="-155448">
              <a:spcAft>
                <a:spcPts val="300"/>
              </a:spcAft>
              <a:buClr>
                <a:srgbClr val="2EB88A"/>
              </a:buClr>
              <a:buFont typeface="Arial"/>
              <a:buChar char="•"/>
            </a:pPr>
            <a:r>
              <a:rPr sz="1050" b="0" i="0">
                <a:solidFill>
                  <a:srgbClr val="3D3C3C"/>
                </a:solidFill>
                <a:latin typeface="Open Sans"/>
              </a:rPr>
              <a:t>Skills your team keeps for future bids, not a one-off rewrite</a:t>
            </a:r>
          </a:p>
        </p:txBody>
      </p:sp>
      <p:sp>
        <p:nvSpPr>
          <p:cNvPr id="2" name="Slide Number Placeholder 3">
            <a:extLst>
              <a:ext uri="{FF2B5EF4-FFF2-40B4-BE49-F238E27FC236}">
                <a16:creationId xmlns:a16="http://schemas.microsoft.com/office/drawing/2014/main" id="{97578E6C-BC1E-24E7-1997-22BB7327DE5E}"/>
              </a:ext>
            </a:extLst>
          </p:cNvPr>
          <p:cNvSpPr txBox="1">
            <a:spLocks/>
          </p:cNvSpPr>
          <p:nvPr/>
        </p:nvSpPr>
        <p:spPr>
          <a:xfrm>
            <a:off x="8600440" y="6241428"/>
            <a:ext cx="2743200" cy="365125"/>
          </a:xfrm>
          <a:prstGeom prst="rect">
            <a:avLst/>
          </a:prstGeom>
        </p:spPr>
        <p:txBody>
          <a:bodyPr vert="horz" lIns="91440" tIns="45720" rIns="91440" bIns="45720" rtlCol="0" anchor="ctr"/>
          <a:lstStyle>
            <a:defPPr>
              <a:defRPr lang="en-US"/>
            </a:defPPr>
            <a:lvl1pPr algn="r">
              <a:defRPr sz="900">
                <a:solidFill>
                  <a:schemeClr val="tx1">
                    <a:tint val="75000"/>
                  </a:schemeClr>
                </a:solidFill>
                <a:latin typeface="Aptos" panose="020B000402020202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FFFFFF"/>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900" b="0" i="0" u="none" strike="noStrike" kern="1200" cap="none" spc="0" normalizeH="0" baseline="0" noProof="0">
              <a:ln>
                <a:noFill/>
              </a:ln>
              <a:solidFill>
                <a:srgbClr val="FFFFFF"/>
              </a:solidFill>
              <a:effectLst/>
              <a:uLnTx/>
              <a:uFillTx/>
              <a:latin typeface="Open Sans" panose="020B0606030504020204" pitchFamily="34" charset="0"/>
              <a:ea typeface="+mn-ea"/>
              <a:cs typeface="+mn-cs"/>
            </a:endParaRPr>
          </a:p>
        </p:txBody>
      </p:sp>
      <p:sp>
        <p:nvSpPr>
          <p:cNvPr id="3" name="Text 0">
            <a:extLst>
              <a:ext uri="{FF2B5EF4-FFF2-40B4-BE49-F238E27FC236}">
                <a16:creationId xmlns:a16="http://schemas.microsoft.com/office/drawing/2014/main" id="{283CF809-FAFE-F523-14BD-ACA9244D964D}"/>
              </a:ext>
            </a:extLst>
          </p:cNvPr>
          <p:cNvSpPr/>
          <p:nvPr/>
        </p:nvSpPr>
        <p:spPr>
          <a:xfrm>
            <a:off x="548640" y="431052"/>
            <a:ext cx="8146846"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Webuild is seeking to enter Australia's light rail market, starting with Gold Coast Light Rail Stage 4</a:t>
            </a:r>
          </a:p>
        </p:txBody>
      </p:sp>
    </p:spTree>
    <p:extLst>
      <p:ext uri="{BB962C8B-B14F-4D97-AF65-F5344CB8AC3E}">
        <p14:creationId xmlns:p14="http://schemas.microsoft.com/office/powerpoint/2010/main" val="2147037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Three challenges Webuild must address head-on in its EOI</a:t>
            </a:r>
          </a:p>
        </p:txBody>
      </p:sp>
      <p:sp>
        <p:nvSpPr>
          <p:cNvPr id="10" name="TextBox 9"/>
          <p:cNvSpPr txBox="1"/>
          <p:nvPr/>
        </p:nvSpPr>
        <p:spPr>
          <a:xfrm>
            <a:off x="566928" y="1261872"/>
            <a:ext cx="10972800" cy="365760"/>
          </a:xfrm>
          <a:prstGeom prst="rect">
            <a:avLst/>
          </a:prstGeom>
          <a:noFill/>
        </p:spPr>
        <p:txBody>
          <a:bodyPr wrap="square" lIns="0" rIns="0" tIns="0" bIns="0" anchor="t">
            <a:spAutoFit/>
          </a:bodyPr>
          <a:lstStyle/>
          <a:p>
            <a:pPr>
              <a:spcAft>
                <a:spcPts val="400"/>
              </a:spcAft>
              <a:buNone/>
            </a:pPr>
            <a:r>
              <a:rPr sz="1300" b="0" i="0">
                <a:solidFill>
                  <a:srgbClr val="6B6B6B"/>
                </a:solidFill>
                <a:latin typeface="Open Sans"/>
              </a:rPr>
              <a:t>Each one is real, and each one can be turned into a reason to choose Webuild.</a:t>
            </a:r>
          </a:p>
        </p:txBody>
      </p:sp>
      <p:sp>
        <p:nvSpPr>
          <p:cNvPr id="11" name="Oval 10"/>
          <p:cNvSpPr/>
          <p:nvPr/>
        </p:nvSpPr>
        <p:spPr>
          <a:xfrm>
            <a:off x="566928" y="1828800"/>
            <a:ext cx="502920" cy="502920"/>
          </a:xfrm>
          <a:prstGeom prst="ellips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01</a:t>
            </a:r>
          </a:p>
        </p:txBody>
      </p:sp>
      <p:sp>
        <p:nvSpPr>
          <p:cNvPr id="12" name="TextBox 11"/>
          <p:cNvSpPr txBox="1"/>
          <p:nvPr/>
        </p:nvSpPr>
        <p:spPr>
          <a:xfrm>
            <a:off x="566928" y="2468880"/>
            <a:ext cx="3474720" cy="292608"/>
          </a:xfrm>
          <a:prstGeom prst="rect">
            <a:avLst/>
          </a:prstGeom>
          <a:noFill/>
        </p:spPr>
        <p:txBody>
          <a:bodyPr wrap="square" lIns="0" rIns="0" tIns="0" bIns="0" anchor="t">
            <a:spAutoFit/>
          </a:bodyPr>
          <a:lstStyle/>
          <a:p>
            <a:pPr>
              <a:spcAft>
                <a:spcPts val="0"/>
              </a:spcAft>
              <a:buNone/>
            </a:pPr>
            <a:r>
              <a:rPr sz="1300" b="1" i="0">
                <a:solidFill>
                  <a:srgbClr val="0E98D7"/>
                </a:solidFill>
                <a:latin typeface="Poppins"/>
              </a:rPr>
              <a:t>NO LIGHT RAIL TRACK RECORD</a:t>
            </a:r>
          </a:p>
        </p:txBody>
      </p:sp>
      <p:sp>
        <p:nvSpPr>
          <p:cNvPr id="13" name="TextBox 12"/>
          <p:cNvSpPr txBox="1"/>
          <p:nvPr/>
        </p:nvSpPr>
        <p:spPr>
          <a:xfrm>
            <a:off x="566928" y="2852928"/>
            <a:ext cx="3429000" cy="13716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Competitors will point to completed light rail projects. Webuild cannot, so the EOI must show why its experience transfers and what it has learned that applies directly to Stage 4.</a:t>
            </a:r>
          </a:p>
        </p:txBody>
      </p:sp>
      <p:sp>
        <p:nvSpPr>
          <p:cNvPr id="14" name="Rounded Rectangle 13"/>
          <p:cNvSpPr/>
          <p:nvPr/>
        </p:nvSpPr>
        <p:spPr>
          <a:xfrm>
            <a:off x="566928" y="4343400"/>
            <a:ext cx="3474720" cy="150876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82296" bIns="82296"/>
          <a:lstStyle/>
          <a:p>
            <a:pPr algn="l">
              <a:spcAft>
                <a:spcPts val="300"/>
              </a:spcAft>
              <a:buNone/>
            </a:pPr>
            <a:r>
              <a:rPr sz="1150" b="1" i="0">
                <a:solidFill>
                  <a:srgbClr val="0E98D7"/>
                </a:solidFill>
                <a:latin typeface="Poppins"/>
              </a:rPr>
              <a:t>Our response</a:t>
            </a:r>
          </a:p>
          <a:p>
            <a:pPr algn="l">
              <a:spcAft>
                <a:spcPts val="400"/>
              </a:spcAft>
              <a:buNone/>
            </a:pPr>
            <a:r>
              <a:rPr sz="1150" b="0" i="0">
                <a:solidFill>
                  <a:srgbClr val="3D3C3C"/>
                </a:solidFill>
                <a:latin typeface="Open Sans"/>
              </a:rPr>
              <a:t>Present Webuild's rail portfolio like a strong CV for a career move: transferable skills, global knowledge sharing and named people.</a:t>
            </a:r>
          </a:p>
        </p:txBody>
      </p:sp>
      <p:sp>
        <p:nvSpPr>
          <p:cNvPr id="15" name="Oval 14"/>
          <p:cNvSpPr/>
          <p:nvPr/>
        </p:nvSpPr>
        <p:spPr>
          <a:xfrm>
            <a:off x="4334256" y="1828800"/>
            <a:ext cx="502920" cy="502920"/>
          </a:xfrm>
          <a:prstGeom prst="ellipse">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02</a:t>
            </a:r>
          </a:p>
        </p:txBody>
      </p:sp>
      <p:sp>
        <p:nvSpPr>
          <p:cNvPr id="16" name="TextBox 15"/>
          <p:cNvSpPr txBox="1"/>
          <p:nvPr/>
        </p:nvSpPr>
        <p:spPr>
          <a:xfrm>
            <a:off x="4334256" y="2468880"/>
            <a:ext cx="3474720" cy="292608"/>
          </a:xfrm>
          <a:prstGeom prst="rect">
            <a:avLst/>
          </a:prstGeom>
          <a:noFill/>
        </p:spPr>
        <p:txBody>
          <a:bodyPr wrap="square" lIns="0" rIns="0" tIns="0" bIns="0" anchor="t">
            <a:spAutoFit/>
          </a:bodyPr>
          <a:lstStyle/>
          <a:p>
            <a:pPr>
              <a:spcAft>
                <a:spcPts val="0"/>
              </a:spcAft>
              <a:buNone/>
            </a:pPr>
            <a:r>
              <a:rPr sz="1300" b="1" i="0">
                <a:solidFill>
                  <a:srgbClr val="EE2B7A"/>
                </a:solidFill>
                <a:latin typeface="Poppins"/>
              </a:rPr>
              <a:t>A REPUTATION UNDER SCRUTINY</a:t>
            </a:r>
          </a:p>
        </p:txBody>
      </p:sp>
      <p:sp>
        <p:nvSpPr>
          <p:cNvPr id="17" name="TextBox 16"/>
          <p:cNvSpPr txBox="1"/>
          <p:nvPr/>
        </p:nvSpPr>
        <p:spPr>
          <a:xfrm>
            <a:off x="4334256" y="2852928"/>
            <a:ext cx="3429000" cy="13716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High-profile challenges on other major projects are well known in the market. Evaluators may read the EOI looking for reassurance on delivery, cost and transparency.</a:t>
            </a:r>
          </a:p>
        </p:txBody>
      </p:sp>
      <p:sp>
        <p:nvSpPr>
          <p:cNvPr id="18" name="Rounded Rectangle 17"/>
          <p:cNvSpPr/>
          <p:nvPr/>
        </p:nvSpPr>
        <p:spPr>
          <a:xfrm>
            <a:off x="4334256" y="4343400"/>
            <a:ext cx="3474720" cy="150876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82296" bIns="82296"/>
          <a:lstStyle/>
          <a:p>
            <a:pPr algn="l">
              <a:spcAft>
                <a:spcPts val="300"/>
              </a:spcAft>
              <a:buNone/>
            </a:pPr>
            <a:r>
              <a:rPr sz="1150" b="1" i="0">
                <a:solidFill>
                  <a:srgbClr val="EE2B7A"/>
                </a:solidFill>
                <a:latin typeface="Poppins"/>
              </a:rPr>
              <a:t>Our response</a:t>
            </a:r>
          </a:p>
          <a:p>
            <a:pPr algn="l">
              <a:spcAft>
                <a:spcPts val="400"/>
              </a:spcAft>
              <a:buNone/>
            </a:pPr>
            <a:r>
              <a:rPr sz="1150" b="0" i="0">
                <a:solidFill>
                  <a:srgbClr val="3D3C3C"/>
                </a:solidFill>
                <a:latin typeface="Open Sans"/>
              </a:rPr>
              <a:t>Help Webuild lead with who it is: its values, how it works with clients and what it has learned, backed by evidence rather than claims.</a:t>
            </a:r>
          </a:p>
        </p:txBody>
      </p:sp>
      <p:cxnSp>
        <p:nvCxnSpPr>
          <p:cNvPr id="19" name="Connector 18"/>
          <p:cNvCxnSpPr/>
          <p:nvPr/>
        </p:nvCxnSpPr>
        <p:spPr>
          <a:xfrm>
            <a:off x="4178808" y="1874519"/>
            <a:ext cx="0" cy="393192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8101583" y="1828800"/>
            <a:ext cx="502920" cy="502920"/>
          </a:xfrm>
          <a:prstGeom prst="ellipse">
            <a:avLst/>
          </a:prstGeom>
          <a:solidFill>
            <a:srgbClr val="2E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03</a:t>
            </a:r>
          </a:p>
        </p:txBody>
      </p:sp>
      <p:sp>
        <p:nvSpPr>
          <p:cNvPr id="21" name="TextBox 20"/>
          <p:cNvSpPr txBox="1"/>
          <p:nvPr/>
        </p:nvSpPr>
        <p:spPr>
          <a:xfrm>
            <a:off x="8101583" y="2468880"/>
            <a:ext cx="3474720" cy="292608"/>
          </a:xfrm>
          <a:prstGeom prst="rect">
            <a:avLst/>
          </a:prstGeom>
          <a:noFill/>
        </p:spPr>
        <p:txBody>
          <a:bodyPr wrap="square" lIns="0" rIns="0" tIns="0" bIns="0" anchor="t">
            <a:spAutoFit/>
          </a:bodyPr>
          <a:lstStyle/>
          <a:p>
            <a:pPr>
              <a:spcAft>
                <a:spcPts val="0"/>
              </a:spcAft>
              <a:buNone/>
            </a:pPr>
            <a:r>
              <a:rPr sz="1300" b="1" i="0">
                <a:solidFill>
                  <a:srgbClr val="2EB88A"/>
                </a:solidFill>
                <a:latin typeface="Poppins"/>
              </a:rPr>
              <a:t>A FIELD OF EXPERIENCED COMPETITORS</a:t>
            </a:r>
          </a:p>
        </p:txBody>
      </p:sp>
      <p:sp>
        <p:nvSpPr>
          <p:cNvPr id="22" name="TextBox 21"/>
          <p:cNvSpPr txBox="1"/>
          <p:nvPr/>
        </p:nvSpPr>
        <p:spPr>
          <a:xfrm>
            <a:off x="8101583" y="2852928"/>
            <a:ext cx="3429000" cy="13716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Contractors with light rail experience, including those who delivered earlier stages, will be in the field. After reported cost pressures on Stage 3, the client will want a partner it can trust.</a:t>
            </a:r>
          </a:p>
        </p:txBody>
      </p:sp>
      <p:sp>
        <p:nvSpPr>
          <p:cNvPr id="23" name="Rounded Rectangle 22"/>
          <p:cNvSpPr/>
          <p:nvPr/>
        </p:nvSpPr>
        <p:spPr>
          <a:xfrm>
            <a:off x="8101583" y="4343400"/>
            <a:ext cx="3474720" cy="1508760"/>
          </a:xfrm>
          <a:prstGeom prst="roundRect">
            <a:avLst>
              <a:gd name="adj" fmla="val 8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82296" bIns="82296"/>
          <a:lstStyle/>
          <a:p>
            <a:pPr algn="l">
              <a:spcAft>
                <a:spcPts val="300"/>
              </a:spcAft>
              <a:buNone/>
            </a:pPr>
            <a:r>
              <a:rPr sz="1150" b="1" i="0">
                <a:solidFill>
                  <a:srgbClr val="2EB88A"/>
                </a:solidFill>
                <a:latin typeface="Poppins"/>
              </a:rPr>
              <a:t>Our response</a:t>
            </a:r>
          </a:p>
          <a:p>
            <a:pPr algn="l">
              <a:spcAft>
                <a:spcPts val="400"/>
              </a:spcAft>
              <a:buNone/>
            </a:pPr>
            <a:r>
              <a:rPr sz="1150" b="0" i="0">
                <a:solidFill>
                  <a:srgbClr val="3D3C3C"/>
                </a:solidFill>
                <a:latin typeface="Open Sans"/>
              </a:rPr>
              <a:t>Differentiate on partnership: a client-centred team that puts cost certainty and genuine collaboration at the heart of every response.</a:t>
            </a:r>
          </a:p>
        </p:txBody>
      </p:sp>
      <p:cxnSp>
        <p:nvCxnSpPr>
          <p:cNvPr id="24" name="Connector 23"/>
          <p:cNvCxnSpPr/>
          <p:nvPr/>
        </p:nvCxnSpPr>
        <p:spPr>
          <a:xfrm>
            <a:off x="7946136" y="1874519"/>
            <a:ext cx="0" cy="3931921"/>
          </a:xfrm>
          <a:prstGeom prst="line">
            <a:avLst/>
          </a:prstGeom>
          <a:ln w="9525">
            <a:solidFill>
              <a:srgbClr val="D9D9D9"/>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6619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Light rail is new, but delivering rail for demanding clients is not</a:t>
            </a:r>
          </a:p>
        </p:txBody>
      </p:sp>
      <p:sp>
        <p:nvSpPr>
          <p:cNvPr id="10" name="TextBox 9"/>
          <p:cNvSpPr txBox="1"/>
          <p:nvPr/>
        </p:nvSpPr>
        <p:spPr>
          <a:xfrm>
            <a:off x="566928" y="1261872"/>
            <a:ext cx="10972800" cy="365760"/>
          </a:xfrm>
          <a:prstGeom prst="rect">
            <a:avLst/>
          </a:prstGeom>
          <a:noFill/>
        </p:spPr>
        <p:txBody>
          <a:bodyPr wrap="square" lIns="0" rIns="0" tIns="0" bIns="0" anchor="t">
            <a:spAutoFit/>
          </a:bodyPr>
          <a:lstStyle/>
          <a:p>
            <a:pPr>
              <a:spcAft>
                <a:spcPts val="400"/>
              </a:spcAft>
              <a:buNone/>
            </a:pPr>
            <a:r>
              <a:rPr sz="1300" b="0" i="0">
                <a:solidFill>
                  <a:srgbClr val="6B6B6B"/>
                </a:solidFill>
                <a:latin typeface="Open Sans"/>
              </a:rPr>
              <a:t>Like a strong CV for a career move, the EOI must show how existing capability transfers. These hypotheses will be tested and evidenced in Workshop 1.</a:t>
            </a:r>
          </a:p>
        </p:txBody>
      </p:sp>
      <p:sp>
        <p:nvSpPr>
          <p:cNvPr id="11" name="TextBox 10"/>
          <p:cNvSpPr txBox="1"/>
          <p:nvPr/>
        </p:nvSpPr>
        <p:spPr>
          <a:xfrm>
            <a:off x="566928" y="1828800"/>
            <a:ext cx="4572000" cy="292608"/>
          </a:xfrm>
          <a:prstGeom prst="rect">
            <a:avLst/>
          </a:prstGeom>
          <a:noFill/>
        </p:spPr>
        <p:txBody>
          <a:bodyPr wrap="square" lIns="0" rIns="0" tIns="0" bIns="0" anchor="t">
            <a:spAutoFit/>
          </a:bodyPr>
          <a:lstStyle/>
          <a:p>
            <a:pPr>
              <a:spcAft>
                <a:spcPts val="0"/>
              </a:spcAft>
              <a:buNone/>
            </a:pPr>
            <a:r>
              <a:rPr sz="1200" b="1" i="0">
                <a:solidFill>
                  <a:srgbClr val="44546A"/>
                </a:solidFill>
                <a:latin typeface="Poppins"/>
              </a:rPr>
              <a:t>WHAT WEBUILD BRINGS</a:t>
            </a:r>
          </a:p>
        </p:txBody>
      </p:sp>
      <p:sp>
        <p:nvSpPr>
          <p:cNvPr id="12" name="TextBox 11"/>
          <p:cNvSpPr txBox="1"/>
          <p:nvPr/>
        </p:nvSpPr>
        <p:spPr>
          <a:xfrm>
            <a:off x="6510528" y="1828800"/>
            <a:ext cx="5029200" cy="292608"/>
          </a:xfrm>
          <a:prstGeom prst="rect">
            <a:avLst/>
          </a:prstGeom>
          <a:noFill/>
        </p:spPr>
        <p:txBody>
          <a:bodyPr wrap="square" lIns="0" rIns="0" tIns="0" bIns="0" anchor="t">
            <a:spAutoFit/>
          </a:bodyPr>
          <a:lstStyle/>
          <a:p>
            <a:pPr>
              <a:spcAft>
                <a:spcPts val="0"/>
              </a:spcAft>
              <a:buNone/>
            </a:pPr>
            <a:r>
              <a:rPr sz="1200" b="1" i="0">
                <a:solidFill>
                  <a:srgbClr val="0E98D7"/>
                </a:solidFill>
                <a:latin typeface="Poppins"/>
              </a:rPr>
              <a:t>WHAT IT COULD MEAN FOR STAGE 4</a:t>
            </a:r>
          </a:p>
        </p:txBody>
      </p:sp>
      <p:sp>
        <p:nvSpPr>
          <p:cNvPr id="13" name="Rounded Rectangle 12"/>
          <p:cNvSpPr/>
          <p:nvPr/>
        </p:nvSpPr>
        <p:spPr>
          <a:xfrm>
            <a:off x="566928" y="2194560"/>
            <a:ext cx="5257800" cy="621792"/>
          </a:xfrm>
          <a:prstGeom prst="roundRect">
            <a:avLst>
              <a:gd name="adj" fmla="val 1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1" i="0">
                <a:solidFill>
                  <a:srgbClr val="3D3C3C"/>
                </a:solidFill>
                <a:latin typeface="Open Sans"/>
              </a:rPr>
              <a:t>More than 20 years of rail delivery</a:t>
            </a:r>
          </a:p>
        </p:txBody>
      </p:sp>
      <p:sp>
        <p:nvSpPr>
          <p:cNvPr id="14" name="Right Arrow 13"/>
          <p:cNvSpPr/>
          <p:nvPr/>
        </p:nvSpPr>
        <p:spPr>
          <a:xfrm>
            <a:off x="5943600" y="2377440"/>
            <a:ext cx="457200" cy="256032"/>
          </a:xfrm>
          <a:prstGeom prst="rightArrow">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5" name="Rounded Rectangle 14"/>
          <p:cNvSpPr/>
          <p:nvPr/>
        </p:nvSpPr>
        <p:spPr>
          <a:xfrm>
            <a:off x="6510528" y="2194560"/>
            <a:ext cx="5120640" cy="621792"/>
          </a:xfrm>
          <a:prstGeom prst="roundRect">
            <a:avLst>
              <a:gd name="adj" fmla="val 15000"/>
            </a:avLst>
          </a:prstGeom>
          <a:solidFill>
            <a:srgbClr val="E3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0" i="0">
                <a:solidFill>
                  <a:srgbClr val="3D3C3C"/>
                </a:solidFill>
                <a:latin typeface="Open Sans"/>
              </a:rPr>
              <a:t>Proven track, systems and integration capability, applied to a light rail network</a:t>
            </a:r>
          </a:p>
        </p:txBody>
      </p:sp>
      <p:sp>
        <p:nvSpPr>
          <p:cNvPr id="16" name="Rounded Rectangle 15"/>
          <p:cNvSpPr/>
          <p:nvPr/>
        </p:nvSpPr>
        <p:spPr>
          <a:xfrm>
            <a:off x="566928" y="2926080"/>
            <a:ext cx="5257800" cy="621792"/>
          </a:xfrm>
          <a:prstGeom prst="roundRect">
            <a:avLst>
              <a:gd name="adj" fmla="val 1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1" i="0">
                <a:solidFill>
                  <a:srgbClr val="3D3C3C"/>
                </a:solidFill>
                <a:latin typeface="Open Sans"/>
              </a:rPr>
              <a:t>Access to the Webuild Group's global rail and metro expertise</a:t>
            </a:r>
          </a:p>
        </p:txBody>
      </p:sp>
      <p:sp>
        <p:nvSpPr>
          <p:cNvPr id="17" name="Right Arrow 16"/>
          <p:cNvSpPr/>
          <p:nvPr/>
        </p:nvSpPr>
        <p:spPr>
          <a:xfrm>
            <a:off x="5943600" y="3108960"/>
            <a:ext cx="457200" cy="256032"/>
          </a:xfrm>
          <a:prstGeom prst="rightArrow">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8" name="Rounded Rectangle 17"/>
          <p:cNvSpPr/>
          <p:nvPr/>
        </p:nvSpPr>
        <p:spPr>
          <a:xfrm>
            <a:off x="6510528" y="2926080"/>
            <a:ext cx="5120640" cy="621792"/>
          </a:xfrm>
          <a:prstGeom prst="roundRect">
            <a:avLst>
              <a:gd name="adj" fmla="val 15000"/>
            </a:avLst>
          </a:prstGeom>
          <a:solidFill>
            <a:srgbClr val="E3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0" i="0">
                <a:solidFill>
                  <a:srgbClr val="3D3C3C"/>
                </a:solidFill>
                <a:latin typeface="Open Sans"/>
              </a:rPr>
              <a:t>International light rail and metro knowledge shared directly into the ECI</a:t>
            </a:r>
          </a:p>
        </p:txBody>
      </p:sp>
      <p:sp>
        <p:nvSpPr>
          <p:cNvPr id="19" name="Rounded Rectangle 18"/>
          <p:cNvSpPr/>
          <p:nvPr/>
        </p:nvSpPr>
        <p:spPr>
          <a:xfrm>
            <a:off x="566928" y="3657600"/>
            <a:ext cx="5257800" cy="621792"/>
          </a:xfrm>
          <a:prstGeom prst="roundRect">
            <a:avLst>
              <a:gd name="adj" fmla="val 1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1" i="0">
                <a:solidFill>
                  <a:srgbClr val="3D3C3C"/>
                </a:solidFill>
                <a:latin typeface="Open Sans"/>
              </a:rPr>
              <a:t>Delivery in live, complex environments</a:t>
            </a:r>
          </a:p>
        </p:txBody>
      </p:sp>
      <p:sp>
        <p:nvSpPr>
          <p:cNvPr id="20" name="Right Arrow 19"/>
          <p:cNvSpPr/>
          <p:nvPr/>
        </p:nvSpPr>
        <p:spPr>
          <a:xfrm>
            <a:off x="5943600" y="3840480"/>
            <a:ext cx="457200" cy="256032"/>
          </a:xfrm>
          <a:prstGeom prst="rightArrow">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1" name="Rounded Rectangle 20"/>
          <p:cNvSpPr/>
          <p:nvPr/>
        </p:nvSpPr>
        <p:spPr>
          <a:xfrm>
            <a:off x="6510528" y="3657600"/>
            <a:ext cx="5120640" cy="621792"/>
          </a:xfrm>
          <a:prstGeom prst="roundRect">
            <a:avLst>
              <a:gd name="adj" fmla="val 15000"/>
            </a:avLst>
          </a:prstGeom>
          <a:solidFill>
            <a:srgbClr val="E3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0" i="0">
                <a:solidFill>
                  <a:srgbClr val="3D3C3C"/>
                </a:solidFill>
                <a:latin typeface="Open Sans"/>
              </a:rPr>
              <a:t>Construction planned around an operating network, residents, businesses and visitors</a:t>
            </a:r>
          </a:p>
        </p:txBody>
      </p:sp>
      <p:sp>
        <p:nvSpPr>
          <p:cNvPr id="22" name="Rounded Rectangle 21"/>
          <p:cNvSpPr/>
          <p:nvPr/>
        </p:nvSpPr>
        <p:spPr>
          <a:xfrm>
            <a:off x="566928" y="4389120"/>
            <a:ext cx="5257800" cy="621792"/>
          </a:xfrm>
          <a:prstGeom prst="roundRect">
            <a:avLst>
              <a:gd name="adj" fmla="val 1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1" i="0">
                <a:solidFill>
                  <a:srgbClr val="3D3C3C"/>
                </a:solidFill>
                <a:latin typeface="Open Sans"/>
              </a:rPr>
              <a:t>Major project governance, safety and risk management</a:t>
            </a:r>
          </a:p>
        </p:txBody>
      </p:sp>
      <p:sp>
        <p:nvSpPr>
          <p:cNvPr id="23" name="Right Arrow 22"/>
          <p:cNvSpPr/>
          <p:nvPr/>
        </p:nvSpPr>
        <p:spPr>
          <a:xfrm>
            <a:off x="5943600" y="4572000"/>
            <a:ext cx="457200" cy="256032"/>
          </a:xfrm>
          <a:prstGeom prst="rightArrow">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4" name="Rounded Rectangle 23"/>
          <p:cNvSpPr/>
          <p:nvPr/>
        </p:nvSpPr>
        <p:spPr>
          <a:xfrm>
            <a:off x="6510528" y="4389120"/>
            <a:ext cx="5120640" cy="621792"/>
          </a:xfrm>
          <a:prstGeom prst="roundRect">
            <a:avLst>
              <a:gd name="adj" fmla="val 15000"/>
            </a:avLst>
          </a:prstGeom>
          <a:solidFill>
            <a:srgbClr val="E3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0" i="0">
                <a:solidFill>
                  <a:srgbClr val="3D3C3C"/>
                </a:solidFill>
                <a:latin typeface="Open Sans"/>
              </a:rPr>
              <a:t>Confidence on safety, programme and cost, when budget certainty matters most</a:t>
            </a:r>
          </a:p>
        </p:txBody>
      </p:sp>
      <p:sp>
        <p:nvSpPr>
          <p:cNvPr id="25" name="Rounded Rectangle 24"/>
          <p:cNvSpPr/>
          <p:nvPr/>
        </p:nvSpPr>
        <p:spPr>
          <a:xfrm>
            <a:off x="566928" y="5120640"/>
            <a:ext cx="5257800" cy="621792"/>
          </a:xfrm>
          <a:prstGeom prst="roundRect">
            <a:avLst>
              <a:gd name="adj" fmla="val 1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1" i="0">
                <a:solidFill>
                  <a:srgbClr val="3D3C3C"/>
                </a:solidFill>
                <a:latin typeface="Open Sans"/>
              </a:rPr>
              <a:t>Experience working collaboratively with major clients</a:t>
            </a:r>
          </a:p>
        </p:txBody>
      </p:sp>
      <p:sp>
        <p:nvSpPr>
          <p:cNvPr id="26" name="Right Arrow 25"/>
          <p:cNvSpPr/>
          <p:nvPr/>
        </p:nvSpPr>
        <p:spPr>
          <a:xfrm>
            <a:off x="5943600" y="5303520"/>
            <a:ext cx="457200" cy="256032"/>
          </a:xfrm>
          <a:prstGeom prst="rightArrow">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7" name="Rounded Rectangle 26"/>
          <p:cNvSpPr/>
          <p:nvPr/>
        </p:nvSpPr>
        <p:spPr>
          <a:xfrm>
            <a:off x="6510528" y="5120640"/>
            <a:ext cx="5120640" cy="621792"/>
          </a:xfrm>
          <a:prstGeom prst="roundRect">
            <a:avLst>
              <a:gd name="adj" fmla="val 15000"/>
            </a:avLst>
          </a:prstGeom>
          <a:solidFill>
            <a:srgbClr val="E3F3F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l">
              <a:spcAft>
                <a:spcPts val="0"/>
              </a:spcAft>
              <a:buNone/>
            </a:pPr>
            <a:r>
              <a:rPr sz="1200" b="0" i="0">
                <a:solidFill>
                  <a:srgbClr val="3D3C3C"/>
                </a:solidFill>
                <a:latin typeface="Open Sans"/>
              </a:rPr>
              <a:t>A partner ready to co-develop the best solution with the client during ECI</a:t>
            </a:r>
          </a:p>
        </p:txBody>
      </p:sp>
    </p:spTree>
    <p:extLst>
      <p:ext uri="{BB962C8B-B14F-4D97-AF65-F5344CB8AC3E}">
        <p14:creationId xmlns:p14="http://schemas.microsoft.com/office/powerpoint/2010/main" val="3726619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What we expect the client will look for in an ECI partner</a:t>
            </a:r>
          </a:p>
        </p:txBody>
      </p:sp>
      <p:sp>
        <p:nvSpPr>
          <p:cNvPr id="10" name="TextBox 9"/>
          <p:cNvSpPr txBox="1"/>
          <p:nvPr/>
        </p:nvSpPr>
        <p:spPr>
          <a:xfrm>
            <a:off x="566928" y="1261872"/>
            <a:ext cx="10972800" cy="365760"/>
          </a:xfrm>
          <a:prstGeom prst="rect">
            <a:avLst/>
          </a:prstGeom>
          <a:noFill/>
        </p:spPr>
        <p:txBody>
          <a:bodyPr wrap="square" lIns="0" rIns="0" tIns="0" bIns="0" anchor="t">
            <a:spAutoFit/>
          </a:bodyPr>
          <a:lstStyle/>
          <a:p>
            <a:pPr>
              <a:spcAft>
                <a:spcPts val="400"/>
              </a:spcAft>
              <a:buNone/>
            </a:pPr>
            <a:r>
              <a:rPr sz="1300" b="0" i="0">
                <a:solidFill>
                  <a:srgbClr val="6B6B6B"/>
                </a:solidFill>
                <a:latin typeface="Open Sans"/>
              </a:rPr>
              <a:t>Early hypotheses, to be confirmed against the EOI documents and the client's own language once released.</a:t>
            </a:r>
          </a:p>
        </p:txBody>
      </p:sp>
      <p:sp>
        <p:nvSpPr>
          <p:cNvPr id="11" name="Rounded Rectangle 10"/>
          <p:cNvSpPr/>
          <p:nvPr/>
        </p:nvSpPr>
        <p:spPr>
          <a:xfrm>
            <a:off x="566928" y="1828800"/>
            <a:ext cx="2606040" cy="3246120"/>
          </a:xfrm>
          <a:prstGeom prst="roundRect">
            <a:avLst>
              <a:gd name="adj" fmla="val 6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2" name="Oval 11"/>
          <p:cNvSpPr/>
          <p:nvPr/>
        </p:nvSpPr>
        <p:spPr>
          <a:xfrm>
            <a:off x="795528" y="2057400"/>
            <a:ext cx="502920" cy="502920"/>
          </a:xfrm>
          <a:prstGeom prst="ellipse">
            <a:avLst/>
          </a:prstGeom>
          <a:solidFill>
            <a:srgbClr val="F480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01</a:t>
            </a:r>
          </a:p>
        </p:txBody>
      </p:sp>
      <p:sp>
        <p:nvSpPr>
          <p:cNvPr id="13" name="TextBox 12"/>
          <p:cNvSpPr txBox="1"/>
          <p:nvPr/>
        </p:nvSpPr>
        <p:spPr>
          <a:xfrm>
            <a:off x="795528" y="2743200"/>
            <a:ext cx="2194560" cy="365760"/>
          </a:xfrm>
          <a:prstGeom prst="rect">
            <a:avLst/>
          </a:prstGeom>
          <a:noFill/>
        </p:spPr>
        <p:txBody>
          <a:bodyPr wrap="square" lIns="0" rIns="0" tIns="0" bIns="0" anchor="t">
            <a:spAutoFit/>
          </a:bodyPr>
          <a:lstStyle/>
          <a:p>
            <a:pPr>
              <a:spcAft>
                <a:spcPts val="400"/>
              </a:spcAft>
              <a:buNone/>
            </a:pPr>
            <a:r>
              <a:rPr sz="1500" b="1" i="0">
                <a:solidFill>
                  <a:srgbClr val="F48047"/>
                </a:solidFill>
                <a:latin typeface="Poppins"/>
              </a:rPr>
              <a:t>Cost certainty</a:t>
            </a:r>
          </a:p>
        </p:txBody>
      </p:sp>
      <p:sp>
        <p:nvSpPr>
          <p:cNvPr id="14" name="TextBox 13"/>
          <p:cNvSpPr txBox="1"/>
          <p:nvPr/>
        </p:nvSpPr>
        <p:spPr>
          <a:xfrm>
            <a:off x="795528" y="3200400"/>
            <a:ext cx="2194560" cy="18288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After cost pressures on Stage 3, the client will want evidence of disciplined estimating, transparent reporting and early risk identification.</a:t>
            </a:r>
          </a:p>
        </p:txBody>
      </p:sp>
      <p:sp>
        <p:nvSpPr>
          <p:cNvPr id="15" name="Rounded Rectangle 14"/>
          <p:cNvSpPr/>
          <p:nvPr/>
        </p:nvSpPr>
        <p:spPr>
          <a:xfrm>
            <a:off x="3374136" y="1828800"/>
            <a:ext cx="2606040" cy="3246120"/>
          </a:xfrm>
          <a:prstGeom prst="roundRect">
            <a:avLst>
              <a:gd name="adj" fmla="val 6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 name="Oval 15"/>
          <p:cNvSpPr/>
          <p:nvPr/>
        </p:nvSpPr>
        <p:spPr>
          <a:xfrm>
            <a:off x="3602736" y="2057400"/>
            <a:ext cx="502920" cy="502920"/>
          </a:xfrm>
          <a:prstGeom prst="ellips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02</a:t>
            </a:r>
          </a:p>
        </p:txBody>
      </p:sp>
      <p:sp>
        <p:nvSpPr>
          <p:cNvPr id="17" name="TextBox 16"/>
          <p:cNvSpPr txBox="1"/>
          <p:nvPr/>
        </p:nvSpPr>
        <p:spPr>
          <a:xfrm>
            <a:off x="3602736" y="2743200"/>
            <a:ext cx="2194560" cy="365760"/>
          </a:xfrm>
          <a:prstGeom prst="rect">
            <a:avLst/>
          </a:prstGeom>
          <a:noFill/>
        </p:spPr>
        <p:txBody>
          <a:bodyPr wrap="square" lIns="0" rIns="0" tIns="0" bIns="0" anchor="t">
            <a:spAutoFit/>
          </a:bodyPr>
          <a:lstStyle/>
          <a:p>
            <a:pPr>
              <a:spcAft>
                <a:spcPts val="400"/>
              </a:spcAft>
              <a:buNone/>
            </a:pPr>
            <a:r>
              <a:rPr sz="1500" b="1" i="0">
                <a:solidFill>
                  <a:srgbClr val="0E98D7"/>
                </a:solidFill>
                <a:latin typeface="Poppins"/>
              </a:rPr>
              <a:t>Minimal disruption</a:t>
            </a:r>
          </a:p>
        </p:txBody>
      </p:sp>
      <p:sp>
        <p:nvSpPr>
          <p:cNvPr id="18" name="TextBox 17"/>
          <p:cNvSpPr txBox="1"/>
          <p:nvPr/>
        </p:nvSpPr>
        <p:spPr>
          <a:xfrm>
            <a:off x="3602736" y="3200400"/>
            <a:ext cx="2194560" cy="18288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Stage 4 extends an operating network through busy coastal communities. Protecting residents, businesses and visitors during construction will matter.</a:t>
            </a:r>
          </a:p>
        </p:txBody>
      </p:sp>
      <p:sp>
        <p:nvSpPr>
          <p:cNvPr id="19" name="Rounded Rectangle 18"/>
          <p:cNvSpPr/>
          <p:nvPr/>
        </p:nvSpPr>
        <p:spPr>
          <a:xfrm>
            <a:off x="6181344" y="1828800"/>
            <a:ext cx="2606040" cy="3246120"/>
          </a:xfrm>
          <a:prstGeom prst="roundRect">
            <a:avLst>
              <a:gd name="adj" fmla="val 6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0" name="Oval 19"/>
          <p:cNvSpPr/>
          <p:nvPr/>
        </p:nvSpPr>
        <p:spPr>
          <a:xfrm>
            <a:off x="6409944" y="2057400"/>
            <a:ext cx="502920" cy="502920"/>
          </a:xfrm>
          <a:prstGeom prst="ellipse">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03</a:t>
            </a:r>
          </a:p>
        </p:txBody>
      </p:sp>
      <p:sp>
        <p:nvSpPr>
          <p:cNvPr id="21" name="TextBox 20"/>
          <p:cNvSpPr txBox="1"/>
          <p:nvPr/>
        </p:nvSpPr>
        <p:spPr>
          <a:xfrm>
            <a:off x="6409944" y="2743200"/>
            <a:ext cx="2194560" cy="365760"/>
          </a:xfrm>
          <a:prstGeom prst="rect">
            <a:avLst/>
          </a:prstGeom>
          <a:noFill/>
        </p:spPr>
        <p:txBody>
          <a:bodyPr wrap="square" lIns="0" rIns="0" tIns="0" bIns="0" anchor="t">
            <a:spAutoFit/>
          </a:bodyPr>
          <a:lstStyle/>
          <a:p>
            <a:pPr>
              <a:spcAft>
                <a:spcPts val="400"/>
              </a:spcAft>
              <a:buNone/>
            </a:pPr>
            <a:r>
              <a:rPr sz="1500" b="1" i="0">
                <a:solidFill>
                  <a:srgbClr val="EE2B7A"/>
                </a:solidFill>
                <a:latin typeface="Poppins"/>
              </a:rPr>
              <a:t>A genuine partner</a:t>
            </a:r>
          </a:p>
        </p:txBody>
      </p:sp>
      <p:sp>
        <p:nvSpPr>
          <p:cNvPr id="22" name="TextBox 21"/>
          <p:cNvSpPr txBox="1"/>
          <p:nvPr/>
        </p:nvSpPr>
        <p:spPr>
          <a:xfrm>
            <a:off x="6409944" y="3200400"/>
            <a:ext cx="2194560" cy="18288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ECI rewards contractors who listen, share ideas openly and solve problems with the client, not those who simply respond to scope.</a:t>
            </a:r>
          </a:p>
        </p:txBody>
      </p:sp>
      <p:sp>
        <p:nvSpPr>
          <p:cNvPr id="23" name="Rounded Rectangle 22"/>
          <p:cNvSpPr/>
          <p:nvPr/>
        </p:nvSpPr>
        <p:spPr>
          <a:xfrm>
            <a:off x="8988551" y="1828800"/>
            <a:ext cx="2606040" cy="3246120"/>
          </a:xfrm>
          <a:prstGeom prst="roundRect">
            <a:avLst>
              <a:gd name="adj" fmla="val 6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4" name="Oval 23"/>
          <p:cNvSpPr/>
          <p:nvPr/>
        </p:nvSpPr>
        <p:spPr>
          <a:xfrm>
            <a:off x="9217151" y="2057400"/>
            <a:ext cx="502920" cy="502920"/>
          </a:xfrm>
          <a:prstGeom prst="ellipse">
            <a:avLst/>
          </a:prstGeom>
          <a:solidFill>
            <a:srgbClr val="2E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04</a:t>
            </a:r>
          </a:p>
        </p:txBody>
      </p:sp>
      <p:sp>
        <p:nvSpPr>
          <p:cNvPr id="25" name="TextBox 24"/>
          <p:cNvSpPr txBox="1"/>
          <p:nvPr/>
        </p:nvSpPr>
        <p:spPr>
          <a:xfrm>
            <a:off x="9217151" y="2743200"/>
            <a:ext cx="2194560" cy="365760"/>
          </a:xfrm>
          <a:prstGeom prst="rect">
            <a:avLst/>
          </a:prstGeom>
          <a:noFill/>
        </p:spPr>
        <p:txBody>
          <a:bodyPr wrap="square" lIns="0" rIns="0" tIns="0" bIns="0" anchor="t">
            <a:spAutoFit/>
          </a:bodyPr>
          <a:lstStyle/>
          <a:p>
            <a:pPr>
              <a:spcAft>
                <a:spcPts val="400"/>
              </a:spcAft>
              <a:buNone/>
            </a:pPr>
            <a:r>
              <a:rPr sz="1500" b="1" i="0">
                <a:solidFill>
                  <a:srgbClr val="2EB88A"/>
                </a:solidFill>
                <a:latin typeface="Poppins"/>
              </a:rPr>
              <a:t>A team they can trust</a:t>
            </a:r>
          </a:p>
        </p:txBody>
      </p:sp>
      <p:sp>
        <p:nvSpPr>
          <p:cNvPr id="26" name="TextBox 25"/>
          <p:cNvSpPr txBox="1"/>
          <p:nvPr/>
        </p:nvSpPr>
        <p:spPr>
          <a:xfrm>
            <a:off x="9217151" y="3200400"/>
            <a:ext cx="2194560" cy="18288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The client will want to meet the real team: named people who are available, locally present and committed from ECI through delivery.</a:t>
            </a:r>
          </a:p>
        </p:txBody>
      </p:sp>
      <p:sp>
        <p:nvSpPr>
          <p:cNvPr id="27" name="Rounded Rectangle 26"/>
          <p:cNvSpPr/>
          <p:nvPr/>
        </p:nvSpPr>
        <p:spPr>
          <a:xfrm>
            <a:off x="566928" y="5285232"/>
            <a:ext cx="11027664" cy="548640"/>
          </a:xfrm>
          <a:prstGeom prst="roundRect">
            <a:avLst>
              <a:gd name="adj" fmla="val 20000"/>
            </a:avLst>
          </a:prstGeom>
          <a:solidFill>
            <a:srgbClr val="FFF6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200" b="1" i="0">
                <a:solidFill>
                  <a:srgbClr val="3D3C3C"/>
                </a:solidFill>
                <a:latin typeface="Open Sans"/>
              </a:rPr>
              <a:t>Workshop 1 tests these against the EOI</a:t>
            </a:r>
            <a:r>
              <a:rPr sz="1200" b="0" i="0">
                <a:solidFill>
                  <a:srgbClr val="3D3C3C"/>
                </a:solidFill>
                <a:latin typeface="Open Sans"/>
              </a:rPr>
              <a:t> so Webuild's win themes are built on fact, not assumption.</a:t>
            </a:r>
          </a:p>
        </p:txBody>
      </p:sp>
    </p:spTree>
    <p:extLst>
      <p:ext uri="{BB962C8B-B14F-4D97-AF65-F5344CB8AC3E}">
        <p14:creationId xmlns:p14="http://schemas.microsoft.com/office/powerpoint/2010/main" val="37266199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09AC-ABC7-FBD8-C445-E53C0C4FC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A19359-B947-1961-75AA-936DA272766C}"/>
              </a:ext>
            </a:extLst>
          </p:cNvPr>
          <p:cNvSpPr/>
          <p:nvPr/>
        </p:nvSpPr>
        <p:spPr>
          <a:xfrm>
            <a:off x="0" y="9253"/>
            <a:ext cx="12197626" cy="6880902"/>
          </a:xfrm>
          <a:prstGeom prst="rect">
            <a:avLst/>
          </a:prstGeom>
          <a:solidFill>
            <a:schemeClr val="tx1">
              <a:alpha val="6357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55" b="0" i="0" u="none" strike="noStrike" kern="1200" cap="none" spc="0" normalizeH="0" baseline="0" noProof="0">
              <a:ln>
                <a:noFill/>
              </a:ln>
              <a:solidFill>
                <a:srgbClr val="FFFFFF"/>
              </a:solidFill>
              <a:effectLst/>
              <a:uLnTx/>
              <a:uFillTx/>
              <a:latin typeface="Open Sans Light"/>
              <a:ea typeface="+mn-ea"/>
              <a:cs typeface="+mn-cs"/>
            </a:endParaRPr>
          </a:p>
        </p:txBody>
      </p:sp>
      <p:graphicFrame>
        <p:nvGraphicFramePr>
          <p:cNvPr id="3" name="Table 2">
            <a:extLst>
              <a:ext uri="{FF2B5EF4-FFF2-40B4-BE49-F238E27FC236}">
                <a16:creationId xmlns:a16="http://schemas.microsoft.com/office/drawing/2014/main" id="{D8A41966-51FC-7551-9FA9-8CFE56E86842}"/>
              </a:ext>
            </a:extLst>
          </p:cNvPr>
          <p:cNvGraphicFramePr>
            <a:graphicFrameLocks noGrp="1"/>
          </p:cNvGraphicFramePr>
          <p:nvPr/>
        </p:nvGraphicFramePr>
        <p:xfrm>
          <a:off x="5288691" y="1179740"/>
          <a:ext cx="6903309" cy="4412595"/>
        </p:xfrm>
        <a:graphic>
          <a:graphicData uri="http://schemas.openxmlformats.org/drawingml/2006/table">
            <a:tbl>
              <a:tblPr firstRow="1" bandRow="1">
                <a:tableStyleId>{5940675A-B579-460E-94D1-54222C63F5DA}</a:tableStyleId>
              </a:tblPr>
              <a:tblGrid>
                <a:gridCol w="1643448">
                  <a:extLst>
                    <a:ext uri="{9D8B030D-6E8A-4147-A177-3AD203B41FA5}">
                      <a16:colId xmlns:a16="http://schemas.microsoft.com/office/drawing/2014/main" val="3489013786"/>
                    </a:ext>
                  </a:extLst>
                </a:gridCol>
                <a:gridCol w="208280">
                  <a:extLst>
                    <a:ext uri="{9D8B030D-6E8A-4147-A177-3AD203B41FA5}">
                      <a16:colId xmlns:a16="http://schemas.microsoft.com/office/drawing/2014/main" val="2551940119"/>
                    </a:ext>
                  </a:extLst>
                </a:gridCol>
                <a:gridCol w="5051581">
                  <a:extLst>
                    <a:ext uri="{9D8B030D-6E8A-4147-A177-3AD203B41FA5}">
                      <a16:colId xmlns:a16="http://schemas.microsoft.com/office/drawing/2014/main" val="58592591"/>
                    </a:ext>
                  </a:extLst>
                </a:gridCol>
              </a:tblGrid>
              <a:tr h="882519">
                <a:tc>
                  <a:txBody>
                    <a:bodyPr/>
                    <a:lstStyle/>
                    <a:p>
                      <a:pPr algn="ctr"/>
                      <a:r>
                        <a:rPr lang="en-US" sz="2800" b="0" dirty="0">
                          <a:solidFill>
                            <a:schemeClr val="bg1"/>
                          </a:solidFill>
                          <a:latin typeface="Poppins" pitchFamily="2" charset="77"/>
                          <a:cs typeface="Poppins" pitchFamily="2" charset="77"/>
                        </a:rPr>
                        <a:t>01</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Poppins" pitchFamily="2" charset="77"/>
                          <a:cs typeface="Poppins" pitchFamily="2" charset="77"/>
                        </a:rPr>
                        <a:t>Our Understanding of Your Needs</a:t>
                      </a:r>
                      <a:endParaRPr lang="en-US" sz="18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6261238"/>
                  </a:ext>
                </a:extLst>
              </a:tr>
              <a:tr h="882519">
                <a:tc>
                  <a:txBody>
                    <a:bodyPr/>
                    <a:lstStyle/>
                    <a:p>
                      <a:pPr algn="ctr"/>
                      <a:r>
                        <a:rPr lang="en-US" sz="2800" b="1" dirty="0">
                          <a:solidFill>
                            <a:schemeClr val="bg1"/>
                          </a:solidFill>
                          <a:latin typeface="+mj-lt"/>
                          <a:cs typeface="Poppins Medium" panose="00000600000000000000" pitchFamily="2" charset="0"/>
                        </a:rPr>
                        <a:t>02</a:t>
                      </a: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1">
                          <a:solidFill>
                            <a:schemeClr val="bg1"/>
                          </a:solidFill>
                          <a:latin typeface="+mj-lt"/>
                          <a:cs typeface="Poppins Medium" panose="00000600000000000000" pitchFamily="2" charset="0"/>
                        </a:rPr>
                        <a:t>Why The Strategy Group</a:t>
                      </a:r>
                      <a:endParaRPr lang="en-US" sz="18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559838"/>
                  </a:ext>
                </a:extLst>
              </a:tr>
              <a:tr h="882519">
                <a:tc>
                  <a:txBody>
                    <a:bodyPr/>
                    <a:lstStyle/>
                    <a:p>
                      <a:pPr algn="ctr"/>
                      <a:r>
                        <a:rPr lang="en-US" sz="2800" b="0" dirty="0">
                          <a:solidFill>
                            <a:schemeClr val="bg1"/>
                          </a:solidFill>
                          <a:latin typeface="+mj-lt"/>
                          <a:cs typeface="Poppins Medium" panose="00000600000000000000" pitchFamily="2" charset="0"/>
                        </a:rPr>
                        <a:t>03</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0">
                          <a:solidFill>
                            <a:schemeClr val="bg1"/>
                          </a:solidFill>
                          <a:latin typeface="+mj-lt"/>
                          <a:cs typeface="Poppins Medium" panose="00000600000000000000" pitchFamily="2" charset="0"/>
                        </a:rPr>
                        <a:t>Our Approach</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1536259"/>
                  </a:ext>
                </a:extLst>
              </a:tr>
              <a:tr h="882519">
                <a:tc>
                  <a:txBody>
                    <a:bodyPr/>
                    <a:lstStyle/>
                    <a:p>
                      <a:pPr algn="ctr"/>
                      <a:r>
                        <a:rPr lang="en-US" sz="2800" b="0" dirty="0">
                          <a:solidFill>
                            <a:schemeClr val="bg1"/>
                          </a:solidFill>
                          <a:latin typeface="Poppins Medium" panose="00000600000000000000" pitchFamily="2" charset="0"/>
                          <a:cs typeface="Poppins Medium" panose="00000600000000000000" pitchFamily="2" charset="0"/>
                        </a:rPr>
                        <a:t>04</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b="0">
                          <a:solidFill>
                            <a:schemeClr val="bg1"/>
                          </a:solidFill>
                          <a:latin typeface="Poppins Medium" panose="00000600000000000000" pitchFamily="2" charset="0"/>
                          <a:cs typeface="Poppins Medium" panose="00000600000000000000" pitchFamily="2" charset="0"/>
                        </a:rPr>
                        <a:t>Our Experience and Team</a:t>
                      </a:r>
                      <a:r>
                        <a:rPr lang="en-US" sz="1800" b="0">
                          <a:solidFill>
                            <a:schemeClr val="bg1"/>
                          </a:solidFill>
                          <a:latin typeface="Poppins Medium" panose="00000600000000000000" pitchFamily="2" charset="0"/>
                          <a:cs typeface="Poppins Medium" panose="00000600000000000000" pitchFamily="2" charset="0"/>
                        </a:rPr>
                        <a:t/>
                      </a:r>
                      <a:r>
                        <a:rPr lang="en-AU" sz="1800" b="0">
                          <a:solidFill>
                            <a:schemeClr val="bg1"/>
                          </a:solidFill>
                          <a:latin typeface="Poppins Medium" panose="00000600000000000000" pitchFamily="2" charset="0"/>
                          <a:cs typeface="Poppins Medium" panose="00000600000000000000" pitchFamily="2" charset="0"/>
                        </a:rPr>
                        <a:t/>
                      </a:r>
                      <a:endParaRPr lang="en-US" sz="18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5165721"/>
                  </a:ext>
                </a:extLst>
              </a:tr>
              <a:tr h="882519">
                <a:tc>
                  <a:txBody>
                    <a:bodyPr/>
                    <a:lstStyle/>
                    <a:p>
                      <a:pPr algn="ctr"/>
                      <a:r>
                        <a:rPr lang="en-US" sz="2800" b="0" dirty="0">
                          <a:solidFill>
                            <a:schemeClr val="bg1"/>
                          </a:solidFill>
                          <a:latin typeface="Poppins" pitchFamily="2" charset="77"/>
                          <a:cs typeface="Poppins" pitchFamily="2" charset="77"/>
                        </a:rPr>
                        <a:t>05</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Poppins" pitchFamily="2" charset="77"/>
                          <a:cs typeface="Poppins" pitchFamily="2" charset="77"/>
                        </a:rPr>
                        <a:t>Investment</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18104154"/>
                  </a:ext>
                </a:extLst>
              </a:tr>
            </a:tbl>
          </a:graphicData>
        </a:graphic>
      </p:graphicFrame>
      <p:pic>
        <p:nvPicPr>
          <p:cNvPr id="7" name="Graphic 6">
            <a:extLst>
              <a:ext uri="{FF2B5EF4-FFF2-40B4-BE49-F238E27FC236}">
                <a16:creationId xmlns:a16="http://schemas.microsoft.com/office/drawing/2014/main" id="{9A0843B3-C65C-5254-9739-F0B4D579E1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25966" y="0"/>
            <a:ext cx="6959831" cy="5626984"/>
          </a:xfrm>
          <a:prstGeom prst="rect">
            <a:avLst/>
          </a:prstGeom>
        </p:spPr>
      </p:pic>
      <p:grpSp>
        <p:nvGrpSpPr>
          <p:cNvPr id="2" name="Group 1">
            <a:extLst>
              <a:ext uri="{FF2B5EF4-FFF2-40B4-BE49-F238E27FC236}">
                <a16:creationId xmlns:a16="http://schemas.microsoft.com/office/drawing/2014/main" id="{1D4B8EB6-53C5-A71D-D316-785AA88D6F8E}"/>
              </a:ext>
            </a:extLst>
          </p:cNvPr>
          <p:cNvGrpSpPr/>
          <p:nvPr/>
        </p:nvGrpSpPr>
        <p:grpSpPr>
          <a:xfrm>
            <a:off x="6931557" y="331283"/>
            <a:ext cx="2758775" cy="618017"/>
            <a:chOff x="6931557" y="331283"/>
            <a:chExt cx="2758775" cy="618017"/>
          </a:xfrm>
        </p:grpSpPr>
        <p:sp>
          <p:nvSpPr>
            <p:cNvPr id="12" name="TextBox 11">
              <a:extLst>
                <a:ext uri="{FF2B5EF4-FFF2-40B4-BE49-F238E27FC236}">
                  <a16:creationId xmlns:a16="http://schemas.microsoft.com/office/drawing/2014/main" id="{2114E355-9DF7-7479-CC8B-8E254E8D7542}"/>
                </a:ext>
              </a:extLst>
            </p:cNvPr>
            <p:cNvSpPr txBox="1"/>
            <p:nvPr/>
          </p:nvSpPr>
          <p:spPr>
            <a:xfrm>
              <a:off x="7334552" y="378682"/>
              <a:ext cx="19527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a:ln>
                    <a:noFill/>
                  </a:ln>
                  <a:solidFill>
                    <a:srgbClr val="FFFFFF"/>
                  </a:solidFill>
                  <a:effectLst/>
                  <a:uLnTx/>
                  <a:uFillTx/>
                  <a:latin typeface="Poppins" pitchFamily="2" charset="77"/>
                  <a:ea typeface="+mn-ea"/>
                  <a:cs typeface="Poppins" pitchFamily="2" charset="77"/>
                </a:rPr>
                <a:t>Contents</a:t>
              </a:r>
            </a:p>
          </p:txBody>
        </p:sp>
        <p:sp>
          <p:nvSpPr>
            <p:cNvPr id="13" name="Rectangle: Rounded Corners 12">
              <a:extLst>
                <a:ext uri="{FF2B5EF4-FFF2-40B4-BE49-F238E27FC236}">
                  <a16:creationId xmlns:a16="http://schemas.microsoft.com/office/drawing/2014/main" id="{2AA2110F-460B-4BA5-F8E5-3198C17D6E0C}"/>
                </a:ext>
              </a:extLst>
            </p:cNvPr>
            <p:cNvSpPr/>
            <p:nvPr/>
          </p:nvSpPr>
          <p:spPr>
            <a:xfrm>
              <a:off x="6931557" y="331283"/>
              <a:ext cx="2758775" cy="618017"/>
            </a:xfrm>
            <a:prstGeom prst="roundRect">
              <a:avLst>
                <a:gd name="adj" fmla="val 5000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Light"/>
                <a:ea typeface="+mn-ea"/>
                <a:cs typeface="+mn-cs"/>
              </a:endParaRPr>
            </a:p>
          </p:txBody>
        </p:sp>
      </p:grpSp>
    </p:spTree>
    <p:extLst>
      <p:ext uri="{BB962C8B-B14F-4D97-AF65-F5344CB8AC3E}">
        <p14:creationId xmlns:p14="http://schemas.microsoft.com/office/powerpoint/2010/main" val="29499488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8EF05AA-D6AF-AF57-4585-779006B66BDA}"/>
              </a:ext>
            </a:extLst>
          </p:cNvPr>
          <p:cNvPicPr>
            <a:picLocks noChangeAspect="1"/>
          </p:cNvPicPr>
          <p:nvPr/>
        </p:nvPicPr>
        <p:blipFill>
          <a:blip r:embed="rId3"/>
          <a:srcRect t="9565" b="3070"/>
          <a:stretch>
            <a:fillRect/>
          </a:stretch>
        </p:blipFill>
        <p:spPr>
          <a:xfrm>
            <a:off x="8237314" y="2335285"/>
            <a:ext cx="3422421" cy="1852819"/>
          </a:xfrm>
          <a:prstGeom prst="roundRect">
            <a:avLst/>
          </a:prstGeom>
        </p:spPr>
      </p:pic>
      <p:pic>
        <p:nvPicPr>
          <p:cNvPr id="14" name="Picture 13">
            <a:extLst>
              <a:ext uri="{FF2B5EF4-FFF2-40B4-BE49-F238E27FC236}">
                <a16:creationId xmlns:a16="http://schemas.microsoft.com/office/drawing/2014/main" id="{943CC969-1A05-BCF2-E759-F86F2A0BAE9A}"/>
              </a:ext>
            </a:extLst>
          </p:cNvPr>
          <p:cNvPicPr>
            <a:picLocks noChangeAspect="1"/>
          </p:cNvPicPr>
          <p:nvPr/>
        </p:nvPicPr>
        <p:blipFill>
          <a:blip r:embed="rId4"/>
          <a:srcRect t="8177" b="6439"/>
          <a:stretch>
            <a:fillRect/>
          </a:stretch>
        </p:blipFill>
        <p:spPr>
          <a:xfrm>
            <a:off x="4374210" y="2351940"/>
            <a:ext cx="3472410" cy="1800000"/>
          </a:xfrm>
          <a:prstGeom prst="roundRect">
            <a:avLst/>
          </a:prstGeom>
          <a:blipFill>
            <a:blip r:embed="rId5"/>
            <a:srcRect/>
            <a:stretch>
              <a:fillRect t="-21250" b="-21250"/>
            </a:stretch>
          </a:blipFill>
          <a:ln>
            <a:noFill/>
          </a:ln>
          <a:effectLst/>
        </p:spPr>
      </p:pic>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3" name="TextBox 2">
            <a:extLst>
              <a:ext uri="{FF2B5EF4-FFF2-40B4-BE49-F238E27FC236}">
                <a16:creationId xmlns:a16="http://schemas.microsoft.com/office/drawing/2014/main" id="{78E9D726-1936-7944-8E73-17FE83516CB2}"/>
              </a:ext>
            </a:extLst>
          </p:cNvPr>
          <p:cNvSpPr txBox="1"/>
          <p:nvPr/>
        </p:nvSpPr>
        <p:spPr>
          <a:xfrm>
            <a:off x="520478" y="1394291"/>
            <a:ext cx="342000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E98D7"/>
                </a:solidFill>
                <a:effectLst/>
                <a:uLnTx/>
                <a:uFillTx/>
                <a:latin typeface="Poppins" pitchFamily="2" charset="77"/>
                <a:ea typeface="+mn-ea"/>
                <a:cs typeface="Poppins" pitchFamily="2" charset="77"/>
              </a:rPr>
              <a:t>AN OUTSIDE-IN, CLIENT-CENTRIC PERSPECTIVE</a:t>
            </a:r>
          </a:p>
        </p:txBody>
      </p:sp>
      <p:sp>
        <p:nvSpPr>
          <p:cNvPr id="8" name="Rectangle 7">
            <a:extLst>
              <a:ext uri="{FF2B5EF4-FFF2-40B4-BE49-F238E27FC236}">
                <a16:creationId xmlns:a16="http://schemas.microsoft.com/office/drawing/2014/main" id="{F51C281A-F134-5163-9CED-86BCF21421B7}"/>
              </a:ext>
            </a:extLst>
          </p:cNvPr>
          <p:cNvSpPr/>
          <p:nvPr/>
        </p:nvSpPr>
        <p:spPr>
          <a:xfrm>
            <a:off x="520475" y="4287680"/>
            <a:ext cx="3574729" cy="169164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200" b="0" i="0">
                <a:solidFill>
                  <a:srgbClr val="3D3C3C"/>
                </a:solidFill>
                <a:latin typeface="Open Sans"/>
              </a:rPr>
              <a:t>Contractors are experts in delivery. What is harder to do from within is see the bid through the client's eyes. We bring that outside-in lens, grounded in human-centred design, so every response speaks to what the client needs to feel confident.</a:t>
            </a:r>
          </a:p>
        </p:txBody>
      </p:sp>
      <p:cxnSp>
        <p:nvCxnSpPr>
          <p:cNvPr id="17" name="Straight Connector 16">
            <a:extLst>
              <a:ext uri="{FF2B5EF4-FFF2-40B4-BE49-F238E27FC236}">
                <a16:creationId xmlns:a16="http://schemas.microsoft.com/office/drawing/2014/main" id="{07DB9F50-6F80-962F-798A-71D1A9E0AC34}"/>
              </a:ext>
            </a:extLst>
          </p:cNvPr>
          <p:cNvCxnSpPr>
            <a:cxnSpLocks/>
          </p:cNvCxnSpPr>
          <p:nvPr/>
        </p:nvCxnSpPr>
        <p:spPr>
          <a:xfrm>
            <a:off x="4178860" y="2071868"/>
            <a:ext cx="0" cy="3219626"/>
          </a:xfrm>
          <a:prstGeom prst="line">
            <a:avLst/>
          </a:prstGeom>
          <a:ln w="3175">
            <a:solidFill>
              <a:schemeClr val="bg2"/>
            </a:solidFill>
            <a:prstDash val="soli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A8624E-9151-20DF-30C3-F8BF1D5B73B8}"/>
              </a:ext>
            </a:extLst>
          </p:cNvPr>
          <p:cNvCxnSpPr>
            <a:cxnSpLocks/>
          </p:cNvCxnSpPr>
          <p:nvPr/>
        </p:nvCxnSpPr>
        <p:spPr>
          <a:xfrm>
            <a:off x="8014768" y="2066222"/>
            <a:ext cx="0" cy="3219626"/>
          </a:xfrm>
          <a:prstGeom prst="line">
            <a:avLst/>
          </a:prstGeom>
          <a:ln w="3175">
            <a:solidFill>
              <a:schemeClr val="bg2"/>
            </a:solidFill>
            <a:prstDash val="solid"/>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F97EF71-8B21-C0B0-2B7C-9B7E505114E5}"/>
              </a:ext>
            </a:extLst>
          </p:cNvPr>
          <p:cNvSpPr txBox="1"/>
          <p:nvPr/>
        </p:nvSpPr>
        <p:spPr>
          <a:xfrm>
            <a:off x="4386000" y="1394291"/>
            <a:ext cx="342000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EE2B79"/>
                </a:solidFill>
                <a:effectLst/>
                <a:uLnTx/>
                <a:uFillTx/>
                <a:latin typeface="Poppins" pitchFamily="2" charset="77"/>
                <a:ea typeface="+mn-ea"/>
                <a:cs typeface="Poppins" pitchFamily="2" charset="77"/>
              </a:rPr>
              <a:t>A STORYBOARDING METHOD YOUR TEAM OWNS</a:t>
            </a:r>
          </a:p>
        </p:txBody>
      </p:sp>
      <p:sp>
        <p:nvSpPr>
          <p:cNvPr id="21" name="TextBox 20">
            <a:extLst>
              <a:ext uri="{FF2B5EF4-FFF2-40B4-BE49-F238E27FC236}">
                <a16:creationId xmlns:a16="http://schemas.microsoft.com/office/drawing/2014/main" id="{EC6A3802-2DBB-F25D-3830-EAABF69B65D4}"/>
              </a:ext>
            </a:extLst>
          </p:cNvPr>
          <p:cNvSpPr txBox="1"/>
          <p:nvPr/>
        </p:nvSpPr>
        <p:spPr>
          <a:xfrm>
            <a:off x="8155839" y="1366422"/>
            <a:ext cx="358779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2EB88A"/>
                </a:solidFill>
                <a:effectLst/>
                <a:uLnTx/>
                <a:uFillTx/>
                <a:latin typeface="Poppins" pitchFamily="2" charset="77"/>
                <a:ea typeface="+mn-ea"/>
                <a:cs typeface="Poppins" pitchFamily="2" charset="77"/>
              </a:rPr>
              <a:t>WE KNOW WEBUILD, AND WE KNOW RAIL</a:t>
            </a:r>
          </a:p>
        </p:txBody>
      </p:sp>
      <p:sp>
        <p:nvSpPr>
          <p:cNvPr id="22" name="Rectangle 21">
            <a:extLst>
              <a:ext uri="{FF2B5EF4-FFF2-40B4-BE49-F238E27FC236}">
                <a16:creationId xmlns:a16="http://schemas.microsoft.com/office/drawing/2014/main" id="{015A7124-6369-DE9A-8B70-1B6BC78BE829}"/>
              </a:ext>
            </a:extLst>
          </p:cNvPr>
          <p:cNvSpPr/>
          <p:nvPr/>
        </p:nvSpPr>
        <p:spPr>
          <a:xfrm>
            <a:off x="4386000" y="4287680"/>
            <a:ext cx="3420000" cy="169164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200" b="0" i="0">
                <a:solidFill>
                  <a:srgbClr val="3D3C3C"/>
                </a:solidFill>
                <a:latin typeface="Open Sans"/>
              </a:rPr>
              <a:t>We do not write the bid. We teach your team how to build each response around the client, then give you prescriptive storyboards to brief your writers. The skills stay with Webuild long after this EOI is submitted.</a:t>
            </a:r>
          </a:p>
        </p:txBody>
      </p:sp>
      <p:sp>
        <p:nvSpPr>
          <p:cNvPr id="23" name="Rectangle 22">
            <a:extLst>
              <a:ext uri="{FF2B5EF4-FFF2-40B4-BE49-F238E27FC236}">
                <a16:creationId xmlns:a16="http://schemas.microsoft.com/office/drawing/2014/main" id="{2F28FA3F-1517-99CD-FC9A-B0B665B87E05}"/>
              </a:ext>
            </a:extLst>
          </p:cNvPr>
          <p:cNvSpPr/>
          <p:nvPr/>
        </p:nvSpPr>
        <p:spPr>
          <a:xfrm>
            <a:off x="8239735" y="4287680"/>
            <a:ext cx="3420000" cy="169164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sz="1200" b="0" i="0">
                <a:solidFill>
                  <a:srgbClr val="3D3C3C"/>
                </a:solidFill>
                <a:latin typeface="Open Sans"/>
              </a:rPr>
              <a:t>We have worked with Webuild on Sydney Water and alongside contractors on Sydney Metro and Australia's High Speed Rail project. We understand rail procurement, ECI models and what evaluators look for.</a:t>
            </a:r>
          </a:p>
        </p:txBody>
      </p:sp>
      <p:sp>
        <p:nvSpPr>
          <p:cNvPr id="25" name="Rounded Rectangle 24" descr="Three people wearing headphones using computer">
            <a:extLst>
              <a:ext uri="{FF2B5EF4-FFF2-40B4-BE49-F238E27FC236}">
                <a16:creationId xmlns:a16="http://schemas.microsoft.com/office/drawing/2014/main" id="{482EC9E1-8357-7B0A-EA31-BD1398F78788}"/>
              </a:ext>
            </a:extLst>
          </p:cNvPr>
          <p:cNvSpPr/>
          <p:nvPr/>
        </p:nvSpPr>
        <p:spPr>
          <a:xfrm>
            <a:off x="520475" y="2356484"/>
            <a:ext cx="3420000" cy="1800000"/>
          </a:xfrm>
          <a:prstGeom prst="roundRect">
            <a:avLst/>
          </a:prstGeom>
          <a:blipFill dpi="0" rotWithShape="1">
            <a:blip r:embed="rId6">
              <a:extLst>
                <a:ext uri="{28A0092B-C50C-407E-A947-70E740481C1C}">
                  <a14:useLocalDpi xmlns:a14="http://schemas.microsoft.com/office/drawing/2010/main" val="0"/>
                </a:ext>
              </a:extLst>
            </a:blip>
            <a:srcRect/>
            <a:stretch>
              <a:fillRect t="-40339" b="-2161"/>
            </a:stretch>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Open Sans Light"/>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A proven approach to helping contractors stand out through the client's eyes</a:t>
            </a:r>
          </a:p>
        </p:txBody>
      </p:sp>
    </p:spTree>
    <p:extLst>
      <p:ext uri="{BB962C8B-B14F-4D97-AF65-F5344CB8AC3E}">
        <p14:creationId xmlns:p14="http://schemas.microsoft.com/office/powerpoint/2010/main" val="3726619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Clear roles: we shape the strategy, Webuild owns the EOI</a:t>
            </a:r>
          </a:p>
        </p:txBody>
      </p:sp>
      <p:sp>
        <p:nvSpPr>
          <p:cNvPr id="10" name="TextBox 9"/>
          <p:cNvSpPr txBox="1"/>
          <p:nvPr/>
        </p:nvSpPr>
        <p:spPr>
          <a:xfrm>
            <a:off x="566928" y="1261872"/>
            <a:ext cx="10972800" cy="365760"/>
          </a:xfrm>
          <a:prstGeom prst="rect">
            <a:avLst/>
          </a:prstGeom>
          <a:noFill/>
        </p:spPr>
        <p:txBody>
          <a:bodyPr wrap="square" lIns="0" rIns="0" tIns="0" bIns="0" anchor="t">
            <a:spAutoFit/>
          </a:bodyPr>
          <a:lstStyle/>
          <a:p>
            <a:pPr>
              <a:spcAft>
                <a:spcPts val="400"/>
              </a:spcAft>
              <a:buNone/>
            </a:pPr>
            <a:r>
              <a:rPr sz="1300" b="0" i="0">
                <a:solidFill>
                  <a:srgbClr val="6B6B6B"/>
                </a:solidFill>
                <a:latin typeface="Open Sans"/>
              </a:rPr>
              <a:t>A clear division of work avoids duplication and keeps the story in Webuild's hands.</a:t>
            </a:r>
          </a:p>
        </p:txBody>
      </p:sp>
      <p:sp>
        <p:nvSpPr>
          <p:cNvPr id="11" name="Rounded Rectangle 10"/>
          <p:cNvSpPr/>
          <p:nvPr/>
        </p:nvSpPr>
        <p:spPr>
          <a:xfrm>
            <a:off x="566928" y="1828800"/>
            <a:ext cx="3520440" cy="566928"/>
          </a:xfrm>
          <a:prstGeom prst="roundRect">
            <a:avLst>
              <a:gd name="adj" fmla="val 20000"/>
            </a:avLst>
          </a:prstGeom>
          <a:solidFill>
            <a:srgbClr val="F480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ctr">
              <a:spcAft>
                <a:spcPts val="0"/>
              </a:spcAft>
              <a:buNone/>
            </a:pPr>
            <a:r>
              <a:rPr sz="1300" b="1" i="0">
                <a:solidFill>
                  <a:srgbClr val="FFFFFF"/>
                </a:solidFill>
                <a:latin typeface="Poppins"/>
              </a:rPr>
              <a:t>The Strategy Group</a:t>
            </a:r>
          </a:p>
        </p:txBody>
      </p:sp>
      <p:sp>
        <p:nvSpPr>
          <p:cNvPr id="12" name="Rounded Rectangle 11"/>
          <p:cNvSpPr/>
          <p:nvPr/>
        </p:nvSpPr>
        <p:spPr>
          <a:xfrm>
            <a:off x="566928" y="2514600"/>
            <a:ext cx="3520440" cy="26060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l" marL="155448" indent="-155448">
              <a:spcAft>
                <a:spcPts val="800"/>
              </a:spcAft>
              <a:buClr>
                <a:srgbClr val="F48047"/>
              </a:buClr>
              <a:buFont typeface="Arial"/>
              <a:buChar char="•"/>
            </a:pPr>
            <a:r>
              <a:rPr sz="1200" b="0" i="0">
                <a:solidFill>
                  <a:srgbClr val="3D3C3C"/>
                </a:solidFill>
                <a:latin typeface="Open Sans"/>
              </a:rPr>
              <a:t>Research the client and its priorities</a:t>
            </a:r>
          </a:p>
          <a:p>
            <a:pPr algn="l" marL="155448" indent="-155448">
              <a:spcAft>
                <a:spcPts val="800"/>
              </a:spcAft>
              <a:buClr>
                <a:srgbClr val="F48047"/>
              </a:buClr>
              <a:buFont typeface="Arial"/>
              <a:buChar char="•"/>
            </a:pPr>
            <a:r>
              <a:rPr sz="1200" b="0" i="0">
                <a:solidFill>
                  <a:srgbClr val="3D3C3C"/>
                </a:solidFill>
                <a:latin typeface="Open Sans"/>
              </a:rPr>
              <a:t>Facilitate the discovery and storyboarding workshops</a:t>
            </a:r>
          </a:p>
          <a:p>
            <a:pPr algn="l" marL="155448" indent="-155448">
              <a:spcAft>
                <a:spcPts val="800"/>
              </a:spcAft>
              <a:buClr>
                <a:srgbClr val="F48047"/>
              </a:buClr>
              <a:buFont typeface="Arial"/>
              <a:buChar char="•"/>
            </a:pPr>
            <a:r>
              <a:rPr sz="1200" b="0" i="0">
                <a:solidFill>
                  <a:srgbClr val="3D3C3C"/>
                </a:solidFill>
                <a:latin typeface="Open Sans"/>
              </a:rPr>
              <a:t>Develop win themes and question-by-question storyboards</a:t>
            </a:r>
          </a:p>
          <a:p>
            <a:pPr algn="l" marL="155448" indent="-155448">
              <a:spcAft>
                <a:spcPts val="800"/>
              </a:spcAft>
              <a:buClr>
                <a:srgbClr val="F48047"/>
              </a:buClr>
              <a:buFont typeface="Arial"/>
              <a:buChar char="•"/>
            </a:pPr>
            <a:r>
              <a:rPr sz="1200" b="0" i="0">
                <a:solidFill>
                  <a:srgbClr val="3D3C3C"/>
                </a:solidFill>
                <a:latin typeface="Open Sans"/>
              </a:rPr>
              <a:t>Review drafts through an independent client lens</a:t>
            </a:r>
          </a:p>
        </p:txBody>
      </p:sp>
      <p:sp>
        <p:nvSpPr>
          <p:cNvPr id="13" name="Rounded Rectangle 12"/>
          <p:cNvSpPr/>
          <p:nvPr/>
        </p:nvSpPr>
        <p:spPr>
          <a:xfrm>
            <a:off x="4315968" y="1828800"/>
            <a:ext cx="3520440" cy="566928"/>
          </a:xfrm>
          <a:prstGeom prst="roundRect">
            <a:avLst>
              <a:gd name="adj" fmla="val 20000"/>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ctr">
              <a:spcAft>
                <a:spcPts val="0"/>
              </a:spcAft>
              <a:buNone/>
            </a:pPr>
            <a:r>
              <a:rPr sz="1300" b="1" i="0">
                <a:solidFill>
                  <a:srgbClr val="FFFFFF"/>
                </a:solidFill>
                <a:latin typeface="Poppins"/>
              </a:rPr>
              <a:t>Webuild leadership and proposed team</a:t>
            </a:r>
          </a:p>
        </p:txBody>
      </p:sp>
      <p:sp>
        <p:nvSpPr>
          <p:cNvPr id="14" name="Rounded Rectangle 13"/>
          <p:cNvSpPr/>
          <p:nvPr/>
        </p:nvSpPr>
        <p:spPr>
          <a:xfrm>
            <a:off x="4315968" y="2514600"/>
            <a:ext cx="3520440" cy="26060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l" marL="155448" indent="-155448">
              <a:spcAft>
                <a:spcPts val="800"/>
              </a:spcAft>
              <a:buClr>
                <a:srgbClr val="EE2B7A"/>
              </a:buClr>
              <a:buFont typeface="Arial"/>
              <a:buChar char="•"/>
            </a:pPr>
            <a:r>
              <a:rPr sz="1200" b="0" i="0">
                <a:solidFill>
                  <a:srgbClr val="3D3C3C"/>
                </a:solidFill>
                <a:latin typeface="Open Sans"/>
              </a:rPr>
              <a:t>Share the Webuild story, values and evidence</a:t>
            </a:r>
          </a:p>
          <a:p>
            <a:pPr algn="l" marL="155448" indent="-155448">
              <a:spcAft>
                <a:spcPts val="800"/>
              </a:spcAft>
              <a:buClr>
                <a:srgbClr val="EE2B7A"/>
              </a:buClr>
              <a:buFont typeface="Arial"/>
              <a:buChar char="•"/>
            </a:pPr>
            <a:r>
              <a:rPr sz="1200" b="0" i="0">
                <a:solidFill>
                  <a:srgbClr val="3D3C3C"/>
                </a:solidFill>
                <a:latin typeface="Open Sans"/>
              </a:rPr>
              <a:t>Confirm the real proposed team and availability</a:t>
            </a:r>
          </a:p>
          <a:p>
            <a:pPr algn="l" marL="155448" indent="-155448">
              <a:spcAft>
                <a:spcPts val="800"/>
              </a:spcAft>
              <a:buClr>
                <a:srgbClr val="EE2B7A"/>
              </a:buClr>
              <a:buFont typeface="Arial"/>
              <a:buChar char="•"/>
            </a:pPr>
            <a:r>
              <a:rPr sz="1200" b="0" i="0">
                <a:solidFill>
                  <a:srgbClr val="3D3C3C"/>
                </a:solidFill>
                <a:latin typeface="Open Sans"/>
              </a:rPr>
              <a:t>Own the win themes and storyboard decisions</a:t>
            </a:r>
          </a:p>
          <a:p>
            <a:pPr algn="l" marL="155448" indent="-155448">
              <a:spcAft>
                <a:spcPts val="800"/>
              </a:spcAft>
              <a:buClr>
                <a:srgbClr val="EE2B7A"/>
              </a:buClr>
              <a:buFont typeface="Arial"/>
              <a:buChar char="•"/>
            </a:pPr>
            <a:r>
              <a:rPr sz="1200" b="0" i="0">
                <a:solidFill>
                  <a:srgbClr val="3D3C3C"/>
                </a:solidFill>
                <a:latin typeface="Open Sans"/>
              </a:rPr>
              <a:t>Brief the bid writers using the storyboard outputs</a:t>
            </a:r>
          </a:p>
        </p:txBody>
      </p:sp>
      <p:sp>
        <p:nvSpPr>
          <p:cNvPr id="15" name="Rounded Rectangle 14"/>
          <p:cNvSpPr/>
          <p:nvPr/>
        </p:nvSpPr>
        <p:spPr>
          <a:xfrm>
            <a:off x="8065007" y="1828800"/>
            <a:ext cx="3520440" cy="566928"/>
          </a:xfrm>
          <a:prstGeom prst="roundRect">
            <a:avLst>
              <a:gd name="adj" fmla="val 20000"/>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82296" bIns="82296"/>
          <a:lstStyle/>
          <a:p>
            <a:pPr algn="ctr">
              <a:spcAft>
                <a:spcPts val="0"/>
              </a:spcAft>
              <a:buNone/>
            </a:pPr>
            <a:r>
              <a:rPr sz="1300" b="1" i="0">
                <a:solidFill>
                  <a:srgbClr val="FFFFFF"/>
                </a:solidFill>
                <a:latin typeface="Poppins"/>
              </a:rPr>
              <a:t>Your bid writing team</a:t>
            </a:r>
          </a:p>
        </p:txBody>
      </p:sp>
      <p:sp>
        <p:nvSpPr>
          <p:cNvPr id="16" name="Rounded Rectangle 15"/>
          <p:cNvSpPr/>
          <p:nvPr/>
        </p:nvSpPr>
        <p:spPr>
          <a:xfrm>
            <a:off x="8065007" y="2514600"/>
            <a:ext cx="3520440" cy="26060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82880" rIns="182880" tIns="109728" bIns="109728"/>
          <a:lstStyle/>
          <a:p>
            <a:pPr algn="l" marL="155448" indent="-155448">
              <a:spcAft>
                <a:spcPts val="800"/>
              </a:spcAft>
              <a:buClr>
                <a:srgbClr val="0E98D7"/>
              </a:buClr>
              <a:buFont typeface="Arial"/>
              <a:buChar char="•"/>
            </a:pPr>
            <a:r>
              <a:rPr sz="1200" b="0" i="0">
                <a:solidFill>
                  <a:srgbClr val="3D3C3C"/>
                </a:solidFill>
                <a:latin typeface="Open Sans"/>
              </a:rPr>
              <a:t>Write and produce the EOI responses</a:t>
            </a:r>
          </a:p>
          <a:p>
            <a:pPr algn="l" marL="155448" indent="-155448">
              <a:spcAft>
                <a:spcPts val="800"/>
              </a:spcAft>
              <a:buClr>
                <a:srgbClr val="0E98D7"/>
              </a:buClr>
              <a:buFont typeface="Arial"/>
              <a:buChar char="•"/>
            </a:pPr>
            <a:r>
              <a:rPr sz="1200" b="0" i="0">
                <a:solidFill>
                  <a:srgbClr val="3D3C3C"/>
                </a:solidFill>
                <a:latin typeface="Open Sans"/>
              </a:rPr>
              <a:t>Apply the storyboard direction to every answer</a:t>
            </a:r>
          </a:p>
          <a:p>
            <a:pPr algn="l" marL="155448" indent="-155448">
              <a:spcAft>
                <a:spcPts val="800"/>
              </a:spcAft>
              <a:buClr>
                <a:srgbClr val="0E98D7"/>
              </a:buClr>
              <a:buFont typeface="Arial"/>
              <a:buChar char="•"/>
            </a:pPr>
            <a:r>
              <a:rPr sz="1200" b="0" i="0">
                <a:solidFill>
                  <a:srgbClr val="3D3C3C"/>
                </a:solidFill>
                <a:latin typeface="Open Sans"/>
              </a:rPr>
              <a:t>Manage compliance, formatting and submission</a:t>
            </a:r>
          </a:p>
          <a:p>
            <a:pPr algn="l" marL="155448" indent="-155448">
              <a:spcAft>
                <a:spcPts val="800"/>
              </a:spcAft>
              <a:buClr>
                <a:srgbClr val="0E98D7"/>
              </a:buClr>
              <a:buFont typeface="Arial"/>
              <a:buChar char="•"/>
            </a:pPr>
            <a:r>
              <a:rPr sz="1200" b="0" i="0">
                <a:solidFill>
                  <a:srgbClr val="3D3C3C"/>
                </a:solidFill>
                <a:latin typeface="Open Sans"/>
              </a:rPr>
              <a:t>Incorporate feedback from the Week 4 and Week 5 reviews</a:t>
            </a:r>
          </a:p>
        </p:txBody>
      </p:sp>
      <p:sp>
        <p:nvSpPr>
          <p:cNvPr id="17" name="TextBox 16"/>
          <p:cNvSpPr txBox="1"/>
          <p:nvPr/>
        </p:nvSpPr>
        <p:spPr>
          <a:xfrm>
            <a:off x="566928" y="5349240"/>
            <a:ext cx="10972800" cy="457200"/>
          </a:xfrm>
          <a:prstGeom prst="rect">
            <a:avLst/>
          </a:prstGeom>
          <a:noFill/>
        </p:spPr>
        <p:txBody>
          <a:bodyPr wrap="square" lIns="0" rIns="0" tIns="0" bIns="0" anchor="t">
            <a:spAutoFit/>
          </a:bodyPr>
          <a:lstStyle/>
          <a:p>
            <a:pPr>
              <a:spcAft>
                <a:spcPts val="400"/>
              </a:spcAft>
              <a:buNone/>
            </a:pPr>
            <a:r>
              <a:rPr sz="1200" b="1" i="0">
                <a:solidFill>
                  <a:srgbClr val="3D3C3C"/>
                </a:solidFill>
                <a:latin typeface="Open Sans"/>
              </a:rPr>
              <a:t>Workshops are designed for Webuild's leadership and proposed delivery team</a:t>
            </a:r>
            <a:r>
              <a:rPr sz="1200" b="0" i="0">
                <a:solidFill>
                  <a:srgbClr val="3D3C3C"/>
                </a:solidFill>
                <a:latin typeface="Open Sans"/>
              </a:rPr>
              <a:t>, so your people can speak openly and own the outcome.</a:t>
            </a:r>
          </a:p>
        </p:txBody>
      </p:sp>
    </p:spTree>
    <p:extLst>
      <p:ext uri="{BB962C8B-B14F-4D97-AF65-F5344CB8AC3E}">
        <p14:creationId xmlns:p14="http://schemas.microsoft.com/office/powerpoint/2010/main" val="37266199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BC3D8-2DE3-3983-5699-C2821E25127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76D4443-2654-0DD3-5E16-27A93A7B1A13}"/>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Ligh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srgbClr val="000000">
                  <a:tint val="75000"/>
                </a:srgbClr>
              </a:solidFill>
              <a:effectLst/>
              <a:uLnTx/>
              <a:uFillTx/>
              <a:latin typeface="Open Sans Light"/>
              <a:ea typeface="+mn-ea"/>
              <a:cs typeface="+mn-cs"/>
            </a:endParaRPr>
          </a:p>
        </p:txBody>
      </p:sp>
      <p:sp>
        <p:nvSpPr>
          <p:cNvPr id="21" name="TextBox 20">
            <a:extLst>
              <a:ext uri="{FF2B5EF4-FFF2-40B4-BE49-F238E27FC236}">
                <a16:creationId xmlns:a16="http://schemas.microsoft.com/office/drawing/2014/main" id="{A61D4AB4-5F69-504F-E689-CC925E09065F}"/>
              </a:ext>
            </a:extLst>
          </p:cNvPr>
          <p:cNvSpPr txBox="1"/>
          <p:nvPr/>
        </p:nvSpPr>
        <p:spPr>
          <a:xfrm>
            <a:off x="554666" y="1330835"/>
            <a:ext cx="11299119" cy="830997"/>
          </a:xfrm>
          <a:prstGeom prst="rect">
            <a:avLst/>
          </a:prstGeom>
          <a:noFill/>
        </p:spPr>
        <p:txBody>
          <a:bodyPr wrap="square" rtlCol="0">
            <a:spAutoFit/>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Open Sans" panose="020B0606030504020204" pitchFamily="34" charset="0"/>
                <a:ea typeface="Open Sans" panose="020B0606030504020204" pitchFamily="34" charset="0"/>
                <a:cs typeface="Open Sans" panose="020B0606030504020204" pitchFamily="34" charset="0"/>
              </a:rPr>
              <a:t>We partner with Australia’s leading engineering, construction and infrastructure organisations to strengthen client focus, lift tender performance and deliver better project outcomes, combining strategy, customer experience and innovation expertise built over more than 20 years.</a:t>
            </a:r>
          </a:p>
        </p:txBody>
      </p:sp>
      <p:grpSp>
        <p:nvGrpSpPr>
          <p:cNvPr id="5" name="Group 4">
            <a:extLst>
              <a:ext uri="{FF2B5EF4-FFF2-40B4-BE49-F238E27FC236}">
                <a16:creationId xmlns:a16="http://schemas.microsoft.com/office/drawing/2014/main" id="{962307BA-85E1-44EB-48CC-6CC8F12ABF99}"/>
              </a:ext>
            </a:extLst>
          </p:cNvPr>
          <p:cNvGrpSpPr/>
          <p:nvPr/>
        </p:nvGrpSpPr>
        <p:grpSpPr>
          <a:xfrm>
            <a:off x="484735" y="2926080"/>
            <a:ext cx="11645465" cy="3125527"/>
            <a:chOff x="402518" y="2625935"/>
            <a:chExt cx="6444286" cy="1729581"/>
          </a:xfrm>
        </p:grpSpPr>
        <p:pic>
          <p:nvPicPr>
            <p:cNvPr id="6" name="Picture 5">
              <a:extLst>
                <a:ext uri="{FF2B5EF4-FFF2-40B4-BE49-F238E27FC236}">
                  <a16:creationId xmlns:a16="http://schemas.microsoft.com/office/drawing/2014/main" id="{42CC80D3-CA30-95B8-AA8B-EA5EE3F60A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518" y="2989678"/>
              <a:ext cx="1097362" cy="748684"/>
            </a:xfrm>
            <a:prstGeom prst="rect">
              <a:avLst/>
            </a:prstGeom>
          </p:spPr>
        </p:pic>
        <p:pic>
          <p:nvPicPr>
            <p:cNvPr id="7" name="Picture 6">
              <a:extLst>
                <a:ext uri="{FF2B5EF4-FFF2-40B4-BE49-F238E27FC236}">
                  <a16:creationId xmlns:a16="http://schemas.microsoft.com/office/drawing/2014/main" id="{ABBEB07E-FF3D-044C-9601-12D55A28E8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0173" y="3166837"/>
              <a:ext cx="693122" cy="384556"/>
            </a:xfrm>
            <a:prstGeom prst="rect">
              <a:avLst/>
            </a:prstGeom>
          </p:spPr>
        </p:pic>
        <p:pic>
          <p:nvPicPr>
            <p:cNvPr id="8" name="Picture 7">
              <a:extLst>
                <a:ext uri="{FF2B5EF4-FFF2-40B4-BE49-F238E27FC236}">
                  <a16:creationId xmlns:a16="http://schemas.microsoft.com/office/drawing/2014/main" id="{4CB7F6FF-99FB-B548-47F8-D7007847C9F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188" y="2694934"/>
              <a:ext cx="926022" cy="254897"/>
            </a:xfrm>
            <a:prstGeom prst="rect">
              <a:avLst/>
            </a:prstGeom>
          </p:spPr>
        </p:pic>
        <p:pic>
          <p:nvPicPr>
            <p:cNvPr id="9" name="Picture 8">
              <a:extLst>
                <a:ext uri="{FF2B5EF4-FFF2-40B4-BE49-F238E27FC236}">
                  <a16:creationId xmlns:a16="http://schemas.microsoft.com/office/drawing/2014/main" id="{A1EDAB08-8C2E-63FD-1724-78A4B20B252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54497" y="2755470"/>
              <a:ext cx="1097362" cy="148144"/>
            </a:xfrm>
            <a:prstGeom prst="rect">
              <a:avLst/>
            </a:prstGeom>
          </p:spPr>
        </p:pic>
        <p:pic>
          <p:nvPicPr>
            <p:cNvPr id="10" name="Picture 9">
              <a:extLst>
                <a:ext uri="{FF2B5EF4-FFF2-40B4-BE49-F238E27FC236}">
                  <a16:creationId xmlns:a16="http://schemas.microsoft.com/office/drawing/2014/main" id="{FAB6183B-7900-E9F3-FDA9-CF6BD0AA2F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55749" y="3499052"/>
              <a:ext cx="1491055" cy="782804"/>
            </a:xfrm>
            <a:prstGeom prst="rect">
              <a:avLst/>
            </a:prstGeom>
          </p:spPr>
        </p:pic>
        <p:pic>
          <p:nvPicPr>
            <p:cNvPr id="11" name="Picture 10">
              <a:extLst>
                <a:ext uri="{FF2B5EF4-FFF2-40B4-BE49-F238E27FC236}">
                  <a16:creationId xmlns:a16="http://schemas.microsoft.com/office/drawing/2014/main" id="{415024DA-E3C0-11E2-651E-E1EA24D4B5A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66361" y="3152314"/>
              <a:ext cx="546033" cy="416545"/>
            </a:xfrm>
            <a:prstGeom prst="rect">
              <a:avLst/>
            </a:prstGeom>
          </p:spPr>
        </p:pic>
        <p:pic>
          <p:nvPicPr>
            <p:cNvPr id="12" name="Picture 11">
              <a:extLst>
                <a:ext uri="{FF2B5EF4-FFF2-40B4-BE49-F238E27FC236}">
                  <a16:creationId xmlns:a16="http://schemas.microsoft.com/office/drawing/2014/main" id="{0C90186A-00F3-24FC-60B5-FCA66CFA16A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117698" y="2625935"/>
              <a:ext cx="1215493" cy="407253"/>
            </a:xfrm>
            <a:prstGeom prst="rect">
              <a:avLst/>
            </a:prstGeom>
          </p:spPr>
        </p:pic>
        <p:pic>
          <p:nvPicPr>
            <p:cNvPr id="13" name="Picture 12">
              <a:extLst>
                <a:ext uri="{FF2B5EF4-FFF2-40B4-BE49-F238E27FC236}">
                  <a16:creationId xmlns:a16="http://schemas.microsoft.com/office/drawing/2014/main" id="{70714E75-2744-1210-CFCA-3181D13E62C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41439" y="3065288"/>
              <a:ext cx="638249" cy="638249"/>
            </a:xfrm>
            <a:prstGeom prst="rect">
              <a:avLst/>
            </a:prstGeom>
          </p:spPr>
        </p:pic>
        <p:pic>
          <p:nvPicPr>
            <p:cNvPr id="14" name="Picture 13">
              <a:extLst>
                <a:ext uri="{FF2B5EF4-FFF2-40B4-BE49-F238E27FC236}">
                  <a16:creationId xmlns:a16="http://schemas.microsoft.com/office/drawing/2014/main" id="{17C980AA-23BC-7DAC-AA54-0C31EDCB6194}"/>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2260681" y="3774079"/>
              <a:ext cx="938213" cy="233511"/>
            </a:xfrm>
            <a:prstGeom prst="rect">
              <a:avLst/>
            </a:prstGeom>
          </p:spPr>
        </p:pic>
        <p:pic>
          <p:nvPicPr>
            <p:cNvPr id="15" name="Picture 14">
              <a:extLst>
                <a:ext uri="{FF2B5EF4-FFF2-40B4-BE49-F238E27FC236}">
                  <a16:creationId xmlns:a16="http://schemas.microsoft.com/office/drawing/2014/main" id="{5B1C81A4-05D1-B24B-1ED0-188489D8BE9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590003" y="2694934"/>
              <a:ext cx="854000" cy="281036"/>
            </a:xfrm>
            <a:prstGeom prst="rect">
              <a:avLst/>
            </a:prstGeom>
          </p:spPr>
        </p:pic>
        <p:pic>
          <p:nvPicPr>
            <p:cNvPr id="16" name="Picture 15">
              <a:extLst>
                <a:ext uri="{FF2B5EF4-FFF2-40B4-BE49-F238E27FC236}">
                  <a16:creationId xmlns:a16="http://schemas.microsoft.com/office/drawing/2014/main" id="{DAFF59F4-836A-9321-4B08-BFE6ABB1ACCF}"/>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515936" y="3753865"/>
              <a:ext cx="1485530" cy="254897"/>
            </a:xfrm>
            <a:prstGeom prst="rect">
              <a:avLst/>
            </a:prstGeom>
          </p:spPr>
        </p:pic>
        <p:pic>
          <p:nvPicPr>
            <p:cNvPr id="17" name="Picture 16">
              <a:extLst>
                <a:ext uri="{FF2B5EF4-FFF2-40B4-BE49-F238E27FC236}">
                  <a16:creationId xmlns:a16="http://schemas.microsoft.com/office/drawing/2014/main" id="{6FB2AE7B-E6A8-CFB5-4D43-FD2AC55E49C4}"/>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008671" y="2694934"/>
              <a:ext cx="681152" cy="334190"/>
            </a:xfrm>
            <a:prstGeom prst="rect">
              <a:avLst/>
            </a:prstGeom>
          </p:spPr>
        </p:pic>
        <p:pic>
          <p:nvPicPr>
            <p:cNvPr id="18" name="Graphic 17">
              <a:extLst>
                <a:ext uri="{FF2B5EF4-FFF2-40B4-BE49-F238E27FC236}">
                  <a16:creationId xmlns:a16="http://schemas.microsoft.com/office/drawing/2014/main" id="{BAAD4273-4A9A-CC53-90C7-F0EED5D1F64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522792" y="3413120"/>
              <a:ext cx="942396" cy="942396"/>
            </a:xfrm>
            <a:prstGeom prst="rect">
              <a:avLst/>
            </a:prstGeom>
          </p:spPr>
        </p:pic>
        <p:pic>
          <p:nvPicPr>
            <p:cNvPr id="19" name="Picture 18">
              <a:extLst>
                <a:ext uri="{FF2B5EF4-FFF2-40B4-BE49-F238E27FC236}">
                  <a16:creationId xmlns:a16="http://schemas.microsoft.com/office/drawing/2014/main" id="{EE355F4A-0D4A-27A4-A174-F4565CF70159}"/>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3605954" y="3786808"/>
              <a:ext cx="671626" cy="348574"/>
            </a:xfrm>
            <a:prstGeom prst="rect">
              <a:avLst/>
            </a:prstGeom>
          </p:spPr>
        </p:pic>
        <p:pic>
          <p:nvPicPr>
            <p:cNvPr id="22" name="Picture 21">
              <a:extLst>
                <a:ext uri="{FF2B5EF4-FFF2-40B4-BE49-F238E27FC236}">
                  <a16:creationId xmlns:a16="http://schemas.microsoft.com/office/drawing/2014/main" id="{4AC9F9CC-31E1-9EB0-F573-B4618CC6E012}"/>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666731" y="3227404"/>
              <a:ext cx="532163" cy="291547"/>
            </a:xfrm>
            <a:prstGeom prst="rect">
              <a:avLst/>
            </a:prstGeom>
          </p:spPr>
        </p:pic>
        <p:pic>
          <p:nvPicPr>
            <p:cNvPr id="23" name="Picture 2" descr="Lendlease - Wikipedia">
              <a:extLst>
                <a:ext uri="{FF2B5EF4-FFF2-40B4-BE49-F238E27FC236}">
                  <a16:creationId xmlns:a16="http://schemas.microsoft.com/office/drawing/2014/main" id="{C0FCC0F3-421E-42CC-6DA8-DC43A67A01E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606623" y="3130549"/>
              <a:ext cx="704814" cy="507727"/>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 0">
            <a:extLst>
              <a:ext uri="{FF2B5EF4-FFF2-40B4-BE49-F238E27FC236}">
                <a16:creationId xmlns:a16="http://schemas.microsoft.com/office/drawing/2014/main" id="{CB680040-D6C1-FE37-0FD1-46D1C367B984}"/>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We have successfully partnered with leading construction companies in Australia</a:t>
            </a:r>
          </a:p>
        </p:txBody>
      </p:sp>
    </p:spTree>
    <p:extLst>
      <p:ext uri="{BB962C8B-B14F-4D97-AF65-F5344CB8AC3E}">
        <p14:creationId xmlns:p14="http://schemas.microsoft.com/office/powerpoint/2010/main" val="2188325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09AC-ABC7-FBD8-C445-E53C0C4FC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A19359-B947-1961-75AA-936DA272766C}"/>
              </a:ext>
            </a:extLst>
          </p:cNvPr>
          <p:cNvSpPr/>
          <p:nvPr/>
        </p:nvSpPr>
        <p:spPr>
          <a:xfrm>
            <a:off x="0" y="9253"/>
            <a:ext cx="12197626" cy="6880902"/>
          </a:xfrm>
          <a:prstGeom prst="rect">
            <a:avLst/>
          </a:prstGeom>
          <a:solidFill>
            <a:schemeClr val="tx1">
              <a:alpha val="6357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55" b="0" i="0" u="none" strike="noStrike" kern="1200" cap="none" spc="0" normalizeH="0" baseline="0" noProof="0">
              <a:ln>
                <a:noFill/>
              </a:ln>
              <a:solidFill>
                <a:srgbClr val="FFFFFF"/>
              </a:solidFill>
              <a:effectLst/>
              <a:uLnTx/>
              <a:uFillTx/>
              <a:latin typeface="Open Sans Light"/>
              <a:ea typeface="+mn-ea"/>
              <a:cs typeface="+mn-cs"/>
            </a:endParaRPr>
          </a:p>
        </p:txBody>
      </p:sp>
      <p:graphicFrame>
        <p:nvGraphicFramePr>
          <p:cNvPr id="3" name="Table 2">
            <a:extLst>
              <a:ext uri="{FF2B5EF4-FFF2-40B4-BE49-F238E27FC236}">
                <a16:creationId xmlns:a16="http://schemas.microsoft.com/office/drawing/2014/main" id="{D8A41966-51FC-7551-9FA9-8CFE56E86842}"/>
              </a:ext>
            </a:extLst>
          </p:cNvPr>
          <p:cNvGraphicFramePr>
            <a:graphicFrameLocks noGrp="1"/>
          </p:cNvGraphicFramePr>
          <p:nvPr/>
        </p:nvGraphicFramePr>
        <p:xfrm>
          <a:off x="5288691" y="1179740"/>
          <a:ext cx="6903309" cy="4412595"/>
        </p:xfrm>
        <a:graphic>
          <a:graphicData uri="http://schemas.openxmlformats.org/drawingml/2006/table">
            <a:tbl>
              <a:tblPr firstRow="1" bandRow="1">
                <a:tableStyleId>{5940675A-B579-460E-94D1-54222C63F5DA}</a:tableStyleId>
              </a:tblPr>
              <a:tblGrid>
                <a:gridCol w="1643448">
                  <a:extLst>
                    <a:ext uri="{9D8B030D-6E8A-4147-A177-3AD203B41FA5}">
                      <a16:colId xmlns:a16="http://schemas.microsoft.com/office/drawing/2014/main" val="3489013786"/>
                    </a:ext>
                  </a:extLst>
                </a:gridCol>
                <a:gridCol w="208280">
                  <a:extLst>
                    <a:ext uri="{9D8B030D-6E8A-4147-A177-3AD203B41FA5}">
                      <a16:colId xmlns:a16="http://schemas.microsoft.com/office/drawing/2014/main" val="2551940119"/>
                    </a:ext>
                  </a:extLst>
                </a:gridCol>
                <a:gridCol w="5051581">
                  <a:extLst>
                    <a:ext uri="{9D8B030D-6E8A-4147-A177-3AD203B41FA5}">
                      <a16:colId xmlns:a16="http://schemas.microsoft.com/office/drawing/2014/main" val="58592591"/>
                    </a:ext>
                  </a:extLst>
                </a:gridCol>
              </a:tblGrid>
              <a:tr h="882519">
                <a:tc>
                  <a:txBody>
                    <a:bodyPr/>
                    <a:lstStyle/>
                    <a:p>
                      <a:pPr algn="ctr"/>
                      <a:r>
                        <a:rPr lang="en-US" sz="2800" b="0" dirty="0">
                          <a:solidFill>
                            <a:schemeClr val="bg1"/>
                          </a:solidFill>
                          <a:latin typeface="Poppins" pitchFamily="2" charset="77"/>
                          <a:cs typeface="Poppins" pitchFamily="2" charset="77"/>
                        </a:rPr>
                        <a:t>01</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Poppins" pitchFamily="2" charset="77"/>
                          <a:cs typeface="Poppins" pitchFamily="2" charset="77"/>
                        </a:rPr>
                        <a:t>Our Understanding of Your Needs</a:t>
                      </a:r>
                      <a:endParaRPr lang="en-US" sz="18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6261238"/>
                  </a:ext>
                </a:extLst>
              </a:tr>
              <a:tr h="882519">
                <a:tc>
                  <a:txBody>
                    <a:bodyPr/>
                    <a:lstStyle/>
                    <a:p>
                      <a:pPr algn="ctr"/>
                      <a:r>
                        <a:rPr lang="en-US" sz="2800" b="0" dirty="0">
                          <a:solidFill>
                            <a:schemeClr val="bg1"/>
                          </a:solidFill>
                          <a:latin typeface="+mj-lt"/>
                          <a:cs typeface="Poppins Medium" panose="00000600000000000000" pitchFamily="2" charset="0"/>
                        </a:rPr>
                        <a:t>02</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mj-lt"/>
                          <a:cs typeface="Poppins Medium" panose="00000600000000000000" pitchFamily="2" charset="0"/>
                        </a:rPr>
                        <a:t>Why The Strategy Group</a:t>
                      </a:r>
                      <a:endParaRPr lang="en-US" sz="18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559838"/>
                  </a:ext>
                </a:extLst>
              </a:tr>
              <a:tr h="882519">
                <a:tc>
                  <a:txBody>
                    <a:bodyPr/>
                    <a:lstStyle/>
                    <a:p>
                      <a:pPr algn="ctr"/>
                      <a:r>
                        <a:rPr lang="en-US" sz="2800" b="1" dirty="0">
                          <a:solidFill>
                            <a:schemeClr val="bg1"/>
                          </a:solidFill>
                          <a:latin typeface="+mj-lt"/>
                          <a:cs typeface="Poppins Medium" panose="00000600000000000000" pitchFamily="2" charset="0"/>
                        </a:rPr>
                        <a:t>03</a:t>
                      </a: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1">
                          <a:solidFill>
                            <a:schemeClr val="bg1"/>
                          </a:solidFill>
                          <a:latin typeface="+mj-lt"/>
                          <a:cs typeface="Poppins Medium" panose="00000600000000000000" pitchFamily="2" charset="0"/>
                        </a:rPr>
                        <a:t>Our Approach</a:t>
                      </a: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1536259"/>
                  </a:ext>
                </a:extLst>
              </a:tr>
              <a:tr h="882519">
                <a:tc>
                  <a:txBody>
                    <a:bodyPr/>
                    <a:lstStyle/>
                    <a:p>
                      <a:pPr algn="ctr"/>
                      <a:r>
                        <a:rPr lang="en-US" sz="2800" b="0" dirty="0">
                          <a:solidFill>
                            <a:schemeClr val="bg1"/>
                          </a:solidFill>
                          <a:latin typeface="Poppins Medium" panose="00000600000000000000" pitchFamily="2" charset="0"/>
                          <a:cs typeface="Poppins Medium" panose="00000600000000000000" pitchFamily="2" charset="0"/>
                        </a:rPr>
                        <a:t>04</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b="0">
                          <a:solidFill>
                            <a:schemeClr val="bg1"/>
                          </a:solidFill>
                          <a:latin typeface="Poppins Medium" panose="00000600000000000000" pitchFamily="2" charset="0"/>
                          <a:cs typeface="Poppins Medium" panose="00000600000000000000" pitchFamily="2" charset="0"/>
                        </a:rPr>
                        <a:t>Our Experience and Team</a:t>
                      </a:r>
                      <a:r>
                        <a:rPr lang="en-US" sz="1800" b="0">
                          <a:solidFill>
                            <a:schemeClr val="bg1"/>
                          </a:solidFill>
                          <a:latin typeface="Poppins Medium" panose="00000600000000000000" pitchFamily="2" charset="0"/>
                          <a:cs typeface="Poppins Medium" panose="00000600000000000000" pitchFamily="2" charset="0"/>
                        </a:rPr>
                        <a:t/>
                      </a:r>
                      <a:r>
                        <a:rPr lang="en-AU" sz="1800" b="0">
                          <a:solidFill>
                            <a:schemeClr val="bg1"/>
                          </a:solidFill>
                          <a:latin typeface="Poppins Medium" panose="00000600000000000000" pitchFamily="2" charset="0"/>
                          <a:cs typeface="Poppins Medium" panose="00000600000000000000" pitchFamily="2" charset="0"/>
                        </a:rPr>
                        <a:t/>
                      </a:r>
                      <a:endParaRPr lang="en-US" sz="18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5165721"/>
                  </a:ext>
                </a:extLst>
              </a:tr>
              <a:tr h="882519">
                <a:tc>
                  <a:txBody>
                    <a:bodyPr/>
                    <a:lstStyle/>
                    <a:p>
                      <a:pPr algn="ctr"/>
                      <a:r>
                        <a:rPr lang="en-US" sz="2800" b="0" dirty="0">
                          <a:solidFill>
                            <a:schemeClr val="bg1"/>
                          </a:solidFill>
                          <a:latin typeface="Poppins" pitchFamily="2" charset="77"/>
                          <a:cs typeface="Poppins" pitchFamily="2" charset="77"/>
                        </a:rPr>
                        <a:t>05</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Poppins" pitchFamily="2" charset="77"/>
                          <a:cs typeface="Poppins" pitchFamily="2" charset="77"/>
                        </a:rPr>
                        <a:t>Investment</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18104154"/>
                  </a:ext>
                </a:extLst>
              </a:tr>
            </a:tbl>
          </a:graphicData>
        </a:graphic>
      </p:graphicFrame>
      <p:pic>
        <p:nvPicPr>
          <p:cNvPr id="7" name="Graphic 6">
            <a:extLst>
              <a:ext uri="{FF2B5EF4-FFF2-40B4-BE49-F238E27FC236}">
                <a16:creationId xmlns:a16="http://schemas.microsoft.com/office/drawing/2014/main" id="{9A0843B3-C65C-5254-9739-F0B4D579E1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25966" y="0"/>
            <a:ext cx="6959831" cy="5626984"/>
          </a:xfrm>
          <a:prstGeom prst="rect">
            <a:avLst/>
          </a:prstGeom>
        </p:spPr>
      </p:pic>
      <p:grpSp>
        <p:nvGrpSpPr>
          <p:cNvPr id="2" name="Group 1">
            <a:extLst>
              <a:ext uri="{FF2B5EF4-FFF2-40B4-BE49-F238E27FC236}">
                <a16:creationId xmlns:a16="http://schemas.microsoft.com/office/drawing/2014/main" id="{1D4B8EB6-53C5-A71D-D316-785AA88D6F8E}"/>
              </a:ext>
            </a:extLst>
          </p:cNvPr>
          <p:cNvGrpSpPr/>
          <p:nvPr/>
        </p:nvGrpSpPr>
        <p:grpSpPr>
          <a:xfrm>
            <a:off x="6931557" y="331283"/>
            <a:ext cx="2758775" cy="618017"/>
            <a:chOff x="6931557" y="331283"/>
            <a:chExt cx="2758775" cy="618017"/>
          </a:xfrm>
        </p:grpSpPr>
        <p:sp>
          <p:nvSpPr>
            <p:cNvPr id="12" name="TextBox 11">
              <a:extLst>
                <a:ext uri="{FF2B5EF4-FFF2-40B4-BE49-F238E27FC236}">
                  <a16:creationId xmlns:a16="http://schemas.microsoft.com/office/drawing/2014/main" id="{2114E355-9DF7-7479-CC8B-8E254E8D7542}"/>
                </a:ext>
              </a:extLst>
            </p:cNvPr>
            <p:cNvSpPr txBox="1"/>
            <p:nvPr/>
          </p:nvSpPr>
          <p:spPr>
            <a:xfrm>
              <a:off x="7334552" y="378682"/>
              <a:ext cx="19527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a:ln>
                    <a:noFill/>
                  </a:ln>
                  <a:solidFill>
                    <a:srgbClr val="FFFFFF"/>
                  </a:solidFill>
                  <a:effectLst/>
                  <a:uLnTx/>
                  <a:uFillTx/>
                  <a:latin typeface="Poppins" pitchFamily="2" charset="77"/>
                  <a:ea typeface="+mn-ea"/>
                  <a:cs typeface="Poppins" pitchFamily="2" charset="77"/>
                </a:rPr>
                <a:t>Contents</a:t>
              </a:r>
            </a:p>
          </p:txBody>
        </p:sp>
        <p:sp>
          <p:nvSpPr>
            <p:cNvPr id="13" name="Rectangle: Rounded Corners 12">
              <a:extLst>
                <a:ext uri="{FF2B5EF4-FFF2-40B4-BE49-F238E27FC236}">
                  <a16:creationId xmlns:a16="http://schemas.microsoft.com/office/drawing/2014/main" id="{2AA2110F-460B-4BA5-F8E5-3198C17D6E0C}"/>
                </a:ext>
              </a:extLst>
            </p:cNvPr>
            <p:cNvSpPr/>
            <p:nvPr/>
          </p:nvSpPr>
          <p:spPr>
            <a:xfrm>
              <a:off x="6931557" y="331283"/>
              <a:ext cx="2758775" cy="618017"/>
            </a:xfrm>
            <a:prstGeom prst="roundRect">
              <a:avLst>
                <a:gd name="adj" fmla="val 5000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Light"/>
                <a:ea typeface="+mn-ea"/>
                <a:cs typeface="+mn-cs"/>
              </a:endParaRPr>
            </a:p>
          </p:txBody>
        </p:sp>
      </p:grpSp>
    </p:spTree>
    <p:extLst>
      <p:ext uri="{BB962C8B-B14F-4D97-AF65-F5344CB8AC3E}">
        <p14:creationId xmlns:p14="http://schemas.microsoft.com/office/powerpoint/2010/main" val="2949948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4E839-FCFE-36AF-7CEE-0667FF72B294}"/>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1FB60982-BC74-29E6-4861-127CC6BE4E45}"/>
              </a:ext>
            </a:extLst>
          </p:cNvPr>
          <p:cNvSpPr>
            <a:spLocks noGrp="1" noRot="1" noMove="1" noResize="1" noEditPoints="1" noAdjustHandles="1" noChangeArrowheads="1" noChangeShapeType="1"/>
          </p:cNvSpPr>
          <p:nvPr/>
        </p:nvSpPr>
        <p:spPr>
          <a:xfrm>
            <a:off x="461757" y="6039540"/>
            <a:ext cx="11272292" cy="6861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noProof="0">
              <a:latin typeface="Open Sans Light" pitchFamily="2" charset="0"/>
            </a:endParaRPr>
          </a:p>
        </p:txBody>
      </p:sp>
      <p:sp>
        <p:nvSpPr>
          <p:cNvPr id="12" name="Rectangle: Rounded Corners 9">
            <a:extLst>
              <a:ext uri="{FF2B5EF4-FFF2-40B4-BE49-F238E27FC236}">
                <a16:creationId xmlns:a16="http://schemas.microsoft.com/office/drawing/2014/main" id="{BBDABE81-F937-1501-854D-DF31251A6F17}"/>
              </a:ext>
            </a:extLst>
          </p:cNvPr>
          <p:cNvSpPr/>
          <p:nvPr/>
        </p:nvSpPr>
        <p:spPr>
          <a:xfrm>
            <a:off x="8099734" y="1028673"/>
            <a:ext cx="3416911" cy="399728"/>
          </a:xfrm>
          <a:prstGeom prst="rect">
            <a:avLst/>
          </a:prstGeom>
          <a:gradFill>
            <a:gsLst>
              <a:gs pos="10000">
                <a:schemeClr val="accent2">
                  <a:lumMod val="60000"/>
                  <a:lumOff val="40000"/>
                </a:schemeClr>
              </a:gs>
              <a:gs pos="100000">
                <a:schemeClr val="accent2"/>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AU" sz="1100" noProof="0">
                <a:latin typeface="Poppins" pitchFamily="2" charset="77"/>
                <a:cs typeface="Poppins" pitchFamily="2" charset="77"/>
              </a:rPr>
              <a:t>3. REVIEW &amp; REFINE</a:t>
            </a:r>
          </a:p>
        </p:txBody>
      </p:sp>
      <p:sp>
        <p:nvSpPr>
          <p:cNvPr id="11" name="Rectangle: Rounded Corners 9">
            <a:extLst>
              <a:ext uri="{FF2B5EF4-FFF2-40B4-BE49-F238E27FC236}">
                <a16:creationId xmlns:a16="http://schemas.microsoft.com/office/drawing/2014/main" id="{BE26BBF8-E1A9-8B68-4170-479D56747308}"/>
              </a:ext>
            </a:extLst>
          </p:cNvPr>
          <p:cNvSpPr/>
          <p:nvPr/>
        </p:nvSpPr>
        <p:spPr>
          <a:xfrm>
            <a:off x="4332796" y="1028673"/>
            <a:ext cx="3412601" cy="399728"/>
          </a:xfrm>
          <a:prstGeom prst="rect">
            <a:avLst/>
          </a:prstGeom>
          <a:gradFill>
            <a:gsLst>
              <a:gs pos="10000">
                <a:schemeClr val="accent1">
                  <a:lumMod val="60000"/>
                  <a:lumOff val="40000"/>
                </a:schemeClr>
              </a:gs>
              <a:gs pos="100000">
                <a:schemeClr val="accent1"/>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AU" sz="1100" noProof="0">
                <a:latin typeface="Poppins" pitchFamily="2" charset="77"/>
                <a:cs typeface="Poppins" pitchFamily="2" charset="77"/>
              </a:rPr>
              <a:t>2. STORYBOARD</a:t>
            </a:r>
          </a:p>
        </p:txBody>
      </p:sp>
      <p:sp>
        <p:nvSpPr>
          <p:cNvPr id="10" name="Rectangle: Rounded Corners 9">
            <a:extLst>
              <a:ext uri="{FF2B5EF4-FFF2-40B4-BE49-F238E27FC236}">
                <a16:creationId xmlns:a16="http://schemas.microsoft.com/office/drawing/2014/main" id="{6246A99E-3BB7-E253-A81F-BD4C273476FA}"/>
              </a:ext>
            </a:extLst>
          </p:cNvPr>
          <p:cNvSpPr/>
          <p:nvPr/>
        </p:nvSpPr>
        <p:spPr>
          <a:xfrm>
            <a:off x="577490" y="1028673"/>
            <a:ext cx="3412597" cy="399728"/>
          </a:xfrm>
          <a:prstGeom prst="rect">
            <a:avLst/>
          </a:prstGeom>
          <a:gradFill>
            <a:gsLst>
              <a:gs pos="10000">
                <a:schemeClr val="accent3">
                  <a:lumMod val="60000"/>
                  <a:lumOff val="40000"/>
                </a:schemeClr>
              </a:gs>
              <a:gs pos="100000">
                <a:schemeClr val="accent3"/>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Ins="0" bIns="36000" rtlCol="0" anchor="ctr"/>
          <a:lstStyle/>
          <a:p>
            <a:pPr algn="ctr"/>
            <a:r>
              <a:rPr lang="en-AU" sz="1100" noProof="0">
                <a:latin typeface="Poppins" pitchFamily="2" charset="77"/>
                <a:cs typeface="Poppins" pitchFamily="2" charset="77"/>
              </a:rPr>
              <a:t>1. DISCOVER &amp; POSITION</a:t>
            </a:r>
          </a:p>
        </p:txBody>
      </p:sp>
      <p:sp>
        <p:nvSpPr>
          <p:cNvPr id="15" name="TextBox 14">
            <a:extLst>
              <a:ext uri="{FF2B5EF4-FFF2-40B4-BE49-F238E27FC236}">
                <a16:creationId xmlns:a16="http://schemas.microsoft.com/office/drawing/2014/main" id="{2674FB4D-A6AC-CAAE-3092-0180A6757A04}"/>
              </a:ext>
            </a:extLst>
          </p:cNvPr>
          <p:cNvSpPr txBox="1"/>
          <p:nvPr/>
        </p:nvSpPr>
        <p:spPr>
          <a:xfrm>
            <a:off x="560592" y="5676588"/>
            <a:ext cx="3566160" cy="566928"/>
          </a:xfrm>
          <a:prstGeom prst="rect">
            <a:avLst/>
          </a:prstGeom>
          <a:noFill/>
        </p:spPr>
        <p:txBody>
          <a:bodyPr wrap="square">
            <a:spAutoFit/>
          </a:bodyPr>
          <a:lstStyle/>
          <a:p>
            <a:pPr marL="155448" indent="-155448">
              <a:spcAft>
                <a:spcPts val="0"/>
              </a:spcAft>
              <a:buFont typeface="Arial"/>
              <a:buChar char="•"/>
            </a:pPr>
            <a:r>
              <a:rPr sz="1000" b="0" i="0">
                <a:solidFill>
                  <a:srgbClr val="3D3C3C"/>
                </a:solidFill>
                <a:latin typeface="Open Sans Light"/>
              </a:rPr>
              <a:t>Client priorities map</a:t>
            </a:r>
          </a:p>
          <a:p>
            <a:pPr marL="155448" indent="-155448">
              <a:spcAft>
                <a:spcPts val="0"/>
              </a:spcAft>
              <a:buFont typeface="Arial"/>
              <a:buChar char="•"/>
            </a:pPr>
            <a:r>
              <a:rPr sz="1000" b="0" i="0">
                <a:solidFill>
                  <a:srgbClr val="3D3C3C"/>
                </a:solidFill>
                <a:latin typeface="Open Sans Light"/>
              </a:rPr>
              <a:t>Agreed Webuild positioning</a:t>
            </a:r>
          </a:p>
          <a:p>
            <a:pPr marL="155448" indent="-155448">
              <a:spcAft>
                <a:spcPts val="0"/>
              </a:spcAft>
              <a:buFont typeface="Arial"/>
              <a:buChar char="•"/>
            </a:pPr>
            <a:r>
              <a:rPr sz="1000" b="0" i="0">
                <a:solidFill>
                  <a:srgbClr val="3D3C3C"/>
                </a:solidFill>
                <a:latin typeface="Open Sans Light"/>
              </a:rPr>
              <a:t>Evidence-backed win themes</a:t>
            </a:r>
          </a:p>
        </p:txBody>
      </p:sp>
      <p:sp>
        <p:nvSpPr>
          <p:cNvPr id="17" name="TextBox 16">
            <a:extLst>
              <a:ext uri="{FF2B5EF4-FFF2-40B4-BE49-F238E27FC236}">
                <a16:creationId xmlns:a16="http://schemas.microsoft.com/office/drawing/2014/main" id="{3382838B-9812-A3B6-B667-41A4556C275C}"/>
              </a:ext>
            </a:extLst>
          </p:cNvPr>
          <p:cNvSpPr txBox="1"/>
          <p:nvPr/>
        </p:nvSpPr>
        <p:spPr>
          <a:xfrm>
            <a:off x="8070653" y="5676588"/>
            <a:ext cx="3566160" cy="566928"/>
          </a:xfrm>
          <a:prstGeom prst="rect">
            <a:avLst/>
          </a:prstGeom>
          <a:noFill/>
        </p:spPr>
        <p:txBody>
          <a:bodyPr wrap="square" lIns="91440" tIns="45720" rIns="91440" bIns="45720" anchor="t">
            <a:spAutoFit/>
          </a:bodyPr>
          <a:lstStyle>
            <a:defPPr>
              <a:defRPr lang="en-US"/>
            </a:defPPr>
            <a:lvl1pPr marL="171450" indent="-171450">
              <a:spcAft>
                <a:spcPts val="300"/>
              </a:spcAft>
              <a:buFont typeface="Wingdings" pitchFamily="2" charset="2"/>
              <a:buChar char="v"/>
              <a:defRPr kumimoji="0" sz="800" b="0" i="0" u="none" strike="noStrike" cap="none" spc="0" normalizeH="0" baseline="0">
                <a:ln>
                  <a:noFill/>
                </a:ln>
                <a:solidFill>
                  <a:prstClr val="black"/>
                </a:solidFill>
                <a:effectLst/>
                <a:uLnTx/>
                <a:uFillTx/>
                <a:latin typeface="Open Sans Light" panose="020B0606030504020204" pitchFamily="34" charset="0"/>
                <a:ea typeface="Open Sans Light" panose="020B0606030504020204" pitchFamily="34" charset="0"/>
                <a:cs typeface="Open Sans Light" panose="020B0606030504020204" pitchFamily="34" charset="0"/>
              </a:defRPr>
            </a:lvl1pPr>
          </a:lstStyle>
          <a:p>
            <a:pPr marL="155448" indent="-155448">
              <a:spcAft>
                <a:spcPts val="0"/>
              </a:spcAft>
              <a:buFont typeface="Arial"/>
              <a:buChar char="•"/>
            </a:pPr>
            <a:r>
              <a:rPr sz="1000" b="0" i="0">
                <a:solidFill>
                  <a:srgbClr val="3D3C3C"/>
                </a:solidFill>
                <a:latin typeface="Open Sans Light"/>
              </a:rPr>
              <a:t>Draft alignment feedback</a:t>
            </a:r>
          </a:p>
          <a:p>
            <a:pPr marL="155448" indent="-155448">
              <a:spcAft>
                <a:spcPts val="0"/>
              </a:spcAft>
              <a:buFont typeface="Arial"/>
              <a:buChar char="•"/>
            </a:pPr>
            <a:r>
              <a:rPr sz="1000" b="0" i="0">
                <a:solidFill>
                  <a:srgbClr val="3D3C3C"/>
                </a:solidFill>
                <a:latin typeface="Open Sans Light"/>
              </a:rPr>
              <a:t>Client lens review and prioritised recommendations</a:t>
            </a:r>
          </a:p>
        </p:txBody>
      </p:sp>
      <p:sp>
        <p:nvSpPr>
          <p:cNvPr id="16" name="TextBox 15">
            <a:extLst>
              <a:ext uri="{FF2B5EF4-FFF2-40B4-BE49-F238E27FC236}">
                <a16:creationId xmlns:a16="http://schemas.microsoft.com/office/drawing/2014/main" id="{60AA0628-0A82-11E9-89F9-31F4FF03D26B}"/>
              </a:ext>
            </a:extLst>
          </p:cNvPr>
          <p:cNvSpPr txBox="1"/>
          <p:nvPr/>
        </p:nvSpPr>
        <p:spPr>
          <a:xfrm>
            <a:off x="4315079" y="5676588"/>
            <a:ext cx="3566160" cy="566928"/>
          </a:xfrm>
          <a:prstGeom prst="rect">
            <a:avLst/>
          </a:prstGeom>
          <a:noFill/>
        </p:spPr>
        <p:txBody>
          <a:bodyPr wrap="square">
            <a:spAutoFit/>
          </a:bodyPr>
          <a:lstStyle>
            <a:defPPr>
              <a:defRPr lang="en-US"/>
            </a:defPPr>
            <a:lvl1pPr marL="171450" indent="-171450">
              <a:spcAft>
                <a:spcPts val="300"/>
              </a:spcAft>
              <a:buFont typeface="Wingdings" pitchFamily="2" charset="2"/>
              <a:buChar char="v"/>
              <a:defRPr kumimoji="0" sz="800" b="0" i="0" u="none" strike="noStrike" cap="none" spc="0" normalizeH="0" baseline="0">
                <a:ln>
                  <a:noFill/>
                </a:ln>
                <a:solidFill>
                  <a:prstClr val="black"/>
                </a:solidFill>
                <a:effectLst/>
                <a:uLnTx/>
                <a:uFillTx/>
                <a:latin typeface="Open Sans Light" panose="020B0606030504020204" pitchFamily="34" charset="0"/>
                <a:ea typeface="Open Sans Light" panose="020B0606030504020204" pitchFamily="34" charset="0"/>
                <a:cs typeface="Open Sans Light" panose="020B0606030504020204" pitchFamily="34" charset="0"/>
              </a:defRPr>
            </a:lvl1pPr>
          </a:lstStyle>
          <a:p>
            <a:pPr marL="155448" indent="-155448">
              <a:spcAft>
                <a:spcPts val="0"/>
              </a:spcAft>
              <a:buFont typeface="Arial"/>
              <a:buChar char="•"/>
            </a:pPr>
            <a:r>
              <a:rPr sz="1000" b="0" i="0">
                <a:solidFill>
                  <a:srgbClr val="3D3C3C"/>
                </a:solidFill>
                <a:latin typeface="Open Sans Light"/>
              </a:rPr>
              <a:t>Question-by-question EOI storyboard</a:t>
            </a:r>
          </a:p>
          <a:p>
            <a:pPr marL="155448" indent="-155448">
              <a:spcAft>
                <a:spcPts val="0"/>
              </a:spcAft>
              <a:buFont typeface="Arial"/>
              <a:buChar char="•"/>
            </a:pPr>
            <a:r>
              <a:rPr sz="1000" b="0" i="0">
                <a:solidFill>
                  <a:srgbClr val="3D3C3C"/>
                </a:solidFill>
                <a:latin typeface="Open Sans Light"/>
              </a:rPr>
              <a:t>Team and project evidence matrix</a:t>
            </a:r>
          </a:p>
          <a:p>
            <a:pPr marL="155448" indent="-155448">
              <a:spcAft>
                <a:spcPts val="0"/>
              </a:spcAft>
              <a:buFont typeface="Arial"/>
              <a:buChar char="•"/>
            </a:pPr>
            <a:r>
              <a:rPr sz="1000" b="0" i="0">
                <a:solidFill>
                  <a:srgbClr val="3D3C3C"/>
                </a:solidFill>
                <a:latin typeface="Open Sans Light"/>
              </a:rPr>
              <a:t>Writer briefing pack</a:t>
            </a:r>
          </a:p>
        </p:txBody>
      </p:sp>
      <p:cxnSp>
        <p:nvCxnSpPr>
          <p:cNvPr id="18" name="Straight Connector 17">
            <a:extLst>
              <a:ext uri="{FF2B5EF4-FFF2-40B4-BE49-F238E27FC236}">
                <a16:creationId xmlns:a16="http://schemas.microsoft.com/office/drawing/2014/main" id="{79DD3271-87AD-533A-120B-B86462A79C93}"/>
              </a:ext>
            </a:extLst>
          </p:cNvPr>
          <p:cNvCxnSpPr>
            <a:cxnSpLocks/>
          </p:cNvCxnSpPr>
          <p:nvPr/>
        </p:nvCxnSpPr>
        <p:spPr>
          <a:xfrm>
            <a:off x="501655" y="5654553"/>
            <a:ext cx="11206850" cy="0"/>
          </a:xfrm>
          <a:prstGeom prst="line">
            <a:avLst/>
          </a:prstGeom>
          <a:ln>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CB0F49EC-25BA-01A7-9FCC-9524AB2C5D61}"/>
              </a:ext>
            </a:extLst>
          </p:cNvPr>
          <p:cNvSpPr txBox="1"/>
          <p:nvPr/>
        </p:nvSpPr>
        <p:spPr>
          <a:xfrm rot="16200000">
            <a:off x="-213893" y="6015155"/>
            <a:ext cx="1094969" cy="230832"/>
          </a:xfrm>
          <a:prstGeom prst="rect">
            <a:avLst/>
          </a:prstGeom>
          <a:noFill/>
        </p:spPr>
        <p:txBody>
          <a:bodyPr wrap="square" rtlCol="0">
            <a:spAutoFit/>
          </a:bodyPr>
          <a:lstStyle>
            <a:defPPr>
              <a:defRPr lang="en-US"/>
            </a:defPPr>
            <a:lvl1pPr>
              <a:spcAft>
                <a:spcPts val="471"/>
              </a:spcAft>
              <a:defRPr sz="1255" b="1">
                <a:solidFill>
                  <a:schemeClr val="tx1">
                    <a:lumMod val="85000"/>
                    <a:lumOff val="15000"/>
                  </a:schemeClr>
                </a:solidFill>
                <a:latin typeface="EYInterstate" panose="02000503020000020004" pitchFamily="2" charset="0"/>
                <a:cs typeface="Arial" charset="0"/>
              </a:defRPr>
            </a:lvl1pPr>
          </a:lstStyle>
          <a:p>
            <a:pPr algn="ctr">
              <a:spcAft>
                <a:spcPts val="0"/>
              </a:spcAft>
            </a:pPr>
            <a:r>
              <a:rPr lang="en-AU" sz="900" b="0" noProof="0">
                <a:solidFill>
                  <a:schemeClr val="tx1">
                    <a:lumMod val="50000"/>
                    <a:lumOff val="50000"/>
                  </a:schemeClr>
                </a:solidFill>
                <a:latin typeface="+mj-lt"/>
                <a:ea typeface="Open Sans Light" pitchFamily="2" charset="0"/>
                <a:cs typeface="Poppins Light" pitchFamily="2" charset="77"/>
              </a:rPr>
              <a:t>OUTCOMES</a:t>
            </a:r>
          </a:p>
        </p:txBody>
      </p:sp>
      <p:sp>
        <p:nvSpPr>
          <p:cNvPr id="23" name="TextBox 22">
            <a:extLst>
              <a:ext uri="{FF2B5EF4-FFF2-40B4-BE49-F238E27FC236}">
                <a16:creationId xmlns:a16="http://schemas.microsoft.com/office/drawing/2014/main" id="{230DC8F6-2F2A-8BA6-E07E-DF063F35BAE3}"/>
              </a:ext>
            </a:extLst>
          </p:cNvPr>
          <p:cNvSpPr txBox="1"/>
          <p:nvPr/>
        </p:nvSpPr>
        <p:spPr>
          <a:xfrm>
            <a:off x="587863" y="1525441"/>
            <a:ext cx="3402223" cy="1995418"/>
          </a:xfrm>
          <a:prstGeom prst="rect">
            <a:avLst/>
          </a:prstGeom>
          <a:noFill/>
        </p:spPr>
        <p:txBody>
          <a:bodyPr wrap="square" lIns="91440" tIns="45720" rIns="91440" bIns="45720" anchor="t">
            <a:spAutoFit/>
          </a:bodyPr>
          <a:lstStyle/>
          <a:p>
            <a:pPr>
              <a:spcAft>
                <a:spcPts val="200"/>
              </a:spcAft>
              <a:buNone/>
            </a:pPr>
            <a:r>
              <a:rPr sz="1000" b="1" i="0">
                <a:solidFill>
                  <a:srgbClr val="1B8FD0"/>
                </a:solidFill>
                <a:latin typeface="Open Sans Extrabold"/>
              </a:rPr>
              <a:t>CLIENT RESEARCH</a:t>
            </a:r>
          </a:p>
          <a:p>
            <a:pPr marL="155448" indent="-155448">
              <a:spcAft>
                <a:spcPts val="200"/>
              </a:spcAft>
              <a:buFont typeface="Arial"/>
              <a:buChar char="•"/>
            </a:pPr>
            <a:r>
              <a:rPr sz="1050" b="0" i="0">
                <a:solidFill>
                  <a:srgbClr val="3D3C3C"/>
                </a:solidFill>
                <a:latin typeface="Open Sans Light"/>
              </a:rPr>
              <a:t>Review the EOI documents, project information and public commentary</a:t>
            </a:r>
          </a:p>
          <a:p>
            <a:pPr marL="155448" indent="-155448">
              <a:spcAft>
                <a:spcPts val="200"/>
              </a:spcAft>
              <a:buFont typeface="Arial"/>
              <a:buChar char="•"/>
            </a:pPr>
            <a:r>
              <a:rPr sz="1050" b="0" i="0">
                <a:solidFill>
                  <a:srgbClr val="3D3C3C"/>
                </a:solidFill>
                <a:latin typeface="Open Sans Light"/>
              </a:rPr>
              <a:t>Map the client's objectives, challenges and non-negotiables</a:t>
            </a:r>
          </a:p>
          <a:p>
            <a:pPr>
              <a:spcBef>
                <a:spcPts val="600"/>
              </a:spcBef>
              <a:spcAft>
                <a:spcPts val="200"/>
              </a:spcAft>
              <a:buNone/>
            </a:pPr>
            <a:r>
              <a:rPr sz="1000" b="1" i="0">
                <a:solidFill>
                  <a:srgbClr val="1B8FD0"/>
                </a:solidFill>
                <a:latin typeface="Open Sans Extrabold"/>
              </a:rPr>
              <a:t>WORKSHOP 1: DISCOVERY (FULL DAY)</a:t>
            </a:r>
          </a:p>
          <a:p>
            <a:pPr marL="155448" indent="-155448">
              <a:spcAft>
                <a:spcPts val="200"/>
              </a:spcAft>
              <a:buFont typeface="Arial"/>
              <a:buChar char="•"/>
            </a:pPr>
            <a:r>
              <a:rPr sz="1050" b="0" i="0">
                <a:solidFill>
                  <a:srgbClr val="3D3C3C"/>
                </a:solidFill>
                <a:latin typeface="Open Sans Light"/>
              </a:rPr>
              <a:t>Understand the client and test our hypotheses</a:t>
            </a:r>
          </a:p>
          <a:p>
            <a:pPr marL="155448" indent="-155448">
              <a:spcAft>
                <a:spcPts val="200"/>
              </a:spcAft>
              <a:buFont typeface="Arial"/>
              <a:buChar char="•"/>
            </a:pPr>
            <a:r>
              <a:rPr sz="1050" b="0" i="0">
                <a:solidFill>
                  <a:srgbClr val="3D3C3C"/>
                </a:solidFill>
                <a:latin typeface="Open Sans Light"/>
              </a:rPr>
              <a:t>Rediscover the Webuild story: values, strengths and what keeps clients coming back</a:t>
            </a:r>
          </a:p>
          <a:p>
            <a:pPr marL="155448" indent="-155448">
              <a:spcAft>
                <a:spcPts val="200"/>
              </a:spcAft>
              <a:buFont typeface="Arial"/>
              <a:buChar char="•"/>
            </a:pPr>
            <a:r>
              <a:rPr sz="1050" b="0" i="0">
                <a:solidFill>
                  <a:srgbClr val="3D3C3C"/>
                </a:solidFill>
                <a:latin typeface="Open Sans Light"/>
              </a:rPr>
              <a:t>Develop and stress-test evidence-backed win themes</a:t>
            </a:r>
          </a:p>
        </p:txBody>
      </p:sp>
      <p:sp>
        <p:nvSpPr>
          <p:cNvPr id="26" name="TextBox 25">
            <a:extLst>
              <a:ext uri="{FF2B5EF4-FFF2-40B4-BE49-F238E27FC236}">
                <a16:creationId xmlns:a16="http://schemas.microsoft.com/office/drawing/2014/main" id="{359C582B-77E8-1F78-3B8A-7AB580CB2FE1}"/>
              </a:ext>
            </a:extLst>
          </p:cNvPr>
          <p:cNvSpPr txBox="1"/>
          <p:nvPr/>
        </p:nvSpPr>
        <p:spPr>
          <a:xfrm>
            <a:off x="4332796" y="1515916"/>
            <a:ext cx="3412601" cy="3429000"/>
          </a:xfrm>
          <a:prstGeom prst="rect">
            <a:avLst/>
          </a:prstGeom>
          <a:noFill/>
        </p:spPr>
        <p:txBody>
          <a:bodyPr wrap="square" lIns="90000" tIns="45720" rIns="91440" bIns="45720" anchor="t">
            <a:noAutofit/>
          </a:bodyPr>
          <a:lstStyle/>
          <a:p>
            <a:pPr>
              <a:spcAft>
                <a:spcPts val="200"/>
              </a:spcAft>
              <a:buNone/>
            </a:pPr>
            <a:r>
              <a:rPr sz="1000" b="1" i="0">
                <a:solidFill>
                  <a:srgbClr val="EF7A3A"/>
                </a:solidFill>
                <a:latin typeface="Open Sans Extrabold"/>
              </a:rPr>
              <a:t>TEAM AND CV ALIGNMENT</a:t>
            </a:r>
          </a:p>
          <a:p>
            <a:pPr marL="155448" indent="-155448">
              <a:spcAft>
                <a:spcPts val="200"/>
              </a:spcAft>
              <a:buFont typeface="Arial"/>
              <a:buChar char="•"/>
            </a:pPr>
            <a:r>
              <a:rPr sz="1050" b="0" i="0">
                <a:solidFill>
                  <a:srgbClr val="3D3C3C"/>
                </a:solidFill>
                <a:latin typeface="Open Sans Light"/>
              </a:rPr>
              <a:t>Confirm the team Webuild will actually resource (target 75-80% on the project)</a:t>
            </a:r>
          </a:p>
          <a:p>
            <a:pPr marL="155448" indent="-155448">
              <a:spcAft>
                <a:spcPts val="200"/>
              </a:spcAft>
              <a:buFont typeface="Arial"/>
              <a:buChar char="•"/>
            </a:pPr>
            <a:r>
              <a:rPr sz="1050" b="0" i="0">
                <a:solidFill>
                  <a:srgbClr val="3D3C3C"/>
                </a:solidFill>
                <a:latin typeface="Open Sans Light"/>
              </a:rPr>
              <a:t>Rapid exercise: each team member draws out the experience most relevant to Stage 4</a:t>
            </a:r>
          </a:p>
          <a:p>
            <a:pPr>
              <a:spcBef>
                <a:spcPts val="600"/>
              </a:spcBef>
              <a:spcAft>
                <a:spcPts val="200"/>
              </a:spcAft>
              <a:buNone/>
            </a:pPr>
            <a:r>
              <a:rPr sz="1000" b="1" i="0">
                <a:solidFill>
                  <a:srgbClr val="EF7A3A"/>
                </a:solidFill>
                <a:latin typeface="Open Sans Extrabold"/>
              </a:rPr>
              <a:t>WORKSHOP 2: STORYBOARDING (HALF DAY)</a:t>
            </a:r>
          </a:p>
          <a:p>
            <a:pPr marL="155448" indent="-155448">
              <a:spcAft>
                <a:spcPts val="200"/>
              </a:spcAft>
              <a:buFont typeface="Arial"/>
              <a:buChar char="•"/>
            </a:pPr>
            <a:r>
              <a:rPr sz="1050" b="0" i="0">
                <a:solidFill>
                  <a:srgbClr val="3D3C3C"/>
                </a:solidFill>
                <a:latin typeface="Open Sans Light"/>
              </a:rPr>
              <a:t>Storyboard each EOI question: the ask, the need, Webuild's answer and the proof</a:t>
            </a:r>
          </a:p>
          <a:p>
            <a:pPr marL="155448" indent="-155448">
              <a:spcAft>
                <a:spcPts val="200"/>
              </a:spcAft>
              <a:buFont typeface="Arial"/>
              <a:buChar char="•"/>
            </a:pPr>
            <a:r>
              <a:rPr sz="1050" b="0" i="0">
                <a:solidFill>
                  <a:srgbClr val="3D3C3C"/>
                </a:solidFill>
                <a:latin typeface="Open Sans Light"/>
              </a:rPr>
              <a:t>Link every person and project back to the win themes</a:t>
            </a:r>
          </a:p>
          <a:p>
            <a:pPr>
              <a:spcBef>
                <a:spcPts val="600"/>
              </a:spcBef>
              <a:spcAft>
                <a:spcPts val="200"/>
              </a:spcAft>
              <a:buNone/>
            </a:pPr>
            <a:r>
              <a:rPr sz="1000" b="1" i="0">
                <a:solidFill>
                  <a:srgbClr val="EF7A3A"/>
                </a:solidFill>
                <a:latin typeface="Open Sans Extrabold"/>
              </a:rPr>
              <a:t>WRITER BRIEFING PACK</a:t>
            </a:r>
          </a:p>
          <a:p>
            <a:pPr marL="155448" indent="-155448">
              <a:spcAft>
                <a:spcPts val="200"/>
              </a:spcAft>
              <a:buFont typeface="Arial"/>
              <a:buChar char="•"/>
            </a:pPr>
            <a:r>
              <a:rPr sz="1050" b="0" i="0">
                <a:solidFill>
                  <a:srgbClr val="3D3C3C"/>
                </a:solidFill>
                <a:latin typeface="Open Sans Light"/>
              </a:rPr>
              <a:t>Prescriptive, self-explanatory storyboards to brief your bid writers</a:t>
            </a:r>
          </a:p>
        </p:txBody>
      </p:sp>
      <p:grpSp>
        <p:nvGrpSpPr>
          <p:cNvPr id="13" name="Group 12">
            <a:extLst>
              <a:ext uri="{FF2B5EF4-FFF2-40B4-BE49-F238E27FC236}">
                <a16:creationId xmlns:a16="http://schemas.microsoft.com/office/drawing/2014/main" id="{4D7E9A98-AB35-5213-A443-65292B437D69}"/>
              </a:ext>
            </a:extLst>
          </p:cNvPr>
          <p:cNvGrpSpPr/>
          <p:nvPr/>
        </p:nvGrpSpPr>
        <p:grpSpPr>
          <a:xfrm>
            <a:off x="485557" y="1285253"/>
            <a:ext cx="7487923" cy="5157906"/>
            <a:chOff x="1499725" y="2113211"/>
            <a:chExt cx="7487923" cy="4695116"/>
          </a:xfrm>
        </p:grpSpPr>
        <p:cxnSp>
          <p:nvCxnSpPr>
            <p:cNvPr id="21" name="Straight Connector 20">
              <a:extLst>
                <a:ext uri="{FF2B5EF4-FFF2-40B4-BE49-F238E27FC236}">
                  <a16:creationId xmlns:a16="http://schemas.microsoft.com/office/drawing/2014/main" id="{60D6A98C-ED8C-06DD-F0EA-C36BA6397125}"/>
                </a:ext>
              </a:extLst>
            </p:cNvPr>
            <p:cNvCxnSpPr>
              <a:cxnSpLocks/>
            </p:cNvCxnSpPr>
            <p:nvPr/>
          </p:nvCxnSpPr>
          <p:spPr>
            <a:xfrm flipH="1">
              <a:off x="1499725" y="2201713"/>
              <a:ext cx="47590" cy="4606614"/>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F8A03B7-5B9D-2190-CF4B-78BE5B74AEB5}"/>
                </a:ext>
              </a:extLst>
            </p:cNvPr>
            <p:cNvCxnSpPr>
              <a:cxnSpLocks/>
            </p:cNvCxnSpPr>
            <p:nvPr/>
          </p:nvCxnSpPr>
          <p:spPr>
            <a:xfrm>
              <a:off x="5175609" y="2130660"/>
              <a:ext cx="0" cy="4677667"/>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54FF333-B77C-F5D7-2949-B5FF6299E720}"/>
                </a:ext>
              </a:extLst>
            </p:cNvPr>
            <p:cNvCxnSpPr>
              <a:cxnSpLocks/>
            </p:cNvCxnSpPr>
            <p:nvPr/>
          </p:nvCxnSpPr>
          <p:spPr>
            <a:xfrm>
              <a:off x="8973255" y="2113211"/>
              <a:ext cx="14393" cy="4695116"/>
            </a:xfrm>
            <a:prstGeom prst="line">
              <a:avLst/>
            </a:prstGeom>
            <a:ln w="12700">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sp>
        <p:nvSpPr>
          <p:cNvPr id="30" name="TextBox 29">
            <a:extLst>
              <a:ext uri="{FF2B5EF4-FFF2-40B4-BE49-F238E27FC236}">
                <a16:creationId xmlns:a16="http://schemas.microsoft.com/office/drawing/2014/main" id="{B4FA8994-94AF-B8A4-DC9D-AA1FBC42F62E}"/>
              </a:ext>
            </a:extLst>
          </p:cNvPr>
          <p:cNvSpPr txBox="1"/>
          <p:nvPr/>
        </p:nvSpPr>
        <p:spPr>
          <a:xfrm>
            <a:off x="8099734" y="1506160"/>
            <a:ext cx="3438363" cy="3431709"/>
          </a:xfrm>
          <a:prstGeom prst="rect">
            <a:avLst/>
          </a:prstGeom>
          <a:noFill/>
        </p:spPr>
        <p:txBody>
          <a:bodyPr wrap="square" lIns="91440" tIns="45720" rIns="91440" bIns="45720" anchor="t">
            <a:spAutoFit/>
          </a:bodyPr>
          <a:lstStyle/>
          <a:p>
            <a:pPr>
              <a:spcAft>
                <a:spcPts val="200"/>
              </a:spcAft>
              <a:buNone/>
            </a:pPr>
            <a:r>
              <a:rPr sz="1000" b="1" i="0">
                <a:solidFill>
                  <a:srgbClr val="E83F82"/>
                </a:solidFill>
                <a:latin typeface="Open Sans Extrabold"/>
              </a:rPr>
              <a:t>WEEK 4: ALIGNMENT CHECK</a:t>
            </a:r>
          </a:p>
          <a:p>
            <a:pPr marL="155448" indent="-155448">
              <a:spcAft>
                <a:spcPts val="200"/>
              </a:spcAft>
              <a:buFont typeface="Arial"/>
              <a:buChar char="•"/>
            </a:pPr>
            <a:r>
              <a:rPr sz="1050" b="0" i="0">
                <a:solidFill>
                  <a:srgbClr val="3D3C3C"/>
                </a:solidFill>
                <a:latin typeface="Open Sans Light"/>
              </a:rPr>
              <a:t>1 to 2 hour review of early drafts</a:t>
            </a:r>
          </a:p>
          <a:p>
            <a:pPr marL="155448" indent="-155448">
              <a:spcAft>
                <a:spcPts val="200"/>
              </a:spcAft>
              <a:buFont typeface="Arial"/>
              <a:buChar char="•"/>
            </a:pPr>
            <a:r>
              <a:rPr sz="1050" b="0" i="0">
                <a:solidFill>
                  <a:srgbClr val="3D3C3C"/>
                </a:solidFill>
                <a:latin typeface="Open Sans Light"/>
              </a:rPr>
              <a:t>Are we telling the story, or just answering the question?</a:t>
            </a:r>
          </a:p>
          <a:p>
            <a:pPr marL="155448" indent="-155448">
              <a:spcAft>
                <a:spcPts val="200"/>
              </a:spcAft>
              <a:buFont typeface="Arial"/>
              <a:buChar char="•"/>
            </a:pPr>
            <a:r>
              <a:rPr sz="1050" b="0" i="0">
                <a:solidFill>
                  <a:srgbClr val="3D3C3C"/>
                </a:solidFill>
                <a:latin typeface="Open Sans Light"/>
              </a:rPr>
              <a:t>Realign direction early where needed</a:t>
            </a:r>
          </a:p>
          <a:p>
            <a:pPr>
              <a:spcBef>
                <a:spcPts val="600"/>
              </a:spcBef>
              <a:spcAft>
                <a:spcPts val="200"/>
              </a:spcAft>
              <a:buNone/>
            </a:pPr>
            <a:r>
              <a:rPr sz="1000" b="1" i="0">
                <a:solidFill>
                  <a:srgbClr val="E83F82"/>
                </a:solidFill>
                <a:latin typeface="Open Sans Extrabold"/>
              </a:rPr>
              <a:t>END OF WEEK 5: CLIENT LENS REVIEW</a:t>
            </a:r>
          </a:p>
          <a:p>
            <a:pPr marL="155448" indent="-155448">
              <a:spcAft>
                <a:spcPts val="200"/>
              </a:spcAft>
              <a:buFont typeface="Arial"/>
              <a:buChar char="•"/>
            </a:pPr>
            <a:r>
              <a:rPr sz="1050" b="0" i="0">
                <a:solidFill>
                  <a:srgbClr val="3D3C3C"/>
                </a:solidFill>
                <a:latin typeface="Open Sans Light"/>
              </a:rPr>
              <a:t>Independent review of the draft final, read as the client would</a:t>
            </a:r>
          </a:p>
          <a:p>
            <a:pPr marL="155448" indent="-155448">
              <a:spcAft>
                <a:spcPts val="200"/>
              </a:spcAft>
              <a:buFont typeface="Arial"/>
              <a:buChar char="•"/>
            </a:pPr>
            <a:r>
              <a:rPr sz="1050" b="0" i="0">
                <a:solidFill>
                  <a:srgbClr val="3D3C3C"/>
                </a:solidFill>
                <a:latin typeface="Open Sans Light"/>
              </a:rPr>
              <a:t>Prioritised recommendations and debrief ahead of Week 6 submission</a:t>
            </a:r>
          </a:p>
        </p:txBody>
      </p:sp>
      <p:sp>
        <p:nvSpPr>
          <p:cNvPr id="33" name="Title 22">
            <a:extLst>
              <a:ext uri="{FF2B5EF4-FFF2-40B4-BE49-F238E27FC236}">
                <a16:creationId xmlns:a16="http://schemas.microsoft.com/office/drawing/2014/main" id="{2B9D10AE-5F28-FB87-030A-AE7EE15BFFE0}"/>
              </a:ext>
            </a:extLst>
          </p:cNvPr>
          <p:cNvSpPr>
            <a:spLocks noGrp="1"/>
          </p:cNvSpPr>
          <p:nvPr>
            <p:ph type="title"/>
          </p:nvPr>
        </p:nvSpPr>
        <p:spPr>
          <a:xfrm>
            <a:off x="461757" y="249544"/>
            <a:ext cx="11421817" cy="500137"/>
          </a:xfrm>
        </p:spPr>
        <p:txBody>
          <a:bodyPr>
            <a:normAutofit/>
          </a:bodyPr>
          <a:lstStyle/>
          <a:p>
            <a:r>
              <a:rPr lang="en-AU" sz="2400"/>
              <a:t>Our approach: three focused stages across the six-week EOI period</a:t>
            </a:r>
            <a:endParaRPr lang="en-AU" sz="2400" b="1">
              <a:solidFill>
                <a:schemeClr val="accent2"/>
              </a:solidFill>
            </a:endParaRPr>
          </a:p>
        </p:txBody>
      </p:sp>
      <p:cxnSp>
        <p:nvCxnSpPr>
          <p:cNvPr id="39" name="Straight Connector 38">
            <a:extLst>
              <a:ext uri="{FF2B5EF4-FFF2-40B4-BE49-F238E27FC236}">
                <a16:creationId xmlns:a16="http://schemas.microsoft.com/office/drawing/2014/main" id="{6EF86B7F-8052-E89A-15CD-A1019194CF3A}"/>
              </a:ext>
            </a:extLst>
          </p:cNvPr>
          <p:cNvCxnSpPr>
            <a:cxnSpLocks/>
          </p:cNvCxnSpPr>
          <p:nvPr/>
        </p:nvCxnSpPr>
        <p:spPr>
          <a:xfrm>
            <a:off x="481251" y="932178"/>
            <a:ext cx="11035396" cy="0"/>
          </a:xfrm>
          <a:prstGeom prst="line">
            <a:avLst/>
          </a:prstGeom>
          <a:ln>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6ACB02F1-2A1D-D94E-98F8-5F28B80FACED}"/>
              </a:ext>
            </a:extLst>
          </p:cNvPr>
          <p:cNvSpPr/>
          <p:nvPr/>
        </p:nvSpPr>
        <p:spPr>
          <a:xfrm>
            <a:off x="1783118" y="830624"/>
            <a:ext cx="1005840" cy="175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buNone/>
            </a:pPr>
            <a:r>
              <a:rPr sz="900" b="0" i="0">
                <a:solidFill>
                  <a:srgbClr val="595959"/>
                </a:solidFill>
                <a:latin typeface="Poppins Light"/>
              </a:rPr>
              <a:t>Weeks 1-2</a:t>
            </a:r>
          </a:p>
        </p:txBody>
      </p:sp>
      <p:sp>
        <p:nvSpPr>
          <p:cNvPr id="41" name="Rectangle 40">
            <a:extLst>
              <a:ext uri="{FF2B5EF4-FFF2-40B4-BE49-F238E27FC236}">
                <a16:creationId xmlns:a16="http://schemas.microsoft.com/office/drawing/2014/main" id="{6F22116D-E9DD-FDB3-6F5E-79D8A76CB317}"/>
              </a:ext>
            </a:extLst>
          </p:cNvPr>
          <p:cNvSpPr/>
          <p:nvPr/>
        </p:nvSpPr>
        <p:spPr>
          <a:xfrm>
            <a:off x="5643541" y="836252"/>
            <a:ext cx="1005840" cy="175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buNone/>
            </a:pPr>
            <a:r>
              <a:rPr sz="900" b="0" i="0">
                <a:solidFill>
                  <a:srgbClr val="595959"/>
                </a:solidFill>
                <a:latin typeface="Poppins Light"/>
              </a:rPr>
              <a:t>Weeks 1-2</a:t>
            </a:r>
          </a:p>
        </p:txBody>
      </p:sp>
      <p:sp>
        <p:nvSpPr>
          <p:cNvPr id="44" name="Rectangle 43">
            <a:extLst>
              <a:ext uri="{FF2B5EF4-FFF2-40B4-BE49-F238E27FC236}">
                <a16:creationId xmlns:a16="http://schemas.microsoft.com/office/drawing/2014/main" id="{2E827DD2-98D3-99D3-3420-9FBB439B9274}"/>
              </a:ext>
            </a:extLst>
          </p:cNvPr>
          <p:cNvSpPr/>
          <p:nvPr/>
        </p:nvSpPr>
        <p:spPr>
          <a:xfrm>
            <a:off x="9471370" y="830624"/>
            <a:ext cx="1005840" cy="1759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0"/>
              </a:spcAft>
              <a:buNone/>
            </a:pPr>
            <a:r>
              <a:rPr sz="900" b="0" i="0">
                <a:solidFill>
                  <a:srgbClr val="595959"/>
                </a:solidFill>
                <a:latin typeface="Poppins Light"/>
              </a:rPr>
              <a:t>Weeks 4-5</a:t>
            </a:r>
          </a:p>
        </p:txBody>
      </p:sp>
      <p:sp>
        <p:nvSpPr>
          <p:cNvPr id="2" name="TextBox 1">
            <a:extLst>
              <a:ext uri="{FF2B5EF4-FFF2-40B4-BE49-F238E27FC236}">
                <a16:creationId xmlns:a16="http://schemas.microsoft.com/office/drawing/2014/main" id="{53914EEB-FC52-C032-C8CA-F386814DE49E}"/>
              </a:ext>
            </a:extLst>
          </p:cNvPr>
          <p:cNvSpPr txBox="1"/>
          <p:nvPr/>
        </p:nvSpPr>
        <p:spPr>
          <a:xfrm rot="16200000">
            <a:off x="-1299820" y="3089533"/>
            <a:ext cx="3285061" cy="230832"/>
          </a:xfrm>
          <a:prstGeom prst="rect">
            <a:avLst/>
          </a:prstGeom>
          <a:noFill/>
        </p:spPr>
        <p:txBody>
          <a:bodyPr wrap="square" rtlCol="0">
            <a:spAutoFit/>
          </a:bodyPr>
          <a:lstStyle>
            <a:defPPr>
              <a:defRPr lang="en-US"/>
            </a:defPPr>
            <a:lvl1pPr>
              <a:spcAft>
                <a:spcPts val="471"/>
              </a:spcAft>
              <a:defRPr sz="1255" b="1">
                <a:solidFill>
                  <a:schemeClr val="tx1">
                    <a:lumMod val="85000"/>
                    <a:lumOff val="15000"/>
                  </a:schemeClr>
                </a:solidFill>
                <a:latin typeface="EYInterstate" panose="02000503020000020004" pitchFamily="2" charset="0"/>
                <a:cs typeface="Arial" charset="0"/>
              </a:defRPr>
            </a:lvl1pPr>
          </a:lstStyle>
          <a:p>
            <a:pPr algn="ctr">
              <a:spcAft>
                <a:spcPts val="0"/>
              </a:spcAft>
            </a:pPr>
            <a:r>
              <a:rPr lang="en-AU" sz="900" b="0" noProof="0">
                <a:solidFill>
                  <a:schemeClr val="tx1">
                    <a:lumMod val="50000"/>
                    <a:lumOff val="50000"/>
                  </a:schemeClr>
                </a:solidFill>
                <a:latin typeface="+mj-lt"/>
                <a:ea typeface="Open Sans Light" pitchFamily="2" charset="0"/>
                <a:cs typeface="Poppins Light" pitchFamily="2" charset="77"/>
              </a:rPr>
              <a:t>KEY ACTIVITIES</a:t>
            </a:r>
          </a:p>
        </p:txBody>
      </p:sp>
      <p:sp>
        <p:nvSpPr>
          <p:cNvPr id="3" name="TextBox 2">
            <a:extLst>
              <a:ext uri="{FF2B5EF4-FFF2-40B4-BE49-F238E27FC236}">
                <a16:creationId xmlns:a16="http://schemas.microsoft.com/office/drawing/2014/main" id="{858675A1-3E55-96C5-EE78-989F114722A4}"/>
              </a:ext>
            </a:extLst>
          </p:cNvPr>
          <p:cNvSpPr txBox="1"/>
          <p:nvPr/>
        </p:nvSpPr>
        <p:spPr>
          <a:xfrm rot="16200000">
            <a:off x="-274165" y="1097903"/>
            <a:ext cx="1215716" cy="230832"/>
          </a:xfrm>
          <a:prstGeom prst="rect">
            <a:avLst/>
          </a:prstGeom>
          <a:noFill/>
        </p:spPr>
        <p:txBody>
          <a:bodyPr wrap="square" lIns="91440" tIns="45720" rIns="91440" bIns="45720" rtlCol="0" anchor="t">
            <a:spAutoFit/>
          </a:bodyPr>
          <a:lstStyle>
            <a:defPPr>
              <a:defRPr lang="en-US"/>
            </a:defPPr>
            <a:lvl1pPr>
              <a:spcAft>
                <a:spcPts val="471"/>
              </a:spcAft>
              <a:defRPr sz="1255" b="1">
                <a:solidFill>
                  <a:schemeClr val="tx1">
                    <a:lumMod val="85000"/>
                    <a:lumOff val="15000"/>
                  </a:schemeClr>
                </a:solidFill>
                <a:latin typeface="EYInterstate" panose="02000503020000020004" pitchFamily="2" charset="0"/>
                <a:cs typeface="Arial" charset="0"/>
              </a:defRPr>
            </a:lvl1pPr>
          </a:lstStyle>
          <a:p>
            <a:pPr algn="ctr">
              <a:spcAft>
                <a:spcPts val="0"/>
              </a:spcAft>
            </a:pPr>
            <a:r>
              <a:rPr lang="en-AU" sz="900" b="0">
                <a:solidFill>
                  <a:schemeClr val="tx1">
                    <a:lumMod val="50000"/>
                    <a:lumOff val="50000"/>
                  </a:schemeClr>
                </a:solidFill>
                <a:latin typeface="+mj-lt"/>
                <a:ea typeface="Open Sans Light" pitchFamily="2" charset="0"/>
                <a:cs typeface="Poppins Light" pitchFamily="2" charset="77"/>
              </a:rPr>
              <a:t>STREAMS</a:t>
            </a:r>
            <a:endParaRPr lang="en-AU" sz="900" b="0" noProof="0">
              <a:latin typeface="+mj-lt"/>
              <a:cs typeface="Poppins Light" pitchFamily="2" charset="77"/>
            </a:endParaRPr>
          </a:p>
        </p:txBody>
      </p:sp>
      <p:sp>
        <p:nvSpPr>
          <p:cNvPr id="4" name="Slide Number Placeholder 3">
            <a:extLst>
              <a:ext uri="{FF2B5EF4-FFF2-40B4-BE49-F238E27FC236}">
                <a16:creationId xmlns:a16="http://schemas.microsoft.com/office/drawing/2014/main" id="{F9D9691E-5E2C-247A-1129-BBDF2D46D0C8}"/>
              </a:ext>
            </a:extLst>
          </p:cNvPr>
          <p:cNvSpPr>
            <a:spLocks noGrp="1"/>
          </p:cNvSpPr>
          <p:nvPr>
            <p:ph type="sldNum" sz="quarter" idx="4"/>
          </p:nvPr>
        </p:nvSpPr>
        <p:spPr>
          <a:xfrm>
            <a:off x="8600440" y="6241428"/>
            <a:ext cx="2743200" cy="365125"/>
          </a:xfrm>
        </p:spPr>
        <p:txBody>
          <a:bodyPr/>
          <a:lstStyle/>
          <a:p>
            <a:fld id="{FA8BD019-05FF-F145-A6E1-6EE5A88665E4}" type="slidenum">
              <a:rPr lang="en-US" smtClean="0"/>
              <a:pPr/>
              <a:t>5</a:t>
            </a:fld>
            <a:endParaRPr lang="en-US"/>
          </a:p>
        </p:txBody>
      </p:sp>
      <p:sp>
        <p:nvSpPr>
          <p:cNvPr id="7" name="Tag">
            <a:extLst>
              <a:ext uri="{FF2B5EF4-FFF2-40B4-BE49-F238E27FC236}">
                <a16:creationId xmlns:a16="http://schemas.microsoft.com/office/drawing/2014/main" id="{0D9F70CD-7468-88A3-FDFC-57AFD59C25B6}"/>
              </a:ext>
            </a:extLst>
          </p:cNvPr>
          <p:cNvSpPr/>
          <p:nvPr/>
        </p:nvSpPr>
        <p:spPr>
          <a:xfrm>
            <a:off x="8279502" y="4928616"/>
            <a:ext cx="3209610" cy="594360"/>
          </a:xfrm>
          <a:prstGeom prst="roundRect">
            <a:avLst>
              <a:gd name="adj" fmla="val 16667"/>
            </a:avLst>
          </a:prstGeom>
          <a:solidFill>
            <a:schemeClr val="bg1">
              <a:lumMod val="95000"/>
            </a:schemeClr>
          </a:solidFill>
          <a:ln>
            <a:noFill/>
          </a:ln>
        </p:spPr>
        <p:txBody>
          <a:bodyPr wrap="square" lIns="91440" tIns="45720" rIns="91440" bIns="45720" anchor="ctr"/>
          <a:lstStyle/>
          <a:p>
            <a:pPr>
              <a:spcAft>
                <a:spcPts val="0"/>
              </a:spcAft>
              <a:buNone/>
            </a:pPr>
            <a:r>
              <a:rPr sz="1000" b="0" i="1">
                <a:solidFill>
                  <a:srgbClr val="3D3C3C"/>
                </a:solidFill>
                <a:latin typeface="Open Sans"/>
              </a:rPr>
              <a:t>Will the client believe it, and choose Webuild?</a:t>
            </a:r>
          </a:p>
        </p:txBody>
      </p:sp>
      <p:sp>
        <p:nvSpPr>
          <p:cNvPr id="9" name="Tag">
            <a:extLst>
              <a:ext uri="{FF2B5EF4-FFF2-40B4-BE49-F238E27FC236}">
                <a16:creationId xmlns:a16="http://schemas.microsoft.com/office/drawing/2014/main" id="{EDA6C4A7-35A7-1973-AC21-822B7AAA71E8}"/>
              </a:ext>
            </a:extLst>
          </p:cNvPr>
          <p:cNvSpPr/>
          <p:nvPr/>
        </p:nvSpPr>
        <p:spPr>
          <a:xfrm>
            <a:off x="671008" y="4928010"/>
            <a:ext cx="3251986" cy="591381"/>
          </a:xfrm>
          <a:prstGeom prst="roundRect">
            <a:avLst>
              <a:gd name="adj" fmla="val 16667"/>
            </a:avLst>
          </a:prstGeom>
          <a:solidFill>
            <a:schemeClr val="bg1">
              <a:lumMod val="95000"/>
            </a:schemeClr>
          </a:solidFill>
          <a:ln>
            <a:noFill/>
          </a:ln>
        </p:spPr>
        <p:txBody>
          <a:bodyPr wrap="square" lIns="91440" tIns="45720" rIns="91440" bIns="45720" anchor="ctr"/>
          <a:lstStyle/>
          <a:p>
            <a:pPr>
              <a:spcAft>
                <a:spcPts val="0"/>
              </a:spcAft>
              <a:buNone/>
            </a:pPr>
            <a:r>
              <a:rPr sz="1000" b="0" i="1">
                <a:solidFill>
                  <a:srgbClr val="3D3C3C"/>
                </a:solidFill>
                <a:latin typeface="Open Sans"/>
              </a:rPr>
              <a:t>What does the client need, and who is Webuild at its best?</a:t>
            </a:r>
          </a:p>
        </p:txBody>
      </p:sp>
      <p:sp>
        <p:nvSpPr>
          <p:cNvPr id="25" name="Rectangle 24">
            <a:extLst>
              <a:ext uri="{FF2B5EF4-FFF2-40B4-BE49-F238E27FC236}">
                <a16:creationId xmlns:a16="http://schemas.microsoft.com/office/drawing/2014/main" id="{7B70EB6E-9B92-08AB-D21A-9914B7FDD551}"/>
              </a:ext>
            </a:extLst>
          </p:cNvPr>
          <p:cNvSpPr/>
          <p:nvPr/>
        </p:nvSpPr>
        <p:spPr>
          <a:xfrm>
            <a:off x="655023" y="4929383"/>
            <a:ext cx="75227" cy="589995"/>
          </a:xfrm>
          <a:prstGeom prst="rect">
            <a:avLst/>
          </a:prstGeom>
          <a:solidFill>
            <a:srgbClr val="1B8FD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atin typeface="Open Sans Light" pitchFamily="2" charset="0"/>
            </a:endParaRPr>
          </a:p>
        </p:txBody>
      </p:sp>
      <p:sp>
        <p:nvSpPr>
          <p:cNvPr id="29" name="TextBox 28">
            <a:extLst>
              <a:ext uri="{FF2B5EF4-FFF2-40B4-BE49-F238E27FC236}">
                <a16:creationId xmlns:a16="http://schemas.microsoft.com/office/drawing/2014/main" id="{E71B8080-779B-D77E-7DA4-FD65BB831029}"/>
              </a:ext>
            </a:extLst>
          </p:cNvPr>
          <p:cNvSpPr txBox="1"/>
          <p:nvPr/>
        </p:nvSpPr>
        <p:spPr>
          <a:xfrm rot="16200000">
            <a:off x="-274166" y="4936709"/>
            <a:ext cx="1215716" cy="369332"/>
          </a:xfrm>
          <a:prstGeom prst="rect">
            <a:avLst/>
          </a:prstGeom>
          <a:noFill/>
        </p:spPr>
        <p:txBody>
          <a:bodyPr wrap="square" lIns="91440" tIns="45720" rIns="91440" bIns="45720" rtlCol="0" anchor="t">
            <a:spAutoFit/>
          </a:bodyPr>
          <a:lstStyle>
            <a:defPPr>
              <a:defRPr lang="en-US"/>
            </a:defPPr>
            <a:lvl1pPr>
              <a:spcAft>
                <a:spcPts val="471"/>
              </a:spcAft>
              <a:defRPr sz="1255" b="1">
                <a:solidFill>
                  <a:schemeClr val="tx1">
                    <a:lumMod val="85000"/>
                    <a:lumOff val="15000"/>
                  </a:schemeClr>
                </a:solidFill>
                <a:latin typeface="EYInterstate" panose="02000503020000020004" pitchFamily="2" charset="0"/>
                <a:cs typeface="Arial" charset="0"/>
              </a:defRPr>
            </a:lvl1pPr>
          </a:lstStyle>
          <a:p>
            <a:pPr algn="ctr">
              <a:spcAft>
                <a:spcPts val="0"/>
              </a:spcAft>
            </a:pPr>
            <a:r>
              <a:rPr lang="en-AU" sz="900" b="0">
                <a:solidFill>
                  <a:schemeClr val="tx1">
                    <a:lumMod val="50000"/>
                    <a:lumOff val="50000"/>
                  </a:schemeClr>
                </a:solidFill>
                <a:latin typeface="+mj-lt"/>
                <a:ea typeface="Open Sans Light" pitchFamily="2" charset="0"/>
                <a:cs typeface="Poppins Light" pitchFamily="2" charset="77"/>
              </a:rPr>
              <a:t>THE QUESTION</a:t>
            </a:r>
            <a:br>
              <a:rPr lang="en-AU" sz="900" b="0">
                <a:solidFill>
                  <a:schemeClr val="tx1">
                    <a:lumMod val="50000"/>
                    <a:lumOff val="50000"/>
                  </a:schemeClr>
                </a:solidFill>
                <a:latin typeface="+mj-lt"/>
                <a:ea typeface="Open Sans Light" pitchFamily="2" charset="0"/>
                <a:cs typeface="Poppins Light" pitchFamily="2" charset="77"/>
              </a:rPr>
            </a:br>
            <a:r>
              <a:rPr lang="en-AU" sz="900" b="0">
                <a:solidFill>
                  <a:schemeClr val="tx1">
                    <a:lumMod val="50000"/>
                    <a:lumOff val="50000"/>
                  </a:schemeClr>
                </a:solidFill>
                <a:latin typeface="+mj-lt"/>
                <a:ea typeface="Open Sans Light" pitchFamily="2" charset="0"/>
                <a:cs typeface="Poppins Light" pitchFamily="2" charset="77"/>
              </a:rPr>
              <a:t/>
            </a:r>
            <a:endParaRPr lang="en-AU" sz="900" b="0" noProof="0">
              <a:latin typeface="+mj-lt"/>
              <a:cs typeface="Poppins Light" pitchFamily="2" charset="77"/>
            </a:endParaRPr>
          </a:p>
        </p:txBody>
      </p:sp>
      <p:sp>
        <p:nvSpPr>
          <p:cNvPr id="31" name="Rectangle 30">
            <a:extLst>
              <a:ext uri="{FF2B5EF4-FFF2-40B4-BE49-F238E27FC236}">
                <a16:creationId xmlns:a16="http://schemas.microsoft.com/office/drawing/2014/main" id="{595911CB-264A-FFC8-56A5-7C40F6245582}"/>
              </a:ext>
            </a:extLst>
          </p:cNvPr>
          <p:cNvSpPr/>
          <p:nvPr/>
        </p:nvSpPr>
        <p:spPr>
          <a:xfrm>
            <a:off x="8241085" y="4928616"/>
            <a:ext cx="81592" cy="594360"/>
          </a:xfrm>
          <a:prstGeom prst="rect">
            <a:avLst/>
          </a:prstGeom>
          <a:solidFill>
            <a:srgbClr val="E83F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atin typeface="Open Sans Light" pitchFamily="2" charset="0"/>
            </a:endParaRPr>
          </a:p>
        </p:txBody>
      </p:sp>
      <p:sp>
        <p:nvSpPr>
          <p:cNvPr id="34" name="Tag">
            <a:extLst>
              <a:ext uri="{FF2B5EF4-FFF2-40B4-BE49-F238E27FC236}">
                <a16:creationId xmlns:a16="http://schemas.microsoft.com/office/drawing/2014/main" id="{02C3DF49-42F4-E54E-9464-3481F135123D}"/>
              </a:ext>
            </a:extLst>
          </p:cNvPr>
          <p:cNvSpPr/>
          <p:nvPr/>
        </p:nvSpPr>
        <p:spPr>
          <a:xfrm>
            <a:off x="4373333" y="4922610"/>
            <a:ext cx="3385156" cy="596790"/>
          </a:xfrm>
          <a:prstGeom prst="roundRect">
            <a:avLst>
              <a:gd name="adj" fmla="val 16667"/>
            </a:avLst>
          </a:prstGeom>
          <a:solidFill>
            <a:schemeClr val="bg1">
              <a:lumMod val="95000"/>
            </a:schemeClr>
          </a:solidFill>
          <a:ln>
            <a:noFill/>
          </a:ln>
        </p:spPr>
        <p:txBody>
          <a:bodyPr wrap="square" lIns="91440" tIns="45720" rIns="91440" bIns="45720" anchor="ctr"/>
          <a:lstStyle/>
          <a:p>
            <a:pPr>
              <a:spcAft>
                <a:spcPts val="0"/>
              </a:spcAft>
              <a:buNone/>
            </a:pPr>
            <a:r>
              <a:rPr sz="1000" b="0" i="1">
                <a:solidFill>
                  <a:srgbClr val="3D3C3C"/>
                </a:solidFill>
                <a:latin typeface="Open Sans"/>
              </a:rPr>
              <a:t>How does every response prove it, with people and evidence?</a:t>
            </a:r>
          </a:p>
        </p:txBody>
      </p:sp>
      <p:sp>
        <p:nvSpPr>
          <p:cNvPr id="35" name="Rectangle 34">
            <a:extLst>
              <a:ext uri="{FF2B5EF4-FFF2-40B4-BE49-F238E27FC236}">
                <a16:creationId xmlns:a16="http://schemas.microsoft.com/office/drawing/2014/main" id="{4C6A2F64-AC77-9DCB-E240-D2766FA45874}"/>
              </a:ext>
            </a:extLst>
          </p:cNvPr>
          <p:cNvSpPr/>
          <p:nvPr/>
        </p:nvSpPr>
        <p:spPr>
          <a:xfrm>
            <a:off x="4352671" y="4922610"/>
            <a:ext cx="86350" cy="596786"/>
          </a:xfrm>
          <a:prstGeom prst="rect">
            <a:avLst/>
          </a:prstGeom>
          <a:solidFill>
            <a:srgbClr val="EF7A3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latin typeface="Open Sans Light" pitchFamily="2" charset="0"/>
            </a:endParaRPr>
          </a:p>
        </p:txBody>
      </p:sp>
    </p:spTree>
    <p:extLst>
      <p:ext uri="{BB962C8B-B14F-4D97-AF65-F5344CB8AC3E}">
        <p14:creationId xmlns:p14="http://schemas.microsoft.com/office/powerpoint/2010/main" val="8590760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Workshop 1: Rediscovering who Webuild is, through the client's eyes</a:t>
            </a:r>
          </a:p>
        </p:txBody>
      </p:sp>
      <p:sp>
        <p:nvSpPr>
          <p:cNvPr id="10" name="TextBox 9"/>
          <p:cNvSpPr txBox="1"/>
          <p:nvPr/>
        </p:nvSpPr>
        <p:spPr>
          <a:xfrm>
            <a:off x="566928" y="1261872"/>
            <a:ext cx="10972800" cy="365760"/>
          </a:xfrm>
          <a:prstGeom prst="rect">
            <a:avLst/>
          </a:prstGeom>
          <a:noFill/>
        </p:spPr>
        <p:txBody>
          <a:bodyPr wrap="square" lIns="0" rIns="0" tIns="0" bIns="0" anchor="t">
            <a:spAutoFit/>
          </a:bodyPr>
          <a:lstStyle/>
          <a:p>
            <a:pPr>
              <a:spcAft>
                <a:spcPts val="400"/>
              </a:spcAft>
              <a:buNone/>
            </a:pPr>
            <a:r>
              <a:rPr sz="1300" b="0" i="0">
                <a:solidFill>
                  <a:srgbClr val="6B6B6B"/>
                </a:solidFill>
                <a:latin typeface="Open Sans"/>
              </a:rPr>
              <a:t>Full-day facilitated workshop with Webuild leadership and the proposed team  |  Weeks 1-2</a:t>
            </a:r>
          </a:p>
        </p:txBody>
      </p:sp>
      <p:sp>
        <p:nvSpPr>
          <p:cNvPr id="11" name="Rounded Rectangle 10"/>
          <p:cNvSpPr/>
          <p:nvPr/>
        </p:nvSpPr>
        <p:spPr>
          <a:xfrm>
            <a:off x="566928" y="1828800"/>
            <a:ext cx="3520440" cy="32918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2" name="Oval 11"/>
          <p:cNvSpPr/>
          <p:nvPr/>
        </p:nvSpPr>
        <p:spPr>
          <a:xfrm>
            <a:off x="795528" y="2029968"/>
            <a:ext cx="502920" cy="502920"/>
          </a:xfrm>
          <a:prstGeom prst="ellips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01</a:t>
            </a:r>
          </a:p>
        </p:txBody>
      </p:sp>
      <p:sp>
        <p:nvSpPr>
          <p:cNvPr id="13" name="TextBox 12"/>
          <p:cNvSpPr txBox="1"/>
          <p:nvPr/>
        </p:nvSpPr>
        <p:spPr>
          <a:xfrm>
            <a:off x="1435607" y="2029968"/>
            <a:ext cx="2560320" cy="502920"/>
          </a:xfrm>
          <a:prstGeom prst="rect">
            <a:avLst/>
          </a:prstGeom>
          <a:noFill/>
        </p:spPr>
        <p:txBody>
          <a:bodyPr wrap="square" lIns="0" rIns="0" tIns="0" bIns="0" anchor="ctr">
            <a:spAutoFit/>
          </a:bodyPr>
          <a:lstStyle/>
          <a:p>
            <a:pPr>
              <a:spcAft>
                <a:spcPts val="0"/>
              </a:spcAft>
              <a:buNone/>
            </a:pPr>
            <a:r>
              <a:rPr sz="1250" b="1" i="0">
                <a:solidFill>
                  <a:srgbClr val="0E98D7"/>
                </a:solidFill>
                <a:latin typeface="Poppins"/>
              </a:rPr>
              <a:t>UNDERSTAND THE CLIENT</a:t>
            </a:r>
          </a:p>
        </p:txBody>
      </p:sp>
      <p:sp>
        <p:nvSpPr>
          <p:cNvPr id="14" name="TextBox 13"/>
          <p:cNvSpPr txBox="1"/>
          <p:nvPr/>
        </p:nvSpPr>
        <p:spPr>
          <a:xfrm>
            <a:off x="795528" y="2724912"/>
            <a:ext cx="3108960" cy="548640"/>
          </a:xfrm>
          <a:prstGeom prst="rect">
            <a:avLst/>
          </a:prstGeom>
          <a:noFill/>
        </p:spPr>
        <p:txBody>
          <a:bodyPr wrap="square" lIns="0" rIns="0" tIns="0" bIns="0" anchor="t">
            <a:spAutoFit/>
          </a:bodyPr>
          <a:lstStyle/>
          <a:p>
            <a:pPr>
              <a:spcAft>
                <a:spcPts val="400"/>
              </a:spcAft>
              <a:buNone/>
            </a:pPr>
            <a:r>
              <a:rPr sz="1250" b="0" i="1">
                <a:solidFill>
                  <a:srgbClr val="3D3C3C"/>
                </a:solidFill>
                <a:latin typeface="Poppins"/>
              </a:rPr>
              <a:t>What does the client need from its ECI partner?</a:t>
            </a:r>
          </a:p>
        </p:txBody>
      </p:sp>
      <p:sp>
        <p:nvSpPr>
          <p:cNvPr id="15" name="TextBox 14"/>
          <p:cNvSpPr txBox="1"/>
          <p:nvPr/>
        </p:nvSpPr>
        <p:spPr>
          <a:xfrm>
            <a:off x="795528" y="3310128"/>
            <a:ext cx="3108960" cy="1737360"/>
          </a:xfrm>
          <a:prstGeom prst="rect">
            <a:avLst/>
          </a:prstGeom>
          <a:noFill/>
        </p:spPr>
        <p:txBody>
          <a:bodyPr wrap="square" lIns="0" rIns="0" tIns="0" bIns="0" anchor="t">
            <a:spAutoFit/>
          </a:bodyPr>
          <a:lstStyle/>
          <a:p>
            <a:pPr marL="155448" indent="-155448">
              <a:spcAft>
                <a:spcPts val="600"/>
              </a:spcAft>
              <a:buClr>
                <a:srgbClr val="0E98D7"/>
              </a:buClr>
              <a:buFont typeface="Arial"/>
              <a:buChar char="•"/>
            </a:pPr>
            <a:r>
              <a:rPr sz="1200" b="0" i="0">
                <a:solidFill>
                  <a:srgbClr val="3D3C3C"/>
                </a:solidFill>
                <a:latin typeface="Open Sans"/>
              </a:rPr>
              <a:t>Unpack the EOI, its evaluation criteria and the client's language</a:t>
            </a:r>
          </a:p>
          <a:p>
            <a:pPr marL="155448" indent="-155448">
              <a:spcAft>
                <a:spcPts val="600"/>
              </a:spcAft>
              <a:buClr>
                <a:srgbClr val="0E98D7"/>
              </a:buClr>
              <a:buFont typeface="Arial"/>
              <a:buChar char="•"/>
            </a:pPr>
            <a:r>
              <a:rPr sz="1200" b="0" i="0">
                <a:solidFill>
                  <a:srgbClr val="3D3C3C"/>
                </a:solidFill>
                <a:latin typeface="Open Sans"/>
              </a:rPr>
              <a:t>Map objectives, challenges and non-negotiables</a:t>
            </a:r>
          </a:p>
          <a:p>
            <a:pPr marL="155448" indent="-155448">
              <a:spcAft>
                <a:spcPts val="600"/>
              </a:spcAft>
              <a:buClr>
                <a:srgbClr val="0E98D7"/>
              </a:buClr>
              <a:buFont typeface="Arial"/>
              <a:buChar char="•"/>
            </a:pPr>
            <a:r>
              <a:rPr sz="1200" b="0" i="0">
                <a:solidFill>
                  <a:srgbClr val="3D3C3C"/>
                </a:solidFill>
                <a:latin typeface="Open Sans"/>
              </a:rPr>
              <a:t>Identify what Webuild must prove to earn confidence</a:t>
            </a:r>
          </a:p>
        </p:txBody>
      </p:sp>
      <p:sp>
        <p:nvSpPr>
          <p:cNvPr id="16" name="Rounded Rectangle 15"/>
          <p:cNvSpPr/>
          <p:nvPr/>
        </p:nvSpPr>
        <p:spPr>
          <a:xfrm>
            <a:off x="4334256" y="1828800"/>
            <a:ext cx="3520440" cy="32918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7" name="Oval 16"/>
          <p:cNvSpPr/>
          <p:nvPr/>
        </p:nvSpPr>
        <p:spPr>
          <a:xfrm>
            <a:off x="4562856" y="2029968"/>
            <a:ext cx="502920" cy="502920"/>
          </a:xfrm>
          <a:prstGeom prst="ellipse">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02</a:t>
            </a:r>
          </a:p>
        </p:txBody>
      </p:sp>
      <p:sp>
        <p:nvSpPr>
          <p:cNvPr id="18" name="TextBox 17"/>
          <p:cNvSpPr txBox="1"/>
          <p:nvPr/>
        </p:nvSpPr>
        <p:spPr>
          <a:xfrm>
            <a:off x="5202936" y="2029968"/>
            <a:ext cx="2560320" cy="502920"/>
          </a:xfrm>
          <a:prstGeom prst="rect">
            <a:avLst/>
          </a:prstGeom>
          <a:noFill/>
        </p:spPr>
        <p:txBody>
          <a:bodyPr wrap="square" lIns="0" rIns="0" tIns="0" bIns="0" anchor="ctr">
            <a:spAutoFit/>
          </a:bodyPr>
          <a:lstStyle/>
          <a:p>
            <a:pPr>
              <a:spcAft>
                <a:spcPts val="0"/>
              </a:spcAft>
              <a:buNone/>
            </a:pPr>
            <a:r>
              <a:rPr sz="1250" b="1" i="0">
                <a:solidFill>
                  <a:srgbClr val="EE2B7A"/>
                </a:solidFill>
                <a:latin typeface="Poppins"/>
              </a:rPr>
              <a:t>DISCOVER WEBUILD'S STORY</a:t>
            </a:r>
          </a:p>
        </p:txBody>
      </p:sp>
      <p:sp>
        <p:nvSpPr>
          <p:cNvPr id="19" name="TextBox 18"/>
          <p:cNvSpPr txBox="1"/>
          <p:nvPr/>
        </p:nvSpPr>
        <p:spPr>
          <a:xfrm>
            <a:off x="4562856" y="2724912"/>
            <a:ext cx="3108960" cy="548640"/>
          </a:xfrm>
          <a:prstGeom prst="rect">
            <a:avLst/>
          </a:prstGeom>
          <a:noFill/>
        </p:spPr>
        <p:txBody>
          <a:bodyPr wrap="square" lIns="0" rIns="0" tIns="0" bIns="0" anchor="t">
            <a:spAutoFit/>
          </a:bodyPr>
          <a:lstStyle/>
          <a:p>
            <a:pPr>
              <a:spcAft>
                <a:spcPts val="400"/>
              </a:spcAft>
              <a:buNone/>
            </a:pPr>
            <a:r>
              <a:rPr sz="1250" b="0" i="1">
                <a:solidFill>
                  <a:srgbClr val="3D3C3C"/>
                </a:solidFill>
                <a:latin typeface="Poppins"/>
              </a:rPr>
              <a:t>Who is Webuild, at its best?</a:t>
            </a:r>
          </a:p>
        </p:txBody>
      </p:sp>
      <p:sp>
        <p:nvSpPr>
          <p:cNvPr id="20" name="TextBox 19"/>
          <p:cNvSpPr txBox="1"/>
          <p:nvPr/>
        </p:nvSpPr>
        <p:spPr>
          <a:xfrm>
            <a:off x="4562856" y="3310128"/>
            <a:ext cx="3108960" cy="1737360"/>
          </a:xfrm>
          <a:prstGeom prst="rect">
            <a:avLst/>
          </a:prstGeom>
          <a:noFill/>
        </p:spPr>
        <p:txBody>
          <a:bodyPr wrap="square" lIns="0" rIns="0" tIns="0" bIns="0" anchor="t">
            <a:spAutoFit/>
          </a:bodyPr>
          <a:lstStyle/>
          <a:p>
            <a:pPr marL="155448" indent="-155448">
              <a:spcAft>
                <a:spcPts val="600"/>
              </a:spcAft>
              <a:buClr>
                <a:srgbClr val="EE2B7A"/>
              </a:buClr>
              <a:buFont typeface="Arial"/>
              <a:buChar char="•"/>
            </a:pPr>
            <a:r>
              <a:rPr sz="1200" b="0" i="0">
                <a:solidFill>
                  <a:srgbClr val="3D3C3C"/>
                </a:solidFill>
                <a:latin typeface="Open Sans"/>
              </a:rPr>
              <a:t>Explore values, culture and what keeps clients coming back</a:t>
            </a:r>
          </a:p>
          <a:p>
            <a:pPr marL="155448" indent="-155448">
              <a:spcAft>
                <a:spcPts val="600"/>
              </a:spcAft>
              <a:buClr>
                <a:srgbClr val="EE2B7A"/>
              </a:buClr>
              <a:buFont typeface="Arial"/>
              <a:buChar char="•"/>
            </a:pPr>
            <a:r>
              <a:rPr sz="1200" b="0" i="0">
                <a:solidFill>
                  <a:srgbClr val="3D3C3C"/>
                </a:solidFill>
                <a:latin typeface="Open Sans"/>
              </a:rPr>
              <a:t>Surface the projects, people and lessons that transfer to light rail</a:t>
            </a:r>
          </a:p>
          <a:p>
            <a:pPr marL="155448" indent="-155448">
              <a:spcAft>
                <a:spcPts val="600"/>
              </a:spcAft>
              <a:buClr>
                <a:srgbClr val="EE2B7A"/>
              </a:buClr>
              <a:buFont typeface="Arial"/>
              <a:buChar char="•"/>
            </a:pPr>
            <a:r>
              <a:rPr sz="1200" b="0" i="0">
                <a:solidFill>
                  <a:srgbClr val="3D3C3C"/>
                </a:solidFill>
                <a:latin typeface="Open Sans"/>
              </a:rPr>
              <a:t>Address the reputation question openly, with evidence</a:t>
            </a:r>
          </a:p>
        </p:txBody>
      </p:sp>
      <p:sp>
        <p:nvSpPr>
          <p:cNvPr id="21" name="Rounded Rectangle 20"/>
          <p:cNvSpPr/>
          <p:nvPr/>
        </p:nvSpPr>
        <p:spPr>
          <a:xfrm>
            <a:off x="8101583" y="1828800"/>
            <a:ext cx="3520440" cy="32918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2" name="Oval 21"/>
          <p:cNvSpPr/>
          <p:nvPr/>
        </p:nvSpPr>
        <p:spPr>
          <a:xfrm>
            <a:off x="8330183" y="2029968"/>
            <a:ext cx="502920" cy="502920"/>
          </a:xfrm>
          <a:prstGeom prst="ellipse">
            <a:avLst/>
          </a:prstGeom>
          <a:solidFill>
            <a:srgbClr val="2E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03</a:t>
            </a:r>
          </a:p>
        </p:txBody>
      </p:sp>
      <p:sp>
        <p:nvSpPr>
          <p:cNvPr id="23" name="TextBox 22"/>
          <p:cNvSpPr txBox="1"/>
          <p:nvPr/>
        </p:nvSpPr>
        <p:spPr>
          <a:xfrm>
            <a:off x="8970263" y="2029968"/>
            <a:ext cx="2560320" cy="502920"/>
          </a:xfrm>
          <a:prstGeom prst="rect">
            <a:avLst/>
          </a:prstGeom>
          <a:noFill/>
        </p:spPr>
        <p:txBody>
          <a:bodyPr wrap="square" lIns="0" rIns="0" tIns="0" bIns="0" anchor="ctr">
            <a:spAutoFit/>
          </a:bodyPr>
          <a:lstStyle/>
          <a:p>
            <a:pPr>
              <a:spcAft>
                <a:spcPts val="0"/>
              </a:spcAft>
              <a:buNone/>
            </a:pPr>
            <a:r>
              <a:rPr sz="1250" b="1" i="0">
                <a:solidFill>
                  <a:srgbClr val="2EB88A"/>
                </a:solidFill>
                <a:latin typeface="Poppins"/>
              </a:rPr>
              <a:t>DEVELOP THE WIN THEMES</a:t>
            </a:r>
          </a:p>
        </p:txBody>
      </p:sp>
      <p:sp>
        <p:nvSpPr>
          <p:cNvPr id="24" name="TextBox 23"/>
          <p:cNvSpPr txBox="1"/>
          <p:nvPr/>
        </p:nvSpPr>
        <p:spPr>
          <a:xfrm>
            <a:off x="8330183" y="2724912"/>
            <a:ext cx="3108960" cy="548640"/>
          </a:xfrm>
          <a:prstGeom prst="rect">
            <a:avLst/>
          </a:prstGeom>
          <a:noFill/>
        </p:spPr>
        <p:txBody>
          <a:bodyPr wrap="square" lIns="0" rIns="0" tIns="0" bIns="0" anchor="t">
            <a:spAutoFit/>
          </a:bodyPr>
          <a:lstStyle/>
          <a:p>
            <a:pPr>
              <a:spcAft>
                <a:spcPts val="400"/>
              </a:spcAft>
              <a:buNone/>
            </a:pPr>
            <a:r>
              <a:rPr sz="1250" b="0" i="1">
                <a:solidFill>
                  <a:srgbClr val="3D3C3C"/>
                </a:solidFill>
                <a:latin typeface="Poppins"/>
              </a:rPr>
              <a:t>Why should the client choose Webuild?</a:t>
            </a:r>
          </a:p>
        </p:txBody>
      </p:sp>
      <p:sp>
        <p:nvSpPr>
          <p:cNvPr id="25" name="TextBox 24"/>
          <p:cNvSpPr txBox="1"/>
          <p:nvPr/>
        </p:nvSpPr>
        <p:spPr>
          <a:xfrm>
            <a:off x="8330183" y="3310128"/>
            <a:ext cx="3108960" cy="1737360"/>
          </a:xfrm>
          <a:prstGeom prst="rect">
            <a:avLst/>
          </a:prstGeom>
          <a:noFill/>
        </p:spPr>
        <p:txBody>
          <a:bodyPr wrap="square" lIns="0" rIns="0" tIns="0" bIns="0" anchor="t">
            <a:spAutoFit/>
          </a:bodyPr>
          <a:lstStyle/>
          <a:p>
            <a:pPr marL="155448" indent="-155448">
              <a:spcAft>
                <a:spcPts val="600"/>
              </a:spcAft>
              <a:buClr>
                <a:srgbClr val="2EB88A"/>
              </a:buClr>
              <a:buFont typeface="Arial"/>
              <a:buChar char="•"/>
            </a:pPr>
            <a:r>
              <a:rPr sz="1200" b="0" i="0">
                <a:solidFill>
                  <a:srgbClr val="3D3C3C"/>
                </a:solidFill>
                <a:latin typeface="Open Sans"/>
              </a:rPr>
              <a:t>Bring client needs and Webuild strengths together</a:t>
            </a:r>
          </a:p>
          <a:p>
            <a:pPr marL="155448" indent="-155448">
              <a:spcAft>
                <a:spcPts val="600"/>
              </a:spcAft>
              <a:buClr>
                <a:srgbClr val="2EB88A"/>
              </a:buClr>
              <a:buFont typeface="Arial"/>
              <a:buChar char="•"/>
            </a:pPr>
            <a:r>
              <a:rPr sz="1200" b="0" i="0">
                <a:solidFill>
                  <a:srgbClr val="3D3C3C"/>
                </a:solidFill>
                <a:latin typeface="Open Sans"/>
              </a:rPr>
              <a:t>Test each theme: is it relevant, distinctive and provable?</a:t>
            </a:r>
          </a:p>
          <a:p>
            <a:pPr marL="155448" indent="-155448">
              <a:spcAft>
                <a:spcPts val="600"/>
              </a:spcAft>
              <a:buClr>
                <a:srgbClr val="2EB88A"/>
              </a:buClr>
              <a:buFont typeface="Arial"/>
              <a:buChar char="•"/>
            </a:pPr>
            <a:r>
              <a:rPr sz="1200" b="0" i="0">
                <a:solidFill>
                  <a:srgbClr val="3D3C3C"/>
                </a:solidFill>
                <a:latin typeface="Open Sans"/>
              </a:rPr>
              <a:t>Agree three to four themes to carry through every response</a:t>
            </a:r>
          </a:p>
        </p:txBody>
      </p:sp>
      <p:sp>
        <p:nvSpPr>
          <p:cNvPr id="26" name="Rounded Rectangle 25"/>
          <p:cNvSpPr/>
          <p:nvPr/>
        </p:nvSpPr>
        <p:spPr>
          <a:xfrm>
            <a:off x="566928" y="5303520"/>
            <a:ext cx="11055096" cy="530352"/>
          </a:xfrm>
          <a:prstGeom prst="roundRect">
            <a:avLst>
              <a:gd name="adj" fmla="val 20000"/>
            </a:avLst>
          </a:prstGeom>
          <a:solidFill>
            <a:srgbClr val="FFF6E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109728" bIns="109728"/>
          <a:lstStyle/>
          <a:p>
            <a:pPr algn="l">
              <a:spcAft>
                <a:spcPts val="0"/>
              </a:spcAft>
              <a:buNone/>
            </a:pPr>
            <a:r>
              <a:rPr sz="1200" b="1" i="0">
                <a:solidFill>
                  <a:srgbClr val="F48047"/>
                </a:solidFill>
                <a:latin typeface="Open Sans"/>
              </a:rPr>
              <a:t>Outputs:  </a:t>
            </a:r>
            <a:r>
              <a:rPr sz="1200" b="0" i="0">
                <a:solidFill>
                  <a:srgbClr val="3D3C3C"/>
                </a:solidFill>
                <a:latin typeface="Open Sans"/>
              </a:rPr>
              <a:t>client priorities map  |  Webuild positioning statement  |  agreed win themes with supporting evidence</a:t>
            </a:r>
          </a:p>
        </p:txBody>
      </p:sp>
    </p:spTree>
    <p:extLst>
      <p:ext uri="{BB962C8B-B14F-4D97-AF65-F5344CB8AC3E}">
        <p14:creationId xmlns:p14="http://schemas.microsoft.com/office/powerpoint/2010/main" val="37266199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Workshop 2: Storyboarding every response before a word is written</a:t>
            </a:r>
          </a:p>
        </p:txBody>
      </p:sp>
      <p:sp>
        <p:nvSpPr>
          <p:cNvPr id="10" name="TextBox 9"/>
          <p:cNvSpPr txBox="1"/>
          <p:nvPr/>
        </p:nvSpPr>
        <p:spPr>
          <a:xfrm>
            <a:off x="566928" y="1261872"/>
            <a:ext cx="10972800" cy="365760"/>
          </a:xfrm>
          <a:prstGeom prst="rect">
            <a:avLst/>
          </a:prstGeom>
          <a:noFill/>
        </p:spPr>
        <p:txBody>
          <a:bodyPr wrap="square" lIns="0" rIns="0" tIns="0" bIns="0" anchor="t">
            <a:spAutoFit/>
          </a:bodyPr>
          <a:lstStyle/>
          <a:p>
            <a:pPr>
              <a:spcAft>
                <a:spcPts val="400"/>
              </a:spcAft>
              <a:buNone/>
            </a:pPr>
            <a:r>
              <a:rPr sz="1300" b="0" i="0">
                <a:solidFill>
                  <a:srgbClr val="6B6B6B"/>
                </a:solidFill>
                <a:latin typeface="Open Sans"/>
              </a:rPr>
              <a:t>Half-day working session with the proposed team, straight after Workshop 1  |  Weeks 1-2</a:t>
            </a:r>
          </a:p>
        </p:txBody>
      </p:sp>
      <p:sp>
        <p:nvSpPr>
          <p:cNvPr id="11" name="TextBox 10"/>
          <p:cNvSpPr txBox="1"/>
          <p:nvPr/>
        </p:nvSpPr>
        <p:spPr>
          <a:xfrm>
            <a:off x="566928" y="1783080"/>
            <a:ext cx="10972800" cy="320040"/>
          </a:xfrm>
          <a:prstGeom prst="rect">
            <a:avLst/>
          </a:prstGeom>
          <a:noFill/>
        </p:spPr>
        <p:txBody>
          <a:bodyPr wrap="square" lIns="0" rIns="0" tIns="0" bIns="0" anchor="t">
            <a:spAutoFit/>
          </a:bodyPr>
          <a:lstStyle/>
          <a:p>
            <a:pPr>
              <a:spcAft>
                <a:spcPts val="400"/>
              </a:spcAft>
              <a:buNone/>
            </a:pPr>
            <a:r>
              <a:rPr sz="1300" b="1" i="0">
                <a:solidFill>
                  <a:srgbClr val="3D3C3C"/>
                </a:solidFill>
                <a:latin typeface="Poppins"/>
              </a:rPr>
              <a:t>For each EOI question, we work through five prompts together</a:t>
            </a:r>
          </a:p>
        </p:txBody>
      </p:sp>
      <p:sp>
        <p:nvSpPr>
          <p:cNvPr id="12" name="Pentagon 11"/>
          <p:cNvSpPr/>
          <p:nvPr/>
        </p:nvSpPr>
        <p:spPr>
          <a:xfrm>
            <a:off x="566928" y="2212848"/>
            <a:ext cx="2103120" cy="502920"/>
          </a:xfrm>
          <a:prstGeom prst="homePlat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buNone/>
            </a:pPr>
            <a:r>
              <a:rPr sz="1200" b="1" i="0">
                <a:solidFill>
                  <a:srgbClr val="FFFFFF"/>
                </a:solidFill>
                <a:latin typeface="Poppins"/>
              </a:rPr>
              <a:t>1  The ask</a:t>
            </a:r>
          </a:p>
        </p:txBody>
      </p:sp>
      <p:sp>
        <p:nvSpPr>
          <p:cNvPr id="13" name="TextBox 12"/>
          <p:cNvSpPr txBox="1"/>
          <p:nvPr/>
        </p:nvSpPr>
        <p:spPr>
          <a:xfrm>
            <a:off x="612648" y="2816352"/>
            <a:ext cx="1920240" cy="9144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What is the client asking, and why?</a:t>
            </a:r>
          </a:p>
        </p:txBody>
      </p:sp>
      <p:sp>
        <p:nvSpPr>
          <p:cNvPr id="14" name="Pentagon 13"/>
          <p:cNvSpPr/>
          <p:nvPr/>
        </p:nvSpPr>
        <p:spPr>
          <a:xfrm>
            <a:off x="2798064" y="2212848"/>
            <a:ext cx="2103120" cy="502920"/>
          </a:xfrm>
          <a:prstGeom prst="homePlate">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buNone/>
            </a:pPr>
            <a:r>
              <a:rPr sz="1200" b="1" i="0">
                <a:solidFill>
                  <a:srgbClr val="FFFFFF"/>
                </a:solidFill>
                <a:latin typeface="Poppins"/>
              </a:rPr>
              <a:t>2  The need</a:t>
            </a:r>
          </a:p>
        </p:txBody>
      </p:sp>
      <p:sp>
        <p:nvSpPr>
          <p:cNvPr id="15" name="TextBox 14"/>
          <p:cNvSpPr txBox="1"/>
          <p:nvPr/>
        </p:nvSpPr>
        <p:spPr>
          <a:xfrm>
            <a:off x="2843784" y="2816352"/>
            <a:ext cx="1920240" cy="9144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What problem or outcome sits behind the question?</a:t>
            </a:r>
          </a:p>
        </p:txBody>
      </p:sp>
      <p:sp>
        <p:nvSpPr>
          <p:cNvPr id="16" name="Pentagon 15"/>
          <p:cNvSpPr/>
          <p:nvPr/>
        </p:nvSpPr>
        <p:spPr>
          <a:xfrm>
            <a:off x="5029200" y="2212848"/>
            <a:ext cx="2103120" cy="502920"/>
          </a:xfrm>
          <a:prstGeom prst="homePlate">
            <a:avLst/>
          </a:prstGeom>
          <a:solidFill>
            <a:srgbClr val="2E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buNone/>
            </a:pPr>
            <a:r>
              <a:rPr sz="1200" b="1" i="0">
                <a:solidFill>
                  <a:srgbClr val="FFFFFF"/>
                </a:solidFill>
                <a:latin typeface="Poppins"/>
              </a:rPr>
              <a:t>3  Our answer</a:t>
            </a:r>
          </a:p>
        </p:txBody>
      </p:sp>
      <p:sp>
        <p:nvSpPr>
          <p:cNvPr id="17" name="TextBox 16"/>
          <p:cNvSpPr txBox="1"/>
          <p:nvPr/>
        </p:nvSpPr>
        <p:spPr>
          <a:xfrm>
            <a:off x="5074920" y="2816352"/>
            <a:ext cx="1920240" cy="9144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How do Webuild's approach, people and experience solve it?</a:t>
            </a:r>
          </a:p>
        </p:txBody>
      </p:sp>
      <p:sp>
        <p:nvSpPr>
          <p:cNvPr id="18" name="Pentagon 17"/>
          <p:cNvSpPr/>
          <p:nvPr/>
        </p:nvSpPr>
        <p:spPr>
          <a:xfrm>
            <a:off x="7260336" y="2212848"/>
            <a:ext cx="2103120" cy="502920"/>
          </a:xfrm>
          <a:prstGeom prst="homePlate">
            <a:avLst/>
          </a:prstGeom>
          <a:solidFill>
            <a:srgbClr val="F480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buNone/>
            </a:pPr>
            <a:r>
              <a:rPr sz="1200" b="1" i="0">
                <a:solidFill>
                  <a:srgbClr val="FFFFFF"/>
                </a:solidFill>
                <a:latin typeface="Poppins"/>
              </a:rPr>
              <a:t>4  The proof</a:t>
            </a:r>
          </a:p>
        </p:txBody>
      </p:sp>
      <p:sp>
        <p:nvSpPr>
          <p:cNvPr id="19" name="TextBox 18"/>
          <p:cNvSpPr txBox="1"/>
          <p:nvPr/>
        </p:nvSpPr>
        <p:spPr>
          <a:xfrm>
            <a:off x="7306056" y="2816352"/>
            <a:ext cx="1920240" cy="9144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Which projects, lessons and facts make it credible?</a:t>
            </a:r>
          </a:p>
        </p:txBody>
      </p:sp>
      <p:sp>
        <p:nvSpPr>
          <p:cNvPr id="20" name="Rounded Rectangle 19"/>
          <p:cNvSpPr/>
          <p:nvPr/>
        </p:nvSpPr>
        <p:spPr>
          <a:xfrm>
            <a:off x="9491472" y="2212848"/>
            <a:ext cx="2103120" cy="502920"/>
          </a:xfrm>
          <a:prstGeom prst="roundRect">
            <a:avLst>
              <a:gd name="adj" fmla="val 20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tIns="65836" bIns="65836"/>
          <a:lstStyle/>
          <a:p>
            <a:pPr algn="l">
              <a:spcAft>
                <a:spcPts val="0"/>
              </a:spcAft>
              <a:buNone/>
            </a:pPr>
            <a:r>
              <a:rPr sz="1200" b="1" i="0">
                <a:solidFill>
                  <a:srgbClr val="FFFFFF"/>
                </a:solidFill>
                <a:latin typeface="Poppins"/>
              </a:rPr>
              <a:t>5  The thread</a:t>
            </a:r>
          </a:p>
        </p:txBody>
      </p:sp>
      <p:sp>
        <p:nvSpPr>
          <p:cNvPr id="21" name="TextBox 20"/>
          <p:cNvSpPr txBox="1"/>
          <p:nvPr/>
        </p:nvSpPr>
        <p:spPr>
          <a:xfrm>
            <a:off x="9537192" y="2816352"/>
            <a:ext cx="1920240" cy="914400"/>
          </a:xfrm>
          <a:prstGeom prst="rect">
            <a:avLst/>
          </a:prstGeom>
          <a:noFill/>
        </p:spPr>
        <p:txBody>
          <a:bodyPr wrap="square" lIns="0" rIns="0" tIns="0" bIns="0" anchor="t">
            <a:spAutoFit/>
          </a:bodyPr>
          <a:lstStyle/>
          <a:p>
            <a:pPr>
              <a:spcAft>
                <a:spcPts val="400"/>
              </a:spcAft>
              <a:buNone/>
            </a:pPr>
            <a:r>
              <a:rPr sz="1200" b="0" i="0">
                <a:solidFill>
                  <a:srgbClr val="3D3C3C"/>
                </a:solidFill>
                <a:latin typeface="Open Sans"/>
              </a:rPr>
              <a:t>How does it link back to our win themes?</a:t>
            </a:r>
          </a:p>
        </p:txBody>
      </p:sp>
      <p:sp>
        <p:nvSpPr>
          <p:cNvPr id="22" name="Rounded Rectangle 21"/>
          <p:cNvSpPr/>
          <p:nvPr/>
        </p:nvSpPr>
        <p:spPr>
          <a:xfrm>
            <a:off x="566928" y="3886200"/>
            <a:ext cx="6949440" cy="1938528"/>
          </a:xfrm>
          <a:prstGeom prst="roundRect">
            <a:avLst>
              <a:gd name="adj" fmla="val 6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spcAft>
                <a:spcPts val="600"/>
              </a:spcAft>
              <a:buNone/>
            </a:pPr>
            <a:r>
              <a:rPr sz="1200" b="1" i="0">
                <a:solidFill>
                  <a:srgbClr val="3D3C3C"/>
                </a:solidFill>
                <a:latin typeface="Poppins"/>
              </a:rPr>
              <a:t>For example: "Provide three examples of relevant light rail experience"</a:t>
            </a:r>
          </a:p>
          <a:p>
            <a:pPr algn="l">
              <a:spcAft>
                <a:spcPts val="400"/>
              </a:spcAft>
              <a:buNone/>
            </a:pPr>
            <a:r>
              <a:rPr sz="1200" b="0" i="0">
                <a:solidFill>
                  <a:srgbClr val="3D3C3C"/>
                </a:solidFill>
                <a:latin typeface="Open Sans"/>
              </a:rPr>
              <a:t>Rather than listing heavy rail projects, the storyboard shows the challenge each project shared with Stage 4, what the team learned, who from that project is on the proposed team and how Webuild's global light rail expertise will be shared into the ECI. The answer acknowledges the gap and turns it into evidence.</a:t>
            </a:r>
          </a:p>
        </p:txBody>
      </p:sp>
      <p:sp>
        <p:nvSpPr>
          <p:cNvPr id="23" name="Rounded Rectangle 22"/>
          <p:cNvSpPr/>
          <p:nvPr/>
        </p:nvSpPr>
        <p:spPr>
          <a:xfrm>
            <a:off x="7726679" y="3886200"/>
            <a:ext cx="3895344" cy="1938528"/>
          </a:xfrm>
          <a:prstGeom prst="roundRect">
            <a:avLst>
              <a:gd name="adj" fmla="val 6000"/>
            </a:avLst>
          </a:prstGeom>
          <a:solidFill>
            <a:srgbClr val="E3F3F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spcAft>
                <a:spcPts val="600"/>
              </a:spcAft>
              <a:buNone/>
            </a:pPr>
            <a:r>
              <a:rPr sz="1200" b="1" i="0">
                <a:solidFill>
                  <a:srgbClr val="0E98D7"/>
                </a:solidFill>
                <a:latin typeface="Poppins"/>
              </a:rPr>
              <a:t>What Webuild receives</a:t>
            </a:r>
          </a:p>
          <a:p>
            <a:pPr algn="l" marL="155448" indent="-155448">
              <a:spcAft>
                <a:spcPts val="300"/>
              </a:spcAft>
              <a:buClr>
                <a:srgbClr val="0E98D7"/>
              </a:buClr>
              <a:buFont typeface="Arial"/>
              <a:buChar char="•"/>
            </a:pPr>
            <a:r>
              <a:rPr sz="1200" b="0" i="0">
                <a:solidFill>
                  <a:srgbClr val="3D3C3C"/>
                </a:solidFill>
                <a:latin typeface="Open Sans"/>
              </a:rPr>
              <a:t>A storyboard for every EOI question</a:t>
            </a:r>
          </a:p>
          <a:p>
            <a:pPr algn="l" marL="155448" indent="-155448">
              <a:spcAft>
                <a:spcPts val="300"/>
              </a:spcAft>
              <a:buClr>
                <a:srgbClr val="0E98D7"/>
              </a:buClr>
              <a:buFont typeface="Arial"/>
              <a:buChar char="•"/>
            </a:pPr>
            <a:r>
              <a:rPr sz="1200" b="0" i="0">
                <a:solidFill>
                  <a:srgbClr val="3D3C3C"/>
                </a:solidFill>
                <a:latin typeface="Open Sans"/>
              </a:rPr>
              <a:t>Clear, prescriptive direction to brief your writers</a:t>
            </a:r>
          </a:p>
          <a:p>
            <a:pPr algn="l" marL="155448" indent="-155448">
              <a:spcAft>
                <a:spcPts val="300"/>
              </a:spcAft>
              <a:buClr>
                <a:srgbClr val="0E98D7"/>
              </a:buClr>
              <a:buFont typeface="Arial"/>
              <a:buChar char="•"/>
            </a:pPr>
            <a:r>
              <a:rPr sz="1200" b="0" i="0">
                <a:solidFill>
                  <a:srgbClr val="3D3C3C"/>
                </a:solidFill>
                <a:latin typeface="Open Sans"/>
              </a:rPr>
              <a:t>A shared language your team can use beyond this bid</a:t>
            </a:r>
          </a:p>
        </p:txBody>
      </p:sp>
    </p:spTree>
    <p:extLst>
      <p:ext uri="{BB962C8B-B14F-4D97-AF65-F5344CB8AC3E}">
        <p14:creationId xmlns:p14="http://schemas.microsoft.com/office/powerpoint/2010/main" val="3726619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Every person, every project, every question: one story woven through the EOI</a:t>
            </a:r>
          </a:p>
        </p:txBody>
      </p:sp>
      <p:sp>
        <p:nvSpPr>
          <p:cNvPr id="10" name="Oval 9"/>
          <p:cNvSpPr/>
          <p:nvPr/>
        </p:nvSpPr>
        <p:spPr>
          <a:xfrm>
            <a:off x="1069848" y="1463040"/>
            <a:ext cx="1005840" cy="1005840"/>
          </a:xfrm>
          <a:prstGeom prst="ellips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2400" b="1" i="0">
                <a:solidFill>
                  <a:srgbClr val="FFFFFF"/>
                </a:solidFill>
                <a:latin typeface="Poppins"/>
              </a:rPr>
              <a:t>1</a:t>
            </a:r>
          </a:p>
        </p:txBody>
      </p:sp>
      <p:sp>
        <p:nvSpPr>
          <p:cNvPr id="11" name="Right Arrow 10"/>
          <p:cNvSpPr/>
          <p:nvPr/>
        </p:nvSpPr>
        <p:spPr>
          <a:xfrm>
            <a:off x="2258568" y="1828800"/>
            <a:ext cx="411480" cy="27432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2" name="TextBox 11"/>
          <p:cNvSpPr txBox="1"/>
          <p:nvPr/>
        </p:nvSpPr>
        <p:spPr>
          <a:xfrm>
            <a:off x="566928" y="2578608"/>
            <a:ext cx="2011680" cy="320040"/>
          </a:xfrm>
          <a:prstGeom prst="rect">
            <a:avLst/>
          </a:prstGeom>
          <a:noFill/>
        </p:spPr>
        <p:txBody>
          <a:bodyPr wrap="square" lIns="0" rIns="0" tIns="0" bIns="0" anchor="t">
            <a:spAutoFit/>
          </a:bodyPr>
          <a:lstStyle/>
          <a:p>
            <a:pPr algn="ctr">
              <a:spcAft>
                <a:spcPts val="0"/>
              </a:spcAft>
              <a:buNone/>
            </a:pPr>
            <a:r>
              <a:rPr sz="1300" b="1" i="0">
                <a:solidFill>
                  <a:srgbClr val="0E98D7"/>
                </a:solidFill>
                <a:latin typeface="Poppins"/>
              </a:rPr>
              <a:t>Person</a:t>
            </a:r>
          </a:p>
        </p:txBody>
      </p:sp>
      <p:sp>
        <p:nvSpPr>
          <p:cNvPr id="13" name="TextBox 12"/>
          <p:cNvSpPr txBox="1"/>
          <p:nvPr/>
        </p:nvSpPr>
        <p:spPr>
          <a:xfrm>
            <a:off x="566928" y="2898648"/>
            <a:ext cx="2011680" cy="548640"/>
          </a:xfrm>
          <a:prstGeom prst="rect">
            <a:avLst/>
          </a:prstGeom>
          <a:noFill/>
        </p:spPr>
        <p:txBody>
          <a:bodyPr wrap="square" lIns="0" rIns="0" tIns="0" bIns="0" anchor="t">
            <a:spAutoFit/>
          </a:bodyPr>
          <a:lstStyle/>
          <a:p>
            <a:pPr algn="ctr">
              <a:spcAft>
                <a:spcPts val="400"/>
              </a:spcAft>
              <a:buNone/>
            </a:pPr>
            <a:r>
              <a:rPr sz="1150" b="0" i="0">
                <a:solidFill>
                  <a:srgbClr val="3D3C3C"/>
                </a:solidFill>
                <a:latin typeface="Open Sans"/>
              </a:rPr>
              <a:t>A named member of the proposed team</a:t>
            </a:r>
          </a:p>
        </p:txBody>
      </p:sp>
      <p:sp>
        <p:nvSpPr>
          <p:cNvPr id="14" name="Oval 13"/>
          <p:cNvSpPr/>
          <p:nvPr/>
        </p:nvSpPr>
        <p:spPr>
          <a:xfrm>
            <a:off x="3328416" y="1463040"/>
            <a:ext cx="1005840" cy="1005840"/>
          </a:xfrm>
          <a:prstGeom prst="ellipse">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2400" b="1" i="0">
                <a:solidFill>
                  <a:srgbClr val="FFFFFF"/>
                </a:solidFill>
                <a:latin typeface="Poppins"/>
              </a:rPr>
              <a:t>2</a:t>
            </a:r>
          </a:p>
        </p:txBody>
      </p:sp>
      <p:sp>
        <p:nvSpPr>
          <p:cNvPr id="15" name="Right Arrow 14"/>
          <p:cNvSpPr/>
          <p:nvPr/>
        </p:nvSpPr>
        <p:spPr>
          <a:xfrm>
            <a:off x="4517136" y="1828800"/>
            <a:ext cx="411480" cy="27432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 name="TextBox 15"/>
          <p:cNvSpPr txBox="1"/>
          <p:nvPr/>
        </p:nvSpPr>
        <p:spPr>
          <a:xfrm>
            <a:off x="2825496" y="2578608"/>
            <a:ext cx="2011680" cy="320040"/>
          </a:xfrm>
          <a:prstGeom prst="rect">
            <a:avLst/>
          </a:prstGeom>
          <a:noFill/>
        </p:spPr>
        <p:txBody>
          <a:bodyPr wrap="square" lIns="0" rIns="0" tIns="0" bIns="0" anchor="t">
            <a:spAutoFit/>
          </a:bodyPr>
          <a:lstStyle/>
          <a:p>
            <a:pPr algn="ctr">
              <a:spcAft>
                <a:spcPts val="0"/>
              </a:spcAft>
              <a:buNone/>
            </a:pPr>
            <a:r>
              <a:rPr sz="1300" b="1" i="0">
                <a:solidFill>
                  <a:srgbClr val="EE2B7A"/>
                </a:solidFill>
                <a:latin typeface="Poppins"/>
              </a:rPr>
              <a:t>Project</a:t>
            </a:r>
          </a:p>
        </p:txBody>
      </p:sp>
      <p:sp>
        <p:nvSpPr>
          <p:cNvPr id="17" name="TextBox 16"/>
          <p:cNvSpPr txBox="1"/>
          <p:nvPr/>
        </p:nvSpPr>
        <p:spPr>
          <a:xfrm>
            <a:off x="2825496" y="2898648"/>
            <a:ext cx="2011680" cy="548640"/>
          </a:xfrm>
          <a:prstGeom prst="rect">
            <a:avLst/>
          </a:prstGeom>
          <a:noFill/>
        </p:spPr>
        <p:txBody>
          <a:bodyPr wrap="square" lIns="0" rIns="0" tIns="0" bIns="0" anchor="t">
            <a:spAutoFit/>
          </a:bodyPr>
          <a:lstStyle/>
          <a:p>
            <a:pPr algn="ctr">
              <a:spcAft>
                <a:spcPts val="400"/>
              </a:spcAft>
              <a:buNone/>
            </a:pPr>
            <a:r>
              <a:rPr sz="1150" b="0" i="0">
                <a:solidFill>
                  <a:srgbClr val="3D3C3C"/>
                </a:solidFill>
                <a:latin typeface="Open Sans"/>
              </a:rPr>
              <a:t>Where they have delivered before</a:t>
            </a:r>
          </a:p>
        </p:txBody>
      </p:sp>
      <p:sp>
        <p:nvSpPr>
          <p:cNvPr id="18" name="Oval 17"/>
          <p:cNvSpPr/>
          <p:nvPr/>
        </p:nvSpPr>
        <p:spPr>
          <a:xfrm>
            <a:off x="5586984" y="1463040"/>
            <a:ext cx="1005840" cy="1005840"/>
          </a:xfrm>
          <a:prstGeom prst="ellipse">
            <a:avLst/>
          </a:prstGeom>
          <a:solidFill>
            <a:srgbClr val="2E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2400" b="1" i="0">
                <a:solidFill>
                  <a:srgbClr val="FFFFFF"/>
                </a:solidFill>
                <a:latin typeface="Poppins"/>
              </a:rPr>
              <a:t>3</a:t>
            </a:r>
          </a:p>
        </p:txBody>
      </p:sp>
      <p:sp>
        <p:nvSpPr>
          <p:cNvPr id="19" name="Right Arrow 18"/>
          <p:cNvSpPr/>
          <p:nvPr/>
        </p:nvSpPr>
        <p:spPr>
          <a:xfrm>
            <a:off x="6775704" y="1828800"/>
            <a:ext cx="411480" cy="27432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0" name="TextBox 19"/>
          <p:cNvSpPr txBox="1"/>
          <p:nvPr/>
        </p:nvSpPr>
        <p:spPr>
          <a:xfrm>
            <a:off x="5084064" y="2578608"/>
            <a:ext cx="2011680" cy="320040"/>
          </a:xfrm>
          <a:prstGeom prst="rect">
            <a:avLst/>
          </a:prstGeom>
          <a:noFill/>
        </p:spPr>
        <p:txBody>
          <a:bodyPr wrap="square" lIns="0" rIns="0" tIns="0" bIns="0" anchor="t">
            <a:spAutoFit/>
          </a:bodyPr>
          <a:lstStyle/>
          <a:p>
            <a:pPr algn="ctr">
              <a:spcAft>
                <a:spcPts val="0"/>
              </a:spcAft>
              <a:buNone/>
            </a:pPr>
            <a:r>
              <a:rPr sz="1300" b="1" i="0">
                <a:solidFill>
                  <a:srgbClr val="2EB88A"/>
                </a:solidFill>
                <a:latin typeface="Poppins"/>
              </a:rPr>
              <a:t>Lesson</a:t>
            </a:r>
          </a:p>
        </p:txBody>
      </p:sp>
      <p:sp>
        <p:nvSpPr>
          <p:cNvPr id="21" name="TextBox 20"/>
          <p:cNvSpPr txBox="1"/>
          <p:nvPr/>
        </p:nvSpPr>
        <p:spPr>
          <a:xfrm>
            <a:off x="5084064" y="2898648"/>
            <a:ext cx="2011680" cy="548640"/>
          </a:xfrm>
          <a:prstGeom prst="rect">
            <a:avLst/>
          </a:prstGeom>
          <a:noFill/>
        </p:spPr>
        <p:txBody>
          <a:bodyPr wrap="square" lIns="0" rIns="0" tIns="0" bIns="0" anchor="t">
            <a:spAutoFit/>
          </a:bodyPr>
          <a:lstStyle/>
          <a:p>
            <a:pPr algn="ctr">
              <a:spcAft>
                <a:spcPts val="400"/>
              </a:spcAft>
              <a:buNone/>
            </a:pPr>
            <a:r>
              <a:rPr sz="1150" b="0" i="0">
                <a:solidFill>
                  <a:srgbClr val="3D3C3C"/>
                </a:solidFill>
                <a:latin typeface="Open Sans"/>
              </a:rPr>
              <a:t>What they learned that applies here</a:t>
            </a:r>
          </a:p>
        </p:txBody>
      </p:sp>
      <p:sp>
        <p:nvSpPr>
          <p:cNvPr id="22" name="Oval 21"/>
          <p:cNvSpPr/>
          <p:nvPr/>
        </p:nvSpPr>
        <p:spPr>
          <a:xfrm>
            <a:off x="7845552" y="1463040"/>
            <a:ext cx="1005840" cy="1005840"/>
          </a:xfrm>
          <a:prstGeom prst="ellipse">
            <a:avLst/>
          </a:prstGeom>
          <a:solidFill>
            <a:srgbClr val="F480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2400" b="1" i="0">
                <a:solidFill>
                  <a:srgbClr val="FFFFFF"/>
                </a:solidFill>
                <a:latin typeface="Poppins"/>
              </a:rPr>
              <a:t>4</a:t>
            </a:r>
          </a:p>
        </p:txBody>
      </p:sp>
      <p:sp>
        <p:nvSpPr>
          <p:cNvPr id="23" name="Right Arrow 22"/>
          <p:cNvSpPr/>
          <p:nvPr/>
        </p:nvSpPr>
        <p:spPr>
          <a:xfrm>
            <a:off x="9034272" y="1828800"/>
            <a:ext cx="411480" cy="274320"/>
          </a:xfrm>
          <a:prstGeom prst="rightArrow">
            <a:avLst/>
          </a:prstGeom>
          <a:solidFill>
            <a:srgbClr val="BFB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4" name="TextBox 23"/>
          <p:cNvSpPr txBox="1"/>
          <p:nvPr/>
        </p:nvSpPr>
        <p:spPr>
          <a:xfrm>
            <a:off x="7342631" y="2578608"/>
            <a:ext cx="2011680" cy="320040"/>
          </a:xfrm>
          <a:prstGeom prst="rect">
            <a:avLst/>
          </a:prstGeom>
          <a:noFill/>
        </p:spPr>
        <p:txBody>
          <a:bodyPr wrap="square" lIns="0" rIns="0" tIns="0" bIns="0" anchor="t">
            <a:spAutoFit/>
          </a:bodyPr>
          <a:lstStyle/>
          <a:p>
            <a:pPr algn="ctr">
              <a:spcAft>
                <a:spcPts val="0"/>
              </a:spcAft>
              <a:buNone/>
            </a:pPr>
            <a:r>
              <a:rPr sz="1300" b="1" i="0">
                <a:solidFill>
                  <a:srgbClr val="F48047"/>
                </a:solidFill>
                <a:latin typeface="Poppins"/>
              </a:rPr>
              <a:t>Client outcome</a:t>
            </a:r>
          </a:p>
        </p:txBody>
      </p:sp>
      <p:sp>
        <p:nvSpPr>
          <p:cNvPr id="25" name="TextBox 24"/>
          <p:cNvSpPr txBox="1"/>
          <p:nvPr/>
        </p:nvSpPr>
        <p:spPr>
          <a:xfrm>
            <a:off x="7342631" y="2898648"/>
            <a:ext cx="2011680" cy="548640"/>
          </a:xfrm>
          <a:prstGeom prst="rect">
            <a:avLst/>
          </a:prstGeom>
          <a:noFill/>
        </p:spPr>
        <p:txBody>
          <a:bodyPr wrap="square" lIns="0" rIns="0" tIns="0" bIns="0" anchor="t">
            <a:spAutoFit/>
          </a:bodyPr>
          <a:lstStyle/>
          <a:p>
            <a:pPr algn="ctr">
              <a:spcAft>
                <a:spcPts val="400"/>
              </a:spcAft>
              <a:buNone/>
            </a:pPr>
            <a:r>
              <a:rPr sz="1150" b="0" i="0">
                <a:solidFill>
                  <a:srgbClr val="3D3C3C"/>
                </a:solidFill>
                <a:latin typeface="Open Sans"/>
              </a:rPr>
              <a:t>How it solves the client's challenge</a:t>
            </a:r>
          </a:p>
        </p:txBody>
      </p:sp>
      <p:sp>
        <p:nvSpPr>
          <p:cNvPr id="26" name="Oval 25"/>
          <p:cNvSpPr/>
          <p:nvPr/>
        </p:nvSpPr>
        <p:spPr>
          <a:xfrm>
            <a:off x="10104120" y="1463040"/>
            <a:ext cx="1005840" cy="1005840"/>
          </a:xfrm>
          <a:prstGeom prst="ellipse">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2400" b="1" i="0">
                <a:solidFill>
                  <a:srgbClr val="FFFFFF"/>
                </a:solidFill>
                <a:latin typeface="Poppins"/>
              </a:rPr>
              <a:t>5</a:t>
            </a:r>
          </a:p>
        </p:txBody>
      </p:sp>
      <p:sp>
        <p:nvSpPr>
          <p:cNvPr id="27" name="TextBox 26"/>
          <p:cNvSpPr txBox="1"/>
          <p:nvPr/>
        </p:nvSpPr>
        <p:spPr>
          <a:xfrm>
            <a:off x="9601200" y="2578608"/>
            <a:ext cx="2011680" cy="320040"/>
          </a:xfrm>
          <a:prstGeom prst="rect">
            <a:avLst/>
          </a:prstGeom>
          <a:noFill/>
        </p:spPr>
        <p:txBody>
          <a:bodyPr wrap="square" lIns="0" rIns="0" tIns="0" bIns="0" anchor="t">
            <a:spAutoFit/>
          </a:bodyPr>
          <a:lstStyle/>
          <a:p>
            <a:pPr algn="ctr">
              <a:spcAft>
                <a:spcPts val="0"/>
              </a:spcAft>
              <a:buNone/>
            </a:pPr>
            <a:r>
              <a:rPr sz="1300" b="1" i="0">
                <a:solidFill>
                  <a:srgbClr val="44546A"/>
                </a:solidFill>
                <a:latin typeface="Poppins"/>
              </a:rPr>
              <a:t>Win theme</a:t>
            </a:r>
          </a:p>
        </p:txBody>
      </p:sp>
      <p:sp>
        <p:nvSpPr>
          <p:cNvPr id="28" name="TextBox 27"/>
          <p:cNvSpPr txBox="1"/>
          <p:nvPr/>
        </p:nvSpPr>
        <p:spPr>
          <a:xfrm>
            <a:off x="9601200" y="2898648"/>
            <a:ext cx="2011680" cy="548640"/>
          </a:xfrm>
          <a:prstGeom prst="rect">
            <a:avLst/>
          </a:prstGeom>
          <a:noFill/>
        </p:spPr>
        <p:txBody>
          <a:bodyPr wrap="square" lIns="0" rIns="0" tIns="0" bIns="0" anchor="t">
            <a:spAutoFit/>
          </a:bodyPr>
          <a:lstStyle/>
          <a:p>
            <a:pPr algn="ctr">
              <a:spcAft>
                <a:spcPts val="400"/>
              </a:spcAft>
              <a:buNone/>
            </a:pPr>
            <a:r>
              <a:rPr sz="1150" b="0" i="0">
                <a:solidFill>
                  <a:srgbClr val="3D3C3C"/>
                </a:solidFill>
                <a:latin typeface="Open Sans"/>
              </a:rPr>
              <a:t>The message it reinforces</a:t>
            </a:r>
          </a:p>
        </p:txBody>
      </p:sp>
      <p:sp>
        <p:nvSpPr>
          <p:cNvPr id="29" name="Rounded Rectangle 28"/>
          <p:cNvSpPr/>
          <p:nvPr/>
        </p:nvSpPr>
        <p:spPr>
          <a:xfrm>
            <a:off x="566928" y="3703320"/>
            <a:ext cx="3611880" cy="2121408"/>
          </a:xfrm>
          <a:prstGeom prst="roundRect">
            <a:avLst>
              <a:gd name="adj" fmla="val 6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spcAft>
                <a:spcPts val="600"/>
              </a:spcAft>
              <a:buNone/>
            </a:pPr>
            <a:r>
              <a:rPr sz="1250" b="1" i="0">
                <a:solidFill>
                  <a:srgbClr val="3D3C3C"/>
                </a:solidFill>
                <a:latin typeface="Poppins"/>
              </a:rPr>
              <a:t>A real team, not a showcase</a:t>
            </a:r>
          </a:p>
          <a:p>
            <a:pPr algn="l">
              <a:spcAft>
                <a:spcPts val="400"/>
              </a:spcAft>
              <a:buNone/>
            </a:pPr>
            <a:r>
              <a:rPr sz="1200" b="0" i="0">
                <a:solidFill>
                  <a:srgbClr val="3D3C3C"/>
                </a:solidFill>
                <a:latin typeface="Open Sans"/>
              </a:rPr>
              <a:t>Clients notice when proposed teams change after selection. We will help Webuild propose the team it will actually resource, aiming for 75-80% of named people to be on the project, with a clear plan if changes occur.</a:t>
            </a:r>
          </a:p>
        </p:txBody>
      </p:sp>
      <p:sp>
        <p:nvSpPr>
          <p:cNvPr id="30" name="Rounded Rectangle 29"/>
          <p:cNvSpPr/>
          <p:nvPr/>
        </p:nvSpPr>
        <p:spPr>
          <a:xfrm>
            <a:off x="4361688" y="3703320"/>
            <a:ext cx="3611880" cy="2121408"/>
          </a:xfrm>
          <a:prstGeom prst="roundRect">
            <a:avLst>
              <a:gd name="adj" fmla="val 6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01168" rIns="201168" tIns="120700" bIns="120700"/>
          <a:lstStyle/>
          <a:p>
            <a:pPr algn="l">
              <a:spcAft>
                <a:spcPts val="600"/>
              </a:spcAft>
              <a:buNone/>
            </a:pPr>
            <a:r>
              <a:rPr sz="1250" b="1" i="0">
                <a:solidFill>
                  <a:srgbClr val="3D3C3C"/>
                </a:solidFill>
                <a:latin typeface="Poppins"/>
              </a:rPr>
              <a:t>CVs tailored to Stage 4, by the people who own them</a:t>
            </a:r>
          </a:p>
          <a:p>
            <a:pPr algn="l">
              <a:spcAft>
                <a:spcPts val="400"/>
              </a:spcAft>
              <a:buNone/>
            </a:pPr>
            <a:r>
              <a:rPr sz="1200" b="0" i="0">
                <a:solidFill>
                  <a:srgbClr val="3D3C3C"/>
                </a:solidFill>
                <a:latin typeface="Open Sans"/>
              </a:rPr>
              <a:t>Rather than reusing the same CVs bid after bid, each team member draws out the experience most relevant to light rail, cost certainty and collaboration. Your writers then refine, not reinvent.</a:t>
            </a:r>
          </a:p>
        </p:txBody>
      </p:sp>
      <p:sp>
        <p:nvSpPr>
          <p:cNvPr id="31" name="Rounded Rectangle 30"/>
          <p:cNvSpPr/>
          <p:nvPr/>
        </p:nvSpPr>
        <p:spPr>
          <a:xfrm>
            <a:off x="8156448" y="3703320"/>
            <a:ext cx="3474720" cy="2121408"/>
          </a:xfrm>
          <a:prstGeom prst="roundRect">
            <a:avLst>
              <a:gd name="adj" fmla="val 6000"/>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56032" rIns="256032" tIns="153619" bIns="153619"/>
          <a:lstStyle/>
          <a:p>
            <a:pPr algn="l">
              <a:spcAft>
                <a:spcPts val="600"/>
              </a:spcAft>
              <a:buNone/>
            </a:pPr>
            <a:r>
              <a:rPr sz="1250" b="1" i="0">
                <a:solidFill>
                  <a:srgbClr val="FFFFFF"/>
                </a:solidFill>
                <a:latin typeface="Poppins"/>
              </a:rPr>
              <a:t>The goal</a:t>
            </a:r>
          </a:p>
          <a:p>
            <a:pPr algn="l">
              <a:spcAft>
                <a:spcPts val="400"/>
              </a:spcAft>
              <a:buNone/>
            </a:pPr>
            <a:r>
              <a:rPr sz="1300" b="0" i="1">
                <a:solidFill>
                  <a:srgbClr val="FFFFFF"/>
                </a:solidFill>
                <a:latin typeface="Poppins"/>
              </a:rPr>
              <a:t>"They haven't built light rail yet, but this team clearly understands our problems and can solve them."</a:t>
            </a:r>
          </a:p>
        </p:txBody>
      </p:sp>
    </p:spTree>
    <p:extLst>
      <p:ext uri="{BB962C8B-B14F-4D97-AF65-F5344CB8AC3E}">
        <p14:creationId xmlns:p14="http://schemas.microsoft.com/office/powerpoint/2010/main" val="3726619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We have used this approach to help a consortium earn its place in the High Speed Rail ECI phase</a:t>
            </a:r>
          </a:p>
        </p:txBody>
      </p:sp>
      <p:pic>
        <p:nvPicPr>
          <p:cNvPr id="10" name="Picture 9" descr="gofar_miro.png"/>
          <p:cNvPicPr>
            <a:picLocks noChangeAspect="1"/>
          </p:cNvPicPr>
          <p:nvPr/>
        </p:nvPicPr>
        <p:blipFill>
          <a:blip r:embed="rId2"/>
          <a:stretch>
            <a:fillRect/>
          </a:stretch>
        </p:blipFill>
        <p:spPr>
          <a:xfrm>
            <a:off x="566928" y="1481328"/>
            <a:ext cx="6035040" cy="3332589"/>
          </a:xfrm>
          <a:prstGeom prst="rect">
            <a:avLst/>
          </a:prstGeom>
        </p:spPr>
      </p:pic>
      <p:sp>
        <p:nvSpPr>
          <p:cNvPr id="11" name="TextBox 10"/>
          <p:cNvSpPr txBox="1"/>
          <p:nvPr/>
        </p:nvSpPr>
        <p:spPr>
          <a:xfrm>
            <a:off x="566928" y="4901184"/>
            <a:ext cx="6035040" cy="457200"/>
          </a:xfrm>
          <a:prstGeom prst="rect">
            <a:avLst/>
          </a:prstGeom>
          <a:noFill/>
        </p:spPr>
        <p:txBody>
          <a:bodyPr wrap="square" lIns="0" rIns="0" tIns="0" bIns="0" anchor="t">
            <a:spAutoFit/>
          </a:bodyPr>
          <a:lstStyle/>
          <a:p>
            <a:pPr>
              <a:spcAft>
                <a:spcPts val="400"/>
              </a:spcAft>
              <a:buNone/>
            </a:pPr>
            <a:r>
              <a:rPr sz="1000" b="0" i="1">
                <a:solidFill>
                  <a:srgbClr val="6B6B6B"/>
                </a:solidFill>
                <a:latin typeface="Open Sans"/>
              </a:rPr>
              <a:t>The GoFar EOI panel storyboard, built in person with the core team on Miro</a:t>
            </a:r>
          </a:p>
        </p:txBody>
      </p:sp>
      <p:sp>
        <p:nvSpPr>
          <p:cNvPr id="12" name="TextBox 11"/>
          <p:cNvSpPr txBox="1"/>
          <p:nvPr/>
        </p:nvSpPr>
        <p:spPr>
          <a:xfrm>
            <a:off x="6903720" y="1463040"/>
            <a:ext cx="4754880" cy="3291840"/>
          </a:xfrm>
          <a:prstGeom prst="rect">
            <a:avLst/>
          </a:prstGeom>
          <a:noFill/>
        </p:spPr>
        <p:txBody>
          <a:bodyPr wrap="square" lIns="0" rIns="0" tIns="0" bIns="0" anchor="t">
            <a:spAutoFit/>
          </a:bodyPr>
          <a:lstStyle/>
          <a:p>
            <a:pPr>
              <a:spcAft>
                <a:spcPts val="200"/>
              </a:spcAft>
              <a:buNone/>
            </a:pPr>
            <a:r>
              <a:rPr sz="1200" b="1" i="0">
                <a:solidFill>
                  <a:srgbClr val="F48047"/>
                </a:solidFill>
                <a:latin typeface="Poppins"/>
              </a:rPr>
              <a:t>THE BRIEF</a:t>
            </a:r>
          </a:p>
          <a:p>
            <a:pPr>
              <a:spcAft>
                <a:spcPts val="1000"/>
              </a:spcAft>
              <a:buNone/>
            </a:pPr>
            <a:r>
              <a:rPr sz="1150" b="0" i="0">
                <a:solidFill>
                  <a:srgbClr val="3D3C3C"/>
                </a:solidFill>
                <a:latin typeface="Open Sans"/>
              </a:rPr>
              <a:t>As part of its EOI for Australia's High Speed Rail project, the GoFar consortium faced a panel discussion built around five key questions from the client.</a:t>
            </a:r>
          </a:p>
          <a:p>
            <a:pPr>
              <a:spcAft>
                <a:spcPts val="200"/>
              </a:spcAft>
              <a:buNone/>
            </a:pPr>
            <a:r>
              <a:rPr sz="1200" b="1" i="0">
                <a:solidFill>
                  <a:srgbClr val="F48047"/>
                </a:solidFill>
                <a:latin typeface="Poppins"/>
              </a:rPr>
              <a:t>WHAT WE DID</a:t>
            </a:r>
          </a:p>
          <a:p>
            <a:pPr marL="155448" indent="-155448">
              <a:spcAft>
                <a:spcPts val="300"/>
              </a:spcAft>
              <a:buClr>
                <a:srgbClr val="F48047"/>
              </a:buClr>
              <a:buFont typeface="Arial"/>
              <a:buChar char="•"/>
            </a:pPr>
            <a:r>
              <a:rPr sz="1150" b="0" i="0">
                <a:solidFill>
                  <a:srgbClr val="3D3C3C"/>
                </a:solidFill>
                <a:latin typeface="Open Sans"/>
              </a:rPr>
              <a:t>Ran an in-person session with the core team, working live in Miro</a:t>
            </a:r>
          </a:p>
          <a:p>
            <a:pPr marL="155448" indent="-155448">
              <a:spcAft>
                <a:spcPts val="300"/>
              </a:spcAft>
              <a:buClr>
                <a:srgbClr val="F48047"/>
              </a:buClr>
              <a:buFont typeface="Arial"/>
              <a:buChar char="•"/>
            </a:pPr>
            <a:r>
              <a:rPr sz="1150" b="0" i="0">
                <a:solidFill>
                  <a:srgbClr val="3D3C3C"/>
                </a:solidFill>
                <a:latin typeface="Open Sans"/>
              </a:rPr>
              <a:t>Opened with introductions focused on the value each person brings</a:t>
            </a:r>
          </a:p>
          <a:p>
            <a:pPr marL="155448" indent="-155448">
              <a:spcAft>
                <a:spcPts val="300"/>
              </a:spcAft>
              <a:buClr>
                <a:srgbClr val="F48047"/>
              </a:buClr>
              <a:buFont typeface="Arial"/>
              <a:buChar char="•"/>
            </a:pPr>
            <a:r>
              <a:rPr sz="1150" b="0" i="0">
                <a:solidFill>
                  <a:srgbClr val="3D3C3C"/>
                </a:solidFill>
                <a:latin typeface="Open Sans"/>
              </a:rPr>
              <a:t>Mapped GoFar's identity: one team, personally invested, with values aligned to the client</a:t>
            </a:r>
          </a:p>
          <a:p>
            <a:pPr marL="155448" indent="-155448">
              <a:spcAft>
                <a:spcPts val="300"/>
              </a:spcAft>
              <a:buClr>
                <a:srgbClr val="F48047"/>
              </a:buClr>
              <a:buFont typeface="Arial"/>
              <a:buChar char="•"/>
            </a:pPr>
            <a:r>
              <a:rPr sz="1150" b="0" i="0">
                <a:solidFill>
                  <a:srgbClr val="3D3C3C"/>
                </a:solidFill>
                <a:latin typeface="Open Sans"/>
              </a:rPr>
              <a:t>Mapped the client's needs and priorities, in the client's own language</a:t>
            </a:r>
          </a:p>
          <a:p>
            <a:pPr marL="155448" indent="-155448">
              <a:spcAft>
                <a:spcPts val="300"/>
              </a:spcAft>
              <a:buClr>
                <a:srgbClr val="F48047"/>
              </a:buClr>
              <a:buFont typeface="Arial"/>
              <a:buChar char="•"/>
            </a:pPr>
            <a:r>
              <a:rPr sz="1150" b="0" i="0">
                <a:solidFill>
                  <a:srgbClr val="3D3C3C"/>
                </a:solidFill>
                <a:latin typeface="Open Sans"/>
              </a:rPr>
              <a:t>Storyboarded each of the five questions: themes, key points and evidence, refined with the team</a:t>
            </a:r>
          </a:p>
        </p:txBody>
      </p:sp>
      <p:sp>
        <p:nvSpPr>
          <p:cNvPr id="13" name="Rounded Rectangle 12"/>
          <p:cNvSpPr/>
          <p:nvPr/>
        </p:nvSpPr>
        <p:spPr>
          <a:xfrm>
            <a:off x="6903720" y="4846320"/>
            <a:ext cx="4727448" cy="987552"/>
          </a:xfrm>
          <a:prstGeom prst="roundRect">
            <a:avLst>
              <a:gd name="adj" fmla="val 12000"/>
            </a:avLst>
          </a:prstGeom>
          <a:solidFill>
            <a:srgbClr val="2EB8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01168" rIns="201168" tIns="120700" bIns="120700"/>
          <a:lstStyle/>
          <a:p>
            <a:pPr algn="l">
              <a:spcAft>
                <a:spcPts val="200"/>
              </a:spcAft>
              <a:buNone/>
            </a:pPr>
            <a:r>
              <a:rPr sz="1200" b="1" i="0">
                <a:solidFill>
                  <a:srgbClr val="FFFFFF"/>
                </a:solidFill>
                <a:latin typeface="Poppins"/>
              </a:rPr>
              <a:t>The result</a:t>
            </a:r>
          </a:p>
          <a:p>
            <a:pPr algn="l">
              <a:spcAft>
                <a:spcPts val="0"/>
              </a:spcAft>
              <a:buNone/>
            </a:pPr>
            <a:r>
              <a:rPr sz="1200" b="0" i="0">
                <a:solidFill>
                  <a:srgbClr val="FFFFFF"/>
                </a:solidFill>
                <a:latin typeface="Open Sans"/>
              </a:rPr>
              <a:t>GoFar was shortlisted into the ECI phase. Workshop 2 for Webuild follows the same proven structure.</a:t>
            </a:r>
          </a:p>
        </p:txBody>
      </p:sp>
    </p:spTree>
    <p:extLst>
      <p:ext uri="{BB962C8B-B14F-4D97-AF65-F5344CB8AC3E}">
        <p14:creationId xmlns:p14="http://schemas.microsoft.com/office/powerpoint/2010/main" val="3726619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Two checkpoints to make sure the story holds through to submission</a:t>
            </a:r>
          </a:p>
        </p:txBody>
      </p:sp>
      <p:sp>
        <p:nvSpPr>
          <p:cNvPr id="10" name="TextBox 9"/>
          <p:cNvSpPr txBox="1"/>
          <p:nvPr/>
        </p:nvSpPr>
        <p:spPr>
          <a:xfrm>
            <a:off x="566928" y="1261872"/>
            <a:ext cx="10972800" cy="365760"/>
          </a:xfrm>
          <a:prstGeom prst="rect">
            <a:avLst/>
          </a:prstGeom>
          <a:noFill/>
        </p:spPr>
        <p:txBody>
          <a:bodyPr wrap="square" lIns="0" rIns="0" tIns="0" bIns="0" anchor="t">
            <a:spAutoFit/>
          </a:bodyPr>
          <a:lstStyle/>
          <a:p>
            <a:pPr>
              <a:spcAft>
                <a:spcPts val="400"/>
              </a:spcAft>
              <a:buNone/>
            </a:pPr>
            <a:r>
              <a:rPr sz="1300" b="0" i="0">
                <a:solidFill>
                  <a:srgbClr val="6B6B6B"/>
                </a:solidFill>
                <a:latin typeface="Open Sans"/>
              </a:rPr>
              <a:t>We step back in at the moments that matter most, so drafts stay on course without slowing your writers down.</a:t>
            </a:r>
          </a:p>
        </p:txBody>
      </p:sp>
      <p:sp>
        <p:nvSpPr>
          <p:cNvPr id="11" name="Rounded Rectangle 10"/>
          <p:cNvSpPr/>
          <p:nvPr/>
        </p:nvSpPr>
        <p:spPr>
          <a:xfrm>
            <a:off x="566928" y="1828800"/>
            <a:ext cx="5394960" cy="3977639"/>
          </a:xfrm>
          <a:prstGeom prst="roundRect">
            <a:avLst>
              <a:gd name="adj" fmla="val 4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2" name="Rounded Rectangle 11"/>
          <p:cNvSpPr/>
          <p:nvPr/>
        </p:nvSpPr>
        <p:spPr>
          <a:xfrm>
            <a:off x="795528" y="2029968"/>
            <a:ext cx="1737360" cy="384048"/>
          </a:xfrm>
          <a:prstGeom prst="roundRect">
            <a:avLst>
              <a:gd name="adj" fmla="val 50000"/>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100" b="1" i="0">
                <a:solidFill>
                  <a:srgbClr val="FFFFFF"/>
                </a:solidFill>
                <a:latin typeface="Poppins"/>
              </a:rPr>
              <a:t>WEEK 4</a:t>
            </a:r>
          </a:p>
        </p:txBody>
      </p:sp>
      <p:sp>
        <p:nvSpPr>
          <p:cNvPr id="13" name="TextBox 12"/>
          <p:cNvSpPr txBox="1"/>
          <p:nvPr/>
        </p:nvSpPr>
        <p:spPr>
          <a:xfrm>
            <a:off x="2715768" y="2029968"/>
            <a:ext cx="3017520" cy="384048"/>
          </a:xfrm>
          <a:prstGeom prst="rect">
            <a:avLst/>
          </a:prstGeom>
          <a:noFill/>
        </p:spPr>
        <p:txBody>
          <a:bodyPr wrap="square" lIns="0" rIns="0" tIns="0" bIns="0" anchor="ctr">
            <a:spAutoFit/>
          </a:bodyPr>
          <a:lstStyle/>
          <a:p>
            <a:pPr algn="r">
              <a:spcAft>
                <a:spcPts val="0"/>
              </a:spcAft>
              <a:buNone/>
            </a:pPr>
            <a:r>
              <a:rPr sz="1100" b="0" i="0">
                <a:solidFill>
                  <a:srgbClr val="6B6B6B"/>
                </a:solidFill>
                <a:latin typeface="Open Sans"/>
              </a:rPr>
              <a:t>1 to 2 hours</a:t>
            </a:r>
          </a:p>
        </p:txBody>
      </p:sp>
      <p:sp>
        <p:nvSpPr>
          <p:cNvPr id="14" name="TextBox 13"/>
          <p:cNvSpPr txBox="1"/>
          <p:nvPr/>
        </p:nvSpPr>
        <p:spPr>
          <a:xfrm>
            <a:off x="795528" y="2560320"/>
            <a:ext cx="4937760" cy="3200400"/>
          </a:xfrm>
          <a:prstGeom prst="rect">
            <a:avLst/>
          </a:prstGeom>
          <a:noFill/>
        </p:spPr>
        <p:txBody>
          <a:bodyPr wrap="square" lIns="0" rIns="0" tIns="0" bIns="0" anchor="t">
            <a:spAutoFit/>
          </a:bodyPr>
          <a:lstStyle/>
          <a:p>
            <a:pPr>
              <a:spcAft>
                <a:spcPts val="400"/>
              </a:spcAft>
              <a:buNone/>
            </a:pPr>
            <a:r>
              <a:rPr sz="1500" b="1" i="0">
                <a:solidFill>
                  <a:srgbClr val="0E98D7"/>
                </a:solidFill>
                <a:latin typeface="Poppins"/>
              </a:rPr>
              <a:t>Alignment check</a:t>
            </a:r>
          </a:p>
          <a:p>
            <a:pPr>
              <a:spcAft>
                <a:spcPts val="800"/>
              </a:spcAft>
              <a:buNone/>
            </a:pPr>
            <a:r>
              <a:rPr sz="1200" b="0" i="0">
                <a:solidFill>
                  <a:srgbClr val="3D3C3C"/>
                </a:solidFill>
                <a:latin typeface="Open Sans"/>
              </a:rPr>
              <a:t>A quick review of early draft responses against the agreed win themes and storyboards.</a:t>
            </a:r>
          </a:p>
          <a:p>
            <a:pPr>
              <a:spcAft>
                <a:spcPts val="300"/>
              </a:spcAft>
              <a:buNone/>
            </a:pPr>
            <a:r>
              <a:rPr sz="1200" b="1" i="0">
                <a:solidFill>
                  <a:srgbClr val="3D3C3C"/>
                </a:solidFill>
                <a:latin typeface="Open Sans"/>
              </a:rPr>
              <a:t>Questions we ask</a:t>
            </a:r>
          </a:p>
          <a:p>
            <a:pPr marL="155448" indent="-155448">
              <a:spcAft>
                <a:spcPts val="300"/>
              </a:spcAft>
              <a:buClr>
                <a:srgbClr val="0E98D7"/>
              </a:buClr>
              <a:buFont typeface="Arial"/>
              <a:buChar char="•"/>
            </a:pPr>
            <a:r>
              <a:rPr sz="1200" b="0" i="0">
                <a:solidFill>
                  <a:srgbClr val="3D3C3C"/>
                </a:solidFill>
                <a:latin typeface="Open Sans"/>
              </a:rPr>
              <a:t>Are we telling the story, or just answering the question?</a:t>
            </a:r>
          </a:p>
          <a:p>
            <a:pPr marL="155448" indent="-155448">
              <a:spcAft>
                <a:spcPts val="300"/>
              </a:spcAft>
              <a:buClr>
                <a:srgbClr val="0E98D7"/>
              </a:buClr>
              <a:buFont typeface="Arial"/>
              <a:buChar char="•"/>
            </a:pPr>
            <a:r>
              <a:rPr sz="1200" b="0" i="0">
                <a:solidFill>
                  <a:srgbClr val="3D3C3C"/>
                </a:solidFill>
                <a:latin typeface="Open Sans"/>
              </a:rPr>
              <a:t>Does every response link to the client's needs?</a:t>
            </a:r>
          </a:p>
          <a:p>
            <a:pPr marL="155448" indent="-155448">
              <a:spcAft>
                <a:spcPts val="300"/>
              </a:spcAft>
              <a:buClr>
                <a:srgbClr val="0E98D7"/>
              </a:buClr>
              <a:buFont typeface="Arial"/>
              <a:buChar char="•"/>
            </a:pPr>
            <a:r>
              <a:rPr sz="1200" b="0" i="0">
                <a:solidFill>
                  <a:srgbClr val="3D3C3C"/>
                </a:solidFill>
                <a:latin typeface="Open Sans"/>
              </a:rPr>
              <a:t>Are people, projects and evidence connected?</a:t>
            </a:r>
          </a:p>
          <a:p>
            <a:pPr>
              <a:spcBef>
                <a:spcPts val="600"/>
              </a:spcBef>
              <a:spcAft>
                <a:spcPts val="400"/>
              </a:spcAft>
              <a:buNone/>
            </a:pPr>
            <a:r>
              <a:rPr sz="1200" b="1" i="0">
                <a:solidFill>
                  <a:srgbClr val="3D3C3C"/>
                </a:solidFill>
                <a:latin typeface="Open Sans"/>
              </a:rPr>
              <a:t>Output: </a:t>
            </a:r>
            <a:r>
              <a:rPr sz="1200" b="0" i="0">
                <a:solidFill>
                  <a:srgbClr val="3D3C3C"/>
                </a:solidFill>
                <a:latin typeface="Open Sans"/>
              </a:rPr>
              <a:t>Clear, practical feedback to realign drafts early</a:t>
            </a:r>
          </a:p>
        </p:txBody>
      </p:sp>
      <p:sp>
        <p:nvSpPr>
          <p:cNvPr id="15" name="Rounded Rectangle 14"/>
          <p:cNvSpPr/>
          <p:nvPr/>
        </p:nvSpPr>
        <p:spPr>
          <a:xfrm>
            <a:off x="6190488" y="1828800"/>
            <a:ext cx="5394960" cy="3977639"/>
          </a:xfrm>
          <a:prstGeom prst="roundRect">
            <a:avLst>
              <a:gd name="adj" fmla="val 4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 name="Rounded Rectangle 15"/>
          <p:cNvSpPr/>
          <p:nvPr/>
        </p:nvSpPr>
        <p:spPr>
          <a:xfrm>
            <a:off x="6419088" y="2029968"/>
            <a:ext cx="1737360" cy="384048"/>
          </a:xfrm>
          <a:prstGeom prst="roundRect">
            <a:avLst>
              <a:gd name="adj" fmla="val 50000"/>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100" b="1" i="0">
                <a:solidFill>
                  <a:srgbClr val="FFFFFF"/>
                </a:solidFill>
                <a:latin typeface="Poppins"/>
              </a:rPr>
              <a:t>END OF WEEK 5</a:t>
            </a:r>
          </a:p>
        </p:txBody>
      </p:sp>
      <p:sp>
        <p:nvSpPr>
          <p:cNvPr id="17" name="TextBox 16"/>
          <p:cNvSpPr txBox="1"/>
          <p:nvPr/>
        </p:nvSpPr>
        <p:spPr>
          <a:xfrm>
            <a:off x="8339328" y="2029968"/>
            <a:ext cx="3017520" cy="384048"/>
          </a:xfrm>
          <a:prstGeom prst="rect">
            <a:avLst/>
          </a:prstGeom>
          <a:noFill/>
        </p:spPr>
        <p:txBody>
          <a:bodyPr wrap="square" lIns="0" rIns="0" tIns="0" bIns="0" anchor="ctr">
            <a:spAutoFit/>
          </a:bodyPr>
          <a:lstStyle/>
          <a:p>
            <a:pPr algn="r">
              <a:spcAft>
                <a:spcPts val="0"/>
              </a:spcAft>
              <a:buNone/>
            </a:pPr>
            <a:r>
              <a:rPr sz="1100" b="0" i="0">
                <a:solidFill>
                  <a:srgbClr val="6B6B6B"/>
                </a:solidFill>
                <a:latin typeface="Open Sans"/>
              </a:rPr>
              <a:t>Independent review</a:t>
            </a:r>
          </a:p>
        </p:txBody>
      </p:sp>
      <p:sp>
        <p:nvSpPr>
          <p:cNvPr id="18" name="TextBox 17"/>
          <p:cNvSpPr txBox="1"/>
          <p:nvPr/>
        </p:nvSpPr>
        <p:spPr>
          <a:xfrm>
            <a:off x="6419088" y="2560320"/>
            <a:ext cx="4937760" cy="3200400"/>
          </a:xfrm>
          <a:prstGeom prst="rect">
            <a:avLst/>
          </a:prstGeom>
          <a:noFill/>
        </p:spPr>
        <p:txBody>
          <a:bodyPr wrap="square" lIns="0" rIns="0" tIns="0" bIns="0" anchor="t">
            <a:spAutoFit/>
          </a:bodyPr>
          <a:lstStyle/>
          <a:p>
            <a:pPr>
              <a:spcAft>
                <a:spcPts val="400"/>
              </a:spcAft>
              <a:buNone/>
            </a:pPr>
            <a:r>
              <a:rPr sz="1500" b="1" i="0">
                <a:solidFill>
                  <a:srgbClr val="EE2B7A"/>
                </a:solidFill>
                <a:latin typeface="Poppins"/>
              </a:rPr>
              <a:t>Client lens review</a:t>
            </a:r>
          </a:p>
          <a:p>
            <a:pPr>
              <a:spcAft>
                <a:spcPts val="800"/>
              </a:spcAft>
              <a:buNone/>
            </a:pPr>
            <a:r>
              <a:rPr sz="1200" b="0" i="0">
                <a:solidFill>
                  <a:srgbClr val="3D3C3C"/>
                </a:solidFill>
                <a:latin typeface="Open Sans"/>
              </a:rPr>
              <a:t>A review of the draft final, read the way the client's evaluation panel would.</a:t>
            </a:r>
          </a:p>
          <a:p>
            <a:pPr>
              <a:spcAft>
                <a:spcPts val="300"/>
              </a:spcAft>
              <a:buNone/>
            </a:pPr>
            <a:r>
              <a:rPr sz="1200" b="1" i="0">
                <a:solidFill>
                  <a:srgbClr val="3D3C3C"/>
                </a:solidFill>
                <a:latin typeface="Open Sans"/>
              </a:rPr>
              <a:t>Questions we ask</a:t>
            </a:r>
          </a:p>
          <a:p>
            <a:pPr marL="155448" indent="-155448">
              <a:spcAft>
                <a:spcPts val="300"/>
              </a:spcAft>
              <a:buClr>
                <a:srgbClr val="EE2B7A"/>
              </a:buClr>
              <a:buFont typeface="Arial"/>
              <a:buChar char="•"/>
            </a:pPr>
            <a:r>
              <a:rPr sz="1200" b="0" i="0">
                <a:solidFill>
                  <a:srgbClr val="3D3C3C"/>
                </a:solidFill>
                <a:latin typeface="Open Sans"/>
              </a:rPr>
              <a:t>Does this solve the client's problem?</a:t>
            </a:r>
          </a:p>
          <a:p>
            <a:pPr marL="155448" indent="-155448">
              <a:spcAft>
                <a:spcPts val="300"/>
              </a:spcAft>
              <a:buClr>
                <a:srgbClr val="EE2B7A"/>
              </a:buClr>
              <a:buFont typeface="Arial"/>
              <a:buChar char="•"/>
            </a:pPr>
            <a:r>
              <a:rPr sz="1200" b="0" i="0">
                <a:solidFill>
                  <a:srgbClr val="3D3C3C"/>
                </a:solidFill>
                <a:latin typeface="Open Sans"/>
              </a:rPr>
              <a:t>Would we trust this team with our project?</a:t>
            </a:r>
          </a:p>
          <a:p>
            <a:pPr marL="155448" indent="-155448">
              <a:spcAft>
                <a:spcPts val="300"/>
              </a:spcAft>
              <a:buClr>
                <a:srgbClr val="EE2B7A"/>
              </a:buClr>
              <a:buFont typeface="Arial"/>
              <a:buChar char="•"/>
            </a:pPr>
            <a:r>
              <a:rPr sz="1200" b="0" i="0">
                <a:solidFill>
                  <a:srgbClr val="3D3C3C"/>
                </a:solidFill>
                <a:latin typeface="Open Sans"/>
              </a:rPr>
              <a:t>Is Webuild easy to picture working alongside?</a:t>
            </a:r>
          </a:p>
          <a:p>
            <a:pPr>
              <a:spcBef>
                <a:spcPts val="600"/>
              </a:spcBef>
              <a:spcAft>
                <a:spcPts val="400"/>
              </a:spcAft>
              <a:buNone/>
            </a:pPr>
            <a:r>
              <a:rPr sz="1200" b="1" i="0">
                <a:solidFill>
                  <a:srgbClr val="3D3C3C"/>
                </a:solidFill>
                <a:latin typeface="Open Sans"/>
              </a:rPr>
              <a:t>Output: </a:t>
            </a:r>
            <a:r>
              <a:rPr sz="1200" b="0" i="0">
                <a:solidFill>
                  <a:srgbClr val="3D3C3C"/>
                </a:solidFill>
                <a:latin typeface="Open Sans"/>
              </a:rPr>
              <a:t>Prioritised recommendations and a debrief, with time to act before Week 6</a:t>
            </a:r>
          </a:p>
        </p:txBody>
      </p:sp>
      <p:sp>
        <p:nvSpPr>
          <p:cNvPr id="19" name="TextBox 18"/>
          <p:cNvSpPr txBox="1"/>
          <p:nvPr/>
        </p:nvSpPr>
        <p:spPr>
          <a:xfrm>
            <a:off x="566928" y="5870448"/>
            <a:ext cx="10972800" cy="274320"/>
          </a:xfrm>
          <a:prstGeom prst="rect">
            <a:avLst/>
          </a:prstGeom>
          <a:noFill/>
        </p:spPr>
        <p:txBody>
          <a:bodyPr wrap="square" lIns="0" rIns="0" tIns="0" bIns="0" anchor="t">
            <a:spAutoFit/>
          </a:bodyPr>
          <a:lstStyle/>
          <a:p>
            <a:pPr>
              <a:spcAft>
                <a:spcPts val="400"/>
              </a:spcAft>
              <a:buNone/>
            </a:pPr>
            <a:r>
              <a:rPr sz="1050" b="0" i="1">
                <a:solidFill>
                  <a:srgbClr val="6B6B6B"/>
                </a:solidFill>
                <a:latin typeface="Open Sans"/>
              </a:rPr>
              <a:t>To make the most of the client lens review, we will need the draft final by the end of Week 5.</a:t>
            </a:r>
          </a:p>
        </p:txBody>
      </p:sp>
    </p:spTree>
    <p:extLst>
      <p:ext uri="{BB962C8B-B14F-4D97-AF65-F5344CB8AC3E}">
        <p14:creationId xmlns:p14="http://schemas.microsoft.com/office/powerpoint/2010/main" val="37266199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DC9117-02E6-F444-6106-706FE8A4DF09}"/>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CAE218C9-E114-C243-F6C0-87B4DCF880E7}"/>
              </a:ext>
            </a:extLst>
          </p:cNvPr>
          <p:cNvSpPr txBox="1">
            <a:spLocks/>
          </p:cNvSpPr>
          <p:nvPr/>
        </p:nvSpPr>
        <p:spPr>
          <a:xfrm>
            <a:off x="449254" y="505005"/>
            <a:ext cx="11226809" cy="719658"/>
          </a:xfrm>
          <a:prstGeom prst="rect">
            <a:avLst/>
          </a:prstGeom>
        </p:spPr>
        <p:txBody>
          <a:bodyPr anchor="ctr"/>
          <a:lstStyle>
            <a:lvl1pPr algn="l" defTabSz="914400" rtl="0" eaLnBrk="1" latinLnBrk="0" hangingPunct="1">
              <a:lnSpc>
                <a:spcPct val="90000"/>
              </a:lnSpc>
              <a:spcBef>
                <a:spcPct val="0"/>
              </a:spcBef>
              <a:buNone/>
              <a:defRPr sz="4000" kern="1200">
                <a:solidFill>
                  <a:schemeClr val="tx1"/>
                </a:solidFill>
                <a:latin typeface="+mj-lt"/>
                <a:ea typeface="+mj-ea"/>
                <a:cs typeface="+mj-cs"/>
              </a:defRPr>
            </a:lvl1pPr>
          </a:lstStyle>
          <a:p>
            <a:r>
              <a:rPr lang="en-AU" sz="2400">
                <a:latin typeface="Poppins" pitchFamily="2" charset="77"/>
                <a:cs typeface="Poppins" pitchFamily="2" charset="77"/>
              </a:rPr>
              <a:t>Indicative six-week timeline, aligned to the EOI response period</a:t>
            </a:r>
          </a:p>
        </p:txBody>
      </p:sp>
      <p:sp>
        <p:nvSpPr>
          <p:cNvPr id="153" name="Rounded Rectangle 152">
            <a:extLst>
              <a:ext uri="{FF2B5EF4-FFF2-40B4-BE49-F238E27FC236}">
                <a16:creationId xmlns:a16="http://schemas.microsoft.com/office/drawing/2014/main" id="{CC21C721-3DD4-3516-5261-09E0D7C55C30}"/>
              </a:ext>
            </a:extLst>
          </p:cNvPr>
          <p:cNvSpPr/>
          <p:nvPr/>
        </p:nvSpPr>
        <p:spPr>
          <a:xfrm>
            <a:off x="449251" y="5318165"/>
            <a:ext cx="7471068" cy="491613"/>
          </a:xfrm>
          <a:prstGeom prst="roundRect">
            <a:avLst>
              <a:gd name="adj" fmla="val 24667"/>
            </a:avLst>
          </a:prstGeom>
          <a:solidFill>
            <a:schemeClr val="bg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54" name="TextBox 153">
            <a:extLst>
              <a:ext uri="{FF2B5EF4-FFF2-40B4-BE49-F238E27FC236}">
                <a16:creationId xmlns:a16="http://schemas.microsoft.com/office/drawing/2014/main" id="{104FDE4A-09F9-9F2E-A9E4-1ECDAA9CEC8F}"/>
              </a:ext>
            </a:extLst>
          </p:cNvPr>
          <p:cNvSpPr txBox="1"/>
          <p:nvPr/>
        </p:nvSpPr>
        <p:spPr>
          <a:xfrm>
            <a:off x="538780" y="5221076"/>
            <a:ext cx="615860" cy="200055"/>
          </a:xfrm>
          <a:prstGeom prst="rect">
            <a:avLst/>
          </a:prstGeom>
          <a:solidFill>
            <a:schemeClr val="bg1"/>
          </a:solidFill>
        </p:spPr>
        <p:txBody>
          <a:bodyPr wrap="square">
            <a:spAutoFit/>
          </a:bodyPr>
          <a:lstStyle/>
          <a:p>
            <a:pPr>
              <a:spcAft>
                <a:spcPts val="600"/>
              </a:spcAft>
            </a:pPr>
            <a:r>
              <a:rPr lang="en-AU" sz="700" b="1" noProof="0">
                <a:latin typeface="Open Sans Extrabold" panose="020B0606030504020204" pitchFamily="34" charset="0"/>
                <a:ea typeface="Open Sans Extrabold" panose="020B0606030504020204" pitchFamily="34" charset="0"/>
                <a:cs typeface="Open Sans Extrabold" panose="020B0606030504020204" pitchFamily="34" charset="0"/>
              </a:rPr>
              <a:t>LEGEND</a:t>
            </a:r>
            <a:endParaRPr lang="en-AU" sz="700" noProof="0">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55" name="Triangle 154">
            <a:extLst>
              <a:ext uri="{FF2B5EF4-FFF2-40B4-BE49-F238E27FC236}">
                <a16:creationId xmlns:a16="http://schemas.microsoft.com/office/drawing/2014/main" id="{ED769CA0-BF68-25D4-0709-8E513E07542B}"/>
              </a:ext>
            </a:extLst>
          </p:cNvPr>
          <p:cNvSpPr>
            <a:spLocks noChangeAspect="1"/>
          </p:cNvSpPr>
          <p:nvPr/>
        </p:nvSpPr>
        <p:spPr>
          <a:xfrm>
            <a:off x="2956063" y="5496905"/>
            <a:ext cx="162000" cy="144000"/>
          </a:xfrm>
          <a:prstGeom prst="triangle">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1200" cap="none" spc="0" normalizeH="0" baseline="0" noProof="0">
              <a:ln>
                <a:noFill/>
              </a:ln>
              <a:solidFill>
                <a:prstClr val="white"/>
              </a:solidFill>
              <a:effectLst/>
              <a:uLnTx/>
              <a:uFillTx/>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56" name="Rectangle 155">
            <a:extLst>
              <a:ext uri="{FF2B5EF4-FFF2-40B4-BE49-F238E27FC236}">
                <a16:creationId xmlns:a16="http://schemas.microsoft.com/office/drawing/2014/main" id="{528CC0F0-5D22-C417-484F-74DF0966057B}"/>
              </a:ext>
            </a:extLst>
          </p:cNvPr>
          <p:cNvSpPr/>
          <p:nvPr/>
        </p:nvSpPr>
        <p:spPr>
          <a:xfrm>
            <a:off x="746733" y="5479049"/>
            <a:ext cx="324000" cy="179713"/>
          </a:xfrm>
          <a:prstGeom prst="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1200" cap="none" spc="0" normalizeH="0" baseline="0" noProof="0">
              <a:ln>
                <a:noFill/>
              </a:ln>
              <a:solidFill>
                <a:prstClr val="white"/>
              </a:solidFill>
              <a:effectLst/>
              <a:uLnTx/>
              <a:uFillTx/>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58" name="TextBox 157">
            <a:extLst>
              <a:ext uri="{FF2B5EF4-FFF2-40B4-BE49-F238E27FC236}">
                <a16:creationId xmlns:a16="http://schemas.microsoft.com/office/drawing/2014/main" id="{CC12BA02-1587-3E91-3A58-7807472DFCFD}"/>
              </a:ext>
            </a:extLst>
          </p:cNvPr>
          <p:cNvSpPr txBox="1"/>
          <p:nvPr/>
        </p:nvSpPr>
        <p:spPr>
          <a:xfrm>
            <a:off x="1001755" y="5468878"/>
            <a:ext cx="1898842" cy="200055"/>
          </a:xfrm>
          <a:prstGeom prst="rect">
            <a:avLst/>
          </a:prstGeom>
          <a:noFill/>
        </p:spPr>
        <p:txBody>
          <a:bodyPr wrap="square">
            <a:spAutoFit/>
          </a:bodyPr>
          <a:lstStyle/>
          <a:p>
            <a:pPr>
              <a:spcAft>
                <a:spcPts val="600"/>
              </a:spcAft>
            </a:pPr>
            <a:r>
              <a:rPr lang="en-AU" sz="700" noProof="0">
                <a:latin typeface="Open Sans Light" panose="020B0606030504020204" pitchFamily="34" charset="0"/>
                <a:ea typeface="Open Sans Light" panose="020B0606030504020204" pitchFamily="34" charset="0"/>
                <a:cs typeface="Open Sans Light" panose="020B0606030504020204" pitchFamily="34" charset="0"/>
              </a:rPr>
              <a:t>: Key activity</a:t>
            </a:r>
          </a:p>
        </p:txBody>
      </p:sp>
      <p:sp>
        <p:nvSpPr>
          <p:cNvPr id="159" name="TextBox 158">
            <a:extLst>
              <a:ext uri="{FF2B5EF4-FFF2-40B4-BE49-F238E27FC236}">
                <a16:creationId xmlns:a16="http://schemas.microsoft.com/office/drawing/2014/main" id="{C9F806FB-0D2B-1E0D-06DE-BF99F72F02EF}"/>
              </a:ext>
            </a:extLst>
          </p:cNvPr>
          <p:cNvSpPr txBox="1"/>
          <p:nvPr/>
        </p:nvSpPr>
        <p:spPr>
          <a:xfrm>
            <a:off x="3058940" y="5468878"/>
            <a:ext cx="2264806" cy="200055"/>
          </a:xfrm>
          <a:prstGeom prst="rect">
            <a:avLst/>
          </a:prstGeom>
          <a:noFill/>
        </p:spPr>
        <p:txBody>
          <a:bodyPr wrap="square">
            <a:spAutoFit/>
          </a:bodyPr>
          <a:lstStyle/>
          <a:p>
            <a:pPr>
              <a:spcAft>
                <a:spcPts val="600"/>
              </a:spcAft>
            </a:pPr>
            <a:r>
              <a:rPr lang="en-AU" sz="700" noProof="0">
                <a:latin typeface="Open Sans Light" panose="020B0606030504020204" pitchFamily="34" charset="0"/>
                <a:ea typeface="Open Sans Light" panose="020B0606030504020204" pitchFamily="34" charset="0"/>
                <a:cs typeface="Open Sans Light" panose="020B0606030504020204" pitchFamily="34" charset="0"/>
              </a:rPr>
              <a:t>: Key meeting (workshop, review session)</a:t>
            </a:r>
          </a:p>
        </p:txBody>
      </p:sp>
      <p:sp>
        <p:nvSpPr>
          <p:cNvPr id="160" name="Rectangle 159">
            <a:extLst>
              <a:ext uri="{FF2B5EF4-FFF2-40B4-BE49-F238E27FC236}">
                <a16:creationId xmlns:a16="http://schemas.microsoft.com/office/drawing/2014/main" id="{83655B1E-A691-4E4C-FB56-77AF39D5DDDF}"/>
              </a:ext>
            </a:extLst>
          </p:cNvPr>
          <p:cNvSpPr/>
          <p:nvPr/>
        </p:nvSpPr>
        <p:spPr>
          <a:xfrm>
            <a:off x="5369767" y="5479049"/>
            <a:ext cx="324000" cy="179713"/>
          </a:xfrm>
          <a:prstGeom prst="rect">
            <a:avLst/>
          </a:prstGeom>
          <a:pattFill prst="ltUpDiag">
            <a:fgClr>
              <a:schemeClr val="bg1">
                <a:lumMod val="85000"/>
              </a:schemeClr>
            </a:fgClr>
            <a:bgClr>
              <a:schemeClr val="bg1"/>
            </a:bgClr>
          </a:patt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1200" cap="none" spc="0" normalizeH="0" baseline="0" noProof="0">
              <a:ln>
                <a:noFill/>
              </a:ln>
              <a:solidFill>
                <a:prstClr val="white"/>
              </a:solidFill>
              <a:effectLst/>
              <a:uLnTx/>
              <a:uFillTx/>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61" name="TextBox 160">
            <a:extLst>
              <a:ext uri="{FF2B5EF4-FFF2-40B4-BE49-F238E27FC236}">
                <a16:creationId xmlns:a16="http://schemas.microsoft.com/office/drawing/2014/main" id="{86F1FEF8-4369-331A-4B35-644EEAFA7877}"/>
              </a:ext>
            </a:extLst>
          </p:cNvPr>
          <p:cNvSpPr txBox="1"/>
          <p:nvPr/>
        </p:nvSpPr>
        <p:spPr>
          <a:xfrm>
            <a:off x="5624789" y="5468878"/>
            <a:ext cx="1217554" cy="200055"/>
          </a:xfrm>
          <a:prstGeom prst="rect">
            <a:avLst/>
          </a:prstGeom>
          <a:noFill/>
        </p:spPr>
        <p:txBody>
          <a:bodyPr wrap="square">
            <a:spAutoFit/>
          </a:bodyPr>
          <a:lstStyle/>
          <a:p>
            <a:pPr>
              <a:spcAft>
                <a:spcPts val="600"/>
              </a:spcAft>
            </a:pPr>
            <a:r>
              <a:rPr lang="en-AU" sz="700" noProof="0">
                <a:latin typeface="Open Sans Light" panose="020B0606030504020204" pitchFamily="34" charset="0"/>
                <a:ea typeface="Open Sans Light" panose="020B0606030504020204" pitchFamily="34" charset="0"/>
                <a:cs typeface="Open Sans Light" panose="020B0606030504020204" pitchFamily="34" charset="0"/>
              </a:rPr>
              <a:t>: Webuild drafting</a:t>
            </a:r>
          </a:p>
        </p:txBody>
      </p:sp>
      <p:sp>
        <p:nvSpPr>
          <p:cNvPr id="12" name="Slide Number Placeholder 3">
            <a:extLst>
              <a:ext uri="{FF2B5EF4-FFF2-40B4-BE49-F238E27FC236}">
                <a16:creationId xmlns:a16="http://schemas.microsoft.com/office/drawing/2014/main" id="{328A8D71-A74D-A41D-2769-42169C6F5E7E}"/>
              </a:ext>
            </a:extLst>
          </p:cNvPr>
          <p:cNvSpPr txBox="1">
            <a:spLocks/>
          </p:cNvSpPr>
          <p:nvPr/>
        </p:nvSpPr>
        <p:spPr>
          <a:xfrm>
            <a:off x="8600440" y="6241428"/>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900" kern="1200">
                <a:solidFill>
                  <a:schemeClr val="tx1">
                    <a:tint val="75000"/>
                  </a:schemeClr>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FA8BD019-05FF-F145-A6E1-6EE5A88665E4}" type="slidenum">
              <a:rPr lang="en-US" smtClean="0"/>
              <a:pPr/>
              <a:t>6</a:t>
            </a:fld>
            <a:endParaRPr lang="en-US"/>
          </a:p>
        </p:txBody>
      </p:sp>
      <p:sp>
        <p:nvSpPr>
          <p:cNvPr id="16" name="Diamond 15">
            <a:extLst>
              <a:ext uri="{FF2B5EF4-FFF2-40B4-BE49-F238E27FC236}">
                <a16:creationId xmlns:a16="http://schemas.microsoft.com/office/drawing/2014/main" id="{D543C6B3-0DCB-B83E-301B-7DA66976B20D}"/>
              </a:ext>
            </a:extLst>
          </p:cNvPr>
          <p:cNvSpPr>
            <a:spLocks noChangeAspect="1"/>
          </p:cNvSpPr>
          <p:nvPr/>
        </p:nvSpPr>
        <p:spPr>
          <a:xfrm rot="10800000">
            <a:off x="6884950" y="5496905"/>
            <a:ext cx="162000" cy="144000"/>
          </a:xfrm>
          <a:prstGeom prst="diamond">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000" tIns="54000" rIns="54000" bIns="540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AU" sz="800" b="0" i="0" u="none" strike="noStrike" kern="1200" cap="none" spc="0" normalizeH="0" baseline="0" noProof="0">
              <a:ln>
                <a:noFill/>
              </a:ln>
              <a:solidFill>
                <a:prstClr val="white"/>
              </a:solidFill>
              <a:effectLst/>
              <a:uLnTx/>
              <a:uFillTx/>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17" name="TextBox 16">
            <a:extLst>
              <a:ext uri="{FF2B5EF4-FFF2-40B4-BE49-F238E27FC236}">
                <a16:creationId xmlns:a16="http://schemas.microsoft.com/office/drawing/2014/main" id="{E071440A-C06F-F2E8-F179-DFBE2C09313F}"/>
              </a:ext>
            </a:extLst>
          </p:cNvPr>
          <p:cNvSpPr txBox="1"/>
          <p:nvPr/>
        </p:nvSpPr>
        <p:spPr>
          <a:xfrm>
            <a:off x="6987827" y="5468878"/>
            <a:ext cx="932492" cy="200055"/>
          </a:xfrm>
          <a:prstGeom prst="rect">
            <a:avLst/>
          </a:prstGeom>
          <a:noFill/>
        </p:spPr>
        <p:txBody>
          <a:bodyPr wrap="square">
            <a:spAutoFit/>
          </a:bodyPr>
          <a:lstStyle/>
          <a:p>
            <a:pPr>
              <a:spcAft>
                <a:spcPts val="600"/>
              </a:spcAft>
            </a:pPr>
            <a:r>
              <a:rPr lang="en-AU" sz="700" noProof="0">
                <a:latin typeface="Open Sans Light" panose="020B0606030504020204" pitchFamily="34" charset="0"/>
                <a:ea typeface="Open Sans Light" panose="020B0606030504020204" pitchFamily="34" charset="0"/>
                <a:cs typeface="Open Sans Light" panose="020B0606030504020204" pitchFamily="34" charset="0"/>
              </a:rPr>
              <a:t>: Deliverable</a:t>
            </a:r>
          </a:p>
        </p:txBody>
      </p:sp>
      <p:graphicFrame>
        <p:nvGraphicFramePr>
          <p:cNvPr id="162" name="Table 161"/>
          <p:cNvGraphicFramePr>
            <a:graphicFrameLocks noGrp="1"/>
          </p:cNvGraphicFramePr>
          <p:nvPr/>
        </p:nvGraphicFramePr>
        <p:xfrm>
          <a:off x="448056" y="1417320"/>
          <a:ext cx="11219688" cy="3529584"/>
        </p:xfrm>
        <a:graphic>
          <a:graphicData uri="http://schemas.openxmlformats.org/drawingml/2006/table">
            <a:tbl>
              <a:tblPr firstRow="0" bandRow="0">
                <a:tableStyleId>{5C22544A-7EE6-4342-B048-85BDC9FD1C3A}</a:tableStyleId>
              </a:tblPr>
              <a:tblGrid>
                <a:gridCol w="1600200"/>
                <a:gridCol w="2926080"/>
                <a:gridCol w="1115568"/>
                <a:gridCol w="1115568"/>
                <a:gridCol w="1115568"/>
                <a:gridCol w="1115568"/>
                <a:gridCol w="1115568"/>
                <a:gridCol w="1115568"/>
              </a:tblGrid>
              <a:tr h="566928">
                <a:tc>
                  <a:txBody>
                    <a:bodyPr/>
                    <a:lstStyle/>
                    <a:p>
                      <a:pPr algn="l"/>
                      <a:r>
                        <a:rPr sz="1100" b="1">
                          <a:solidFill>
                            <a:srgbClr val="FFFFFF"/>
                          </a:solidFill>
                          <a:latin typeface="Poppins"/>
                        </a:rPr>
                        <a:t>Project Stages</a:t>
                      </a:r>
                    </a:p>
                  </a:txBody>
                  <a:tcPr anchor="ctr" marL="73152" marR="73152" marT="18288" marB="18288">
                    <a:lnL w="6350">
                      <a:noFill/>
                    </a:lnL>
                    <a:lnR w="6350">
                      <a:noFill/>
                    </a:lnR>
                    <a:lnT w="6350">
                      <a:noFill/>
                    </a:lnT>
                    <a:lnB w="6350">
                      <a:solidFill>
                        <a:srgbClr val="D9D9D9"/>
                      </a:solidFill>
                    </a:lnB>
                    <a:solidFill>
                      <a:srgbClr val="44546A"/>
                    </a:solidFill>
                  </a:tcPr>
                </a:tc>
                <a:tc>
                  <a:txBody>
                    <a:bodyPr/>
                    <a:lstStyle/>
                    <a:p>
                      <a:pPr algn="l"/>
                      <a:r>
                        <a:rPr sz="1100" b="1">
                          <a:solidFill>
                            <a:srgbClr val="FFFFFF"/>
                          </a:solidFill>
                          <a:latin typeface="Poppins"/>
                        </a:rPr>
                        <a:t>Key Activities</a:t>
                      </a:r>
                    </a:p>
                  </a:txBody>
                  <a:tcPr anchor="ctr" marL="73152" marR="73152" marT="18288" marB="18288">
                    <a:lnL w="6350">
                      <a:noFill/>
                    </a:lnL>
                    <a:lnR w="6350">
                      <a:noFill/>
                    </a:lnR>
                    <a:lnT w="6350">
                      <a:noFill/>
                    </a:lnT>
                    <a:lnB w="6350">
                      <a:solidFill>
                        <a:srgbClr val="D9D9D9"/>
                      </a:solidFill>
                    </a:lnB>
                    <a:solidFill>
                      <a:srgbClr val="44546A"/>
                    </a:solidFill>
                  </a:tcPr>
                </a:tc>
                <a:tc>
                  <a:txBody>
                    <a:bodyPr/>
                    <a:lstStyle/>
                    <a:p>
                      <a:pPr algn="ctr"/>
                      <a:r>
                        <a:rPr sz="950" b="0">
                          <a:solidFill>
                            <a:srgbClr val="FFFFFF"/>
                          </a:solidFill>
                          <a:latin typeface="Open Sans"/>
                        </a:rPr>
                        <a:t>Week 1</a:t>
                      </a:r>
                    </a:p>
                    <a:p>
                      <a:pPr algn="ctr"/>
                      <a:r>
                        <a:rPr sz="950" b="0">
                          <a:solidFill>
                            <a:srgbClr val="FFFFFF"/>
                          </a:solidFill>
                          <a:latin typeface="Open Sans"/>
                        </a:rPr>
                        <a:t>w/c 2 Nov</a:t>
                      </a:r>
                    </a:p>
                  </a:txBody>
                  <a:tcPr anchor="ctr" marL="73152" marR="73152" marT="18288" marB="18288">
                    <a:lnL w="6350">
                      <a:noFill/>
                    </a:lnL>
                    <a:lnR w="6350">
                      <a:noFill/>
                    </a:lnR>
                    <a:lnT w="6350">
                      <a:noFill/>
                    </a:lnT>
                    <a:lnB w="6350">
                      <a:solidFill>
                        <a:srgbClr val="D9D9D9"/>
                      </a:solidFill>
                    </a:lnB>
                    <a:solidFill>
                      <a:srgbClr val="44546A"/>
                    </a:solidFill>
                  </a:tcPr>
                </a:tc>
                <a:tc>
                  <a:txBody>
                    <a:bodyPr/>
                    <a:lstStyle/>
                    <a:p>
                      <a:pPr algn="ctr"/>
                      <a:r>
                        <a:rPr sz="950" b="0">
                          <a:solidFill>
                            <a:srgbClr val="FFFFFF"/>
                          </a:solidFill>
                          <a:latin typeface="Open Sans"/>
                        </a:rPr>
                        <a:t>Week 2</a:t>
                      </a:r>
                    </a:p>
                    <a:p>
                      <a:pPr algn="ctr"/>
                      <a:r>
                        <a:rPr sz="950" b="0">
                          <a:solidFill>
                            <a:srgbClr val="FFFFFF"/>
                          </a:solidFill>
                          <a:latin typeface="Open Sans"/>
                        </a:rPr>
                        <a:t>w/c 9 Nov</a:t>
                      </a:r>
                    </a:p>
                  </a:txBody>
                  <a:tcPr anchor="ctr" marL="73152" marR="73152" marT="18288" marB="18288">
                    <a:lnL w="6350">
                      <a:noFill/>
                    </a:lnL>
                    <a:lnR w="6350">
                      <a:noFill/>
                    </a:lnR>
                    <a:lnT w="6350">
                      <a:noFill/>
                    </a:lnT>
                    <a:lnB w="6350">
                      <a:solidFill>
                        <a:srgbClr val="D9D9D9"/>
                      </a:solidFill>
                    </a:lnB>
                    <a:solidFill>
                      <a:srgbClr val="44546A"/>
                    </a:solidFill>
                  </a:tcPr>
                </a:tc>
                <a:tc>
                  <a:txBody>
                    <a:bodyPr/>
                    <a:lstStyle/>
                    <a:p>
                      <a:pPr algn="ctr"/>
                      <a:r>
                        <a:rPr sz="950" b="0">
                          <a:solidFill>
                            <a:srgbClr val="FFFFFF"/>
                          </a:solidFill>
                          <a:latin typeface="Open Sans"/>
                        </a:rPr>
                        <a:t>Week 3</a:t>
                      </a:r>
                    </a:p>
                    <a:p>
                      <a:pPr algn="ctr"/>
                      <a:r>
                        <a:rPr sz="950" b="0">
                          <a:solidFill>
                            <a:srgbClr val="FFFFFF"/>
                          </a:solidFill>
                          <a:latin typeface="Open Sans"/>
                        </a:rPr>
                        <a:t>w/c 16 Nov</a:t>
                      </a:r>
                    </a:p>
                  </a:txBody>
                  <a:tcPr anchor="ctr" marL="73152" marR="73152" marT="18288" marB="18288">
                    <a:lnL w="6350">
                      <a:noFill/>
                    </a:lnL>
                    <a:lnR w="6350">
                      <a:noFill/>
                    </a:lnR>
                    <a:lnT w="6350">
                      <a:noFill/>
                    </a:lnT>
                    <a:lnB w="6350">
                      <a:solidFill>
                        <a:srgbClr val="D9D9D9"/>
                      </a:solidFill>
                    </a:lnB>
                    <a:solidFill>
                      <a:srgbClr val="44546A"/>
                    </a:solidFill>
                  </a:tcPr>
                </a:tc>
                <a:tc>
                  <a:txBody>
                    <a:bodyPr/>
                    <a:lstStyle/>
                    <a:p>
                      <a:pPr algn="ctr"/>
                      <a:r>
                        <a:rPr sz="950" b="0">
                          <a:solidFill>
                            <a:srgbClr val="FFFFFF"/>
                          </a:solidFill>
                          <a:latin typeface="Open Sans"/>
                        </a:rPr>
                        <a:t>Week 4</a:t>
                      </a:r>
                    </a:p>
                    <a:p>
                      <a:pPr algn="ctr"/>
                      <a:r>
                        <a:rPr sz="950" b="0">
                          <a:solidFill>
                            <a:srgbClr val="FFFFFF"/>
                          </a:solidFill>
                          <a:latin typeface="Open Sans"/>
                        </a:rPr>
                        <a:t>w/c 23 Nov</a:t>
                      </a:r>
                    </a:p>
                  </a:txBody>
                  <a:tcPr anchor="ctr" marL="73152" marR="73152" marT="18288" marB="18288">
                    <a:lnL w="6350">
                      <a:noFill/>
                    </a:lnL>
                    <a:lnR w="6350">
                      <a:noFill/>
                    </a:lnR>
                    <a:lnT w="6350">
                      <a:noFill/>
                    </a:lnT>
                    <a:lnB w="6350">
                      <a:solidFill>
                        <a:srgbClr val="D9D9D9"/>
                      </a:solidFill>
                    </a:lnB>
                    <a:solidFill>
                      <a:srgbClr val="44546A"/>
                    </a:solidFill>
                  </a:tcPr>
                </a:tc>
                <a:tc>
                  <a:txBody>
                    <a:bodyPr/>
                    <a:lstStyle/>
                    <a:p>
                      <a:pPr algn="ctr"/>
                      <a:r>
                        <a:rPr sz="950" b="0">
                          <a:solidFill>
                            <a:srgbClr val="FFFFFF"/>
                          </a:solidFill>
                          <a:latin typeface="Open Sans"/>
                        </a:rPr>
                        <a:t>Week 5</a:t>
                      </a:r>
                    </a:p>
                    <a:p>
                      <a:pPr algn="ctr"/>
                      <a:r>
                        <a:rPr sz="950" b="0">
                          <a:solidFill>
                            <a:srgbClr val="FFFFFF"/>
                          </a:solidFill>
                          <a:latin typeface="Open Sans"/>
                        </a:rPr>
                        <a:t>w/c 30 Nov</a:t>
                      </a:r>
                    </a:p>
                  </a:txBody>
                  <a:tcPr anchor="ctr" marL="73152" marR="73152" marT="18288" marB="18288">
                    <a:lnL w="6350">
                      <a:noFill/>
                    </a:lnL>
                    <a:lnR w="6350">
                      <a:noFill/>
                    </a:lnR>
                    <a:lnT w="6350">
                      <a:noFill/>
                    </a:lnT>
                    <a:lnB w="6350">
                      <a:solidFill>
                        <a:srgbClr val="D9D9D9"/>
                      </a:solidFill>
                    </a:lnB>
                    <a:solidFill>
                      <a:srgbClr val="44546A"/>
                    </a:solidFill>
                  </a:tcPr>
                </a:tc>
                <a:tc>
                  <a:txBody>
                    <a:bodyPr/>
                    <a:lstStyle/>
                    <a:p>
                      <a:pPr algn="ctr"/>
                      <a:r>
                        <a:rPr sz="950" b="0">
                          <a:solidFill>
                            <a:srgbClr val="FFFFFF"/>
                          </a:solidFill>
                          <a:latin typeface="Open Sans"/>
                        </a:rPr>
                        <a:t>Week 6</a:t>
                      </a:r>
                    </a:p>
                    <a:p>
                      <a:pPr algn="ctr"/>
                      <a:r>
                        <a:rPr sz="950" b="0">
                          <a:solidFill>
                            <a:srgbClr val="FFFFFF"/>
                          </a:solidFill>
                          <a:latin typeface="Open Sans"/>
                        </a:rPr>
                        <a:t>w/c 7 Dec</a:t>
                      </a:r>
                    </a:p>
                  </a:txBody>
                  <a:tcPr anchor="ctr" marL="73152" marR="73152" marT="18288" marB="18288">
                    <a:lnL w="6350">
                      <a:noFill/>
                    </a:lnL>
                    <a:lnR w="6350">
                      <a:noFill/>
                    </a:lnR>
                    <a:lnT w="6350">
                      <a:noFill/>
                    </a:lnT>
                    <a:lnB w="6350">
                      <a:solidFill>
                        <a:srgbClr val="D9D9D9"/>
                      </a:solidFill>
                    </a:lnB>
                    <a:solidFill>
                      <a:srgbClr val="44546A"/>
                    </a:solidFill>
                  </a:tcPr>
                </a:tc>
              </a:tr>
              <a:tr h="329184">
                <a:tc rowSpan="2">
                  <a:txBody>
                    <a:bodyPr/>
                    <a:lstStyle/>
                    <a:p>
                      <a:pPr algn="l"/>
                      <a:r>
                        <a:rPr sz="1050" b="0">
                          <a:solidFill>
                            <a:srgbClr val="FFFFFF"/>
                          </a:solidFill>
                          <a:latin typeface="Poppins"/>
                        </a:rPr>
                        <a:t>1. DISCOVER &amp;</a:t>
                      </a:r>
                    </a:p>
                    <a:p>
                      <a:pPr algn="l"/>
                      <a:r>
                        <a:rPr sz="1050" b="0">
                          <a:solidFill>
                            <a:srgbClr val="FFFFFF"/>
                          </a:solidFill>
                          <a:latin typeface="Poppins"/>
                        </a:rPr>
                        <a:t>POSITION</a:t>
                      </a:r>
                    </a:p>
                  </a:txBody>
                  <a:tcPr anchor="ctr" marL="73152" marR="73152" marT="18288" marB="18288">
                    <a:lnL w="6350">
                      <a:noFill/>
                    </a:lnL>
                    <a:lnR w="6350">
                      <a:noFill/>
                    </a:lnR>
                    <a:lnT w="6350">
                      <a:noFill/>
                    </a:lnT>
                    <a:lnB w="6350">
                      <a:solidFill>
                        <a:srgbClr val="D9D9D9"/>
                      </a:solidFill>
                    </a:lnB>
                    <a:solidFill>
                      <a:srgbClr val="0E98D7"/>
                    </a:solidFill>
                  </a:tcPr>
                </a:tc>
                <a:tc>
                  <a:txBody>
                    <a:bodyPr/>
                    <a:lstStyle/>
                    <a:p>
                      <a:pPr algn="l"/>
                      <a:r>
                        <a:rPr sz="1000" b="0">
                          <a:solidFill>
                            <a:srgbClr val="0E98D7"/>
                          </a:solidFill>
                          <a:latin typeface="Open Sans"/>
                        </a:rPr>
                        <a:t>Client research and EOI review</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r h="329184">
                <a:tc vMerge="1">
                  <a:txBody>
                    <a:bodyPr/>
                    <a:lstStyle/>
                    <a:p/>
                  </a:txBody>
                  <a:tcPr>
                    <a:solidFill>
                      <a:srgbClr val="0E98D7"/>
                    </a:solidFill>
                  </a:tcPr>
                </a:tc>
                <a:tc>
                  <a:txBody>
                    <a:bodyPr/>
                    <a:lstStyle/>
                    <a:p>
                      <a:pPr algn="l"/>
                      <a:r>
                        <a:rPr sz="1000" b="0">
                          <a:solidFill>
                            <a:srgbClr val="0E98D7"/>
                          </a:solidFill>
                          <a:latin typeface="Open Sans"/>
                        </a:rPr>
                        <a:t>Workshop 1: discovery and win themes</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r h="329184">
                <a:tc rowSpan="3">
                  <a:txBody>
                    <a:bodyPr/>
                    <a:lstStyle/>
                    <a:p>
                      <a:pPr algn="l"/>
                      <a:r>
                        <a:rPr sz="1050" b="0">
                          <a:solidFill>
                            <a:srgbClr val="FFFFFF"/>
                          </a:solidFill>
                          <a:latin typeface="Poppins"/>
                        </a:rPr>
                        <a:t>2. STORYBOARD</a:t>
                      </a:r>
                    </a:p>
                  </a:txBody>
                  <a:tcPr anchor="ctr" marL="73152" marR="73152" marT="18288" marB="18288">
                    <a:lnL w="6350">
                      <a:noFill/>
                    </a:lnL>
                    <a:lnR w="6350">
                      <a:noFill/>
                    </a:lnR>
                    <a:lnT w="6350">
                      <a:noFill/>
                    </a:lnT>
                    <a:lnB w="6350">
                      <a:solidFill>
                        <a:srgbClr val="D9D9D9"/>
                      </a:solidFill>
                    </a:lnB>
                    <a:solidFill>
                      <a:srgbClr val="F48047"/>
                    </a:solidFill>
                  </a:tcPr>
                </a:tc>
                <a:tc>
                  <a:txBody>
                    <a:bodyPr/>
                    <a:lstStyle/>
                    <a:p>
                      <a:pPr algn="l"/>
                      <a:r>
                        <a:rPr sz="1000" b="0">
                          <a:solidFill>
                            <a:srgbClr val="F48047"/>
                          </a:solidFill>
                          <a:latin typeface="Open Sans"/>
                        </a:rPr>
                        <a:t>Team and CV alignment</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r h="329184">
                <a:tc vMerge="1">
                  <a:txBody>
                    <a:bodyPr/>
                    <a:lstStyle/>
                    <a:p/>
                  </a:txBody>
                  <a:tcPr>
                    <a:solidFill>
                      <a:srgbClr val="F48047"/>
                    </a:solidFill>
                  </a:tcPr>
                </a:tc>
                <a:tc>
                  <a:txBody>
                    <a:bodyPr/>
                    <a:lstStyle/>
                    <a:p>
                      <a:pPr algn="l"/>
                      <a:r>
                        <a:rPr sz="1000" b="0">
                          <a:solidFill>
                            <a:srgbClr val="F48047"/>
                          </a:solidFill>
                          <a:latin typeface="Open Sans"/>
                        </a:rPr>
                        <a:t>Workshop 2: storyboarding</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r h="329184">
                <a:tc vMerge="1">
                  <a:txBody>
                    <a:bodyPr/>
                    <a:lstStyle/>
                    <a:p/>
                  </a:txBody>
                  <a:tcPr>
                    <a:solidFill>
                      <a:srgbClr val="F48047"/>
                    </a:solidFill>
                  </a:tcPr>
                </a:tc>
                <a:tc>
                  <a:txBody>
                    <a:bodyPr/>
                    <a:lstStyle/>
                    <a:p>
                      <a:pPr algn="l"/>
                      <a:r>
                        <a:rPr sz="1000" b="0">
                          <a:solidFill>
                            <a:srgbClr val="F48047"/>
                          </a:solidFill>
                          <a:latin typeface="Open Sans"/>
                        </a:rPr>
                        <a:t>Storyboards and writer briefing pack</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r h="329184">
                <a:tc>
                  <a:txBody>
                    <a:bodyPr/>
                    <a:lstStyle/>
                    <a:p>
                      <a:pPr algn="l"/>
                      <a:r>
                        <a:rPr sz="1050" b="0">
                          <a:solidFill>
                            <a:srgbClr val="FFFFFF"/>
                          </a:solidFill>
                          <a:latin typeface="Poppins"/>
                        </a:rPr>
                        <a:t>WEBUILD</a:t>
                      </a:r>
                    </a:p>
                  </a:txBody>
                  <a:tcPr anchor="ctr" marL="73152" marR="73152" marT="18288" marB="18288">
                    <a:lnL w="6350">
                      <a:noFill/>
                    </a:lnL>
                    <a:lnR w="6350">
                      <a:noFill/>
                    </a:lnR>
                    <a:lnT w="6350">
                      <a:noFill/>
                    </a:lnT>
                    <a:lnB w="6350">
                      <a:solidFill>
                        <a:srgbClr val="D9D9D9"/>
                      </a:solidFill>
                    </a:lnB>
                    <a:solidFill>
                      <a:srgbClr val="8C8C8C"/>
                    </a:solidFill>
                  </a:tcPr>
                </a:tc>
                <a:tc>
                  <a:txBody>
                    <a:bodyPr/>
                    <a:lstStyle/>
                    <a:p>
                      <a:pPr algn="l"/>
                      <a:r>
                        <a:rPr sz="1000" b="0">
                          <a:solidFill>
                            <a:srgbClr val="595959"/>
                          </a:solidFill>
                          <a:latin typeface="Open Sans"/>
                        </a:rPr>
                        <a:t>Drafting with bid writers</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r h="329184">
                <a:tc rowSpan="3">
                  <a:txBody>
                    <a:bodyPr/>
                    <a:lstStyle/>
                    <a:p>
                      <a:pPr algn="l"/>
                      <a:r>
                        <a:rPr sz="1050" b="0">
                          <a:solidFill>
                            <a:srgbClr val="FFFFFF"/>
                          </a:solidFill>
                          <a:latin typeface="Poppins"/>
                        </a:rPr>
                        <a:t>3. REVIEW &amp;</a:t>
                      </a:r>
                    </a:p>
                    <a:p>
                      <a:pPr algn="l"/>
                      <a:r>
                        <a:rPr sz="1050" b="0">
                          <a:solidFill>
                            <a:srgbClr val="FFFFFF"/>
                          </a:solidFill>
                          <a:latin typeface="Poppins"/>
                        </a:rPr>
                        <a:t>REFINE</a:t>
                      </a:r>
                    </a:p>
                  </a:txBody>
                  <a:tcPr anchor="ctr" marL="73152" marR="73152" marT="18288" marB="18288">
                    <a:lnL w="6350">
                      <a:noFill/>
                    </a:lnL>
                    <a:lnR w="6350">
                      <a:noFill/>
                    </a:lnR>
                    <a:lnT w="6350">
                      <a:noFill/>
                    </a:lnT>
                    <a:lnB w="6350">
                      <a:solidFill>
                        <a:srgbClr val="D9D9D9"/>
                      </a:solidFill>
                    </a:lnB>
                    <a:solidFill>
                      <a:srgbClr val="EE2B7A"/>
                    </a:solidFill>
                  </a:tcPr>
                </a:tc>
                <a:tc>
                  <a:txBody>
                    <a:bodyPr/>
                    <a:lstStyle/>
                    <a:p>
                      <a:pPr algn="l"/>
                      <a:r>
                        <a:rPr sz="1000" b="0">
                          <a:solidFill>
                            <a:srgbClr val="EE2B7A"/>
                          </a:solidFill>
                          <a:latin typeface="Open Sans"/>
                        </a:rPr>
                        <a:t>Week 4 alignment check</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r h="329184">
                <a:tc vMerge="1">
                  <a:txBody>
                    <a:bodyPr/>
                    <a:lstStyle/>
                    <a:p/>
                  </a:txBody>
                  <a:tcPr>
                    <a:solidFill>
                      <a:srgbClr val="EE2B7A"/>
                    </a:solidFill>
                  </a:tcPr>
                </a:tc>
                <a:tc>
                  <a:txBody>
                    <a:bodyPr/>
                    <a:lstStyle/>
                    <a:p>
                      <a:pPr algn="l"/>
                      <a:r>
                        <a:rPr sz="1000" b="0">
                          <a:solidFill>
                            <a:srgbClr val="EE2B7A"/>
                          </a:solidFill>
                          <a:latin typeface="Open Sans"/>
                        </a:rPr>
                        <a:t>Week 5 client lens review</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r h="329184">
                <a:tc vMerge="1">
                  <a:txBody>
                    <a:bodyPr/>
                    <a:lstStyle/>
                    <a:p/>
                  </a:txBody>
                  <a:tcPr>
                    <a:solidFill>
                      <a:srgbClr val="EE2B7A"/>
                    </a:solidFill>
                  </a:tcPr>
                </a:tc>
                <a:tc>
                  <a:txBody>
                    <a:bodyPr/>
                    <a:lstStyle/>
                    <a:p>
                      <a:pPr algn="l"/>
                      <a:r>
                        <a:rPr sz="1000" b="0">
                          <a:solidFill>
                            <a:srgbClr val="EE2B7A"/>
                          </a:solidFill>
                          <a:latin typeface="Open Sans"/>
                        </a:rPr>
                        <a:t>Final revisions and submission</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c>
                  <a:txBody>
                    <a:bodyPr/>
                    <a:lstStyle/>
                    <a:p>
                      <a:pPr algn="l"/>
                      <a:r>
                        <a:rPr sz="1000" b="0">
                          <a:solidFill>
                            <a:srgbClr val="3D3C3C"/>
                          </a:solidFill>
                          <a:latin typeface="Open Sans"/>
                        </a:rPr>
                        <a:t/>
                      </a:r>
                    </a:p>
                  </a:txBody>
                  <a:tcPr anchor="ctr" marL="73152" marR="73152" marT="18288" marB="18288">
                    <a:lnL w="6350">
                      <a:noFill/>
                    </a:lnL>
                    <a:lnR w="6350">
                      <a:noFill/>
                    </a:lnR>
                    <a:lnT w="6350">
                      <a:noFill/>
                    </a:lnT>
                    <a:lnB w="6350">
                      <a:solidFill>
                        <a:srgbClr val="D9D9D9"/>
                      </a:solidFill>
                    </a:lnB>
                    <a:noFill/>
                  </a:tcPr>
                </a:tc>
              </a:tr>
            </a:tbl>
          </a:graphicData>
        </a:graphic>
      </p:graphicFrame>
      <p:sp>
        <p:nvSpPr>
          <p:cNvPr id="163" name="Rectangle 162"/>
          <p:cNvSpPr/>
          <p:nvPr/>
        </p:nvSpPr>
        <p:spPr>
          <a:xfrm>
            <a:off x="5010912" y="2057400"/>
            <a:ext cx="819302" cy="182880"/>
          </a:xfrm>
          <a:prstGeom prst="rect">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4" name="Isosceles Triangle 163"/>
          <p:cNvSpPr/>
          <p:nvPr/>
        </p:nvSpPr>
        <p:spPr>
          <a:xfrm>
            <a:off x="5896051" y="2395728"/>
            <a:ext cx="164592" cy="146304"/>
          </a:xfrm>
          <a:prstGeom prst="triangl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5" name="Rectangle 164"/>
          <p:cNvSpPr/>
          <p:nvPr/>
        </p:nvSpPr>
        <p:spPr>
          <a:xfrm>
            <a:off x="5680252" y="2715768"/>
            <a:ext cx="707745" cy="182880"/>
          </a:xfrm>
          <a:prstGeom prst="rect">
            <a:avLst/>
          </a:prstGeom>
          <a:solidFill>
            <a:srgbClr val="F480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6" name="Isosceles Triangle 165"/>
          <p:cNvSpPr/>
          <p:nvPr/>
        </p:nvSpPr>
        <p:spPr>
          <a:xfrm>
            <a:off x="6119164" y="3054096"/>
            <a:ext cx="164592" cy="146304"/>
          </a:xfrm>
          <a:prstGeom prst="triangle">
            <a:avLst/>
          </a:prstGeom>
          <a:solidFill>
            <a:srgbClr val="F480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7" name="Rectangle 166"/>
          <p:cNvSpPr/>
          <p:nvPr/>
        </p:nvSpPr>
        <p:spPr>
          <a:xfrm>
            <a:off x="6293815" y="3374136"/>
            <a:ext cx="707745" cy="182880"/>
          </a:xfrm>
          <a:prstGeom prst="rect">
            <a:avLst/>
          </a:prstGeom>
          <a:solidFill>
            <a:srgbClr val="F480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8" name="Diamond 167"/>
          <p:cNvSpPr/>
          <p:nvPr/>
        </p:nvSpPr>
        <p:spPr>
          <a:xfrm>
            <a:off x="7011619" y="3383280"/>
            <a:ext cx="164592" cy="164592"/>
          </a:xfrm>
          <a:prstGeom prst="diamond">
            <a:avLst/>
          </a:prstGeom>
          <a:solidFill>
            <a:srgbClr val="F480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69" name="Rectangle 168"/>
          <p:cNvSpPr/>
          <p:nvPr/>
        </p:nvSpPr>
        <p:spPr>
          <a:xfrm>
            <a:off x="7130491" y="3703320"/>
            <a:ext cx="3385108" cy="182880"/>
          </a:xfrm>
          <a:prstGeom prst="rect">
            <a:avLst/>
          </a:prstGeom>
          <a:pattFill prst="wdUpDiag">
            <a:fgClr>
              <a:srgbClr val="BFBFBF"/>
            </a:fgClr>
            <a:bgClr>
              <a:srgbClr val="FFFFFF"/>
            </a:bgClr>
          </a:pattFill>
          <a:ln w="6350">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70" name="Isosceles Triangle 169"/>
          <p:cNvSpPr/>
          <p:nvPr/>
        </p:nvSpPr>
        <p:spPr>
          <a:xfrm>
            <a:off x="8796528" y="4041648"/>
            <a:ext cx="164592" cy="146304"/>
          </a:xfrm>
          <a:prstGeom prst="triangle">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71" name="Rectangle 170"/>
          <p:cNvSpPr/>
          <p:nvPr/>
        </p:nvSpPr>
        <p:spPr>
          <a:xfrm>
            <a:off x="10142524" y="4361688"/>
            <a:ext cx="651967" cy="182880"/>
          </a:xfrm>
          <a:prstGeom prst="rect">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72" name="Diamond 171"/>
          <p:cNvSpPr/>
          <p:nvPr/>
        </p:nvSpPr>
        <p:spPr>
          <a:xfrm>
            <a:off x="10804550" y="4370831"/>
            <a:ext cx="164592" cy="164592"/>
          </a:xfrm>
          <a:prstGeom prst="diamond">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73" name="Rectangle 172"/>
          <p:cNvSpPr/>
          <p:nvPr/>
        </p:nvSpPr>
        <p:spPr>
          <a:xfrm>
            <a:off x="10923422" y="4690872"/>
            <a:ext cx="540410" cy="182880"/>
          </a:xfrm>
          <a:prstGeom prst="rect">
            <a:avLst/>
          </a:prstGeom>
          <a:solidFill>
            <a:srgbClr val="8C8C8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74" name="Diamond 173"/>
          <p:cNvSpPr/>
          <p:nvPr/>
        </p:nvSpPr>
        <p:spPr>
          <a:xfrm>
            <a:off x="11473891" y="4700016"/>
            <a:ext cx="164592" cy="164592"/>
          </a:xfrm>
          <a:prstGeom prst="diamond">
            <a:avLst/>
          </a:prstGeom>
          <a:solidFill>
            <a:srgbClr val="EE2B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175" name="TextBox 174"/>
          <p:cNvSpPr txBox="1"/>
          <p:nvPr/>
        </p:nvSpPr>
        <p:spPr>
          <a:xfrm>
            <a:off x="8092440" y="5349240"/>
            <a:ext cx="3566160" cy="502920"/>
          </a:xfrm>
          <a:prstGeom prst="rect">
            <a:avLst/>
          </a:prstGeom>
          <a:noFill/>
        </p:spPr>
        <p:txBody>
          <a:bodyPr wrap="square" lIns="0" rIns="0" tIns="0" bIns="0" anchor="t">
            <a:spAutoFit/>
          </a:bodyPr>
          <a:lstStyle/>
          <a:p>
            <a:pPr>
              <a:spcAft>
                <a:spcPts val="400"/>
              </a:spcAft>
              <a:buNone/>
            </a:pPr>
            <a:r>
              <a:rPr sz="950" b="0" i="1">
                <a:solidFill>
                  <a:srgbClr val="6B6B6B"/>
                </a:solidFill>
                <a:latin typeface="Open Sans"/>
              </a:rPr>
              <a:t>Dates assume the EOI is released this week. We will confirm timing once the documents are received.</a:t>
            </a:r>
          </a:p>
        </p:txBody>
      </p:sp>
    </p:spTree>
    <p:extLst>
      <p:ext uri="{BB962C8B-B14F-4D97-AF65-F5344CB8AC3E}">
        <p14:creationId xmlns:p14="http://schemas.microsoft.com/office/powerpoint/2010/main" val="3318771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09AC-ABC7-FBD8-C445-E53C0C4FC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A19359-B947-1961-75AA-936DA272766C}"/>
              </a:ext>
            </a:extLst>
          </p:cNvPr>
          <p:cNvSpPr/>
          <p:nvPr/>
        </p:nvSpPr>
        <p:spPr>
          <a:xfrm>
            <a:off x="0" y="9253"/>
            <a:ext cx="12197626" cy="6880902"/>
          </a:xfrm>
          <a:prstGeom prst="rect">
            <a:avLst/>
          </a:prstGeom>
          <a:solidFill>
            <a:schemeClr val="tx1">
              <a:alpha val="6357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55" b="0" i="0" u="none" strike="noStrike" kern="1200" cap="none" spc="0" normalizeH="0" baseline="0" noProof="0">
              <a:ln>
                <a:noFill/>
              </a:ln>
              <a:solidFill>
                <a:srgbClr val="FFFFFF"/>
              </a:solidFill>
              <a:effectLst/>
              <a:uLnTx/>
              <a:uFillTx/>
              <a:latin typeface="Open Sans Light"/>
              <a:ea typeface="+mn-ea"/>
              <a:cs typeface="+mn-cs"/>
            </a:endParaRPr>
          </a:p>
        </p:txBody>
      </p:sp>
      <p:graphicFrame>
        <p:nvGraphicFramePr>
          <p:cNvPr id="3" name="Table 2">
            <a:extLst>
              <a:ext uri="{FF2B5EF4-FFF2-40B4-BE49-F238E27FC236}">
                <a16:creationId xmlns:a16="http://schemas.microsoft.com/office/drawing/2014/main" id="{D8A41966-51FC-7551-9FA9-8CFE56E86842}"/>
              </a:ext>
            </a:extLst>
          </p:cNvPr>
          <p:cNvGraphicFramePr>
            <a:graphicFrameLocks noGrp="1"/>
          </p:cNvGraphicFramePr>
          <p:nvPr/>
        </p:nvGraphicFramePr>
        <p:xfrm>
          <a:off x="5288691" y="1179740"/>
          <a:ext cx="6903309" cy="4412595"/>
        </p:xfrm>
        <a:graphic>
          <a:graphicData uri="http://schemas.openxmlformats.org/drawingml/2006/table">
            <a:tbl>
              <a:tblPr firstRow="1" bandRow="1">
                <a:tableStyleId>{5940675A-B579-460E-94D1-54222C63F5DA}</a:tableStyleId>
              </a:tblPr>
              <a:tblGrid>
                <a:gridCol w="1643448">
                  <a:extLst>
                    <a:ext uri="{9D8B030D-6E8A-4147-A177-3AD203B41FA5}">
                      <a16:colId xmlns:a16="http://schemas.microsoft.com/office/drawing/2014/main" val="3489013786"/>
                    </a:ext>
                  </a:extLst>
                </a:gridCol>
                <a:gridCol w="208280">
                  <a:extLst>
                    <a:ext uri="{9D8B030D-6E8A-4147-A177-3AD203B41FA5}">
                      <a16:colId xmlns:a16="http://schemas.microsoft.com/office/drawing/2014/main" val="2551940119"/>
                    </a:ext>
                  </a:extLst>
                </a:gridCol>
                <a:gridCol w="5051581">
                  <a:extLst>
                    <a:ext uri="{9D8B030D-6E8A-4147-A177-3AD203B41FA5}">
                      <a16:colId xmlns:a16="http://schemas.microsoft.com/office/drawing/2014/main" val="58592591"/>
                    </a:ext>
                  </a:extLst>
                </a:gridCol>
              </a:tblGrid>
              <a:tr h="882519">
                <a:tc>
                  <a:txBody>
                    <a:bodyPr/>
                    <a:lstStyle/>
                    <a:p>
                      <a:pPr algn="ctr"/>
                      <a:r>
                        <a:rPr lang="en-US" sz="2800" b="0" dirty="0">
                          <a:solidFill>
                            <a:schemeClr val="bg1"/>
                          </a:solidFill>
                          <a:latin typeface="Poppins" pitchFamily="2" charset="77"/>
                          <a:cs typeface="Poppins" pitchFamily="2" charset="77"/>
                        </a:rPr>
                        <a:t>01</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Poppins" pitchFamily="2" charset="77"/>
                          <a:cs typeface="Poppins" pitchFamily="2" charset="77"/>
                        </a:rPr>
                        <a:t>Our Understanding of Your Needs</a:t>
                      </a:r>
                      <a:endParaRPr lang="en-US" sz="18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6261238"/>
                  </a:ext>
                </a:extLst>
              </a:tr>
              <a:tr h="882519">
                <a:tc>
                  <a:txBody>
                    <a:bodyPr/>
                    <a:lstStyle/>
                    <a:p>
                      <a:pPr algn="ctr"/>
                      <a:r>
                        <a:rPr lang="en-US" sz="2800" b="0" dirty="0">
                          <a:solidFill>
                            <a:schemeClr val="bg1"/>
                          </a:solidFill>
                          <a:latin typeface="+mj-lt"/>
                          <a:cs typeface="Poppins Medium" panose="00000600000000000000" pitchFamily="2" charset="0"/>
                        </a:rPr>
                        <a:t>02</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mj-lt"/>
                          <a:cs typeface="Poppins Medium" panose="00000600000000000000" pitchFamily="2" charset="0"/>
                        </a:rPr>
                        <a:t>Why The Strategy Group</a:t>
                      </a:r>
                      <a:endParaRPr lang="en-US" sz="18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559838"/>
                  </a:ext>
                </a:extLst>
              </a:tr>
              <a:tr h="882519">
                <a:tc>
                  <a:txBody>
                    <a:bodyPr/>
                    <a:lstStyle/>
                    <a:p>
                      <a:pPr algn="ctr"/>
                      <a:r>
                        <a:rPr lang="en-US" sz="2800" b="0" dirty="0">
                          <a:solidFill>
                            <a:schemeClr val="bg1"/>
                          </a:solidFill>
                          <a:latin typeface="+mj-lt"/>
                          <a:cs typeface="Poppins Medium" panose="00000600000000000000" pitchFamily="2" charset="0"/>
                        </a:rPr>
                        <a:t>03</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0">
                          <a:solidFill>
                            <a:schemeClr val="bg1"/>
                          </a:solidFill>
                          <a:latin typeface="+mj-lt"/>
                          <a:cs typeface="Poppins Medium" panose="00000600000000000000" pitchFamily="2" charset="0"/>
                        </a:rPr>
                        <a:t>Our Approach</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1536259"/>
                  </a:ext>
                </a:extLst>
              </a:tr>
              <a:tr h="882519">
                <a:tc>
                  <a:txBody>
                    <a:bodyPr/>
                    <a:lstStyle/>
                    <a:p>
                      <a:pPr algn="ctr"/>
                      <a:r>
                        <a:rPr lang="en-US" sz="2800" b="1" dirty="0">
                          <a:solidFill>
                            <a:schemeClr val="bg1"/>
                          </a:solidFill>
                          <a:latin typeface="Poppins Medium" panose="00000600000000000000" pitchFamily="2" charset="0"/>
                          <a:cs typeface="Poppins Medium" panose="00000600000000000000" pitchFamily="2" charset="0"/>
                        </a:rPr>
                        <a:t>04</a:t>
                      </a: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b="1">
                          <a:solidFill>
                            <a:schemeClr val="bg1"/>
                          </a:solidFill>
                          <a:latin typeface="Poppins Medium" panose="00000600000000000000" pitchFamily="2" charset="0"/>
                          <a:cs typeface="Poppins Medium" panose="00000600000000000000" pitchFamily="2" charset="0"/>
                        </a:rPr>
                        <a:t>Our Experience and Team</a:t>
                      </a:r>
                      <a:r>
                        <a:rPr lang="en-US" sz="1800" b="1">
                          <a:solidFill>
                            <a:schemeClr val="bg1"/>
                          </a:solidFill>
                          <a:latin typeface="Poppins Medium" panose="00000600000000000000" pitchFamily="2" charset="0"/>
                          <a:cs typeface="Poppins Medium" panose="00000600000000000000" pitchFamily="2" charset="0"/>
                        </a:rPr>
                        <a:t/>
                      </a:r>
                      <a:r>
                        <a:rPr lang="en-AU" sz="1800" b="1">
                          <a:solidFill>
                            <a:schemeClr val="bg1"/>
                          </a:solidFill>
                          <a:latin typeface="Poppins Medium" panose="00000600000000000000" pitchFamily="2" charset="0"/>
                          <a:cs typeface="Poppins Medium" panose="00000600000000000000" pitchFamily="2" charset="0"/>
                        </a:rPr>
                        <a:t/>
                      </a:r>
                      <a:endParaRPr lang="en-US" sz="18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5165721"/>
                  </a:ext>
                </a:extLst>
              </a:tr>
              <a:tr h="882519">
                <a:tc>
                  <a:txBody>
                    <a:bodyPr/>
                    <a:lstStyle/>
                    <a:p>
                      <a:pPr algn="ctr"/>
                      <a:r>
                        <a:rPr lang="en-US" sz="2800" b="0" dirty="0">
                          <a:solidFill>
                            <a:schemeClr val="bg1"/>
                          </a:solidFill>
                          <a:latin typeface="Poppins" pitchFamily="2" charset="77"/>
                          <a:cs typeface="Poppins" pitchFamily="2" charset="77"/>
                        </a:rPr>
                        <a:t>05</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solidFill>
                            <a:schemeClr val="bg1"/>
                          </a:solidFill>
                          <a:latin typeface="Poppins" pitchFamily="2" charset="77"/>
                          <a:cs typeface="Poppins" pitchFamily="2" charset="77"/>
                        </a:rPr>
                        <a:t>Investment</a:t>
                      </a:r>
                    </a:p>
                  </a:txBody>
                  <a:tcPr anchor="ctr">
                    <a:lnL w="12700" cmpd="sng">
                      <a:noFill/>
                    </a:lnL>
                    <a:lnR w="12700" cmpd="sng">
                      <a:noFill/>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18104154"/>
                  </a:ext>
                </a:extLst>
              </a:tr>
            </a:tbl>
          </a:graphicData>
        </a:graphic>
      </p:graphicFrame>
      <p:pic>
        <p:nvPicPr>
          <p:cNvPr id="7" name="Graphic 6">
            <a:extLst>
              <a:ext uri="{FF2B5EF4-FFF2-40B4-BE49-F238E27FC236}">
                <a16:creationId xmlns:a16="http://schemas.microsoft.com/office/drawing/2014/main" id="{9A0843B3-C65C-5254-9739-F0B4D579E1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25966" y="0"/>
            <a:ext cx="6959831" cy="5626984"/>
          </a:xfrm>
          <a:prstGeom prst="rect">
            <a:avLst/>
          </a:prstGeom>
        </p:spPr>
      </p:pic>
      <p:grpSp>
        <p:nvGrpSpPr>
          <p:cNvPr id="2" name="Group 1">
            <a:extLst>
              <a:ext uri="{FF2B5EF4-FFF2-40B4-BE49-F238E27FC236}">
                <a16:creationId xmlns:a16="http://schemas.microsoft.com/office/drawing/2014/main" id="{1D4B8EB6-53C5-A71D-D316-785AA88D6F8E}"/>
              </a:ext>
            </a:extLst>
          </p:cNvPr>
          <p:cNvGrpSpPr/>
          <p:nvPr/>
        </p:nvGrpSpPr>
        <p:grpSpPr>
          <a:xfrm>
            <a:off x="6931557" y="331283"/>
            <a:ext cx="2758775" cy="618017"/>
            <a:chOff x="6931557" y="331283"/>
            <a:chExt cx="2758775" cy="618017"/>
          </a:xfrm>
        </p:grpSpPr>
        <p:sp>
          <p:nvSpPr>
            <p:cNvPr id="12" name="TextBox 11">
              <a:extLst>
                <a:ext uri="{FF2B5EF4-FFF2-40B4-BE49-F238E27FC236}">
                  <a16:creationId xmlns:a16="http://schemas.microsoft.com/office/drawing/2014/main" id="{2114E355-9DF7-7479-CC8B-8E254E8D7542}"/>
                </a:ext>
              </a:extLst>
            </p:cNvPr>
            <p:cNvSpPr txBox="1"/>
            <p:nvPr/>
          </p:nvSpPr>
          <p:spPr>
            <a:xfrm>
              <a:off x="7334552" y="378682"/>
              <a:ext cx="19527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a:ln>
                    <a:noFill/>
                  </a:ln>
                  <a:solidFill>
                    <a:srgbClr val="FFFFFF"/>
                  </a:solidFill>
                  <a:effectLst/>
                  <a:uLnTx/>
                  <a:uFillTx/>
                  <a:latin typeface="Poppins" pitchFamily="2" charset="77"/>
                  <a:ea typeface="+mn-ea"/>
                  <a:cs typeface="Poppins" pitchFamily="2" charset="77"/>
                </a:rPr>
                <a:t>Contents</a:t>
              </a:r>
            </a:p>
          </p:txBody>
        </p:sp>
        <p:sp>
          <p:nvSpPr>
            <p:cNvPr id="13" name="Rectangle: Rounded Corners 12">
              <a:extLst>
                <a:ext uri="{FF2B5EF4-FFF2-40B4-BE49-F238E27FC236}">
                  <a16:creationId xmlns:a16="http://schemas.microsoft.com/office/drawing/2014/main" id="{2AA2110F-460B-4BA5-F8E5-3198C17D6E0C}"/>
                </a:ext>
              </a:extLst>
            </p:cNvPr>
            <p:cNvSpPr/>
            <p:nvPr/>
          </p:nvSpPr>
          <p:spPr>
            <a:xfrm>
              <a:off x="6931557" y="331283"/>
              <a:ext cx="2758775" cy="618017"/>
            </a:xfrm>
            <a:prstGeom prst="roundRect">
              <a:avLst>
                <a:gd name="adj" fmla="val 5000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Light"/>
                <a:ea typeface="+mn-ea"/>
                <a:cs typeface="+mn-cs"/>
              </a:endParaRPr>
            </a:p>
          </p:txBody>
        </p:sp>
      </p:grpSp>
    </p:spTree>
    <p:extLst>
      <p:ext uri="{BB962C8B-B14F-4D97-AF65-F5344CB8AC3E}">
        <p14:creationId xmlns:p14="http://schemas.microsoft.com/office/powerpoint/2010/main" val="294994883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Your team: senior, hands-on and focused on Webuild's success</a:t>
            </a:r>
          </a:p>
        </p:txBody>
      </p:sp>
      <p:sp>
        <p:nvSpPr>
          <p:cNvPr id="10" name="Rounded Rectangle 9"/>
          <p:cNvSpPr/>
          <p:nvPr/>
        </p:nvSpPr>
        <p:spPr>
          <a:xfrm>
            <a:off x="566928" y="1417320"/>
            <a:ext cx="3520440" cy="44348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pic>
        <p:nvPicPr>
          <p:cNvPr id="11" name="Picture 10" descr="jt.png"/>
          <p:cNvPicPr>
            <a:picLocks noChangeAspect="1"/>
          </p:cNvPicPr>
          <p:nvPr/>
        </p:nvPicPr>
        <p:blipFill>
          <a:blip r:embed="rId2"/>
          <a:stretch>
            <a:fillRect/>
          </a:stretch>
        </p:blipFill>
        <p:spPr>
          <a:xfrm>
            <a:off x="1737360" y="1645920"/>
            <a:ext cx="1188720" cy="1188720"/>
          </a:xfrm>
          <a:prstGeom prst="rect">
            <a:avLst/>
          </a:prstGeom>
        </p:spPr>
      </p:pic>
      <p:sp>
        <p:nvSpPr>
          <p:cNvPr id="12" name="TextBox 11"/>
          <p:cNvSpPr txBox="1"/>
          <p:nvPr/>
        </p:nvSpPr>
        <p:spPr>
          <a:xfrm>
            <a:off x="795528" y="2971800"/>
            <a:ext cx="3063240" cy="274320"/>
          </a:xfrm>
          <a:prstGeom prst="rect">
            <a:avLst/>
          </a:prstGeom>
          <a:noFill/>
        </p:spPr>
        <p:txBody>
          <a:bodyPr wrap="square" lIns="0" rIns="0" tIns="0" bIns="0" anchor="t">
            <a:spAutoFit/>
          </a:bodyPr>
          <a:lstStyle/>
          <a:p>
            <a:pPr algn="ctr">
              <a:spcAft>
                <a:spcPts val="0"/>
              </a:spcAft>
              <a:buNone/>
            </a:pPr>
            <a:r>
              <a:rPr sz="1050" b="1" i="0">
                <a:solidFill>
                  <a:srgbClr val="0E98D7"/>
                </a:solidFill>
                <a:latin typeface="Poppins"/>
              </a:rPr>
              <a:t>ENGAGEMENT SPONSOR</a:t>
            </a:r>
          </a:p>
        </p:txBody>
      </p:sp>
      <p:sp>
        <p:nvSpPr>
          <p:cNvPr id="13" name="TextBox 12"/>
          <p:cNvSpPr txBox="1"/>
          <p:nvPr/>
        </p:nvSpPr>
        <p:spPr>
          <a:xfrm>
            <a:off x="795528" y="3246120"/>
            <a:ext cx="3063240" cy="640080"/>
          </a:xfrm>
          <a:prstGeom prst="rect">
            <a:avLst/>
          </a:prstGeom>
          <a:noFill/>
        </p:spPr>
        <p:txBody>
          <a:bodyPr wrap="square" lIns="0" rIns="0" tIns="0" bIns="0" anchor="t">
            <a:spAutoFit/>
          </a:bodyPr>
          <a:lstStyle/>
          <a:p>
            <a:pPr algn="ctr">
              <a:spcAft>
                <a:spcPts val="0"/>
              </a:spcAft>
              <a:buNone/>
            </a:pPr>
            <a:r>
              <a:rPr sz="1500" b="1" i="0">
                <a:solidFill>
                  <a:srgbClr val="3D3C3C"/>
                </a:solidFill>
                <a:latin typeface="Poppins"/>
              </a:rPr>
              <a:t>Jeffrey Tobias</a:t>
            </a:r>
          </a:p>
          <a:p>
            <a:pPr algn="ctr">
              <a:spcAft>
                <a:spcPts val="400"/>
              </a:spcAft>
              <a:buNone/>
            </a:pPr>
            <a:r>
              <a:rPr sz="1100" b="0" i="0">
                <a:solidFill>
                  <a:srgbClr val="6B6B6B"/>
                </a:solidFill>
                <a:latin typeface="Open Sans"/>
              </a:rPr>
              <a:t>Founder and Managing Partner</a:t>
            </a:r>
          </a:p>
        </p:txBody>
      </p:sp>
      <p:sp>
        <p:nvSpPr>
          <p:cNvPr id="14" name="TextBox 13"/>
          <p:cNvSpPr txBox="1"/>
          <p:nvPr/>
        </p:nvSpPr>
        <p:spPr>
          <a:xfrm>
            <a:off x="841247" y="4023360"/>
            <a:ext cx="2971800" cy="1737360"/>
          </a:xfrm>
          <a:prstGeom prst="rect">
            <a:avLst/>
          </a:prstGeom>
          <a:noFill/>
        </p:spPr>
        <p:txBody>
          <a:bodyPr wrap="square" lIns="0" rIns="0" tIns="0" bIns="0" anchor="t">
            <a:spAutoFit/>
          </a:bodyPr>
          <a:lstStyle/>
          <a:p>
            <a:pPr>
              <a:spcAft>
                <a:spcPts val="400"/>
              </a:spcAft>
              <a:buNone/>
            </a:pPr>
            <a:r>
              <a:rPr sz="1150" b="0" i="0">
                <a:solidFill>
                  <a:srgbClr val="3D3C3C"/>
                </a:solidFill>
                <a:latin typeface="Open Sans"/>
              </a:rPr>
              <a:t>Provides strategic oversight and quality assurance, drawing on 30 years of shifting organisations from inside-out to outside-in thinking and TSG's work on Australia's most significant infrastructure bids.</a:t>
            </a:r>
          </a:p>
        </p:txBody>
      </p:sp>
      <p:sp>
        <p:nvSpPr>
          <p:cNvPr id="15" name="Rounded Rectangle 14"/>
          <p:cNvSpPr/>
          <p:nvPr/>
        </p:nvSpPr>
        <p:spPr>
          <a:xfrm>
            <a:off x="4334256" y="1417320"/>
            <a:ext cx="3520440" cy="44348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pic>
        <p:nvPicPr>
          <p:cNvPr id="16" name="Picture 15" descr="hk.png"/>
          <p:cNvPicPr>
            <a:picLocks noChangeAspect="1"/>
          </p:cNvPicPr>
          <p:nvPr/>
        </p:nvPicPr>
        <p:blipFill>
          <a:blip r:embed="rId7"/>
          <a:stretch>
            <a:fillRect/>
          </a:stretch>
        </p:blipFill>
        <p:spPr>
          <a:xfrm>
            <a:off x="5504688" y="1645920"/>
            <a:ext cx="1188720" cy="1188720"/>
          </a:xfrm>
          <a:prstGeom prst="rect">
            <a:avLst/>
          </a:prstGeom>
        </p:spPr>
      </p:pic>
      <p:sp>
        <p:nvSpPr>
          <p:cNvPr id="17" name="TextBox 16"/>
          <p:cNvSpPr txBox="1"/>
          <p:nvPr/>
        </p:nvSpPr>
        <p:spPr>
          <a:xfrm>
            <a:off x="4562856" y="2971800"/>
            <a:ext cx="3063240" cy="274320"/>
          </a:xfrm>
          <a:prstGeom prst="rect">
            <a:avLst/>
          </a:prstGeom>
          <a:noFill/>
        </p:spPr>
        <p:txBody>
          <a:bodyPr wrap="square" lIns="0" rIns="0" tIns="0" bIns="0" anchor="t">
            <a:spAutoFit/>
          </a:bodyPr>
          <a:lstStyle/>
          <a:p>
            <a:pPr algn="ctr">
              <a:spcAft>
                <a:spcPts val="0"/>
              </a:spcAft>
              <a:buNone/>
            </a:pPr>
            <a:r>
              <a:rPr sz="1050" b="1" i="0">
                <a:solidFill>
                  <a:srgbClr val="EE2B7A"/>
                </a:solidFill>
                <a:latin typeface="Poppins"/>
              </a:rPr>
              <a:t>ENGAGEMENT LEAD</a:t>
            </a:r>
          </a:p>
        </p:txBody>
      </p:sp>
      <p:sp>
        <p:nvSpPr>
          <p:cNvPr id="18" name="TextBox 17"/>
          <p:cNvSpPr txBox="1"/>
          <p:nvPr/>
        </p:nvSpPr>
        <p:spPr>
          <a:xfrm>
            <a:off x="4562856" y="3246120"/>
            <a:ext cx="3063240" cy="640080"/>
          </a:xfrm>
          <a:prstGeom prst="rect">
            <a:avLst/>
          </a:prstGeom>
          <a:noFill/>
        </p:spPr>
        <p:txBody>
          <a:bodyPr wrap="square" lIns="0" rIns="0" tIns="0" bIns="0" anchor="t">
            <a:spAutoFit/>
          </a:bodyPr>
          <a:lstStyle/>
          <a:p>
            <a:pPr algn="ctr">
              <a:spcAft>
                <a:spcPts val="0"/>
              </a:spcAft>
              <a:buNone/>
            </a:pPr>
            <a:r>
              <a:rPr sz="1500" b="1" i="0">
                <a:solidFill>
                  <a:srgbClr val="3D3C3C"/>
                </a:solidFill>
                <a:latin typeface="Poppins"/>
              </a:rPr>
              <a:t>Heather King</a:t>
            </a:r>
          </a:p>
          <a:p>
            <a:pPr algn="ctr">
              <a:spcAft>
                <a:spcPts val="400"/>
              </a:spcAft>
              <a:buNone/>
            </a:pPr>
            <a:r>
              <a:rPr sz="1100" b="0" i="0">
                <a:solidFill>
                  <a:srgbClr val="6B6B6B"/>
                </a:solidFill>
                <a:latin typeface="Open Sans"/>
              </a:rPr>
              <a:t>Manager, Major Projects &amp; Construction</a:t>
            </a:r>
          </a:p>
        </p:txBody>
      </p:sp>
      <p:sp>
        <p:nvSpPr>
          <p:cNvPr id="19" name="TextBox 18"/>
          <p:cNvSpPr txBox="1"/>
          <p:nvPr/>
        </p:nvSpPr>
        <p:spPr>
          <a:xfrm>
            <a:off x="4608576" y="4023360"/>
            <a:ext cx="2971800" cy="1737360"/>
          </a:xfrm>
          <a:prstGeom prst="rect">
            <a:avLst/>
          </a:prstGeom>
          <a:noFill/>
        </p:spPr>
        <p:txBody>
          <a:bodyPr wrap="square" lIns="0" rIns="0" tIns="0" bIns="0" anchor="t">
            <a:spAutoFit/>
          </a:bodyPr>
          <a:lstStyle/>
          <a:p>
            <a:pPr>
              <a:spcAft>
                <a:spcPts val="400"/>
              </a:spcAft>
              <a:buNone/>
            </a:pPr>
            <a:r>
              <a:rPr sz="1150" b="0" i="0">
                <a:solidFill>
                  <a:srgbClr val="3D3C3C"/>
                </a:solidFill>
                <a:latin typeface="Open Sans"/>
              </a:rPr>
              <a:t>Leads day-to-day delivery and co-facilitates both workshops, bringing construction pursuit experience and a strong understanding of how project teams are experienced by their clients.</a:t>
            </a:r>
          </a:p>
        </p:txBody>
      </p:sp>
      <p:sp>
        <p:nvSpPr>
          <p:cNvPr id="20" name="Rounded Rectangle 19"/>
          <p:cNvSpPr/>
          <p:nvPr/>
        </p:nvSpPr>
        <p:spPr>
          <a:xfrm>
            <a:off x="8101583" y="1417320"/>
            <a:ext cx="3520440" cy="4434840"/>
          </a:xfrm>
          <a:prstGeom prst="roundRect">
            <a:avLst>
              <a:gd name="adj" fmla="val 5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21" name="Oval 20"/>
          <p:cNvSpPr/>
          <p:nvPr/>
        </p:nvSpPr>
        <p:spPr>
          <a:xfrm>
            <a:off x="9272015" y="1645920"/>
            <a:ext cx="1188720" cy="1188720"/>
          </a:xfrm>
          <a:prstGeom prst="ellipse">
            <a:avLst/>
          </a:prstGeom>
          <a:solidFill>
            <a:srgbClr val="C9E9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2600" b="1" i="0">
                <a:solidFill>
                  <a:srgbClr val="2EB88A"/>
                </a:solidFill>
                <a:latin typeface="Poppins"/>
              </a:rPr>
              <a:t>AW</a:t>
            </a:r>
          </a:p>
        </p:txBody>
      </p:sp>
      <p:sp>
        <p:nvSpPr>
          <p:cNvPr id="22" name="TextBox 21"/>
          <p:cNvSpPr txBox="1"/>
          <p:nvPr/>
        </p:nvSpPr>
        <p:spPr>
          <a:xfrm>
            <a:off x="8330183" y="2971800"/>
            <a:ext cx="3063240" cy="274320"/>
          </a:xfrm>
          <a:prstGeom prst="rect">
            <a:avLst/>
          </a:prstGeom>
          <a:noFill/>
        </p:spPr>
        <p:txBody>
          <a:bodyPr wrap="square" lIns="0" rIns="0" tIns="0" bIns="0" anchor="t">
            <a:spAutoFit/>
          </a:bodyPr>
          <a:lstStyle/>
          <a:p>
            <a:pPr algn="ctr">
              <a:spcAft>
                <a:spcPts val="0"/>
              </a:spcAft>
              <a:buNone/>
            </a:pPr>
            <a:r>
              <a:rPr sz="1050" b="1" i="0">
                <a:solidFill>
                  <a:srgbClr val="2EB88A"/>
                </a:solidFill>
                <a:latin typeface="Poppins"/>
              </a:rPr>
              <a:t>STORYBOARDING LEAD</a:t>
            </a:r>
          </a:p>
        </p:txBody>
      </p:sp>
      <p:sp>
        <p:nvSpPr>
          <p:cNvPr id="23" name="TextBox 22"/>
          <p:cNvSpPr txBox="1"/>
          <p:nvPr/>
        </p:nvSpPr>
        <p:spPr>
          <a:xfrm>
            <a:off x="8330183" y="3246120"/>
            <a:ext cx="3063240" cy="640080"/>
          </a:xfrm>
          <a:prstGeom prst="rect">
            <a:avLst/>
          </a:prstGeom>
          <a:noFill/>
        </p:spPr>
        <p:txBody>
          <a:bodyPr wrap="square" lIns="0" rIns="0" tIns="0" bIns="0" anchor="t">
            <a:spAutoFit/>
          </a:bodyPr>
          <a:lstStyle/>
          <a:p>
            <a:pPr algn="ctr">
              <a:spcAft>
                <a:spcPts val="0"/>
              </a:spcAft>
              <a:buNone/>
            </a:pPr>
            <a:r>
              <a:rPr sz="1500" b="1" i="0">
                <a:solidFill>
                  <a:srgbClr val="3D3C3C"/>
                </a:solidFill>
                <a:latin typeface="Poppins"/>
              </a:rPr>
              <a:t>Alycia Wolf</a:t>
            </a:r>
          </a:p>
          <a:p>
            <a:pPr algn="ctr">
              <a:spcAft>
                <a:spcPts val="400"/>
              </a:spcAft>
              <a:buNone/>
            </a:pPr>
            <a:r>
              <a:rPr sz="1100" b="0" i="0">
                <a:solidFill>
                  <a:srgbClr val="6B6B6B"/>
                </a:solidFill>
                <a:latin typeface="Open Sans"/>
              </a:rPr>
              <a:t>The Strategy Group</a:t>
            </a:r>
          </a:p>
        </p:txBody>
      </p:sp>
      <p:sp>
        <p:nvSpPr>
          <p:cNvPr id="24" name="TextBox 23"/>
          <p:cNvSpPr txBox="1"/>
          <p:nvPr/>
        </p:nvSpPr>
        <p:spPr>
          <a:xfrm>
            <a:off x="8375904" y="4023360"/>
            <a:ext cx="2971800" cy="1737360"/>
          </a:xfrm>
          <a:prstGeom prst="rect">
            <a:avLst/>
          </a:prstGeom>
          <a:noFill/>
        </p:spPr>
        <p:txBody>
          <a:bodyPr wrap="square" lIns="0" rIns="0" tIns="0" bIns="0" anchor="t">
            <a:spAutoFit/>
          </a:bodyPr>
          <a:lstStyle/>
          <a:p>
            <a:pPr>
              <a:spcAft>
                <a:spcPts val="400"/>
              </a:spcAft>
              <a:buNone/>
            </a:pPr>
            <a:r>
              <a:rPr sz="1150" b="0" i="0">
                <a:solidFill>
                  <a:srgbClr val="3D3C3C"/>
                </a:solidFill>
                <a:latin typeface="Open Sans"/>
              </a:rPr>
              <a:t>Leads the storyboarding method and co-facilitates the workshops, having storyboarded GoFar's EOI panel responses for the High Speed Rail project.</a:t>
            </a:r>
          </a:p>
        </p:txBody>
      </p:sp>
    </p:spTree>
    <p:extLst>
      <p:ext uri="{BB962C8B-B14F-4D97-AF65-F5344CB8AC3E}">
        <p14:creationId xmlns:p14="http://schemas.microsoft.com/office/powerpoint/2010/main" val="3726619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ue_panel.jpg"/>
          <p:cNvPicPr>
            <a:picLocks noChangeAspect="1"/>
          </p:cNvPicPr>
          <p:nvPr/>
        </p:nvPicPr>
        <p:blipFill>
          <a:blip r:embed="rId2"/>
          <a:stretch>
            <a:fillRect/>
          </a:stretch>
        </p:blipFill>
        <p:spPr>
          <a:xfrm>
            <a:off x="4709160" y="0"/>
            <a:ext cx="7479792" cy="6858000"/>
          </a:xfrm>
          <a:prstGeom prst="rect">
            <a:avLst/>
          </a:prstGeom>
        </p:spPr>
      </p:pic>
      <p:sp>
        <p:nvSpPr>
          <p:cNvPr id="3" name="Rectangle 2"/>
          <p:cNvSpPr/>
          <p:nvPr/>
        </p:nvSpPr>
        <p:spPr>
          <a:xfrm>
            <a:off x="0" y="0"/>
            <a:ext cx="47091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4" name="Rounded Rectangle 3"/>
          <p:cNvSpPr/>
          <p:nvPr/>
        </p:nvSpPr>
        <p:spPr>
          <a:xfrm>
            <a:off x="411480" y="228600"/>
            <a:ext cx="2331720" cy="329184"/>
          </a:xfrm>
          <a:prstGeom prst="roundRect">
            <a:avLst>
              <a:gd name="adj" fmla="val 50000"/>
            </a:avLst>
          </a:prstGeom>
          <a:solidFill>
            <a:srgbClr val="FFFFFF"/>
          </a:solidFill>
          <a:ln w="15875">
            <a:solidFill>
              <a:srgbClr val="2EB88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050" b="1" i="0">
                <a:solidFill>
                  <a:srgbClr val="2EB88A"/>
                </a:solidFill>
                <a:latin typeface="Poppins"/>
              </a:rPr>
              <a:t>04 Our Experience and Team</a:t>
            </a:r>
          </a:p>
        </p:txBody>
      </p:sp>
      <p:pic>
        <p:nvPicPr>
          <p:cNvPr id="5" name="Picture 4" descr="jt.png"/>
          <p:cNvPicPr>
            <a:picLocks noChangeAspect="1"/>
          </p:cNvPicPr>
          <p:nvPr/>
        </p:nvPicPr>
        <p:blipFill>
          <a:blip r:embed="rId7"/>
          <a:stretch>
            <a:fillRect/>
          </a:stretch>
        </p:blipFill>
        <p:spPr>
          <a:xfrm>
            <a:off x="1417320" y="731520"/>
            <a:ext cx="1828800" cy="1828800"/>
          </a:xfrm>
          <a:prstGeom prst="rect">
            <a:avLst/>
          </a:prstGeom>
        </p:spPr>
      </p:pic>
      <p:sp>
        <p:nvSpPr>
          <p:cNvPr id="6" name="TextBox 5"/>
          <p:cNvSpPr txBox="1"/>
          <p:nvPr/>
        </p:nvSpPr>
        <p:spPr>
          <a:xfrm>
            <a:off x="274320" y="2651760"/>
            <a:ext cx="4160520" cy="777240"/>
          </a:xfrm>
          <a:prstGeom prst="rect">
            <a:avLst/>
          </a:prstGeom>
          <a:noFill/>
        </p:spPr>
        <p:txBody>
          <a:bodyPr wrap="square" lIns="0" rIns="0" tIns="0" bIns="0" anchor="t">
            <a:spAutoFit/>
          </a:bodyPr>
          <a:lstStyle/>
          <a:p>
            <a:pPr algn="ctr">
              <a:spcAft>
                <a:spcPts val="0"/>
              </a:spcAft>
              <a:buNone/>
            </a:pPr>
            <a:r>
              <a:rPr sz="2000" b="1" i="0">
                <a:solidFill>
                  <a:srgbClr val="0E98D7"/>
                </a:solidFill>
                <a:latin typeface="Poppins"/>
              </a:rPr>
              <a:t>Jeffrey Tobias</a:t>
            </a:r>
          </a:p>
          <a:p>
            <a:pPr algn="ctr">
              <a:spcAft>
                <a:spcPts val="400"/>
              </a:spcAft>
              <a:buNone/>
            </a:pPr>
            <a:r>
              <a:rPr sz="1200" b="0" i="0">
                <a:solidFill>
                  <a:srgbClr val="0E98D7"/>
                </a:solidFill>
                <a:latin typeface="Poppins"/>
              </a:rPr>
              <a:t>Founder and Managing Partner
Engagement Sponsor</a:t>
            </a:r>
          </a:p>
        </p:txBody>
      </p:sp>
      <p:sp>
        <p:nvSpPr>
          <p:cNvPr id="7" name="TextBox 6"/>
          <p:cNvSpPr txBox="1"/>
          <p:nvPr/>
        </p:nvSpPr>
        <p:spPr>
          <a:xfrm>
            <a:off x="411480" y="3611880"/>
            <a:ext cx="4023360" cy="3108960"/>
          </a:xfrm>
          <a:prstGeom prst="rect">
            <a:avLst/>
          </a:prstGeom>
          <a:noFill/>
        </p:spPr>
        <p:txBody>
          <a:bodyPr wrap="square" lIns="0" rIns="0" tIns="0" bIns="0" anchor="t">
            <a:spAutoFit/>
          </a:bodyPr>
          <a:lstStyle/>
          <a:p>
            <a:pPr>
              <a:spcAft>
                <a:spcPts val="300"/>
              </a:spcAft>
              <a:buNone/>
            </a:pPr>
            <a:r>
              <a:rPr sz="1100" b="1" i="0">
                <a:solidFill>
                  <a:srgbClr val="3D3C3C"/>
                </a:solidFill>
                <a:latin typeface="Open Sans"/>
              </a:rPr>
              <a:t>What Jeffrey brings to this engagement</a:t>
            </a:r>
          </a:p>
          <a:p>
            <a:pPr marL="155448" indent="-155448">
              <a:spcAft>
                <a:spcPts val="100"/>
              </a:spcAft>
              <a:buFont typeface="Arial"/>
              <a:buChar char="•"/>
            </a:pPr>
            <a:r>
              <a:rPr sz="1000" b="0" i="0">
                <a:solidFill>
                  <a:srgbClr val="3D3C3C"/>
                </a:solidFill>
                <a:latin typeface="Open Sans"/>
              </a:rPr>
              <a:t>30 years shifting mindsets at Cisco, AGSM and TSG; the same shift Webuild needs to show the client</a:t>
            </a:r>
          </a:p>
          <a:p>
            <a:pPr marL="155448" indent="-155448">
              <a:spcAft>
                <a:spcPts val="100"/>
              </a:spcAft>
              <a:buFont typeface="Arial"/>
              <a:buChar char="•"/>
            </a:pPr>
            <a:r>
              <a:rPr sz="1000" b="0" i="0">
                <a:solidFill>
                  <a:srgbClr val="3D3C3C"/>
                </a:solidFill>
                <a:latin typeface="Open Sans"/>
              </a:rPr>
              <a:t>Personal track record on three of Australia's most significant infrastructure JV bids: ETP, LineWide 2 and HTP</a:t>
            </a:r>
          </a:p>
          <a:p>
            <a:pPr marL="155448" indent="-155448">
              <a:spcAft>
                <a:spcPts val="100"/>
              </a:spcAft>
              <a:buFont typeface="Arial"/>
              <a:buChar char="•"/>
            </a:pPr>
            <a:r>
              <a:rPr sz="1000" b="0" i="0">
                <a:solidFill>
                  <a:srgbClr val="3D3C3C"/>
                </a:solidFill>
                <a:latin typeface="Open Sans"/>
              </a:rPr>
              <a:t>Strategic counterpart to senior leadership on major contractor bids</a:t>
            </a:r>
          </a:p>
          <a:p>
            <a:pPr marL="155448" indent="-155448">
              <a:spcAft>
                <a:spcPts val="100"/>
              </a:spcAft>
              <a:buFont typeface="Arial"/>
              <a:buChar char="•"/>
            </a:pPr>
            <a:r>
              <a:rPr sz="1000" b="0" i="0">
                <a:solidFill>
                  <a:srgbClr val="3D3C3C"/>
                </a:solidFill>
                <a:latin typeface="Open Sans"/>
              </a:rPr>
              <a:t>Built TSG into a boutique consultancy advising some of Australia's largest entities on their most strategic problems</a:t>
            </a:r>
          </a:p>
          <a:p>
            <a:pPr marL="155448" indent="-155448">
              <a:spcAft>
                <a:spcPts val="100"/>
              </a:spcAft>
              <a:buFont typeface="Arial"/>
              <a:buChar char="•"/>
            </a:pPr>
            <a:r>
              <a:rPr sz="1000" b="0" i="0">
                <a:solidFill>
                  <a:srgbClr val="3D3C3C"/>
                </a:solidFill>
                <a:latin typeface="Open Sans"/>
              </a:rPr>
              <a:t>Adjunct Professor at AGSM, working with senior executives on transformation and strategic change</a:t>
            </a:r>
          </a:p>
          <a:p>
            <a:pPr>
              <a:spcBef>
                <a:spcPts val="800"/>
              </a:spcBef>
              <a:spcAft>
                <a:spcPts val="300"/>
              </a:spcAft>
              <a:buNone/>
            </a:pPr>
            <a:r>
              <a:rPr sz="1100" b="1" i="0">
                <a:solidFill>
                  <a:srgbClr val="3D3C3C"/>
                </a:solidFill>
                <a:latin typeface="Open Sans"/>
              </a:rPr>
              <a:t>Qualifications</a:t>
            </a:r>
          </a:p>
          <a:p>
            <a:pPr marL="155448" indent="-155448">
              <a:spcAft>
                <a:spcPts val="100"/>
              </a:spcAft>
              <a:buFont typeface="Arial"/>
              <a:buChar char="•"/>
            </a:pPr>
            <a:r>
              <a:rPr sz="1000" b="0" i="0">
                <a:solidFill>
                  <a:srgbClr val="3D3C3C"/>
                </a:solidFill>
                <a:latin typeface="Open Sans"/>
              </a:rPr>
              <a:t>Bachelor of Science (First-class Honours in Computer Science; University Medal), University of NSW</a:t>
            </a:r>
          </a:p>
          <a:p>
            <a:pPr marL="155448" indent="-155448">
              <a:spcAft>
                <a:spcPts val="100"/>
              </a:spcAft>
              <a:buFont typeface="Arial"/>
              <a:buChar char="•"/>
            </a:pPr>
            <a:r>
              <a:rPr sz="1000" b="0" i="0">
                <a:solidFill>
                  <a:srgbClr val="3D3C3C"/>
                </a:solidFill>
                <a:latin typeface="Open Sans"/>
              </a:rPr>
              <a:t>Ph.D., Computer Science, University of New South Wales</a:t>
            </a:r>
          </a:p>
        </p:txBody>
      </p:sp>
      <p:sp>
        <p:nvSpPr>
          <p:cNvPr id="8" name="TextBox 7"/>
          <p:cNvSpPr txBox="1"/>
          <p:nvPr/>
        </p:nvSpPr>
        <p:spPr>
          <a:xfrm>
            <a:off x="5029200" y="320040"/>
            <a:ext cx="6858000" cy="6309360"/>
          </a:xfrm>
          <a:prstGeom prst="rect">
            <a:avLst/>
          </a:prstGeom>
          <a:noFill/>
        </p:spPr>
        <p:txBody>
          <a:bodyPr wrap="square" lIns="0" rIns="0" tIns="0" bIns="0" anchor="t">
            <a:spAutoFit/>
          </a:bodyPr>
          <a:lstStyle/>
          <a:p>
            <a:pPr>
              <a:spcAft>
                <a:spcPts val="300"/>
              </a:spcAft>
              <a:buNone/>
            </a:pPr>
            <a:r>
              <a:rPr sz="1150" b="1" i="0">
                <a:solidFill>
                  <a:srgbClr val="FFFFFF"/>
                </a:solidFill>
                <a:latin typeface="Open Sans"/>
              </a:rPr>
              <a:t>Background</a:t>
            </a:r>
          </a:p>
          <a:p>
            <a:pPr>
              <a:spcAft>
                <a:spcPts val="700"/>
              </a:spcAft>
              <a:buNone/>
            </a:pPr>
            <a:r>
              <a:rPr sz="1050" b="0" i="0">
                <a:solidFill>
                  <a:srgbClr val="FFFFFF"/>
                </a:solidFill>
                <a:latin typeface="Open Sans"/>
              </a:rPr>
              <a:t>Jeffrey has spent his career working alongside senior executives on their most strategic challenges. At Cisco, he led the global Innovation Thought Leadership team, advising the CEOs of Cisco's top 20 customers on how to shift the mindset of their organisations. At AGSM, he works with the most senior executives in the country on transformation and the largest topics of the day.</a:t>
            </a:r>
          </a:p>
          <a:p>
            <a:pPr>
              <a:spcAft>
                <a:spcPts val="700"/>
              </a:spcAft>
              <a:buNone/>
            </a:pPr>
            <a:r>
              <a:rPr sz="1050" b="0" i="0">
                <a:solidFill>
                  <a:srgbClr val="FFFFFF"/>
                </a:solidFill>
                <a:latin typeface="Open Sans"/>
              </a:rPr>
              <a:t>The thread that runs through all of this work is mindset shift. Jeffrey has spent 30 years moving large organisations from inside-out to outside-in thinking, and from technical-first to customer-first. That is the shift that will help Webuild stand out on Gold Coast Light Rail Stage 4.</a:t>
            </a:r>
          </a:p>
          <a:p>
            <a:pPr>
              <a:spcAft>
                <a:spcPts val="700"/>
              </a:spcAft>
              <a:buNone/>
            </a:pPr>
            <a:r>
              <a:rPr sz="1050" b="0" i="0">
                <a:solidFill>
                  <a:srgbClr val="FFFFFF"/>
                </a:solidFill>
                <a:latin typeface="Open Sans"/>
              </a:rPr>
              <a:t>In recent years Jeffrey has personally led TSG's engagements on some of Australia's most significant infrastructure bids: the Sydney Metro Eastern Tunnel Package (JCG JV, $1.6B contract won), Sydney Metro LineWide 2 (CPB-UGL JV) and the Hunter Transmission Project (CPB-UGL JV).</a:t>
            </a:r>
          </a:p>
          <a:p>
            <a:pPr>
              <a:spcAft>
                <a:spcPts val="700"/>
              </a:spcAft>
              <a:buNone/>
            </a:pPr>
            <a:r>
              <a:rPr sz="1050" b="0" i="0">
                <a:solidFill>
                  <a:srgbClr val="FFFFFF"/>
                </a:solidFill>
                <a:latin typeface="Open Sans"/>
              </a:rPr>
              <a:t>Adjunct Professor of Innovation and Entrepreneurship and AGSM Fellow, UNSW Australian Graduate School of Business.</a:t>
            </a:r>
          </a:p>
          <a:p>
            <a:pPr>
              <a:spcBef>
                <a:spcPts val="400"/>
              </a:spcBef>
              <a:spcAft>
                <a:spcPts val="300"/>
              </a:spcAft>
              <a:buNone/>
            </a:pPr>
            <a:r>
              <a:rPr sz="1150" b="1" i="0">
                <a:solidFill>
                  <a:srgbClr val="FFFFFF"/>
                </a:solidFill>
                <a:latin typeface="Open Sans"/>
              </a:rPr>
              <a:t>Relevant Experience</a:t>
            </a:r>
          </a:p>
          <a:p>
            <a:pPr marL="155448" indent="-155448">
              <a:spcAft>
                <a:spcPts val="300"/>
              </a:spcAft>
              <a:buFont typeface="Arial"/>
              <a:buChar char="•"/>
            </a:pPr>
            <a:r>
              <a:rPr sz="1050" b="0" i="0">
                <a:solidFill>
                  <a:srgbClr val="FFFFFF"/>
                </a:solidFill>
                <a:latin typeface="Open Sans"/>
              </a:rPr>
              <a:t>Eastern Tunnel Package, Sydney Metro: Sponsor and lead coach for the JCG JV (John Holland, CPB, Ghella). $1.6B contract won. Tom Murray (Delivery Director, Sydney Metro): "I have no doubt that The Strategy Group engagement led to the provision of an incredibly well structured, customer-centric proposal."</a:t>
            </a:r>
          </a:p>
          <a:p>
            <a:pPr marL="155448" indent="-155448">
              <a:spcAft>
                <a:spcPts val="300"/>
              </a:spcAft>
              <a:buFont typeface="Arial"/>
              <a:buChar char="•"/>
            </a:pPr>
            <a:r>
              <a:rPr sz="1050" b="0" i="0">
                <a:solidFill>
                  <a:srgbClr val="FFFFFF"/>
                </a:solidFill>
                <a:latin typeface="Open Sans"/>
              </a:rPr>
              <a:t>LineWide 2, Sydney Metro: Sponsor and lead coach for the CPB-UGL JV across 80+ interactives and multiple major client engagements.</a:t>
            </a:r>
          </a:p>
          <a:p>
            <a:pPr marL="155448" indent="-155448">
              <a:spcAft>
                <a:spcPts val="300"/>
              </a:spcAft>
              <a:buFont typeface="Arial"/>
              <a:buChar char="•"/>
            </a:pPr>
            <a:r>
              <a:rPr sz="1050" b="0" i="0">
                <a:solidFill>
                  <a:srgbClr val="FFFFFF"/>
                </a:solidFill>
                <a:latin typeface="Open Sans"/>
              </a:rPr>
              <a:t>Hunter Transmission Project: Sponsor and lead coach for the CPB-UGL JV bidding to EnergyCo.</a:t>
            </a:r>
          </a:p>
          <a:p>
            <a:pPr marL="155448" indent="-155448">
              <a:spcAft>
                <a:spcPts val="300"/>
              </a:spcAft>
              <a:buFont typeface="Arial"/>
              <a:buChar char="•"/>
            </a:pPr>
            <a:r>
              <a:rPr sz="1050" b="0" i="0">
                <a:solidFill>
                  <a:srgbClr val="FFFFFF"/>
                </a:solidFill>
                <a:latin typeface="Open Sans"/>
              </a:rPr>
              <a:t>Cisco IBSG: Global Lead for Innovation Thought Leadership, advising executives of Fortune Global 500 companies on transformation and customer-centric design.</a:t>
            </a:r>
          </a:p>
        </p:txBody>
      </p:sp>
    </p:spTree>
    <p:extLst>
      <p:ext uri="{BB962C8B-B14F-4D97-AF65-F5344CB8AC3E}">
        <p14:creationId xmlns:p14="http://schemas.microsoft.com/office/powerpoint/2010/main" val="37266199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lue_panel.jpg"/>
          <p:cNvPicPr>
            <a:picLocks noChangeAspect="1"/>
          </p:cNvPicPr>
          <p:nvPr/>
        </p:nvPicPr>
        <p:blipFill>
          <a:blip r:embed="rId2"/>
          <a:stretch>
            <a:fillRect/>
          </a:stretch>
        </p:blipFill>
        <p:spPr>
          <a:xfrm>
            <a:off x="4709160" y="0"/>
            <a:ext cx="7479792" cy="6858000"/>
          </a:xfrm>
          <a:prstGeom prst="rect">
            <a:avLst/>
          </a:prstGeom>
        </p:spPr>
      </p:pic>
      <p:sp>
        <p:nvSpPr>
          <p:cNvPr id="3" name="Rectangle 2"/>
          <p:cNvSpPr/>
          <p:nvPr/>
        </p:nvSpPr>
        <p:spPr>
          <a:xfrm>
            <a:off x="0" y="0"/>
            <a:ext cx="4709160"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43891" bIns="43891"/>
          <a:lstStyle/>
          <a:p>
            <a:pPr algn="ctr"/>
          </a:p>
        </p:txBody>
      </p:sp>
      <p:sp>
        <p:nvSpPr>
          <p:cNvPr id="4" name="Rounded Rectangle 3"/>
          <p:cNvSpPr/>
          <p:nvPr/>
        </p:nvSpPr>
        <p:spPr>
          <a:xfrm>
            <a:off x="411480" y="228600"/>
            <a:ext cx="2331720" cy="329184"/>
          </a:xfrm>
          <a:prstGeom prst="roundRect">
            <a:avLst>
              <a:gd name="adj" fmla="val 50000"/>
            </a:avLst>
          </a:prstGeom>
          <a:solidFill>
            <a:srgbClr val="FFFFFF"/>
          </a:solidFill>
          <a:ln w="15875">
            <a:solidFill>
              <a:srgbClr val="2EB88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spcAft>
                <a:spcPts val="0"/>
              </a:spcAft>
              <a:buNone/>
            </a:pPr>
            <a:r>
              <a:rPr sz="1050" b="1" i="0">
                <a:solidFill>
                  <a:srgbClr val="2EB88A"/>
                </a:solidFill>
                <a:latin typeface="Poppins"/>
              </a:rPr>
              <a:t>04 Our Experience and Team</a:t>
            </a:r>
          </a:p>
        </p:txBody>
      </p:sp>
      <p:pic>
        <p:nvPicPr>
          <p:cNvPr id="5" name="Picture 4" descr="hk.png"/>
          <p:cNvPicPr>
            <a:picLocks noChangeAspect="1"/>
          </p:cNvPicPr>
          <p:nvPr/>
        </p:nvPicPr>
        <p:blipFill>
          <a:blip r:embed="rId7"/>
          <a:stretch>
            <a:fillRect/>
          </a:stretch>
        </p:blipFill>
        <p:spPr>
          <a:xfrm>
            <a:off x="1417320" y="731520"/>
            <a:ext cx="1828800" cy="1828800"/>
          </a:xfrm>
          <a:prstGeom prst="rect">
            <a:avLst/>
          </a:prstGeom>
        </p:spPr>
      </p:pic>
      <p:sp>
        <p:nvSpPr>
          <p:cNvPr id="6" name="TextBox 5"/>
          <p:cNvSpPr txBox="1"/>
          <p:nvPr/>
        </p:nvSpPr>
        <p:spPr>
          <a:xfrm>
            <a:off x="274320" y="2651760"/>
            <a:ext cx="4160520" cy="777240"/>
          </a:xfrm>
          <a:prstGeom prst="rect">
            <a:avLst/>
          </a:prstGeom>
          <a:noFill/>
        </p:spPr>
        <p:txBody>
          <a:bodyPr wrap="square" lIns="0" rIns="0" tIns="0" bIns="0" anchor="t">
            <a:spAutoFit/>
          </a:bodyPr>
          <a:lstStyle/>
          <a:p>
            <a:pPr algn="ctr">
              <a:spcAft>
                <a:spcPts val="0"/>
              </a:spcAft>
              <a:buNone/>
            </a:pPr>
            <a:r>
              <a:rPr sz="2000" b="1" i="0">
                <a:solidFill>
                  <a:srgbClr val="0E98D7"/>
                </a:solidFill>
                <a:latin typeface="Poppins"/>
              </a:rPr>
              <a:t>Heather King</a:t>
            </a:r>
          </a:p>
          <a:p>
            <a:pPr algn="ctr">
              <a:spcAft>
                <a:spcPts val="400"/>
              </a:spcAft>
              <a:buNone/>
            </a:pPr>
            <a:r>
              <a:rPr sz="1200" b="0" i="0">
                <a:solidFill>
                  <a:srgbClr val="0E98D7"/>
                </a:solidFill>
                <a:latin typeface="Poppins"/>
              </a:rPr>
              <a:t>Manager, Major Projects &amp; Construction
Engagement Lead</a:t>
            </a:r>
          </a:p>
        </p:txBody>
      </p:sp>
      <p:sp>
        <p:nvSpPr>
          <p:cNvPr id="7" name="TextBox 6"/>
          <p:cNvSpPr txBox="1"/>
          <p:nvPr/>
        </p:nvSpPr>
        <p:spPr>
          <a:xfrm>
            <a:off x="411480" y="3611880"/>
            <a:ext cx="4023360" cy="3108960"/>
          </a:xfrm>
          <a:prstGeom prst="rect">
            <a:avLst/>
          </a:prstGeom>
          <a:noFill/>
        </p:spPr>
        <p:txBody>
          <a:bodyPr wrap="square" lIns="0" rIns="0" tIns="0" bIns="0" anchor="t">
            <a:spAutoFit/>
          </a:bodyPr>
          <a:lstStyle/>
          <a:p>
            <a:pPr>
              <a:spcAft>
                <a:spcPts val="300"/>
              </a:spcAft>
              <a:buNone/>
            </a:pPr>
            <a:r>
              <a:rPr sz="1100" b="1" i="0">
                <a:solidFill>
                  <a:srgbClr val="3D3C3C"/>
                </a:solidFill>
                <a:latin typeface="Open Sans"/>
              </a:rPr>
              <a:t>What Heather brings to this engagement</a:t>
            </a:r>
          </a:p>
          <a:p>
            <a:pPr marL="155448" indent="-155448">
              <a:spcAft>
                <a:spcPts val="100"/>
              </a:spcAft>
              <a:buFont typeface="Arial"/>
              <a:buChar char="•"/>
            </a:pPr>
            <a:r>
              <a:rPr sz="1000" b="0" i="0">
                <a:solidFill>
                  <a:srgbClr val="3D3C3C"/>
                </a:solidFill>
                <a:latin typeface="Open Sans"/>
              </a:rPr>
              <a:t>Client and stakeholder engagement</a:t>
            </a:r>
          </a:p>
          <a:p>
            <a:pPr marL="155448" indent="-155448">
              <a:spcAft>
                <a:spcPts val="100"/>
              </a:spcAft>
              <a:buFont typeface="Arial"/>
              <a:buChar char="•"/>
            </a:pPr>
            <a:r>
              <a:rPr sz="1000" b="0" i="0">
                <a:solidFill>
                  <a:srgbClr val="3D3C3C"/>
                </a:solidFill>
                <a:latin typeface="Open Sans"/>
              </a:rPr>
              <a:t>Strategic bids and pursuit strategy</a:t>
            </a:r>
          </a:p>
          <a:p>
            <a:pPr marL="155448" indent="-155448">
              <a:spcAft>
                <a:spcPts val="100"/>
              </a:spcAft>
              <a:buFont typeface="Arial"/>
              <a:buChar char="•"/>
            </a:pPr>
            <a:r>
              <a:rPr sz="1000" b="0" i="0">
                <a:solidFill>
                  <a:srgbClr val="3D3C3C"/>
                </a:solidFill>
                <a:latin typeface="Open Sans"/>
              </a:rPr>
              <a:t>Business development and relationship management</a:t>
            </a:r>
          </a:p>
          <a:p>
            <a:pPr marL="155448" indent="-155448">
              <a:spcAft>
                <a:spcPts val="100"/>
              </a:spcAft>
              <a:buFont typeface="Arial"/>
              <a:buChar char="•"/>
            </a:pPr>
            <a:r>
              <a:rPr sz="1000" b="0" i="0">
                <a:solidFill>
                  <a:srgbClr val="3D3C3C"/>
                </a:solidFill>
                <a:latin typeface="Open Sans"/>
              </a:rPr>
              <a:t>Client experience and service strategy</a:t>
            </a:r>
          </a:p>
          <a:p>
            <a:pPr>
              <a:spcBef>
                <a:spcPts val="800"/>
              </a:spcBef>
              <a:spcAft>
                <a:spcPts val="300"/>
              </a:spcAft>
              <a:buNone/>
            </a:pPr>
            <a:r>
              <a:rPr sz="1100" b="1" i="0">
                <a:solidFill>
                  <a:srgbClr val="3D3C3C"/>
                </a:solidFill>
                <a:latin typeface="Open Sans"/>
              </a:rPr>
              <a:t>Qualifications</a:t>
            </a:r>
          </a:p>
          <a:p>
            <a:pPr marL="155448" indent="-155448">
              <a:spcAft>
                <a:spcPts val="100"/>
              </a:spcAft>
              <a:buFont typeface="Arial"/>
              <a:buChar char="•"/>
            </a:pPr>
            <a:r>
              <a:rPr sz="1000" b="0" i="0">
                <a:solidFill>
                  <a:srgbClr val="3D3C3C"/>
                </a:solidFill>
                <a:latin typeface="Open Sans"/>
              </a:rPr>
              <a:t>Diploma in Construction (Construction Management), Open Polytechnic</a:t>
            </a:r>
          </a:p>
          <a:p>
            <a:pPr marL="155448" indent="-155448">
              <a:spcAft>
                <a:spcPts val="100"/>
              </a:spcAft>
              <a:buFont typeface="Arial"/>
              <a:buChar char="•"/>
            </a:pPr>
            <a:r>
              <a:rPr sz="1000" b="0" i="0">
                <a:solidFill>
                  <a:srgbClr val="3D3C3C"/>
                </a:solidFill>
                <a:latin typeface="Open Sans"/>
              </a:rPr>
              <a:t>Diploma in Interior Design, The Interior Design Institute</a:t>
            </a:r>
          </a:p>
        </p:txBody>
      </p:sp>
      <p:sp>
        <p:nvSpPr>
          <p:cNvPr id="8" name="TextBox 7"/>
          <p:cNvSpPr txBox="1"/>
          <p:nvPr/>
        </p:nvSpPr>
        <p:spPr>
          <a:xfrm>
            <a:off x="5029200" y="320040"/>
            <a:ext cx="6858000" cy="6309360"/>
          </a:xfrm>
          <a:prstGeom prst="rect">
            <a:avLst/>
          </a:prstGeom>
          <a:noFill/>
        </p:spPr>
        <p:txBody>
          <a:bodyPr wrap="square" lIns="0" rIns="0" tIns="0" bIns="0" anchor="t">
            <a:spAutoFit/>
          </a:bodyPr>
          <a:lstStyle/>
          <a:p>
            <a:pPr>
              <a:spcAft>
                <a:spcPts val="300"/>
              </a:spcAft>
              <a:buNone/>
            </a:pPr>
            <a:r>
              <a:rPr sz="1150" b="1" i="0">
                <a:solidFill>
                  <a:srgbClr val="FFFFFF"/>
                </a:solidFill>
                <a:latin typeface="Open Sans"/>
              </a:rPr>
              <a:t>Background</a:t>
            </a:r>
          </a:p>
          <a:p>
            <a:pPr>
              <a:spcAft>
                <a:spcPts val="700"/>
              </a:spcAft>
              <a:buNone/>
            </a:pPr>
            <a:r>
              <a:rPr sz="1050" b="0" i="0">
                <a:solidFill>
                  <a:srgbClr val="FFFFFF"/>
                </a:solidFill>
                <a:latin typeface="Open Sans"/>
              </a:rPr>
              <a:t>Heather is a Manager specialising in major projects and construction, bringing experience across construction, strategic bids, client engagement, business development and stakeholder management. Most recently at FDC Construction NSW, Heather worked across complex pursuits alongside project directors, pre-construction managers, estimators, consultants and design teams, contributing to over a billion dollars of tendered work and the award of multiple significant projects in under 12 months.</a:t>
            </a:r>
          </a:p>
          <a:p>
            <a:pPr>
              <a:spcAft>
                <a:spcPts val="700"/>
              </a:spcAft>
              <a:buNone/>
            </a:pPr>
            <a:r>
              <a:rPr sz="1050" b="0" i="0">
                <a:solidFill>
                  <a:srgbClr val="FFFFFF"/>
                </a:solidFill>
                <a:latin typeface="Open Sans"/>
              </a:rPr>
              <a:t>Heather brings a distinct client perspective to major projects. Prior to construction, she spent six years delivering Qantas Business and First Class service to high value customers, developing a strong understanding of client expectations, relationship management and service experience.</a:t>
            </a:r>
          </a:p>
          <a:p>
            <a:pPr>
              <a:spcAft>
                <a:spcPts val="700"/>
              </a:spcAft>
              <a:buNone/>
            </a:pPr>
            <a:r>
              <a:rPr sz="1050" b="0" i="0">
                <a:solidFill>
                  <a:srgbClr val="FFFFFF"/>
                </a:solidFill>
                <a:latin typeface="Open Sans"/>
              </a:rPr>
              <a:t>This combination enables Heather to understand both how project teams operate and how they are experienced by the client, helping teams articulate their value and present themselves with greater clarity and impact.</a:t>
            </a:r>
          </a:p>
          <a:p>
            <a:pPr>
              <a:spcBef>
                <a:spcPts val="400"/>
              </a:spcBef>
              <a:spcAft>
                <a:spcPts val="300"/>
              </a:spcAft>
              <a:buNone/>
            </a:pPr>
            <a:r>
              <a:rPr sz="1150" b="1" i="0">
                <a:solidFill>
                  <a:srgbClr val="FFFFFF"/>
                </a:solidFill>
                <a:latin typeface="Open Sans"/>
              </a:rPr>
              <a:t>Relevant Experience</a:t>
            </a:r>
          </a:p>
          <a:p>
            <a:pPr marL="155448" indent="-155448">
              <a:spcAft>
                <a:spcPts val="300"/>
              </a:spcAft>
              <a:buFont typeface="Arial"/>
              <a:buChar char="•"/>
            </a:pPr>
            <a:r>
              <a:rPr sz="1050" b="0" i="0">
                <a:solidFill>
                  <a:srgbClr val="FFFFFF"/>
                </a:solidFill>
                <a:latin typeface="Open Sans"/>
              </a:rPr>
              <a:t>Worked across construction pursuits in commercial, industrial, education, health and government sectors</a:t>
            </a:r>
          </a:p>
          <a:p>
            <a:pPr marL="155448" indent="-155448">
              <a:spcAft>
                <a:spcPts val="300"/>
              </a:spcAft>
              <a:buFont typeface="Arial"/>
              <a:buChar char="•"/>
            </a:pPr>
            <a:r>
              <a:rPr sz="1050" b="0" i="0">
                <a:solidFill>
                  <a:srgbClr val="FFFFFF"/>
                </a:solidFill>
                <a:latin typeface="Open Sans"/>
              </a:rPr>
              <a:t>Coordinated complex submissions with project directors, estimators, pre-construction managers, consultants and designers</a:t>
            </a:r>
          </a:p>
          <a:p>
            <a:pPr marL="155448" indent="-155448">
              <a:spcAft>
                <a:spcPts val="300"/>
              </a:spcAft>
              <a:buFont typeface="Arial"/>
              <a:buChar char="•"/>
            </a:pPr>
            <a:r>
              <a:rPr sz="1050" b="0" i="0">
                <a:solidFill>
                  <a:srgbClr val="FFFFFF"/>
                </a:solidFill>
                <a:latin typeface="Open Sans"/>
              </a:rPr>
              <a:t>Managed the full tender lifecycle across D&amp;C, construct only and other procurement models, from opportunity to debrief</a:t>
            </a:r>
          </a:p>
          <a:p>
            <a:pPr marL="155448" indent="-155448">
              <a:spcAft>
                <a:spcPts val="300"/>
              </a:spcAft>
              <a:buFont typeface="Arial"/>
              <a:buChar char="•"/>
            </a:pPr>
            <a:r>
              <a:rPr sz="1050" b="0" i="0">
                <a:solidFill>
                  <a:srgbClr val="FFFFFF"/>
                </a:solidFill>
                <a:latin typeface="Open Sans"/>
              </a:rPr>
              <a:t>Developed strategic project narratives, tailored proposal content and positioning to communicate team capability and client value</a:t>
            </a:r>
          </a:p>
          <a:p>
            <a:pPr marL="155448" indent="-155448">
              <a:spcAft>
                <a:spcPts val="300"/>
              </a:spcAft>
              <a:buFont typeface="Arial"/>
              <a:buChar char="•"/>
            </a:pPr>
            <a:r>
              <a:rPr sz="1050" b="0" i="0">
                <a:solidFill>
                  <a:srgbClr val="FFFFFF"/>
                </a:solidFill>
                <a:latin typeface="Open Sans"/>
              </a:rPr>
              <a:t>Built and maintained client relationships across the construction sector, supporting repeat business</a:t>
            </a:r>
          </a:p>
          <a:p>
            <a:pPr marL="155448" indent="-155448">
              <a:spcAft>
                <a:spcPts val="300"/>
              </a:spcAft>
              <a:buFont typeface="Arial"/>
              <a:buChar char="•"/>
            </a:pPr>
            <a:r>
              <a:rPr sz="1050" b="0" i="0">
                <a:solidFill>
                  <a:srgbClr val="FFFFFF"/>
                </a:solidFill>
                <a:latin typeface="Open Sans"/>
              </a:rPr>
              <a:t>Founder of a wearable technology venture, leading commercial strategy, R&amp;D partnerships and investor engagement</a:t>
            </a:r>
          </a:p>
        </p:txBody>
      </p:sp>
    </p:spTree>
    <p:extLst>
      <p:ext uri="{BB962C8B-B14F-4D97-AF65-F5344CB8AC3E}">
        <p14:creationId xmlns:p14="http://schemas.microsoft.com/office/powerpoint/2010/main" val="37266199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7.jpg"/>
          <p:cNvPicPr>
            <a:picLocks noChangeAspect="1"/>
          </p:cNvPicPr>
          <p:nvPr/>
        </p:nvPicPr>
        <p:blipFill>
          <a:blip r:embed="rId3"/>
          <a:stretch>
            <a:fillRect/>
          </a:stretch>
        </p:blipFill>
        <p:spPr>
          <a:xfrm>
            <a:off x="0" y="0"/>
            <a:ext cx="12191695" cy="6858000"/>
          </a:xfrm>
          <a:prstGeom prst="rect">
            <a:avLst/>
          </a:prstGeom>
        </p:spPr>
      </p:pic>
      <p:pic>
        <p:nvPicPr>
          <p:cNvPr id="3" name="Picture 2" descr="webuild.png"/>
          <p:cNvPicPr>
            <a:picLocks noChangeAspect="1"/>
          </p:cNvPicPr>
          <p:nvPr/>
        </p:nvPicPr>
        <p:blipFill>
          <a:blip r:embed="rId4"/>
          <a:stretch>
            <a:fillRect/>
          </a:stretch>
        </p:blipFill>
        <p:spPr>
          <a:xfrm>
            <a:off x="2249424" y="6163056"/>
            <a:ext cx="1069145" cy="365760"/>
          </a:xfrm>
          <a:prstGeom prst="rect">
            <a:avLst/>
          </a:prstGeom>
        </p:spPr>
      </p:pic>
    </p:spTree>
    <p:extLst>
      <p:ext uri="{BB962C8B-B14F-4D97-AF65-F5344CB8AC3E}">
        <p14:creationId xmlns:p14="http://schemas.microsoft.com/office/powerpoint/2010/main" val="3869295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3.jpg"/>
          <p:cNvPicPr>
            <a:picLocks noChangeAspect="1"/>
          </p:cNvPicPr>
          <p:nvPr/>
        </p:nvPicPr>
        <p:blipFill>
          <a:blip r:embed="rId2"/>
          <a:stretch>
            <a:fillRect/>
          </a:stretch>
        </p:blipFill>
        <p:spPr>
          <a:xfrm>
            <a:off x="0" y="0"/>
            <a:ext cx="12191695" cy="6858000"/>
          </a:xfrm>
          <a:prstGeom prst="rect">
            <a:avLst/>
          </a:prstGeom>
        </p:spPr>
      </p:pic>
      <p:pic>
        <p:nvPicPr>
          <p:cNvPr id="3" name="Picture 2" descr="webuild.png"/>
          <p:cNvPicPr>
            <a:picLocks noChangeAspect="1"/>
          </p:cNvPicPr>
          <p:nvPr/>
        </p:nvPicPr>
        <p:blipFill>
          <a:blip r:embed="rId3"/>
          <a:stretch>
            <a:fillRect/>
          </a:stretch>
        </p:blipFill>
        <p:spPr>
          <a:xfrm>
            <a:off x="2249424" y="6163056"/>
            <a:ext cx="1069145" cy="365760"/>
          </a:xfrm>
          <a:prstGeom prst="rect">
            <a:avLst/>
          </a:prstGeom>
        </p:spPr>
      </p:pic>
    </p:spTree>
    <p:extLst>
      <p:ext uri="{BB962C8B-B14F-4D97-AF65-F5344CB8AC3E}">
        <p14:creationId xmlns:p14="http://schemas.microsoft.com/office/powerpoint/2010/main" val="3869295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14.jpg"/>
          <p:cNvPicPr>
            <a:picLocks noChangeAspect="1"/>
          </p:cNvPicPr>
          <p:nvPr/>
        </p:nvPicPr>
        <p:blipFill>
          <a:blip r:embed="rId2"/>
          <a:stretch>
            <a:fillRect/>
          </a:stretch>
        </p:blipFill>
        <p:spPr>
          <a:xfrm>
            <a:off x="0" y="0"/>
            <a:ext cx="12191695" cy="6858000"/>
          </a:xfrm>
          <a:prstGeom prst="rect">
            <a:avLst/>
          </a:prstGeom>
        </p:spPr>
      </p:pic>
      <p:pic>
        <p:nvPicPr>
          <p:cNvPr id="3" name="Picture 2" descr="webuild.png"/>
          <p:cNvPicPr>
            <a:picLocks noChangeAspect="1"/>
          </p:cNvPicPr>
          <p:nvPr/>
        </p:nvPicPr>
        <p:blipFill>
          <a:blip r:embed="rId3"/>
          <a:stretch>
            <a:fillRect/>
          </a:stretch>
        </p:blipFill>
        <p:spPr>
          <a:xfrm>
            <a:off x="2249424" y="6163056"/>
            <a:ext cx="1069145" cy="365760"/>
          </a:xfrm>
          <a:prstGeom prst="rect">
            <a:avLst/>
          </a:prstGeom>
        </p:spPr>
      </p:pic>
    </p:spTree>
    <p:extLst>
      <p:ext uri="{BB962C8B-B14F-4D97-AF65-F5344CB8AC3E}">
        <p14:creationId xmlns:p14="http://schemas.microsoft.com/office/powerpoint/2010/main" val="3869295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page08.jpg"/>
          <p:cNvPicPr>
            <a:picLocks noChangeAspect="1"/>
          </p:cNvPicPr>
          <p:nvPr/>
        </p:nvPicPr>
        <p:blipFill>
          <a:blip r:embed="rId2"/>
          <a:stretch>
            <a:fillRect/>
          </a:stretch>
        </p:blipFill>
        <p:spPr>
          <a:xfrm>
            <a:off x="0" y="0"/>
            <a:ext cx="12191695" cy="6858000"/>
          </a:xfrm>
          <a:prstGeom prst="rect">
            <a:avLst/>
          </a:prstGeom>
        </p:spPr>
      </p:pic>
      <p:pic>
        <p:nvPicPr>
          <p:cNvPr id="3" name="Picture 2" descr="webuild.png"/>
          <p:cNvPicPr>
            <a:picLocks noChangeAspect="1"/>
          </p:cNvPicPr>
          <p:nvPr/>
        </p:nvPicPr>
        <p:blipFill>
          <a:blip r:embed="rId3"/>
          <a:stretch>
            <a:fillRect/>
          </a:stretch>
        </p:blipFill>
        <p:spPr>
          <a:xfrm>
            <a:off x="2249424" y="6163056"/>
            <a:ext cx="1069145" cy="365760"/>
          </a:xfrm>
          <a:prstGeom prst="rect">
            <a:avLst/>
          </a:prstGeom>
        </p:spPr>
      </p:pic>
    </p:spTree>
    <p:extLst>
      <p:ext uri="{BB962C8B-B14F-4D97-AF65-F5344CB8AC3E}">
        <p14:creationId xmlns:p14="http://schemas.microsoft.com/office/powerpoint/2010/main" val="3869295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09AC-ABC7-FBD8-C445-E53C0C4FC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A19359-B947-1961-75AA-936DA272766C}"/>
              </a:ext>
            </a:extLst>
          </p:cNvPr>
          <p:cNvSpPr/>
          <p:nvPr/>
        </p:nvSpPr>
        <p:spPr>
          <a:xfrm>
            <a:off x="0" y="9253"/>
            <a:ext cx="12197626" cy="6880902"/>
          </a:xfrm>
          <a:prstGeom prst="rect">
            <a:avLst/>
          </a:prstGeom>
          <a:solidFill>
            <a:schemeClr val="tx1">
              <a:alpha val="6357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55" b="0" i="0" u="none" strike="noStrike" kern="1200" cap="none" spc="0" normalizeH="0" baseline="0" noProof="0">
              <a:ln>
                <a:noFill/>
              </a:ln>
              <a:solidFill>
                <a:srgbClr val="FFFFFF"/>
              </a:solidFill>
              <a:effectLst/>
              <a:uLnTx/>
              <a:uFillTx/>
              <a:latin typeface="Open Sans Light"/>
              <a:ea typeface="+mn-ea"/>
              <a:cs typeface="+mn-cs"/>
            </a:endParaRPr>
          </a:p>
        </p:txBody>
      </p:sp>
      <p:graphicFrame>
        <p:nvGraphicFramePr>
          <p:cNvPr id="3" name="Table 2">
            <a:extLst>
              <a:ext uri="{FF2B5EF4-FFF2-40B4-BE49-F238E27FC236}">
                <a16:creationId xmlns:a16="http://schemas.microsoft.com/office/drawing/2014/main" id="{D8A41966-51FC-7551-9FA9-8CFE56E86842}"/>
              </a:ext>
            </a:extLst>
          </p:cNvPr>
          <p:cNvGraphicFramePr>
            <a:graphicFrameLocks noGrp="1"/>
          </p:cNvGraphicFramePr>
          <p:nvPr/>
        </p:nvGraphicFramePr>
        <p:xfrm>
          <a:off x="5288691" y="1179740"/>
          <a:ext cx="6903309" cy="4412595"/>
        </p:xfrm>
        <a:graphic>
          <a:graphicData uri="http://schemas.openxmlformats.org/drawingml/2006/table">
            <a:tbl>
              <a:tblPr firstRow="1" bandRow="1">
                <a:tableStyleId>{5940675A-B579-460E-94D1-54222C63F5DA}</a:tableStyleId>
              </a:tblPr>
              <a:tblGrid>
                <a:gridCol w="1643448">
                  <a:extLst>
                    <a:ext uri="{9D8B030D-6E8A-4147-A177-3AD203B41FA5}">
                      <a16:colId xmlns:a16="http://schemas.microsoft.com/office/drawing/2014/main" val="3489013786"/>
                    </a:ext>
                  </a:extLst>
                </a:gridCol>
                <a:gridCol w="208280">
                  <a:extLst>
                    <a:ext uri="{9D8B030D-6E8A-4147-A177-3AD203B41FA5}">
                      <a16:colId xmlns:a16="http://schemas.microsoft.com/office/drawing/2014/main" val="2551940119"/>
                    </a:ext>
                  </a:extLst>
                </a:gridCol>
                <a:gridCol w="5051581">
                  <a:extLst>
                    <a:ext uri="{9D8B030D-6E8A-4147-A177-3AD203B41FA5}">
                      <a16:colId xmlns:a16="http://schemas.microsoft.com/office/drawing/2014/main" val="58592591"/>
                    </a:ext>
                  </a:extLst>
                </a:gridCol>
              </a:tblGrid>
              <a:tr h="882519">
                <a:tc>
                  <a:txBody>
                    <a:bodyPr/>
                    <a:lstStyle/>
                    <a:p>
                      <a:pPr algn="ctr"/>
                      <a:r>
                        <a:rPr lang="en-US" sz="2800" b="0" dirty="0">
                          <a:solidFill>
                            <a:schemeClr val="bg1"/>
                          </a:solidFill>
                          <a:latin typeface="Poppins" pitchFamily="2" charset="77"/>
                          <a:cs typeface="Poppins" pitchFamily="2" charset="77"/>
                        </a:rPr>
                        <a:t>01</a:t>
                      </a: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Poppins" pitchFamily="2" charset="77"/>
                          <a:cs typeface="Poppins" pitchFamily="2" charset="77"/>
                        </a:rPr>
                        <a:t>Our Understanding of Your Needs</a:t>
                      </a:r>
                      <a:endParaRPr lang="en-US" sz="1800" b="0">
                        <a:solidFill>
                          <a:schemeClr val="bg1"/>
                        </a:solidFill>
                        <a:latin typeface="Poppins" pitchFamily="2" charset="77"/>
                        <a:cs typeface="Poppins" pitchFamily="2" charset="77"/>
                      </a:endParaRPr>
                    </a:p>
                  </a:txBody>
                  <a:tcPr anchor="ctr">
                    <a:lnL w="12700" cmpd="sng">
                      <a:noFill/>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236261238"/>
                  </a:ext>
                </a:extLst>
              </a:tr>
              <a:tr h="882519">
                <a:tc>
                  <a:txBody>
                    <a:bodyPr/>
                    <a:lstStyle/>
                    <a:p>
                      <a:pPr algn="ctr"/>
                      <a:r>
                        <a:rPr lang="en-US" sz="2800" b="0" dirty="0">
                          <a:solidFill>
                            <a:schemeClr val="bg1"/>
                          </a:solidFill>
                          <a:latin typeface="+mj-lt"/>
                          <a:cs typeface="Poppins Medium" panose="00000600000000000000" pitchFamily="2" charset="0"/>
                        </a:rPr>
                        <a:t>02</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AU" sz="1800" b="0">
                          <a:solidFill>
                            <a:schemeClr val="bg1"/>
                          </a:solidFill>
                          <a:latin typeface="+mj-lt"/>
                          <a:cs typeface="Poppins Medium" panose="00000600000000000000" pitchFamily="2" charset="0"/>
                        </a:rPr>
                        <a:t>Why The Strategy Group</a:t>
                      </a:r>
                      <a:endParaRPr lang="en-US" sz="18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810559838"/>
                  </a:ext>
                </a:extLst>
              </a:tr>
              <a:tr h="882519">
                <a:tc>
                  <a:txBody>
                    <a:bodyPr/>
                    <a:lstStyle/>
                    <a:p>
                      <a:pPr algn="ctr"/>
                      <a:r>
                        <a:rPr lang="en-US" sz="2800" b="0" dirty="0">
                          <a:solidFill>
                            <a:schemeClr val="bg1"/>
                          </a:solidFill>
                          <a:latin typeface="+mj-lt"/>
                          <a:cs typeface="Poppins Medium" panose="00000600000000000000" pitchFamily="2" charset="0"/>
                        </a:rPr>
                        <a:t>03</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0">
                        <a:solidFill>
                          <a:schemeClr val="bg1"/>
                        </a:solidFill>
                        <a:latin typeface="+mj-lt"/>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1800" b="0">
                          <a:solidFill>
                            <a:schemeClr val="bg1"/>
                          </a:solidFill>
                          <a:latin typeface="+mj-lt"/>
                          <a:cs typeface="Poppins Medium" panose="00000600000000000000" pitchFamily="2" charset="0"/>
                        </a:rPr>
                        <a:t>Our Approach</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41536259"/>
                  </a:ext>
                </a:extLst>
              </a:tr>
              <a:tr h="882519">
                <a:tc>
                  <a:txBody>
                    <a:bodyPr/>
                    <a:lstStyle/>
                    <a:p>
                      <a:pPr algn="ctr"/>
                      <a:r>
                        <a:rPr lang="en-US" sz="2800" b="0" dirty="0">
                          <a:solidFill>
                            <a:schemeClr val="bg1"/>
                          </a:solidFill>
                          <a:latin typeface="Poppins Medium" panose="00000600000000000000" pitchFamily="2" charset="0"/>
                          <a:cs typeface="Poppins Medium" panose="00000600000000000000" pitchFamily="2" charset="0"/>
                        </a:rPr>
                        <a:t>04</a:t>
                      </a: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sz="12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800" b="0">
                          <a:solidFill>
                            <a:schemeClr val="bg1"/>
                          </a:solidFill>
                          <a:latin typeface="Poppins Medium" panose="00000600000000000000" pitchFamily="2" charset="0"/>
                          <a:cs typeface="Poppins Medium" panose="00000600000000000000" pitchFamily="2" charset="0"/>
                        </a:rPr>
                        <a:t>Our Experience and Team</a:t>
                      </a:r>
                      <a:r>
                        <a:rPr lang="en-US" sz="1800" b="0">
                          <a:solidFill>
                            <a:schemeClr val="bg1"/>
                          </a:solidFill>
                          <a:latin typeface="Poppins Medium" panose="00000600000000000000" pitchFamily="2" charset="0"/>
                          <a:cs typeface="Poppins Medium" panose="00000600000000000000" pitchFamily="2" charset="0"/>
                        </a:rPr>
                        <a:t/>
                      </a:r>
                      <a:r>
                        <a:rPr lang="en-AU" sz="1800" b="0">
                          <a:solidFill>
                            <a:schemeClr val="bg1"/>
                          </a:solidFill>
                          <a:latin typeface="Poppins Medium" panose="00000600000000000000" pitchFamily="2" charset="0"/>
                          <a:cs typeface="Poppins Medium" panose="00000600000000000000" pitchFamily="2" charset="0"/>
                        </a:rPr>
                        <a:t/>
                      </a:r>
                      <a:endParaRPr lang="en-US" sz="1800" b="1">
                        <a:solidFill>
                          <a:schemeClr val="bg1"/>
                        </a:solidFill>
                        <a:latin typeface="Poppins Medium" panose="00000600000000000000" pitchFamily="2" charset="0"/>
                        <a:cs typeface="Poppins Medium" panose="00000600000000000000" pitchFamily="2" charset="0"/>
                      </a:endParaRPr>
                    </a:p>
                  </a:txBody>
                  <a:tcPr anchor="ctr">
                    <a:lnL w="12700" cmpd="sng">
                      <a:noFill/>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35165721"/>
                  </a:ext>
                </a:extLst>
              </a:tr>
              <a:tr h="882519">
                <a:tc>
                  <a:txBody>
                    <a:bodyPr/>
                    <a:lstStyle/>
                    <a:p>
                      <a:pPr algn="ctr"/>
                      <a:r>
                        <a:rPr lang="en-US" sz="2800" b="1" dirty="0">
                          <a:solidFill>
                            <a:schemeClr val="bg1"/>
                          </a:solidFill>
                          <a:latin typeface="Poppins" pitchFamily="2" charset="77"/>
                          <a:cs typeface="Poppins" pitchFamily="2" charset="77"/>
                        </a:rPr>
                        <a:t>05</a:t>
                      </a:r>
                    </a:p>
                  </a:txBody>
                  <a:tcPr anchor="ctr">
                    <a:lnL w="12700" cmpd="sng">
                      <a:noFill/>
                    </a:lnL>
                    <a:lnR w="12700" cmpd="sng">
                      <a:no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tcPr>
                </a:tc>
                <a:tc>
                  <a:txBody>
                    <a:bodyPr/>
                    <a:lstStyle/>
                    <a:p>
                      <a:endParaRPr lang="en-US" sz="1200" b="0">
                        <a:solidFill>
                          <a:schemeClr val="bg1"/>
                        </a:solidFill>
                        <a:latin typeface="Poppins" pitchFamily="2" charset="77"/>
                        <a:cs typeface="Poppins" pitchFamily="2" charset="77"/>
                      </a:endParaRPr>
                    </a:p>
                  </a:txBody>
                  <a:tcPr anchor="ctr">
                    <a:lnL w="12700" cmpd="sng">
                      <a:noFill/>
                    </a:lnL>
                    <a:lnR w="12700" cmpd="sng">
                      <a:no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bg1"/>
                          </a:solidFill>
                          <a:latin typeface="Poppins" pitchFamily="2" charset="77"/>
                          <a:cs typeface="Poppins" pitchFamily="2" charset="77"/>
                        </a:rPr>
                        <a:t>Investment</a:t>
                      </a:r>
                    </a:p>
                  </a:txBody>
                  <a:tcPr anchor="ctr">
                    <a:lnL w="12700" cmpd="sng">
                      <a:noFill/>
                    </a:lnL>
                    <a:lnR w="12700" cmpd="sng">
                      <a:no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tcPr>
                </a:tc>
                <a:extLst>
                  <a:ext uri="{0D108BD9-81ED-4DB2-BD59-A6C34878D82A}">
                    <a16:rowId xmlns:a16="http://schemas.microsoft.com/office/drawing/2014/main" val="3318104154"/>
                  </a:ext>
                </a:extLst>
              </a:tr>
            </a:tbl>
          </a:graphicData>
        </a:graphic>
      </p:graphicFrame>
      <p:pic>
        <p:nvPicPr>
          <p:cNvPr id="7" name="Graphic 6">
            <a:extLst>
              <a:ext uri="{FF2B5EF4-FFF2-40B4-BE49-F238E27FC236}">
                <a16:creationId xmlns:a16="http://schemas.microsoft.com/office/drawing/2014/main" id="{9A0843B3-C65C-5254-9739-F0B4D579E1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25966" y="0"/>
            <a:ext cx="6959831" cy="5626984"/>
          </a:xfrm>
          <a:prstGeom prst="rect">
            <a:avLst/>
          </a:prstGeom>
        </p:spPr>
      </p:pic>
      <p:grpSp>
        <p:nvGrpSpPr>
          <p:cNvPr id="2" name="Group 1">
            <a:extLst>
              <a:ext uri="{FF2B5EF4-FFF2-40B4-BE49-F238E27FC236}">
                <a16:creationId xmlns:a16="http://schemas.microsoft.com/office/drawing/2014/main" id="{1D4B8EB6-53C5-A71D-D316-785AA88D6F8E}"/>
              </a:ext>
            </a:extLst>
          </p:cNvPr>
          <p:cNvGrpSpPr/>
          <p:nvPr/>
        </p:nvGrpSpPr>
        <p:grpSpPr>
          <a:xfrm>
            <a:off x="6931557" y="331283"/>
            <a:ext cx="2758775" cy="618017"/>
            <a:chOff x="6931557" y="331283"/>
            <a:chExt cx="2758775" cy="618017"/>
          </a:xfrm>
        </p:grpSpPr>
        <p:sp>
          <p:nvSpPr>
            <p:cNvPr id="12" name="TextBox 11">
              <a:extLst>
                <a:ext uri="{FF2B5EF4-FFF2-40B4-BE49-F238E27FC236}">
                  <a16:creationId xmlns:a16="http://schemas.microsoft.com/office/drawing/2014/main" id="{2114E355-9DF7-7479-CC8B-8E254E8D7542}"/>
                </a:ext>
              </a:extLst>
            </p:cNvPr>
            <p:cNvSpPr txBox="1"/>
            <p:nvPr/>
          </p:nvSpPr>
          <p:spPr>
            <a:xfrm>
              <a:off x="7334552" y="378682"/>
              <a:ext cx="1952784" cy="5232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AU" sz="2800" b="1" i="0" u="none" strike="noStrike" kern="1200" cap="none" spc="0" normalizeH="0" baseline="0" noProof="0">
                  <a:ln>
                    <a:noFill/>
                  </a:ln>
                  <a:solidFill>
                    <a:srgbClr val="FFFFFF"/>
                  </a:solidFill>
                  <a:effectLst/>
                  <a:uLnTx/>
                  <a:uFillTx/>
                  <a:latin typeface="Poppins" pitchFamily="2" charset="77"/>
                  <a:ea typeface="+mn-ea"/>
                  <a:cs typeface="Poppins" pitchFamily="2" charset="77"/>
                </a:rPr>
                <a:t>Contents</a:t>
              </a:r>
            </a:p>
          </p:txBody>
        </p:sp>
        <p:sp>
          <p:nvSpPr>
            <p:cNvPr id="13" name="Rectangle: Rounded Corners 12">
              <a:extLst>
                <a:ext uri="{FF2B5EF4-FFF2-40B4-BE49-F238E27FC236}">
                  <a16:creationId xmlns:a16="http://schemas.microsoft.com/office/drawing/2014/main" id="{2AA2110F-460B-4BA5-F8E5-3198C17D6E0C}"/>
                </a:ext>
              </a:extLst>
            </p:cNvPr>
            <p:cNvSpPr/>
            <p:nvPr/>
          </p:nvSpPr>
          <p:spPr>
            <a:xfrm>
              <a:off x="6931557" y="331283"/>
              <a:ext cx="2758775" cy="618017"/>
            </a:xfrm>
            <a:prstGeom prst="roundRect">
              <a:avLst>
                <a:gd name="adj" fmla="val 50000"/>
              </a:avLst>
            </a:pr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srgbClr val="FFFFFF"/>
                </a:solidFill>
                <a:effectLst/>
                <a:uLnTx/>
                <a:uFillTx/>
                <a:latin typeface="Open Sans Light"/>
                <a:ea typeface="+mn-ea"/>
                <a:cs typeface="+mn-cs"/>
              </a:endParaRPr>
            </a:p>
          </p:txBody>
        </p:sp>
      </p:grpSp>
    </p:spTree>
    <p:extLst>
      <p:ext uri="{BB962C8B-B14F-4D97-AF65-F5344CB8AC3E}">
        <p14:creationId xmlns:p14="http://schemas.microsoft.com/office/powerpoint/2010/main" val="29499488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A08CC2F8-D56E-3841-BE00-13002A520804}"/>
              </a:ext>
            </a:extLst>
          </p:cNvPr>
          <p:cNvGraphicFramePr>
            <a:graphicFrameLocks/>
          </p:cNvGraphicFramePr>
          <p:nvPr/>
        </p:nvGraphicFramePr>
        <p:xfrm>
          <a:off x="479423" y="1994785"/>
          <a:ext cx="11061359" cy="2833279"/>
        </p:xfrm>
        <a:graphic>
          <a:graphicData uri="http://schemas.openxmlformats.org/drawingml/2006/table">
            <a:tbl>
              <a:tblPr firstRow="1" bandRow="1">
                <a:tableStyleId>{5940675A-B579-460E-94D1-54222C63F5DA}</a:tableStyleId>
              </a:tblPr>
              <a:tblGrid>
                <a:gridCol w="2562227">
                  <a:extLst>
                    <a:ext uri="{9D8B030D-6E8A-4147-A177-3AD203B41FA5}">
                      <a16:colId xmlns:a16="http://schemas.microsoft.com/office/drawing/2014/main" val="20000"/>
                    </a:ext>
                  </a:extLst>
                </a:gridCol>
                <a:gridCol w="6541737">
                  <a:extLst>
                    <a:ext uri="{9D8B030D-6E8A-4147-A177-3AD203B41FA5}">
                      <a16:colId xmlns:a16="http://schemas.microsoft.com/office/drawing/2014/main" val="3628691814"/>
                    </a:ext>
                  </a:extLst>
                </a:gridCol>
                <a:gridCol w="1957395">
                  <a:extLst>
                    <a:ext uri="{9D8B030D-6E8A-4147-A177-3AD203B41FA5}">
                      <a16:colId xmlns:a16="http://schemas.microsoft.com/office/drawing/2014/main" val="20001"/>
                    </a:ext>
                  </a:extLst>
                </a:gridCol>
              </a:tblGrid>
              <a:tr h="316991">
                <a:tc>
                  <a:txBody>
                    <a:bodyPr/>
                    <a:lstStyle/>
                    <a:p>
                      <a:r>
                        <a:rPr lang="en-AU" sz="1100" b="1" dirty="0">
                          <a:solidFill>
                            <a:schemeClr val="bg1"/>
                          </a:solidFill>
                          <a:latin typeface="Poppins" pitchFamily="2" charset="77"/>
                          <a:ea typeface="Arial" charset="0"/>
                          <a:cs typeface="Poppins" pitchFamily="2" charset="77"/>
                        </a:rPr>
                        <a:t>Project Steps</a:t>
                      </a:r>
                    </a:p>
                  </a:txBody>
                  <a:tcPr marL="36000" marR="36000" marT="36000" marB="3600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r>
                        <a:rPr lang="en-AU" sz="1100" b="1" dirty="0">
                          <a:solidFill>
                            <a:schemeClr val="bg1"/>
                          </a:solidFill>
                          <a:latin typeface="Poppins" pitchFamily="2" charset="77"/>
                          <a:ea typeface="Arial" charset="0"/>
                          <a:cs typeface="Poppins" pitchFamily="2" charset="77"/>
                        </a:rPr>
                        <a:t>Key Outputs</a:t>
                      </a:r>
                    </a:p>
                  </a:txBody>
                  <a:tcPr marL="36000" marR="36000" marT="36000" marB="3600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tc>
                  <a:txBody>
                    <a:bodyPr/>
                    <a:lstStyle/>
                    <a:p>
                      <a:pPr algn="ctr"/>
                      <a:r>
                        <a:rPr lang="en-AU" sz="1100" b="1" dirty="0">
                          <a:solidFill>
                            <a:schemeClr val="bg1"/>
                          </a:solidFill>
                          <a:latin typeface="Poppins" pitchFamily="2" charset="77"/>
                          <a:ea typeface="Arial" charset="0"/>
                          <a:cs typeface="Poppins" pitchFamily="2" charset="77"/>
                        </a:rPr>
                        <a:t>Investment (excl. GST)</a:t>
                      </a:r>
                      <a:endParaRPr lang="en-AU" sz="1100" b="0" dirty="0">
                        <a:solidFill>
                          <a:schemeClr val="bg1"/>
                        </a:solidFill>
                        <a:latin typeface="Poppins" pitchFamily="2" charset="77"/>
                        <a:ea typeface="Arial" charset="0"/>
                        <a:cs typeface="Poppins" pitchFamily="2" charset="77"/>
                      </a:endParaRPr>
                    </a:p>
                  </a:txBody>
                  <a:tcPr marL="36000" marR="36000" marT="36000" marB="36000" anchor="ctr">
                    <a:lnL w="12700" cmpd="sng">
                      <a:noFill/>
                    </a:lnL>
                    <a:lnR w="12700" cmpd="sng">
                      <a:noFill/>
                    </a:lnR>
                    <a:lnT w="12700" cmpd="sng">
                      <a:noFill/>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0"/>
                  </a:ext>
                </a:extLst>
              </a:tr>
              <a:tr h="208018">
                <a:tc gridSpan="3">
                  <a:txBody>
                    <a:bodyPr/>
                    <a:lstStyle/>
                    <a:p>
                      <a:pPr marR="0" lvl="0" algn="ctr" defTabSz="914400" rtl="0" eaLnBrk="1" fontAlgn="auto" latinLnBrk="0" hangingPunct="1">
                        <a:lnSpc>
                          <a:spcPct val="100000"/>
                        </a:lnSpc>
                        <a:spcBef>
                          <a:spcPts val="0"/>
                        </a:spcBef>
                        <a:spcAft>
                          <a:spcPts val="0"/>
                        </a:spcAft>
                        <a:buClrTx/>
                        <a:buSzTx/>
                        <a:tabLst/>
                        <a:defRPr/>
                      </a:pPr>
                      <a:r>
                        <a:rPr lang="en-US" sz="1100" b="1" kern="1200" dirty="0">
                          <a:solidFill>
                            <a:schemeClr val="bg1"/>
                          </a:solidFill>
                          <a:latin typeface="Poppins Medium" panose="00000600000000000000" pitchFamily="2" charset="0"/>
                          <a:ea typeface="Roboto Light" panose="02000000000000000000" pitchFamily="2" charset="0"/>
                          <a:cs typeface="Poppins Medium" panose="00000600000000000000" pitchFamily="2" charset="0"/>
                        </a:rPr>
                        <a:t>EOI Strategy and Storyboarding Support</a:t>
                      </a:r>
                    </a:p>
                  </a:txBody>
                  <a:tcPr marL="36000" marR="36000" marT="36000" marB="36000" anchor="ctr">
                    <a:lnL w="12700" cmpd="sng">
                      <a:noFill/>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gradFill>
                      <a:gsLst>
                        <a:gs pos="0">
                          <a:schemeClr val="accent1"/>
                        </a:gs>
                        <a:gs pos="100000">
                          <a:srgbClr val="AC3500"/>
                        </a:gs>
                      </a:gsLst>
                      <a:lin ang="4200000" scaled="0"/>
                    </a:gradFill>
                  </a:tcPr>
                </a:tc>
                <a:tc hMerge="1">
                  <a:txBody>
                    <a:bodyPr/>
                    <a:lstStyle/>
                    <a:p>
                      <a:endParaRPr lang="en-AU"/>
                    </a:p>
                  </a:txBody>
                  <a:tcPr>
                    <a:lnL w="12700" cmpd="sng">
                      <a:noFill/>
                    </a:lnL>
                    <a:lnT w="12700" cap="flat" cmpd="sng" algn="ctr">
                      <a:solidFill>
                        <a:schemeClr val="bg1"/>
                      </a:solidFill>
                      <a:prstDash val="solid"/>
                      <a:round/>
                      <a:headEnd type="none" w="med" len="med"/>
                      <a:tailEnd type="none" w="med" len="med"/>
                    </a:lnT>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AU" sz="1000" i="1" kern="1200" dirty="0">
                        <a:solidFill>
                          <a:schemeClr val="tx1"/>
                        </a:solidFill>
                        <a:latin typeface="+mn-lt"/>
                        <a:ea typeface="Arial" charset="0"/>
                        <a:cs typeface="Arial" charset="0"/>
                      </a:endParaRPr>
                    </a:p>
                  </a:txBody>
                  <a:tcPr marL="36000" marR="36000" marT="36000" marB="36000" anchor="ctr">
                    <a:lnL w="12700" cmpd="sng">
                      <a:noFill/>
                    </a:lnL>
                    <a:lnR w="28575"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25815262"/>
                  </a:ext>
                </a:extLst>
              </a:tr>
              <a:tr h="4616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50" b="1" kern="1200" dirty="0">
                          <a:solidFill>
                            <a:schemeClr val="tx1"/>
                          </a:solidFill>
                          <a:latin typeface="Poppins" pitchFamily="2" charset="77"/>
                          <a:ea typeface="+mn-ea"/>
                          <a:cs typeface="Poppins" pitchFamily="2" charset="77"/>
                        </a:rPr>
                        <a:t>1. Discover &amp; Position</a:t>
                      </a:r>
                    </a:p>
                  </a:txBody>
                  <a:tcPr marL="36000" marR="36000" marT="36000" marB="36000" anchor="ctr">
                    <a:lnL w="12700" cmpd="sng">
                      <a:noFill/>
                    </a:lnL>
                    <a:lnR w="12700" cmpd="sng">
                      <a:noFill/>
                    </a:lnR>
                    <a:lnT w="3175" cap="flat" cmpd="sng" algn="ctr">
                      <a:solidFill>
                        <a:schemeClr val="bg1">
                          <a:lumMod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b="0" dirty="0">
                          <a:solidFill>
                            <a:schemeClr val="tx1"/>
                          </a:solidFill>
                          <a:latin typeface="+mn-lt"/>
                          <a:ea typeface="Open Sans Light" panose="020B0606030504020204" pitchFamily="34" charset="0"/>
                          <a:cs typeface="Open Sans Light" panose="020B0606030504020204" pitchFamily="34" charset="0"/>
                        </a:rPr>
                        <a:t>Client research, full-day Workshop 1, client priorities map, Webuild positioning and win themes</a:t>
                      </a:r>
                    </a:p>
                  </a:txBody>
                  <a:tcPr marL="36000" marR="36000" marT="36000" marB="36000" anchor="ctr">
                    <a:lnL w="12700" cmpd="sng">
                      <a:noFill/>
                    </a:lnL>
                    <a:lnR w="12700" cmpd="sng">
                      <a:noFill/>
                    </a:lnR>
                    <a:lnT w="3175" cap="flat" cmpd="sng" algn="ctr">
                      <a:solidFill>
                        <a:schemeClr val="bg1">
                          <a:lumMod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600"/>
                        </a:spcAft>
                      </a:pPr>
                      <a:r>
                        <a:rPr lang="en-AU" sz="1050" i="0" kern="1200" dirty="0" b="0">
                          <a:solidFill>
                            <a:schemeClr val="tx1"/>
                          </a:solidFill>
                          <a:latin typeface="+mj-lt"/>
                          <a:ea typeface="Arial" charset="0"/>
                          <a:cs typeface="Arial" charset="0"/>
                        </a:rPr>
                        <a:t>$11,000</a:t>
                      </a:r>
                    </a:p>
                  </a:txBody>
                  <a:tcPr marL="36000" marR="36000" marT="36000" marB="36000" anchor="ctr">
                    <a:lnL w="12700" cmpd="sng">
                      <a:noFill/>
                    </a:lnL>
                    <a:lnR w="285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019306469"/>
                  </a:ext>
                </a:extLst>
              </a:tr>
              <a:tr h="4616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50" b="1" kern="1200" dirty="0">
                          <a:solidFill>
                            <a:schemeClr val="tx1"/>
                          </a:solidFill>
                          <a:latin typeface="Poppins" pitchFamily="2" charset="77"/>
                          <a:ea typeface="+mn-ea"/>
                          <a:cs typeface="Poppins" pitchFamily="2" charset="77"/>
                        </a:rPr>
                        <a:t>2. Storyboard</a:t>
                      </a:r>
                    </a:p>
                  </a:txBody>
                  <a:tcPr marL="36000" marR="36000" marT="36000" marB="36000" anchor="ct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rgbClr val="3D3C3C"/>
                          </a:solidFill>
                          <a:latin typeface="Open Sans" pitchFamily="34" charset="0"/>
                          <a:ea typeface="Open Sans" pitchFamily="34" charset="-122"/>
                          <a:cs typeface="Open Sans" pitchFamily="34" charset="-120"/>
                        </a:rPr>
                        <a:t>Team and CV alignment, half-day Workshop 2, question-by-question storyboards and writer briefing pack</a:t>
                      </a:r>
                      <a:endParaRPr lang="en-US" sz="1050" dirty="0">
                        <a:solidFill>
                          <a:prstClr val="black"/>
                        </a:solidFill>
                        <a:latin typeface="Calibri" panose="020F0502020204030204"/>
                      </a:endParaRPr>
                    </a:p>
                  </a:txBody>
                  <a:tcPr marL="36000" marR="36000" marT="36000" marB="36000" anchor="ct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600"/>
                        </a:spcAft>
                      </a:pPr>
                      <a:r>
                        <a:rPr lang="en-AU" sz="1050" i="0" kern="1200" dirty="0" b="0">
                          <a:solidFill>
                            <a:schemeClr val="tx1"/>
                          </a:solidFill>
                          <a:latin typeface="+mj-lt"/>
                          <a:ea typeface="Arial" charset="0"/>
                          <a:cs typeface="Arial" charset="0"/>
                        </a:rPr>
                        <a:t>$8,000</a:t>
                      </a:r>
                    </a:p>
                  </a:txBody>
                  <a:tcPr marL="36000" marR="36000" marT="36000" marB="36000" anchor="ctr">
                    <a:lnL w="12700" cmpd="sng">
                      <a:noFill/>
                    </a:lnL>
                    <a:lnR w="28575"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640281736"/>
                  </a:ext>
                </a:extLst>
              </a:tr>
              <a:tr h="4616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50" b="1" kern="1200" dirty="0">
                          <a:solidFill>
                            <a:schemeClr val="tx1"/>
                          </a:solidFill>
                          <a:latin typeface="Poppins" pitchFamily="2" charset="77"/>
                          <a:ea typeface="+mn-ea"/>
                          <a:cs typeface="Poppins" pitchFamily="2" charset="77"/>
                        </a:rPr>
                        <a:t>3a. Week 4 Alignment Check</a:t>
                      </a:r>
                    </a:p>
                  </a:txBody>
                  <a:tcPr marL="36000" marR="36000" marT="36000" marB="36000" anchor="ct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rgbClr val="3D3C3C"/>
                          </a:solidFill>
                          <a:latin typeface="Open Sans" pitchFamily="34" charset="0"/>
                          <a:ea typeface="Open Sans" pitchFamily="34" charset="-122"/>
                          <a:cs typeface="Open Sans" pitchFamily="34" charset="-120"/>
                        </a:rPr>
                        <a:t>Review of early drafts against the storyboards, with realignment feedback</a:t>
                      </a:r>
                      <a:endParaRPr lang="en-US" sz="1050" dirty="0">
                        <a:solidFill>
                          <a:prstClr val="black"/>
                        </a:solidFill>
                        <a:latin typeface="Calibri" panose="020F0502020204030204"/>
                      </a:endParaRPr>
                    </a:p>
                  </a:txBody>
                  <a:tcPr marL="36000" marR="36000" marT="36000" marB="36000" anchor="ct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600"/>
                        </a:spcAft>
                      </a:pPr>
                      <a:r>
                        <a:rPr lang="en-AU" sz="1050" i="0" kern="1200" dirty="0" b="0">
                          <a:solidFill>
                            <a:schemeClr val="tx1"/>
                          </a:solidFill>
                          <a:latin typeface="+mj-lt"/>
                          <a:ea typeface="Arial" charset="0"/>
                          <a:cs typeface="Arial" charset="0"/>
                        </a:rPr>
                        <a:t>$2,000</a:t>
                      </a:r>
                    </a:p>
                  </a:txBody>
                  <a:tcPr marL="36000" marR="36000" marT="36000" marB="36000" anchor="ctr">
                    <a:lnL w="12700" cmpd="sng">
                      <a:noFill/>
                    </a:lnL>
                    <a:lnR w="28575"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99214509"/>
                  </a:ext>
                </a:extLst>
              </a:tr>
              <a:tr h="4616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50" b="1" kern="1200" dirty="0">
                          <a:solidFill>
                            <a:schemeClr val="tx1"/>
                          </a:solidFill>
                          <a:latin typeface="Poppins" pitchFamily="2" charset="77"/>
                          <a:ea typeface="+mn-ea"/>
                          <a:cs typeface="Poppins" pitchFamily="2" charset="77"/>
                        </a:rPr>
                        <a:t>3b. Week 5 Client Lens Review</a:t>
                      </a:r>
                    </a:p>
                  </a:txBody>
                  <a:tcPr marL="36000" marR="36000" marT="36000" marB="36000" anchor="ct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50" dirty="0">
                          <a:solidFill>
                            <a:srgbClr val="3D3C3C"/>
                          </a:solidFill>
                          <a:latin typeface="Open Sans" pitchFamily="34" charset="0"/>
                          <a:ea typeface="Open Sans" pitchFamily="34" charset="-122"/>
                          <a:cs typeface="Open Sans" pitchFamily="34" charset="-120"/>
                        </a:rPr>
                        <a:t>Independent client lens review of the draft final, prioritised recommendations and debrief</a:t>
                      </a:r>
                      <a:endParaRPr lang="en-US" sz="1050" dirty="0">
                        <a:solidFill>
                          <a:prstClr val="black"/>
                        </a:solidFill>
                        <a:latin typeface="Calibri" panose="020F0502020204030204"/>
                      </a:endParaRPr>
                    </a:p>
                  </a:txBody>
                  <a:tcPr marL="36000" marR="36000" marT="36000" marB="36000" anchor="ct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600"/>
                        </a:spcAft>
                      </a:pPr>
                      <a:r>
                        <a:rPr lang="en-AU" sz="1050" i="0" kern="1200" dirty="0" b="0">
                          <a:solidFill>
                            <a:schemeClr val="tx1"/>
                          </a:solidFill>
                          <a:latin typeface="+mj-lt"/>
                          <a:ea typeface="Arial" charset="0"/>
                          <a:cs typeface="Arial" charset="0"/>
                        </a:rPr>
                        <a:t>$4,000</a:t>
                      </a:r>
                    </a:p>
                  </a:txBody>
                  <a:tcPr marL="36000" marR="36000" marT="36000" marB="36000" anchor="ctr">
                    <a:lnL w="12700" cmpd="sng">
                      <a:noFill/>
                    </a:lnL>
                    <a:lnR w="28575"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233040628"/>
                  </a:ext>
                </a:extLst>
              </a:tr>
              <a:tr h="46165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050" b="1" kern="1200" dirty="0">
                          <a:solidFill>
                            <a:schemeClr val="tx1"/>
                          </a:solidFill>
                          <a:latin typeface="Poppins" pitchFamily="2" charset="77"/>
                          <a:ea typeface="+mn-ea"/>
                          <a:cs typeface="Poppins" pitchFamily="2" charset="77"/>
                        </a:rPr>
                        <a:t>Total</a:t>
                      </a:r>
                    </a:p>
                  </a:txBody>
                  <a:tcPr marL="36000" marR="36000" marT="36000" marB="36000" anchor="ct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tabLst/>
                        <a:defRPr/>
                        <a:buNone/>
                      </a:pPr>
                      <a:r>
                        <a:rPr lang="en-US" sz="1050" dirty="0">
                          <a:solidFill>
                            <a:srgbClr val="3D3C3C"/>
                          </a:solidFill>
                          <a:latin typeface="Open Sans" pitchFamily="34" charset="0"/>
                          <a:ea typeface="Open Sans" pitchFamily="34" charset="-122"/>
                          <a:cs typeface="Open Sans" pitchFamily="34" charset="-120"/>
                        </a:rPr>
                        <a:t/>
                      </a:r>
                      <a:endParaRPr lang="en-US" sz="1050" dirty="0">
                        <a:solidFill>
                          <a:prstClr val="black"/>
                        </a:solidFill>
                        <a:latin typeface="Calibri" panose="020F0502020204030204"/>
                      </a:endParaRPr>
                    </a:p>
                  </a:txBody>
                  <a:tcPr marL="36000" marR="36000" marT="36000" marB="36000" anchor="ctr">
                    <a:lnL w="12700" cmpd="sng">
                      <a:noFill/>
                    </a:lnL>
                    <a:lnR w="12700" cmpd="sng">
                      <a:noFill/>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spcBef>
                          <a:spcPts val="0"/>
                        </a:spcBef>
                        <a:spcAft>
                          <a:spcPts val="600"/>
                        </a:spcAft>
                      </a:pPr>
                      <a:r>
                        <a:rPr lang="en-AU" sz="1050" i="0" kern="1200" dirty="0" b="1">
                          <a:solidFill>
                            <a:schemeClr val="tx1"/>
                          </a:solidFill>
                          <a:latin typeface="+mj-lt"/>
                          <a:ea typeface="Arial" charset="0"/>
                          <a:cs typeface="Arial" charset="0"/>
                        </a:rPr>
                        <a:t>$25,000</a:t>
                      </a:r>
                    </a:p>
                  </a:txBody>
                  <a:tcPr marL="36000" marR="36000" marT="36000" marB="36000" anchor="ctr">
                    <a:lnL w="12700" cmpd="sng">
                      <a:noFill/>
                    </a:lnL>
                    <a:lnR w="28575" cap="flat" cmpd="sng" algn="ctr">
                      <a:noFill/>
                      <a:prstDash val="solid"/>
                      <a:round/>
                      <a:headEnd type="none" w="med" len="med"/>
                      <a:tailEnd type="none" w="med" len="med"/>
                    </a:lnR>
                    <a:lnT w="6350" cap="flat" cmpd="sng" algn="ctr">
                      <a:solidFill>
                        <a:schemeClr val="tx1">
                          <a:lumMod val="50000"/>
                          <a:lumOff val="50000"/>
                        </a:schemeClr>
                      </a:solidFill>
                      <a:prstDash val="solid"/>
                      <a:round/>
                      <a:headEnd type="none" w="med" len="med"/>
                      <a:tailEnd type="none" w="med" len="med"/>
                    </a:lnT>
                    <a:lnB w="6350" cap="flat" cmpd="sng" algn="ctr">
                      <a:solidFill>
                        <a:schemeClr val="tx1">
                          <a:lumMod val="50000"/>
                          <a:lumOff val="50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9627386"/>
                  </a:ext>
                </a:extLst>
              </a:tr>
            </a:tbl>
          </a:graphicData>
        </a:graphic>
      </p:graphicFrame>
      <p:sp>
        <p:nvSpPr>
          <p:cNvPr id="8" name="Content Placeholder 6">
            <a:extLst>
              <a:ext uri="{FF2B5EF4-FFF2-40B4-BE49-F238E27FC236}">
                <a16:creationId xmlns:a16="http://schemas.microsoft.com/office/drawing/2014/main" id="{CD957AFA-97A7-DA44-9EF2-D89C399198F7}"/>
              </a:ext>
            </a:extLst>
          </p:cNvPr>
          <p:cNvSpPr txBox="1">
            <a:spLocks/>
          </p:cNvSpPr>
          <p:nvPr/>
        </p:nvSpPr>
        <p:spPr>
          <a:xfrm>
            <a:off x="479425" y="1025702"/>
            <a:ext cx="11061360" cy="738664"/>
          </a:xfrm>
          <a:prstGeom prst="rect">
            <a:avLst/>
          </a:prstGeom>
          <a:noFill/>
        </p:spPr>
        <p:txBody>
          <a:bodyPr vert="horz" wrap="square" lIns="91440" tIns="45720" rIns="91440" bIns="45720" rtlCol="0">
            <a:spAutoFit/>
          </a:bodyPr>
          <a:lstStyle>
            <a:lvl1pPr marL="0" indent="0" algn="l" defTabSz="914400" rtl="0" eaLnBrk="1" latinLnBrk="0" hangingPunct="1">
              <a:lnSpc>
                <a:spcPct val="90000"/>
              </a:lnSpc>
              <a:spcBef>
                <a:spcPts val="1000"/>
              </a:spcBef>
              <a:buFont typeface="Arial" panose="020B0604020202020204" pitchFamily="34" charset="0"/>
              <a:buNone/>
              <a:defRPr lang="en-US" sz="2000" kern="1200" smtClean="0">
                <a:solidFill>
                  <a:schemeClr val="accent2"/>
                </a:solidFill>
                <a:latin typeface="+mn-lt"/>
                <a:ea typeface="Calibri" panose="020F0502020204030204" pitchFamily="34" charset="0"/>
                <a:cs typeface="Times New Roman" panose="02020603050405020304" pitchFamily="18" charset="0"/>
              </a:defRPr>
            </a:lvl1pPr>
            <a:lvl2pPr marL="228600" indent="0" algn="l" defTabSz="914400" rtl="0" eaLnBrk="1" latinLnBrk="0" hangingPunct="1">
              <a:lnSpc>
                <a:spcPct val="90000"/>
              </a:lnSpc>
              <a:spcBef>
                <a:spcPts val="500"/>
              </a:spcBef>
              <a:buFont typeface="Arial" panose="020B0604020202020204" pitchFamily="34" charset="0"/>
              <a:buNone/>
              <a:defRPr lang="en-US" sz="1800" kern="1200" smtClean="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en-US" sz="1800" kern="1200" smtClean="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en-US" sz="1800" kern="1200" smtClean="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en-US"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sz="1300" b="0" i="0">
                <a:solidFill>
                  <a:srgbClr val="3D3C3C"/>
                </a:solidFill>
                <a:latin typeface="Open Sans"/>
              </a:rPr>
              <a:t>We have kept this engagement focused and efficient, recognising that EOI costs are funded by Webuild. The fixed fee below covers all three stages of our support across the six-week EOI period.</a:t>
            </a:r>
          </a:p>
        </p:txBody>
      </p:sp>
      <p:sp>
        <p:nvSpPr>
          <p:cNvPr id="2" name="Text 0">
            <a:extLst>
              <a:ext uri="{FF2B5EF4-FFF2-40B4-BE49-F238E27FC236}">
                <a16:creationId xmlns:a16="http://schemas.microsoft.com/office/drawing/2014/main" id="{B10F8420-B62E-B304-9A15-A8387BEEB47B}"/>
              </a:ext>
            </a:extLst>
          </p:cNvPr>
          <p:cNvSpPr/>
          <p:nvPr/>
        </p:nvSpPr>
        <p:spPr>
          <a:xfrm>
            <a:off x="570411" y="341376"/>
            <a:ext cx="11224261"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Investment</a:t>
            </a:r>
          </a:p>
        </p:txBody>
      </p:sp>
      <p:sp>
        <p:nvSpPr>
          <p:cNvPr id="9" name="TextBox 8"/>
          <p:cNvSpPr txBox="1"/>
          <p:nvPr/>
        </p:nvSpPr>
        <p:spPr>
          <a:xfrm>
            <a:off x="502920" y="5074920"/>
            <a:ext cx="10972800" cy="548640"/>
          </a:xfrm>
          <a:prstGeom prst="rect">
            <a:avLst/>
          </a:prstGeom>
          <a:noFill/>
        </p:spPr>
        <p:txBody>
          <a:bodyPr wrap="square" lIns="0" rIns="0" tIns="0" bIns="0" anchor="t">
            <a:spAutoFit/>
          </a:bodyPr>
          <a:lstStyle/>
          <a:p>
            <a:pPr>
              <a:spcAft>
                <a:spcPts val="400"/>
              </a:spcAft>
              <a:buNone/>
            </a:pPr>
            <a:r>
              <a:rPr sz="1100" b="0" i="0">
                <a:solidFill>
                  <a:srgbClr val="6B6B6B"/>
                </a:solidFill>
                <a:latin typeface="Open Sans"/>
              </a:rPr>
              <a:t>All fees exclude GST. Bid management, writing, compliance and production remain with Webuild and its bid writing team. Scope will be confirmed once the EOI documents are released.</a:t>
            </a:r>
          </a:p>
        </p:txBody>
      </p:sp>
    </p:spTree>
    <p:extLst>
      <p:ext uri="{BB962C8B-B14F-4D97-AF65-F5344CB8AC3E}">
        <p14:creationId xmlns:p14="http://schemas.microsoft.com/office/powerpoint/2010/main" val="3869295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DC2A24-2C32-EA4B-CF8E-632CE6D66199}"/>
              </a:ext>
            </a:extLst>
          </p:cNvPr>
          <p:cNvSpPr>
            <a:spLocks noGrp="1"/>
          </p:cNvSpPr>
          <p:nvPr>
            <p:ph type="sldNum" sz="quarter" idx="4"/>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8BD019-05FF-F145-A6E1-6EE5A88665E4}" type="slidenum">
              <a:rPr kumimoji="0" lang="en-US" sz="900" b="0" i="0" u="none" strike="noStrike" kern="1200" cap="none" spc="0" normalizeH="0" baseline="0" noProof="0" smtClean="0">
                <a:ln>
                  <a:noFill/>
                </a:ln>
                <a:solidFill>
                  <a:srgbClr val="000000">
                    <a:tint val="75000"/>
                  </a:srgbClr>
                </a:solidFill>
                <a:effectLst/>
                <a:uLnTx/>
                <a:uFillTx/>
                <a:latin typeface="Open Sans" panose="020B0606030504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900" b="0" i="0" u="none" strike="noStrike" kern="1200" cap="none" spc="0" normalizeH="0" baseline="0" noProof="0">
              <a:ln>
                <a:noFill/>
              </a:ln>
              <a:solidFill>
                <a:srgbClr val="000000">
                  <a:tint val="75000"/>
                </a:srgbClr>
              </a:solidFill>
              <a:effectLst/>
              <a:uLnTx/>
              <a:uFillTx/>
              <a:latin typeface="Open Sans" panose="020B0606030504020204" pitchFamily="34" charset="0"/>
              <a:ea typeface="+mn-ea"/>
              <a:cs typeface="+mn-cs"/>
            </a:endParaRPr>
          </a:p>
        </p:txBody>
      </p:sp>
      <p:sp>
        <p:nvSpPr>
          <p:cNvPr id="9" name="Text 0">
            <a:extLst>
              <a:ext uri="{FF2B5EF4-FFF2-40B4-BE49-F238E27FC236}">
                <a16:creationId xmlns:a16="http://schemas.microsoft.com/office/drawing/2014/main" id="{A2AB754F-5104-AE5B-5D6C-4E092510AF77}"/>
              </a:ext>
            </a:extLst>
          </p:cNvPr>
          <p:cNvSpPr/>
          <p:nvPr/>
        </p:nvSpPr>
        <p:spPr>
          <a:xfrm>
            <a:off x="548640" y="341376"/>
            <a:ext cx="11094720" cy="877824"/>
          </a:xfrm>
          <a:prstGeom prst="rect">
            <a:avLst/>
          </a:prstGeom>
          <a:noFill/>
          <a:ln/>
        </p:spPr>
        <p:txBody>
          <a:bodyPr wrap="square" rtlCol="0" anchor="ctr"/>
          <a:lstStyle/>
          <a:p>
            <a:pPr defTabSz="1219170"/>
            <a:r>
              <a:rPr lang="en-US" sz="2400" dirty="0">
                <a:solidFill>
                  <a:srgbClr val="3D3C3C"/>
                </a:solidFill>
                <a:latin typeface="Poppins Medium" panose="00000600000000000000" pitchFamily="2" charset="0"/>
                <a:cs typeface="Poppins Medium" panose="00000600000000000000" pitchFamily="2" charset="0"/>
              </a:rPr>
              <a:t>Assumptions and next steps</a:t>
            </a:r>
          </a:p>
        </p:txBody>
      </p:sp>
      <p:sp>
        <p:nvSpPr>
          <p:cNvPr id="10" name="Rounded Rectangle 9"/>
          <p:cNvSpPr/>
          <p:nvPr/>
        </p:nvSpPr>
        <p:spPr>
          <a:xfrm>
            <a:off x="566928" y="1417320"/>
            <a:ext cx="6583680" cy="4434840"/>
          </a:xfrm>
          <a:prstGeom prst="roundRect">
            <a:avLst>
              <a:gd name="adj" fmla="val 4000"/>
            </a:avLst>
          </a:prstGeom>
          <a:solidFill>
            <a:srgbClr val="F2F3F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256032" rIns="256032" tIns="153619" bIns="153619"/>
          <a:lstStyle/>
          <a:p>
            <a:pPr algn="l">
              <a:spcAft>
                <a:spcPts val="800"/>
              </a:spcAft>
              <a:buNone/>
            </a:pPr>
            <a:r>
              <a:rPr sz="1300" b="1" i="0">
                <a:solidFill>
                  <a:srgbClr val="F48047"/>
                </a:solidFill>
                <a:latin typeface="Poppins"/>
              </a:rPr>
              <a:t>KEY ASSUMPTIONS</a:t>
            </a:r>
          </a:p>
          <a:p>
            <a:pPr algn="l" marL="155448" indent="-155448">
              <a:spcAft>
                <a:spcPts val="600"/>
              </a:spcAft>
              <a:buClr>
                <a:srgbClr val="F48047"/>
              </a:buClr>
              <a:buFont typeface="Arial"/>
              <a:buChar char="•"/>
            </a:pPr>
            <a:r>
              <a:rPr sz="1200" b="0" i="0">
                <a:solidFill>
                  <a:srgbClr val="3D3C3C"/>
                </a:solidFill>
                <a:latin typeface="Open Sans"/>
              </a:rPr>
              <a:t>The EOI response period is around six weeks; timing will be confirmed once the documents are released</a:t>
            </a:r>
          </a:p>
          <a:p>
            <a:pPr algn="l" marL="155448" indent="-155448">
              <a:spcAft>
                <a:spcPts val="600"/>
              </a:spcAft>
              <a:buClr>
                <a:srgbClr val="F48047"/>
              </a:buClr>
              <a:buFont typeface="Arial"/>
              <a:buChar char="•"/>
            </a:pPr>
            <a:r>
              <a:rPr sz="1200" b="0" i="0">
                <a:solidFill>
                  <a:srgbClr val="3D3C3C"/>
                </a:solidFill>
                <a:latin typeface="Open Sans"/>
              </a:rPr>
              <a:t>Workshops are held in person, with Webuild leadership and the proposed delivery team attending</a:t>
            </a:r>
          </a:p>
          <a:p>
            <a:pPr algn="l" marL="155448" indent="-155448">
              <a:spcAft>
                <a:spcPts val="600"/>
              </a:spcAft>
              <a:buClr>
                <a:srgbClr val="F48047"/>
              </a:buClr>
              <a:buFont typeface="Arial"/>
              <a:buChar char="•"/>
            </a:pPr>
            <a:r>
              <a:rPr sz="1200" b="0" i="0">
                <a:solidFill>
                  <a:srgbClr val="3D3C3C"/>
                </a:solidFill>
                <a:latin typeface="Open Sans"/>
              </a:rPr>
              <a:t>Workshop 1 (full day) and Workshop 2 (half day) run on consecutive days in Week 1 or 2</a:t>
            </a:r>
          </a:p>
          <a:p>
            <a:pPr algn="l" marL="155448" indent="-155448">
              <a:spcAft>
                <a:spcPts val="600"/>
              </a:spcAft>
              <a:buClr>
                <a:srgbClr val="F48047"/>
              </a:buClr>
              <a:buFont typeface="Arial"/>
              <a:buChar char="•"/>
            </a:pPr>
            <a:r>
              <a:rPr sz="1200" b="0" i="0">
                <a:solidFill>
                  <a:srgbClr val="3D3C3C"/>
                </a:solidFill>
                <a:latin typeface="Open Sans"/>
              </a:rPr>
              <a:t>Bid writing, compliance and production remain with Webuild and its bid writing team</a:t>
            </a:r>
          </a:p>
          <a:p>
            <a:pPr algn="l" marL="155448" indent="-155448">
              <a:spcAft>
                <a:spcPts val="600"/>
              </a:spcAft>
              <a:buClr>
                <a:srgbClr val="F48047"/>
              </a:buClr>
              <a:buFont typeface="Arial"/>
              <a:buChar char="•"/>
            </a:pPr>
            <a:r>
              <a:rPr sz="1200" b="0" i="0">
                <a:solidFill>
                  <a:srgbClr val="3D3C3C"/>
                </a:solidFill>
                <a:latin typeface="Open Sans"/>
              </a:rPr>
              <a:t>Webuild provides the draft final for review by the end of Week 5</a:t>
            </a:r>
          </a:p>
          <a:p>
            <a:pPr algn="l" marL="155448" indent="-155448">
              <a:spcAft>
                <a:spcPts val="600"/>
              </a:spcAft>
              <a:buClr>
                <a:srgbClr val="F48047"/>
              </a:buClr>
              <a:buFont typeface="Arial"/>
              <a:buChar char="•"/>
            </a:pPr>
            <a:r>
              <a:rPr sz="1200" b="0" i="0">
                <a:solidFill>
                  <a:srgbClr val="3D3C3C"/>
                </a:solidFill>
                <a:latin typeface="Open Sans"/>
              </a:rPr>
              <a:t>Any change to scope, once the EOI questions are known, will be agreed with you before work proceeds</a:t>
            </a:r>
          </a:p>
        </p:txBody>
      </p:sp>
      <p:sp>
        <p:nvSpPr>
          <p:cNvPr id="11" name="TextBox 10"/>
          <p:cNvSpPr txBox="1"/>
          <p:nvPr/>
        </p:nvSpPr>
        <p:spPr>
          <a:xfrm>
            <a:off x="7498079" y="1463040"/>
            <a:ext cx="4114800" cy="365760"/>
          </a:xfrm>
          <a:prstGeom prst="rect">
            <a:avLst/>
          </a:prstGeom>
          <a:noFill/>
        </p:spPr>
        <p:txBody>
          <a:bodyPr wrap="square" lIns="0" rIns="0" tIns="0" bIns="0" anchor="t">
            <a:spAutoFit/>
          </a:bodyPr>
          <a:lstStyle/>
          <a:p>
            <a:pPr>
              <a:spcAft>
                <a:spcPts val="400"/>
              </a:spcAft>
              <a:buNone/>
            </a:pPr>
            <a:r>
              <a:rPr sz="1300" b="1" i="0">
                <a:solidFill>
                  <a:srgbClr val="0E98D7"/>
                </a:solidFill>
                <a:latin typeface="Poppins"/>
              </a:rPr>
              <a:t>NEXT STEPS</a:t>
            </a:r>
          </a:p>
        </p:txBody>
      </p:sp>
      <p:sp>
        <p:nvSpPr>
          <p:cNvPr id="12" name="Oval 11"/>
          <p:cNvSpPr/>
          <p:nvPr/>
        </p:nvSpPr>
        <p:spPr>
          <a:xfrm>
            <a:off x="7498079" y="1965960"/>
            <a:ext cx="502920" cy="502920"/>
          </a:xfrm>
          <a:prstGeom prst="ellips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1</a:t>
            </a:r>
          </a:p>
        </p:txBody>
      </p:sp>
      <p:sp>
        <p:nvSpPr>
          <p:cNvPr id="13" name="TextBox 12"/>
          <p:cNvSpPr txBox="1"/>
          <p:nvPr/>
        </p:nvSpPr>
        <p:spPr>
          <a:xfrm>
            <a:off x="8183879" y="1920240"/>
            <a:ext cx="3474720" cy="640080"/>
          </a:xfrm>
          <a:prstGeom prst="rect">
            <a:avLst/>
          </a:prstGeom>
          <a:noFill/>
        </p:spPr>
        <p:txBody>
          <a:bodyPr wrap="square" lIns="0" rIns="0" tIns="0" bIns="0" anchor="ctr">
            <a:spAutoFit/>
          </a:bodyPr>
          <a:lstStyle/>
          <a:p>
            <a:pPr>
              <a:spcAft>
                <a:spcPts val="0"/>
              </a:spcAft>
              <a:buNone/>
            </a:pPr>
            <a:r>
              <a:rPr sz="1200" b="0" i="0">
                <a:solidFill>
                  <a:srgbClr val="3D3C3C"/>
                </a:solidFill>
                <a:latin typeface="Open Sans"/>
              </a:rPr>
              <a:t>Confirm this proposal and the engagement scope</a:t>
            </a:r>
          </a:p>
        </p:txBody>
      </p:sp>
      <p:sp>
        <p:nvSpPr>
          <p:cNvPr id="14" name="Oval 13"/>
          <p:cNvSpPr/>
          <p:nvPr/>
        </p:nvSpPr>
        <p:spPr>
          <a:xfrm>
            <a:off x="7498079" y="2926080"/>
            <a:ext cx="502920" cy="502920"/>
          </a:xfrm>
          <a:prstGeom prst="ellips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2</a:t>
            </a:r>
          </a:p>
        </p:txBody>
      </p:sp>
      <p:sp>
        <p:nvSpPr>
          <p:cNvPr id="15" name="TextBox 14"/>
          <p:cNvSpPr txBox="1"/>
          <p:nvPr/>
        </p:nvSpPr>
        <p:spPr>
          <a:xfrm>
            <a:off x="8183879" y="2880360"/>
            <a:ext cx="3474720" cy="640080"/>
          </a:xfrm>
          <a:prstGeom prst="rect">
            <a:avLst/>
          </a:prstGeom>
          <a:noFill/>
        </p:spPr>
        <p:txBody>
          <a:bodyPr wrap="square" lIns="0" rIns="0" tIns="0" bIns="0" anchor="ctr">
            <a:spAutoFit/>
          </a:bodyPr>
          <a:lstStyle/>
          <a:p>
            <a:pPr>
              <a:spcAft>
                <a:spcPts val="0"/>
              </a:spcAft>
              <a:buNone/>
            </a:pPr>
            <a:r>
              <a:rPr sz="1200" b="0" i="0">
                <a:solidFill>
                  <a:srgbClr val="3D3C3C"/>
                </a:solidFill>
                <a:latin typeface="Open Sans"/>
              </a:rPr>
              <a:t>Share the EOI documents as soon as they are released</a:t>
            </a:r>
          </a:p>
        </p:txBody>
      </p:sp>
      <p:sp>
        <p:nvSpPr>
          <p:cNvPr id="16" name="Oval 15"/>
          <p:cNvSpPr/>
          <p:nvPr/>
        </p:nvSpPr>
        <p:spPr>
          <a:xfrm>
            <a:off x="7498079" y="3886200"/>
            <a:ext cx="502920" cy="502920"/>
          </a:xfrm>
          <a:prstGeom prst="ellips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3</a:t>
            </a:r>
          </a:p>
        </p:txBody>
      </p:sp>
      <p:sp>
        <p:nvSpPr>
          <p:cNvPr id="17" name="TextBox 16"/>
          <p:cNvSpPr txBox="1"/>
          <p:nvPr/>
        </p:nvSpPr>
        <p:spPr>
          <a:xfrm>
            <a:off x="8183879" y="3840480"/>
            <a:ext cx="3474720" cy="640080"/>
          </a:xfrm>
          <a:prstGeom prst="rect">
            <a:avLst/>
          </a:prstGeom>
          <a:noFill/>
        </p:spPr>
        <p:txBody>
          <a:bodyPr wrap="square" lIns="0" rIns="0" tIns="0" bIns="0" anchor="ctr">
            <a:spAutoFit/>
          </a:bodyPr>
          <a:lstStyle/>
          <a:p>
            <a:pPr>
              <a:spcAft>
                <a:spcPts val="0"/>
              </a:spcAft>
              <a:buNone/>
            </a:pPr>
            <a:r>
              <a:rPr sz="1200" b="0" i="0">
                <a:solidFill>
                  <a:srgbClr val="3D3C3C"/>
                </a:solidFill>
                <a:latin typeface="Open Sans"/>
              </a:rPr>
              <a:t>Lock in workshop dates and participants</a:t>
            </a:r>
          </a:p>
        </p:txBody>
      </p:sp>
      <p:sp>
        <p:nvSpPr>
          <p:cNvPr id="18" name="Oval 17"/>
          <p:cNvSpPr/>
          <p:nvPr/>
        </p:nvSpPr>
        <p:spPr>
          <a:xfrm>
            <a:off x="7498079" y="4846320"/>
            <a:ext cx="502920" cy="502920"/>
          </a:xfrm>
          <a:prstGeom prst="ellipse">
            <a:avLst/>
          </a:prstGeom>
          <a:solidFill>
            <a:srgbClr val="0E98D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0"/>
              </a:spcAft>
              <a:buNone/>
            </a:pPr>
            <a:r>
              <a:rPr sz="1400" b="1" i="0">
                <a:solidFill>
                  <a:srgbClr val="FFFFFF"/>
                </a:solidFill>
                <a:latin typeface="Poppins"/>
              </a:rPr>
              <a:t>4</a:t>
            </a:r>
          </a:p>
        </p:txBody>
      </p:sp>
      <p:sp>
        <p:nvSpPr>
          <p:cNvPr id="19" name="TextBox 18"/>
          <p:cNvSpPr txBox="1"/>
          <p:nvPr/>
        </p:nvSpPr>
        <p:spPr>
          <a:xfrm>
            <a:off x="8183879" y="4800600"/>
            <a:ext cx="3474720" cy="640080"/>
          </a:xfrm>
          <a:prstGeom prst="rect">
            <a:avLst/>
          </a:prstGeom>
          <a:noFill/>
        </p:spPr>
        <p:txBody>
          <a:bodyPr wrap="square" lIns="0" rIns="0" tIns="0" bIns="0" anchor="ctr">
            <a:spAutoFit/>
          </a:bodyPr>
          <a:lstStyle/>
          <a:p>
            <a:pPr>
              <a:spcAft>
                <a:spcPts val="0"/>
              </a:spcAft>
              <a:buNone/>
            </a:pPr>
            <a:r>
              <a:rPr sz="1200" b="0" i="0">
                <a:solidFill>
                  <a:srgbClr val="3D3C3C"/>
                </a:solidFill>
                <a:latin typeface="Open Sans"/>
              </a:rPr>
              <a:t>Provide current CVs and project sheets for the proposed team</a:t>
            </a:r>
          </a:p>
        </p:txBody>
      </p:sp>
    </p:spTree>
    <p:extLst>
      <p:ext uri="{BB962C8B-B14F-4D97-AF65-F5344CB8AC3E}">
        <p14:creationId xmlns:p14="http://schemas.microsoft.com/office/powerpoint/2010/main" val="37266199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9809AC-ABC7-FBD8-C445-E53C0C4FC83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DA19359-B947-1961-75AA-936DA272766C}"/>
              </a:ext>
            </a:extLst>
          </p:cNvPr>
          <p:cNvSpPr/>
          <p:nvPr/>
        </p:nvSpPr>
        <p:spPr>
          <a:xfrm>
            <a:off x="0" y="9253"/>
            <a:ext cx="12197626" cy="6880902"/>
          </a:xfrm>
          <a:prstGeom prst="rect">
            <a:avLst/>
          </a:prstGeom>
          <a:solidFill>
            <a:schemeClr val="tx1">
              <a:alpha val="6357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55" b="0" i="0" u="none" strike="noStrike" kern="1200" cap="none" spc="0" normalizeH="0" baseline="0" noProof="0">
              <a:ln>
                <a:noFill/>
              </a:ln>
              <a:solidFill>
                <a:srgbClr val="FFFFFF"/>
              </a:solidFill>
              <a:effectLst/>
              <a:uLnTx/>
              <a:uFillTx/>
              <a:latin typeface="Open Sans Light"/>
              <a:ea typeface="+mn-ea"/>
              <a:cs typeface="+mn-cs"/>
            </a:endParaRPr>
          </a:p>
        </p:txBody>
      </p:sp>
      <p:pic>
        <p:nvPicPr>
          <p:cNvPr id="7" name="Graphic 6">
            <a:extLst>
              <a:ext uri="{FF2B5EF4-FFF2-40B4-BE49-F238E27FC236}">
                <a16:creationId xmlns:a16="http://schemas.microsoft.com/office/drawing/2014/main" id="{9A0843B3-C65C-5254-9739-F0B4D579E13E}"/>
              </a:ext>
            </a:extLst>
          </p:cNvPr>
          <p:cNvPicPr>
            <a:picLocks noChangeAspect="1"/>
          </p:cNvPicPr>
          <p:nvPr/>
        </p:nvPicPr>
        <p:blipFill rotWithShape="1">
          <a:blip>
            <a:extLst>
              <a:ext uri="{28A0092B-C50C-407E-A947-70E740481C1C}">
                <a14:useLocalDpi xmlns:a14="http://schemas.microsoft.com/office/drawing/2010/main" val="0"/>
              </a:ext>
              <a:ext uri="{96DAC541-7B7A-43D3-8B79-37D633B846F1}">
                <asvg:svgBlip xmlns:asvg="http://schemas.microsoft.com/office/drawing/2016/SVG/main" r:embed="rId2"/>
              </a:ext>
            </a:extLst>
          </a:blip>
          <a:srcRect l="18190" b="33857"/>
          <a:stretch/>
        </p:blipFill>
        <p:spPr>
          <a:xfrm rot="10800000" flipH="1">
            <a:off x="-25966" y="0"/>
            <a:ext cx="6959831" cy="5626984"/>
          </a:xfrm>
          <a:prstGeom prst="rect">
            <a:avLst/>
          </a:prstGeom>
        </p:spPr>
      </p:pic>
      <p:sp>
        <p:nvSpPr>
          <p:cNvPr id="8" name="TextBox 7"/>
          <p:cNvSpPr txBox="1"/>
          <p:nvPr/>
        </p:nvSpPr>
        <p:spPr>
          <a:xfrm>
            <a:off x="5989320" y="1005840"/>
            <a:ext cx="5760720" cy="914400"/>
          </a:xfrm>
          <a:prstGeom prst="rect">
            <a:avLst/>
          </a:prstGeom>
          <a:noFill/>
        </p:spPr>
        <p:txBody>
          <a:bodyPr wrap="square" lIns="0" rIns="0" tIns="0" bIns="0" anchor="t">
            <a:spAutoFit/>
          </a:bodyPr>
          <a:lstStyle/>
          <a:p>
            <a:pPr>
              <a:spcAft>
                <a:spcPts val="400"/>
              </a:spcAft>
              <a:buNone/>
            </a:pPr>
            <a:r>
              <a:rPr sz="4400" b="0" i="0">
                <a:solidFill>
                  <a:srgbClr val="FFFFFF"/>
                </a:solidFill>
                <a:latin typeface="Poppins Medium"/>
              </a:rPr>
              <a:t>Thank you</a:t>
            </a:r>
          </a:p>
        </p:txBody>
      </p:sp>
      <p:sp>
        <p:nvSpPr>
          <p:cNvPr id="9" name="TextBox 8"/>
          <p:cNvSpPr txBox="1"/>
          <p:nvPr/>
        </p:nvSpPr>
        <p:spPr>
          <a:xfrm>
            <a:off x="5989320" y="1874519"/>
            <a:ext cx="5760720" cy="457200"/>
          </a:xfrm>
          <a:prstGeom prst="rect">
            <a:avLst/>
          </a:prstGeom>
          <a:noFill/>
        </p:spPr>
        <p:txBody>
          <a:bodyPr wrap="square" lIns="0" rIns="0" tIns="0" bIns="0" anchor="t">
            <a:spAutoFit/>
          </a:bodyPr>
          <a:lstStyle/>
          <a:p>
            <a:pPr>
              <a:spcAft>
                <a:spcPts val="400"/>
              </a:spcAft>
              <a:buNone/>
            </a:pPr>
            <a:r>
              <a:rPr sz="1800" b="0" i="0">
                <a:solidFill>
                  <a:srgbClr val="D9D9D9"/>
                </a:solidFill>
                <a:latin typeface="Poppins"/>
              </a:rPr>
              <a:t>We look forward to working with you</a:t>
            </a:r>
          </a:p>
        </p:txBody>
      </p:sp>
      <p:sp>
        <p:nvSpPr>
          <p:cNvPr id="10" name="TextBox 9"/>
          <p:cNvSpPr txBox="1"/>
          <p:nvPr/>
        </p:nvSpPr>
        <p:spPr>
          <a:xfrm>
            <a:off x="5989320" y="2743200"/>
            <a:ext cx="5760720" cy="868680"/>
          </a:xfrm>
          <a:prstGeom prst="rect">
            <a:avLst/>
          </a:prstGeom>
          <a:noFill/>
        </p:spPr>
        <p:txBody>
          <a:bodyPr wrap="square" lIns="0" rIns="0" tIns="0" bIns="0" anchor="t">
            <a:spAutoFit/>
          </a:bodyPr>
          <a:lstStyle/>
          <a:p>
            <a:pPr>
              <a:spcAft>
                <a:spcPts val="0"/>
              </a:spcAft>
              <a:buNone/>
            </a:pPr>
            <a:r>
              <a:rPr sz="1500" b="1" i="0">
                <a:solidFill>
                  <a:srgbClr val="FFFFFF"/>
                </a:solidFill>
                <a:latin typeface="Poppins"/>
              </a:rPr>
              <a:t>Jeffrey Tobias</a:t>
            </a:r>
          </a:p>
          <a:p>
            <a:pPr>
              <a:spcAft>
                <a:spcPts val="0"/>
              </a:spcAft>
              <a:buNone/>
            </a:pPr>
            <a:r>
              <a:rPr sz="1200" b="0" i="0">
                <a:solidFill>
                  <a:srgbClr val="BFBFBF"/>
                </a:solidFill>
                <a:latin typeface="Open Sans"/>
              </a:rPr>
              <a:t>Founder and Managing Partner</a:t>
            </a:r>
          </a:p>
          <a:p>
            <a:pPr>
              <a:spcAft>
                <a:spcPts val="400"/>
              </a:spcAft>
              <a:buNone/>
            </a:pPr>
            <a:r>
              <a:rPr sz="1200" b="0" i="0">
                <a:solidFill>
                  <a:srgbClr val="68C4EF"/>
                </a:solidFill>
                <a:latin typeface="Open Sans"/>
              </a:rPr>
              <a:t>jeffrey@thestrategygroup.com.au</a:t>
            </a:r>
          </a:p>
        </p:txBody>
      </p:sp>
      <p:sp>
        <p:nvSpPr>
          <p:cNvPr id="11" name="TextBox 10"/>
          <p:cNvSpPr txBox="1"/>
          <p:nvPr/>
        </p:nvSpPr>
        <p:spPr>
          <a:xfrm>
            <a:off x="5989320" y="3703320"/>
            <a:ext cx="5760720" cy="868680"/>
          </a:xfrm>
          <a:prstGeom prst="rect">
            <a:avLst/>
          </a:prstGeom>
          <a:noFill/>
        </p:spPr>
        <p:txBody>
          <a:bodyPr wrap="square" lIns="0" rIns="0" tIns="0" bIns="0" anchor="t">
            <a:spAutoFit/>
          </a:bodyPr>
          <a:lstStyle/>
          <a:p>
            <a:pPr>
              <a:spcAft>
                <a:spcPts val="0"/>
              </a:spcAft>
              <a:buNone/>
            </a:pPr>
            <a:r>
              <a:rPr sz="1500" b="1" i="0">
                <a:solidFill>
                  <a:srgbClr val="FFFFFF"/>
                </a:solidFill>
                <a:latin typeface="Poppins"/>
              </a:rPr>
              <a:t>Heather King</a:t>
            </a:r>
          </a:p>
          <a:p>
            <a:pPr>
              <a:spcAft>
                <a:spcPts val="0"/>
              </a:spcAft>
              <a:buNone/>
            </a:pPr>
            <a:r>
              <a:rPr sz="1200" b="0" i="0">
                <a:solidFill>
                  <a:srgbClr val="BFBFBF"/>
                </a:solidFill>
                <a:latin typeface="Open Sans"/>
              </a:rPr>
              <a:t>Manager, Major Projects &amp; Construction</a:t>
            </a:r>
          </a:p>
          <a:p>
            <a:pPr>
              <a:spcAft>
                <a:spcPts val="400"/>
              </a:spcAft>
              <a:buNone/>
            </a:pPr>
            <a:r>
              <a:rPr sz="1200" b="0" i="0">
                <a:solidFill>
                  <a:srgbClr val="68C4EF"/>
                </a:solidFill>
                <a:latin typeface="Open Sans"/>
              </a:rPr>
              <a:t>heather@thestrategygroup.com.au</a:t>
            </a:r>
          </a:p>
        </p:txBody>
      </p:sp>
      <p:sp>
        <p:nvSpPr>
          <p:cNvPr id="12" name="TextBox 11"/>
          <p:cNvSpPr txBox="1"/>
          <p:nvPr/>
        </p:nvSpPr>
        <p:spPr>
          <a:xfrm>
            <a:off x="5989320" y="4663440"/>
            <a:ext cx="5760720" cy="868680"/>
          </a:xfrm>
          <a:prstGeom prst="rect">
            <a:avLst/>
          </a:prstGeom>
          <a:noFill/>
        </p:spPr>
        <p:txBody>
          <a:bodyPr wrap="square" lIns="0" rIns="0" tIns="0" bIns="0" anchor="t">
            <a:spAutoFit/>
          </a:bodyPr>
          <a:lstStyle/>
          <a:p>
            <a:pPr>
              <a:spcAft>
                <a:spcPts val="0"/>
              </a:spcAft>
              <a:buNone/>
            </a:pPr>
            <a:r>
              <a:rPr sz="1500" b="1" i="0">
                <a:solidFill>
                  <a:srgbClr val="FFFFFF"/>
                </a:solidFill>
                <a:latin typeface="Poppins"/>
              </a:rPr>
              <a:t>Alycia Wolf</a:t>
            </a:r>
          </a:p>
          <a:p>
            <a:pPr>
              <a:spcAft>
                <a:spcPts val="0"/>
              </a:spcAft>
              <a:buNone/>
            </a:pPr>
            <a:r>
              <a:rPr sz="1200" b="0" i="0">
                <a:solidFill>
                  <a:srgbClr val="BFBFBF"/>
                </a:solidFill>
                <a:latin typeface="Open Sans"/>
              </a:rPr>
              <a:t>Storyboarding Lead</a:t>
            </a:r>
          </a:p>
          <a:p>
            <a:pPr>
              <a:spcAft>
                <a:spcPts val="400"/>
              </a:spcAft>
              <a:buNone/>
            </a:pPr>
            <a:r>
              <a:rPr sz="1200" b="0" i="0">
                <a:solidFill>
                  <a:srgbClr val="68C4EF"/>
                </a:solidFill>
                <a:latin typeface="Open Sans"/>
              </a:rPr>
              <a:t>alycia@thestrategygroup.com.au</a:t>
            </a:r>
          </a:p>
        </p:txBody>
      </p:sp>
    </p:spTree>
    <p:extLst>
      <p:ext uri="{BB962C8B-B14F-4D97-AF65-F5344CB8AC3E}">
        <p14:creationId xmlns:p14="http://schemas.microsoft.com/office/powerpoint/2010/main" val="2949948834"/>
      </p:ext>
    </p:extLst>
  </p:cSld>
  <p:clrMapOvr>
    <a:masterClrMapping/>
  </p:clrMapOvr>
</p:sld>
</file>

<file path=ppt/theme/theme1.xml><?xml version="1.0" encoding="utf-8"?>
<a:theme xmlns:a="http://schemas.openxmlformats.org/drawingml/2006/main" name="The Strategy Group - 2026">
  <a:themeElements>
    <a:clrScheme name="The Strategy Group - 2022">
      <a:dk1>
        <a:srgbClr val="000000"/>
      </a:dk1>
      <a:lt1>
        <a:srgbClr val="FFFFFF"/>
      </a:lt1>
      <a:dk2>
        <a:srgbClr val="3C3C3C"/>
      </a:dk2>
      <a:lt2>
        <a:srgbClr val="E5E6EB"/>
      </a:lt2>
      <a:accent1>
        <a:srgbClr val="F38047"/>
      </a:accent1>
      <a:accent2>
        <a:srgbClr val="EE2B79"/>
      </a:accent2>
      <a:accent3>
        <a:srgbClr val="0E98D7"/>
      </a:accent3>
      <a:accent4>
        <a:srgbClr val="2EB88A"/>
      </a:accent4>
      <a:accent5>
        <a:srgbClr val="54C8E9"/>
      </a:accent5>
      <a:accent6>
        <a:srgbClr val="445469"/>
      </a:accent6>
      <a:hlink>
        <a:srgbClr val="0E98D7"/>
      </a:hlink>
      <a:folHlink>
        <a:srgbClr val="445469"/>
      </a:folHlink>
    </a:clrScheme>
    <a:fontScheme name="TSG-Font theme">
      <a:majorFont>
        <a:latin typeface="Poppi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65015FF0C4D0D4A84ACD5C5EC18BC34" ma:contentTypeVersion="19" ma:contentTypeDescription="Create a new document." ma:contentTypeScope="" ma:versionID="48ad552dc4ee1b4fa7ea69b2730e5273">
  <xsd:schema xmlns:xsd="http://www.w3.org/2001/XMLSchema" xmlns:xs="http://www.w3.org/2001/XMLSchema" xmlns:p="http://schemas.microsoft.com/office/2006/metadata/properties" xmlns:ns2="6287a675-f086-4c05-9b8c-42540f50c347" xmlns:ns3="cc335e2b-7f42-41d0-87ab-ac8237d9a47e" targetNamespace="http://schemas.microsoft.com/office/2006/metadata/properties" ma:root="true" ma:fieldsID="e2c4e7ddbc6a9a755bb796a3d33b9e2d" ns2:_="" ns3:_="">
    <xsd:import namespace="6287a675-f086-4c05-9b8c-42540f50c347"/>
    <xsd:import namespace="cc335e2b-7f42-41d0-87ab-ac8237d9a47e"/>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287a675-f086-4c05-9b8c-42540f50c3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a5682369-6b18-44d4-a163-e404b92d838d"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c335e2b-7f42-41d0-87ab-ac8237d9a47e"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1045b74b-362b-4bc9-9c37-0e1824aef99d}" ma:internalName="TaxCatchAll" ma:showField="CatchAllData" ma:web="cc335e2b-7f42-41d0-87ab-ac8237d9a47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cc335e2b-7f42-41d0-87ab-ac8237d9a47e" xsi:nil="true"/>
    <lcf76f155ced4ddcb4097134ff3c332f xmlns="6287a675-f086-4c05-9b8c-42540f50c34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1DB2E5F-D3D3-441D-A755-9F61C052A9B5}">
  <ds:schemaRefs>
    <ds:schemaRef ds:uri="http://schemas.microsoft.com/sharepoint/v3/contenttype/forms"/>
  </ds:schemaRefs>
</ds:datastoreItem>
</file>

<file path=customXml/itemProps2.xml><?xml version="1.0" encoding="utf-8"?>
<ds:datastoreItem xmlns:ds="http://schemas.openxmlformats.org/officeDocument/2006/customXml" ds:itemID="{00482D32-13CC-4850-B7AD-29A4CA5707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287a675-f086-4c05-9b8c-42540f50c347"/>
    <ds:schemaRef ds:uri="cc335e2b-7f42-41d0-87ab-ac8237d9a4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05A753-6E37-42CF-A494-5F3AA9FF7B7D}">
  <ds:schemaRefs>
    <ds:schemaRef ds:uri="http://schemas.microsoft.com/office/2006/documentManagement/types"/>
    <ds:schemaRef ds:uri="6287a675-f086-4c05-9b8c-42540f50c347"/>
    <ds:schemaRef ds:uri="cc335e2b-7f42-41d0-87ab-ac8237d9a47e"/>
    <ds:schemaRef ds:uri="http://purl.org/dc/terms/"/>
    <ds:schemaRef ds:uri="http://www.w3.org/XML/1998/namespace"/>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1050</TotalTime>
  <Words>1358</Words>
  <Application>Microsoft Office PowerPoint</Application>
  <PresentationFormat>Widescreen</PresentationFormat>
  <Paragraphs>168</Paragraphs>
  <Slides>7</Slides>
  <Notes>5</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7</vt:i4>
      </vt:variant>
    </vt:vector>
  </HeadingPairs>
  <TitlesOfParts>
    <vt:vector size="18" baseType="lpstr">
      <vt:lpstr>Arial</vt:lpstr>
      <vt:lpstr>Calibri</vt:lpstr>
      <vt:lpstr>Open Sans</vt:lpstr>
      <vt:lpstr>Open Sans Extrabold</vt:lpstr>
      <vt:lpstr>Open Sans Light</vt:lpstr>
      <vt:lpstr>Poppins</vt:lpstr>
      <vt:lpstr>Poppins Light</vt:lpstr>
      <vt:lpstr>Poppins Medium</vt:lpstr>
      <vt:lpstr>Roboto</vt:lpstr>
      <vt:lpstr>Wingdings</vt:lpstr>
      <vt:lpstr>The Strategy Group - 2026</vt:lpstr>
      <vt:lpstr>PowerPoint Presentation</vt:lpstr>
      <vt:lpstr>PowerPoint Presentation</vt:lpstr>
      <vt:lpstr>PowerPoint Presentation</vt:lpstr>
      <vt:lpstr>PowerPoint Presentation</vt:lpstr>
      <vt:lpstr>Activating the CX Strategy starting with the following workstreams</vt:lpstr>
      <vt:lpstr>PowerPoint Presentation</vt:lpstr>
      <vt:lpstr>PowerPoint Presentation</vt:lpstr>
    </vt:vector>
  </TitlesOfParts>
  <Company>Razer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Tim Halling</dc:creator>
  <cp:lastModifiedBy>Alycia Wolf</cp:lastModifiedBy>
  <cp:revision>10</cp:revision>
  <cp:lastPrinted>2020-07-16T21:41:51Z</cp:lastPrinted>
  <dcterms:created xsi:type="dcterms:W3CDTF">2017-07-17T06:01:31Z</dcterms:created>
  <dcterms:modified xsi:type="dcterms:W3CDTF">2026-10-28T22:47:19Z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0x010100B65015FF0C4D0D4A84ACD5C5EC18BC34</vt:lpwstr>
  </property>
  <property fmtid="{D5CDD505-2E9C-101B-9397-08002B2CF9AE}" pid="3" name="MediaServiceImageTags">
    <vt:lpwstr/>
  </property>
</Properties>
</file>